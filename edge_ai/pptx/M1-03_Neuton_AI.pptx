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gif"/><Relationship Id="rId3" Type="http://schemas.openxmlformats.org/officeDocument/2006/relationships/image" Target="../media/image6.gif"/><Relationship Id="rId4" Type="http://schemas.openxmlformats.org/officeDocument/2006/relationships/image" Target="../media/image7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MÓDULO 1 · BLOCO 03 · NEUTON NA CPU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92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Neuton AI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Do sinal ao modelo próprio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8961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Uma aplicação, três configurações: rodar o demo pronto, coletar dados e treinar o </a:t>
            </a:r>
            <a:r>
              <a:rPr sz="1600" b="1" i="0">
                <a:solidFill>
                  <a:srgbClr val="E8F1F8"/>
                </a:solidFill>
                <a:latin typeface="Segoe UI"/>
              </a:rPr>
              <a:t>seu</a:t>
            </a:r>
            <a:r>
              <a:rPr sz="1600" b="0" i="0">
                <a:solidFill>
                  <a:srgbClr val="93A6B8"/>
                </a:solidFill>
                <a:latin typeface="Segoe UI"/>
              </a:rPr>
              <a:t> modelo — sem trocar de projeto.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1850745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nRF54L15-TAG · IMU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6857" y="4709160"/>
            <a:ext cx="1935784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Neuton · Cortex-M33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65521" y="4709160"/>
            <a:ext cx="915314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BLE HID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NEUTON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Uma aplicação, três configurações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exemplo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01_gesture_recognition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do repositório atende os três momentos da sessão.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50692"/>
            <a:ext cx="3253130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451860"/>
            <a:ext cx="2978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1 · Demo pronto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872484"/>
            <a:ext cx="297881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prj.conf como vem.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Modelo de fábrica,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teclado BLE HID.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03951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69282" y="3250692"/>
            <a:ext cx="325313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6442" y="3451860"/>
            <a:ext cx="2978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2 · Modo de coleta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442" y="3872484"/>
            <a:ext cx="297881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DATA_COLLECTION_MODE=y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BLE_MODE_NONE=y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IMU cru na serial.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795564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5332" y="3250692"/>
            <a:ext cx="3253130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2492" y="3451860"/>
            <a:ext cx="29788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3 · Modelo próprio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2492" y="3872484"/>
            <a:ext cx="297881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Treina no Edge AI Lab,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troca o .c gerado,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recompila.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99434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mesmo código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5484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mesmo código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896612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O aluno nunca troca de projeto — só de Kconfig e de modelo.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O demo pronto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Rodar primeiro, entender depois: o que a aplicação faz de ponta a ponta.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1 · DEMO PRONTO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o demo faz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gesto vira tecla. Para o PC, o tag é um teclado comum — nada para instalar.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nRF54L15-TAG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IMU a 100 Hz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acel + giro, 6 canais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00501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30269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7429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E8F1F8"/>
                </a:solidFill>
                <a:latin typeface="Segoe UI"/>
              </a:rPr>
              <a:t>Modelo Neuton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7429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Roda na CPU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Cortex-M33, sem NPU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17539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7307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4467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BLE HID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4467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O tag é um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teclado Bluetooth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734577" y="3886200"/>
            <a:ext cx="356616" cy="14630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64345" y="3250692"/>
            <a:ext cx="2314117" cy="14173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01505" y="3451860"/>
            <a:ext cx="203979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01505" y="3872484"/>
            <a:ext cx="2039797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Slides ou música</a:t>
            </a:r>
          </a:p>
          <a:p>
            <a:pPr algn="ctr">
              <a:lnSpc>
                <a:spcPct val="11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sem driver nenhum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0421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6× int16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77459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classe + prob.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4497" y="2939796"/>
            <a:ext cx="16367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093D0"/>
                </a:solidFill>
                <a:latin typeface="Segoe UI"/>
              </a:rPr>
              <a:t>tecla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1 · DEMO PRONTO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Gestos reconhecidos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Duas modalidades, alternadas pelo botão. O LED indica qual está ativa.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31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88410"/>
                <a:gridCol w="3588410"/>
                <a:gridCol w="358841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Gesto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Apresentação · LED azul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Música · LED verde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Double shake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Play / pause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Double tap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Escape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Mute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Swipe right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Seta direita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Próxima faixa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Swipe left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Seta esquerda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Faixa anterior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Rotation clockwise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Volume +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Rotation counter-clockwise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Volume −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42239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42239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O modelo tem 8 classes: as 6 acima + IDLE (sem gesto) + UNKNOWN. No código, “double tap” chama-se DOUBLE_THUMB.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1 · DEMO PRONTO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posição inicial do gesto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modelo foi treinado com a TAG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nesta orientação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pegada errada, e o gesto certo vira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UNKNOWN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Use mais 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punho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do que o braço.</a:t>
            </a:r>
          </a:p>
        </p:txBody>
      </p:sp>
      <p:pic>
        <p:nvPicPr>
          <p:cNvPr id="9" name="Picture 8" descr="tag_orientacao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237" y="1810512"/>
            <a:ext cx="7475220" cy="4206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6089904"/>
            <a:ext cx="107652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Fonte: Edge AI Add-on — aplicação gesture_recognition. O GIF anima no modo apresentação.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1 · DEMO PRONTO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 gestos, em movimento — 1 de 2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Embaixo de cada gesto: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modo apresentação · modo música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Os GIFs animam no modo apresentação — fonte: Edge AI Add-on.</a:t>
            </a:r>
          </a:p>
        </p:txBody>
      </p:sp>
      <p:pic>
        <p:nvPicPr>
          <p:cNvPr id="9" name="Picture 8" descr="gesto_swipe_righ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29384"/>
            <a:ext cx="3454298" cy="27346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4788157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Swipe 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080765"/>
            <a:ext cx="34542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1B2B"/>
                </a:solidFill>
                <a:latin typeface="Segoe UI"/>
              </a:rPr>
              <a:t>Seta →</a:t>
            </a:r>
            <a:r>
              <a:rPr sz="1150" b="0" i="0">
                <a:solidFill>
                  <a:srgbClr val="566577"/>
                </a:solidFill>
                <a:latin typeface="Segoe UI"/>
              </a:rPr>
              <a:t> · próxima faixa</a:t>
            </a:r>
          </a:p>
        </p:txBody>
      </p:sp>
      <p:pic>
        <p:nvPicPr>
          <p:cNvPr id="12" name="Picture 11" descr="gesto_swipe_lef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698" y="1929384"/>
            <a:ext cx="3454298" cy="27490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68698" y="4788157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Swipe left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698" y="5080765"/>
            <a:ext cx="34542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1B2B"/>
                </a:solidFill>
                <a:latin typeface="Segoe UI"/>
              </a:rPr>
              <a:t>Seta ←</a:t>
            </a:r>
            <a:r>
              <a:rPr sz="1150" b="0" i="0">
                <a:solidFill>
                  <a:srgbClr val="566577"/>
                </a:solidFill>
                <a:latin typeface="Segoe UI"/>
              </a:rPr>
              <a:t> · faixa anterior</a:t>
            </a:r>
          </a:p>
        </p:txBody>
      </p:sp>
      <p:pic>
        <p:nvPicPr>
          <p:cNvPr id="15" name="Picture 14" descr="gesto_double_shake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164" y="1929384"/>
            <a:ext cx="3454298" cy="270586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4164" y="4788157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Double shake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4164" y="5080765"/>
            <a:ext cx="34542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1B2B"/>
                </a:solidFill>
                <a:latin typeface="Segoe UI"/>
              </a:rPr>
              <a:t>F5</a:t>
            </a:r>
            <a:r>
              <a:rPr sz="1150" b="0" i="0">
                <a:solidFill>
                  <a:srgbClr val="566577"/>
                </a:solidFill>
                <a:latin typeface="Segoe UI"/>
              </a:rPr>
              <a:t> · play / pause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1 · DEMO PRONTO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 gestos, em movimento — 2 de 2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As rotações só agem no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modo música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e são isentas do debounce, para o volume andar de forma contínua.</a:t>
            </a:r>
          </a:p>
        </p:txBody>
      </p:sp>
      <p:pic>
        <p:nvPicPr>
          <p:cNvPr id="9" name="Picture 8" descr="gesto_double_tap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929384"/>
            <a:ext cx="3454298" cy="27706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4809746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Double tap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102354"/>
            <a:ext cx="34542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1B2B"/>
                </a:solidFill>
                <a:latin typeface="Segoe UI"/>
              </a:rPr>
              <a:t>Esc</a:t>
            </a:r>
            <a:r>
              <a:rPr sz="1150" b="0" i="0">
                <a:solidFill>
                  <a:srgbClr val="566577"/>
                </a:solidFill>
                <a:latin typeface="Segoe UI"/>
              </a:rPr>
              <a:t> · mudo</a:t>
            </a:r>
          </a:p>
        </p:txBody>
      </p:sp>
      <p:pic>
        <p:nvPicPr>
          <p:cNvPr id="12" name="Picture 11" descr="gesto_rotation_righ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698" y="1929384"/>
            <a:ext cx="3454298" cy="276343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68698" y="4809746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Rotação horária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8698" y="5102354"/>
            <a:ext cx="34542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66577"/>
                </a:solidFill>
                <a:latin typeface="Segoe UI"/>
              </a:rPr>
              <a:t>— · </a:t>
            </a:r>
            <a:r>
              <a:rPr sz="1150" b="1" i="0">
                <a:solidFill>
                  <a:srgbClr val="0B1B2B"/>
                </a:solidFill>
                <a:latin typeface="Segoe UI"/>
              </a:rPr>
              <a:t>volume +</a:t>
            </a:r>
          </a:p>
        </p:txBody>
      </p:sp>
      <p:pic>
        <p:nvPicPr>
          <p:cNvPr id="15" name="Picture 14" descr="gesto_rotation_left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164" y="1929384"/>
            <a:ext cx="3454298" cy="268427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4164" y="4809746"/>
            <a:ext cx="34542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Rotação anti-horária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4164" y="5102354"/>
            <a:ext cx="345429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66577"/>
                </a:solidFill>
                <a:latin typeface="Segoe UI"/>
              </a:rPr>
              <a:t>— · </a:t>
            </a:r>
            <a:r>
              <a:rPr sz="1150" b="1" i="0">
                <a:solidFill>
                  <a:srgbClr val="0B1B2B"/>
                </a:solidFill>
                <a:latin typeface="Segoe UI"/>
              </a:rPr>
              <a:t>volume 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1 · DEMO PRONTO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Pareamento: cada dupla no seu tag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Com MITM ligado, o pareamento só fecha com confirmação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física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no tag.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56232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Numa sala com dez tags anunciando, é isso que resolve a ambiguidade.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300" b="1">
                <a:solidFill>
                  <a:srgbClr val="566577"/>
                </a:solidFill>
                <a:latin typeface="Segoe UI"/>
              </a:rPr>
              <a:t>Long press</a:t>
            </a:r>
            <a:r>
              <a:rPr sz="1300" b="0">
                <a:solidFill>
                  <a:srgbClr val="566577"/>
                </a:solidFill>
                <a:latin typeface="Segoe UI"/>
              </a:rPr>
              <a:t> (&gt; 2000 ms) confirma · </a:t>
            </a:r>
            <a:r>
              <a:rPr sz="1300" b="1">
                <a:solidFill>
                  <a:srgbClr val="566577"/>
                </a:solidFill>
                <a:latin typeface="Segoe UI"/>
              </a:rPr>
              <a:t>short press</a:t>
            </a:r>
            <a:r>
              <a:rPr sz="1300" b="0">
                <a:solidFill>
                  <a:srgbClr val="566577"/>
                </a:solidFill>
                <a:latin typeface="Segoe UI"/>
              </a:rPr>
              <a:t> (&lt; 500 ms) rejeita.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300" b="0">
                <a:solidFill>
                  <a:srgbClr val="566577"/>
                </a:solidFill>
                <a:latin typeface="Segoe UI"/>
              </a:rPr>
              <a:t>A conexão sobe para </a:t>
            </a:r>
            <a:r>
              <a:rPr sz="1300" b="1">
                <a:solidFill>
                  <a:srgbClr val="566577"/>
                </a:solidFill>
                <a:latin typeface="Segoe UI"/>
              </a:rPr>
              <a:t>Security Level 4</a:t>
            </a:r>
            <a:r>
              <a:rPr sz="1300" b="0">
                <a:solidFill>
                  <a:srgbClr val="566577"/>
                </a:solidFill>
                <a:latin typeface="Segoe UI"/>
              </a:rPr>
              <a:t> (LE Secure Connections autenticado).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44952"/>
            <a:ext cx="10765231" cy="2389632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3246120"/>
            <a:ext cx="10125151" cy="19872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Passkey for 9C:B6:D0:C0:CE:FC (public): 123456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===== Button Functionality (Pairing Confirmation Mode) =====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Short press (&lt; 500 ms): Reject pairing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Long press  (&gt; 2000 ms): Confirm pairing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==============================================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Connected 9C:B6:D0:C0:CE:FC (public)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Security changed: 9C:B6:D0:C0:CE:FC (public) level 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498592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Pareamento com problema? </a:t>
            </a:r>
            <a:r>
              <a:rPr sz="1200" b="1" i="1">
                <a:solidFill>
                  <a:srgbClr val="566577"/>
                </a:solidFill>
                <a:latin typeface="Segoe UI"/>
              </a:rPr>
              <a:t>Remova o dispositivo</a:t>
            </a:r>
            <a:r>
              <a:rPr sz="1200" b="0" i="1">
                <a:solidFill>
                  <a:srgbClr val="566577"/>
                </a:solidFill>
                <a:latin typeface="Segoe UI"/>
              </a:rPr>
              <a:t> no PC e limpe a TAG: </a:t>
            </a:r>
            <a:r>
              <a:rPr sz="1200" b="0" i="1">
                <a:solidFill>
                  <a:srgbClr val="566577"/>
                </a:solidFill>
                <a:latin typeface="Consolas"/>
              </a:rPr>
              <a:t>nrfutil device recover</a:t>
            </a:r>
            <a:r>
              <a:rPr sz="1200" b="0" i="1">
                <a:solidFill>
                  <a:srgbClr val="566577"/>
                </a:solidFill>
                <a:latin typeface="Segoe UI"/>
              </a:rPr>
              <a:t> ou </a:t>
            </a:r>
            <a:r>
              <a:rPr sz="1200" b="0" i="1">
                <a:solidFill>
                  <a:srgbClr val="566577"/>
                </a:solidFill>
                <a:latin typeface="Consolas"/>
              </a:rPr>
              <a:t>west flash --erase</a:t>
            </a:r>
            <a:r>
              <a:rPr sz="1200" b="0" i="1">
                <a:solidFill>
                  <a:srgbClr val="566577"/>
                </a:solidFill>
                <a:latin typeface="Segoe UI"/>
              </a:rPr>
              <a:t> — os bonds moram na flash e um flash normal não os apaga.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Anatomia do exemplo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Quais módulos existem e como conversam entre si — o mapa antes do zoom.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NÍVEL 1 · ANATOMIA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Mapa dos módulos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Quatro camadas. Só a de baixo vem do Add-on — o resto é a aplicação.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10765231" cy="658368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9751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22C3E6"/>
                </a:solidFill>
                <a:latin typeface="Segoe UI"/>
              </a:rPr>
              <a:t>ORQUESTRADOR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2128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8F1F8"/>
                </a:solidFill>
                <a:latin typeface="Consolas"/>
              </a:rPr>
              <a:t>main.c</a:t>
            </a:r>
            <a:r>
              <a:rPr sz="1300" b="0" i="0">
                <a:solidFill>
                  <a:srgbClr val="E8F1F8"/>
                </a:solidFill>
                <a:latin typeface="Segoe UI"/>
              </a:rPr>
              <a:t> — inicializa tudo, roda o laço e liga sensor → modelo → 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779776"/>
            <a:ext cx="3454298" cy="2212848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926080"/>
            <a:ext cx="305196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0093D0"/>
                </a:solidFill>
                <a:latin typeface="Segoe UI"/>
              </a:rPr>
              <a:t>HARDWARE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305196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66577"/>
                </a:solidFill>
                <a:latin typeface="Consolas"/>
              </a:rPr>
              <a:t>hw_modules/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493008"/>
            <a:ext cx="3051962" cy="4023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520440"/>
            <a:ext cx="290565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B2B"/>
                </a:solidFill>
                <a:latin typeface="Segoe UI"/>
              </a:rPr>
              <a:t>imu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703320"/>
            <a:ext cx="290565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imu_init(cfg, cb) · imu_read()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950208"/>
            <a:ext cx="3051962" cy="4023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977640"/>
            <a:ext cx="290565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B2B"/>
                </a:solidFill>
                <a:latin typeface="Segoe UI"/>
              </a:rPr>
              <a:t>button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160520"/>
            <a:ext cx="290565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click curto / longo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4407408"/>
            <a:ext cx="3051962" cy="4023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4434840"/>
            <a:ext cx="290565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B2B"/>
                </a:solidFill>
                <a:latin typeface="Segoe UI"/>
              </a:rPr>
              <a:t>led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617720"/>
            <a:ext cx="290565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estado e brilho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8698" y="2779776"/>
            <a:ext cx="3454298" cy="2212848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69866" y="2926080"/>
            <a:ext cx="305196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0093D0"/>
                </a:solidFill>
                <a:latin typeface="Segoe UI"/>
              </a:rPr>
              <a:t>ESTADO E DECISÃO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9866" y="3182112"/>
            <a:ext cx="305196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66577"/>
                </a:solidFill>
                <a:latin typeface="Consolas"/>
              </a:rPr>
              <a:t>uxsm/ · raiz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69866" y="3493008"/>
            <a:ext cx="3051962" cy="4023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79594" y="3520440"/>
            <a:ext cx="290565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B2B"/>
                </a:solidFill>
                <a:latin typeface="Segoe UI"/>
              </a:rPr>
              <a:t>ux_state_manager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9594" y="3703320"/>
            <a:ext cx="290565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modo apresentação ↔ música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69866" y="3950208"/>
            <a:ext cx="3051962" cy="4023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79594" y="3977640"/>
            <a:ext cx="290565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B2B"/>
                </a:solidFill>
                <a:latin typeface="Segoe UI"/>
              </a:rPr>
              <a:t>inference_postproc.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79594" y="4160520"/>
            <a:ext cx="290565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filtra a saída do modelo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24164" y="2779776"/>
            <a:ext cx="3454298" cy="2212848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5332" y="2926080"/>
            <a:ext cx="305196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0093D0"/>
                </a:solidFill>
                <a:latin typeface="Segoe UI"/>
              </a:rPr>
              <a:t>CONECTIVIDADE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5332" y="3182112"/>
            <a:ext cx="305196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66577"/>
                </a:solidFill>
                <a:latin typeface="Consolas"/>
              </a:rPr>
              <a:t>ble/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5332" y="3493008"/>
            <a:ext cx="3051962" cy="4023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5060" y="3520440"/>
            <a:ext cx="290565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B2B"/>
                </a:solidFill>
                <a:latin typeface="Segoe UI"/>
              </a:rPr>
              <a:t>ble_common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5060" y="3703320"/>
            <a:ext cx="290565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estado da conexão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5332" y="3950208"/>
            <a:ext cx="3051962" cy="4023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35060" y="3977640"/>
            <a:ext cx="290565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B2B"/>
                </a:solidFill>
                <a:latin typeface="Segoe UI"/>
              </a:rPr>
              <a:t>ble_hid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5060" y="4160520"/>
            <a:ext cx="290565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teclado (escolhido por Kconfig)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5332" y="4407408"/>
            <a:ext cx="3051962" cy="4023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35060" y="4434840"/>
            <a:ext cx="290565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B1B2B"/>
                </a:solidFill>
                <a:latin typeface="Segoe UI"/>
              </a:rPr>
              <a:t>ble_nus · ble_gatt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5060" y="4617720"/>
            <a:ext cx="290565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alternativas do mesmo slot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3232" y="5230368"/>
            <a:ext cx="10765231" cy="9601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" y="5349240"/>
            <a:ext cx="7680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22C3E6"/>
                </a:solidFill>
                <a:latin typeface="Segoe UI"/>
              </a:rPr>
              <a:t>MOTOR DE INFERÊNCIA · VEM DO ADD-ON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" y="5650992"/>
            <a:ext cx="4971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8F1F8"/>
                </a:solidFill>
                <a:latin typeface="Consolas"/>
              </a:rPr>
              <a:t>runtime nrf_edgeai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" y="5888736"/>
            <a:ext cx="4971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3A6B8"/>
                </a:solidFill>
                <a:latin typeface="Segoe UI"/>
              </a:rPr>
              <a:t>feed_inputs() · run_inference() · decoded_output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3007" y="5650992"/>
            <a:ext cx="4971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8F1F8"/>
                </a:solidFill>
                <a:latin typeface="Consolas"/>
              </a:rPr>
              <a:t>nrf_edgeai_user_model.c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33007" y="5888736"/>
            <a:ext cx="49711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3A6B8"/>
                </a:solidFill>
                <a:latin typeface="Segoe UI"/>
              </a:rPr>
              <a:t>o modelo gerado no Edge AI Lab — é o que você troca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NÍVEL 1 · ANATOMIA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Como os módulos conversam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Três padrões, três cores.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main.c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é o hub — a única ligação direta entre módulos é o botão registrar seu callback no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uxsm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386584"/>
            <a:ext cx="2331720" cy="15544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532888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Consolas"/>
              </a:rPr>
              <a:t>imu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862072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Sensor API · BMI270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k_timer de 10 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6552" y="2386584"/>
            <a:ext cx="3346704" cy="155448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2532888"/>
            <a:ext cx="31638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8F1F8"/>
                </a:solidFill>
                <a:latin typeface="Consolas"/>
              </a:rPr>
              <a:t>main.c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862072"/>
            <a:ext cx="316382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93A6B8"/>
                </a:solidFill>
                <a:latin typeface="Segoe UI"/>
              </a:rPr>
              <a:t>o laço de inferência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93A6B8"/>
                </a:solidFill>
                <a:latin typeface="Segoe UI"/>
              </a:rPr>
              <a:t>+ inference_postprocess()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93A6B8"/>
                </a:solidFill>
                <a:latin typeface="Segoe UI"/>
              </a:rPr>
              <a:t>+ should_act_on_prediction()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6743" y="2386584"/>
            <a:ext cx="2331720" cy="15544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8183" y="2532888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Consolas"/>
              </a:rPr>
              <a:t>ble_hid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8183" y="2862072"/>
            <a:ext cx="2148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teclado BLE HID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(+ ble_common)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" y="4764024"/>
            <a:ext cx="2194560" cy="8686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91032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Consolas"/>
              </a:rPr>
              <a:t>button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5239512"/>
            <a:ext cx="2011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clique curto / longo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48272" y="4764024"/>
            <a:ext cx="2651760" cy="8686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9712" y="4910328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Consolas"/>
              </a:rPr>
              <a:t>ux_state_manager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5239512"/>
            <a:ext cx="2468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apresentação ↔ música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044952" y="2784348"/>
            <a:ext cx="1371600" cy="118872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Left Arrow 24"/>
          <p:cNvSpPr/>
          <p:nvPr/>
        </p:nvSpPr>
        <p:spPr>
          <a:xfrm>
            <a:off x="3044952" y="3515868"/>
            <a:ext cx="1371600" cy="118872"/>
          </a:xfrm>
          <a:prstGeom prst="leftArrow">
            <a:avLst/>
          </a:prstGeom>
          <a:solidFill>
            <a:srgbClr val="56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7763256" y="2784348"/>
            <a:ext cx="1383487" cy="118872"/>
          </a:xfrm>
          <a:prstGeom prst="rightArrow">
            <a:avLst/>
          </a:prstGeom>
          <a:solidFill>
            <a:srgbClr val="56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ft Arrow 26"/>
          <p:cNvSpPr/>
          <p:nvPr/>
        </p:nvSpPr>
        <p:spPr>
          <a:xfrm>
            <a:off x="7763256" y="3515868"/>
            <a:ext cx="1383487" cy="118872"/>
          </a:xfrm>
          <a:prstGeom prst="leftArrow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3182112" y="5143500"/>
            <a:ext cx="3566160" cy="118872"/>
          </a:xfrm>
          <a:prstGeom prst="rightArrow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7557516" y="3941064"/>
            <a:ext cx="118872" cy="822960"/>
          </a:xfrm>
          <a:prstGeom prst="downArrow">
            <a:avLst/>
          </a:prstGeom>
          <a:solidFill>
            <a:srgbClr val="56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33472" y="2569464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0224E"/>
                </a:solidFill>
                <a:latin typeface="Consolas"/>
              </a:rPr>
              <a:t>k_sem_give()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33472" y="2990088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 spc="140">
                <a:solidFill>
                  <a:srgbClr val="0093D0"/>
                </a:solidFill>
                <a:latin typeface="Segoe UI"/>
              </a:rPr>
              <a:t>SEMÁFORO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33472" y="3300984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0224E"/>
                </a:solidFill>
                <a:latin typeface="Consolas"/>
              </a:rPr>
              <a:t>imu_read()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33472" y="3721608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 spc="140">
                <a:solidFill>
                  <a:srgbClr val="566577"/>
                </a:solidFill>
                <a:latin typeface="Segoe UI"/>
              </a:rPr>
              <a:t>CHAMADA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2569464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0224E"/>
                </a:solidFill>
                <a:latin typeface="Consolas"/>
              </a:rPr>
              <a:t>ble_hid_send_key()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2990088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 spc="140">
                <a:solidFill>
                  <a:srgbClr val="566577"/>
                </a:solidFill>
                <a:latin typeface="Segoe UI"/>
              </a:rPr>
              <a:t>CHAMADA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27264" y="3300984"/>
            <a:ext cx="32918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00224E"/>
                </a:solidFill>
                <a:latin typeface="Consolas"/>
              </a:rPr>
              <a:t>main_ble_connection_notification()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3721608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 spc="140">
                <a:solidFill>
                  <a:srgbClr val="22C3E6"/>
                </a:solidFill>
                <a:latin typeface="Segoe UI"/>
              </a:rPr>
              <a:t>CALLBACK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67912" y="4928616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00224E"/>
                </a:solidFill>
                <a:latin typeface="Consolas"/>
              </a:rPr>
              <a:t>button_reg_click_handler()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67912" y="5349240"/>
            <a:ext cx="21945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 spc="140">
                <a:solidFill>
                  <a:srgbClr val="22C3E6"/>
                </a:solidFill>
                <a:latin typeface="Segoe UI"/>
              </a:rPr>
              <a:t>CALLBACK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54112" y="4050792"/>
            <a:ext cx="2926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00224E"/>
                </a:solidFill>
                <a:latin typeface="Consolas"/>
              </a:rPr>
              <a:t>uxsm_get_remotectrl_mode()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54112" y="427024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140">
                <a:solidFill>
                  <a:srgbClr val="566577"/>
                </a:solidFill>
                <a:latin typeface="Segoe UI"/>
              </a:rPr>
              <a:t>GETTER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13232" y="5952744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0976" y="5925312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semáforo (dado quente)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64992" y="5952744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02736" y="5925312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callback (evento)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016752" y="5952744"/>
            <a:ext cx="164592" cy="164592"/>
          </a:xfrm>
          <a:prstGeom prst="roundRect">
            <a:avLst>
              <a:gd name="adj" fmla="val 25000"/>
            </a:avLst>
          </a:prstGeom>
          <a:solidFill>
            <a:srgbClr val="56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54496" y="5925312"/>
            <a:ext cx="23774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chamada / getter (estado)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O mecanismo de inferência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Zoom no caminho da amostra até a ação — os nomes de função que você vai reusar.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NÍVEL 2 · MECANISMO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Do sensor ao modelo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Quatro participantes, dois contextos: a IRQ do timer só dá o tique —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todo o trabalho acontece na thread do main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do outro lado do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5885" y="1883664"/>
            <a:ext cx="2286000" cy="566928"/>
          </a:xfrm>
          <a:prstGeom prst="roundRect">
            <a:avLst>
              <a:gd name="adj" fmla="val 7000"/>
            </a:avLst>
          </a:prstGeom>
          <a:solidFill>
            <a:srgbClr val="E1F0FA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5885" y="1947672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Consolas"/>
              </a:rPr>
              <a:t>k_timer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5885" y="2203704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contexto de IRQ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51265" y="2450592"/>
            <a:ext cx="15240" cy="3675888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07193" y="1883664"/>
            <a:ext cx="2286000" cy="566928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7193" y="1947672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E8F1F8"/>
                </a:solidFill>
                <a:latin typeface="Consolas"/>
              </a:rPr>
              <a:t>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7193" y="2203704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93A6B8"/>
                </a:solidFill>
                <a:latin typeface="Segoe UI"/>
              </a:rPr>
              <a:t>thread da aplicação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42573" y="2450592"/>
            <a:ext cx="15240" cy="3675888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98501" y="1883664"/>
            <a:ext cx="2286000" cy="566928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8501" y="1947672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Consolas"/>
              </a:rPr>
              <a:t>imu.c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8501" y="2203704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Sensor API · BMI270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33881" y="2450592"/>
            <a:ext cx="15240" cy="3675888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989809" y="1883664"/>
            <a:ext cx="2286000" cy="566928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89809" y="1947672"/>
            <a:ext cx="2286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Consolas"/>
              </a:rPr>
              <a:t>runtime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9809" y="2203704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nrf_edgeai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25189" y="2450592"/>
            <a:ext cx="15240" cy="3675888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35529" y="2505456"/>
            <a:ext cx="21945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1">
                <a:solidFill>
                  <a:srgbClr val="0093D0"/>
                </a:solidFill>
                <a:latin typeface="Segoe UI"/>
              </a:rPr>
              <a:t>loop · repete a cada 10 ms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077173" y="2912364"/>
            <a:ext cx="2654732" cy="10058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67179" y="2679192"/>
            <a:ext cx="3474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Consolas"/>
              </a:rPr>
              <a:t>k_sem_give()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7179" y="3044952"/>
            <a:ext cx="3474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1">
                <a:solidFill>
                  <a:srgbClr val="566577"/>
                </a:solidFill>
                <a:latin typeface="Segoe UI"/>
              </a:rPr>
              <a:t>libera o main preso no k_sem_take()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768481" y="3369564"/>
            <a:ext cx="2654732" cy="100584"/>
          </a:xfrm>
          <a:prstGeom prst="rightArrow">
            <a:avLst/>
          </a:prstGeom>
          <a:solidFill>
            <a:srgbClr val="56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8487" y="3136392"/>
            <a:ext cx="3474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Consolas"/>
              </a:rPr>
              <a:t>imu_read()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58487" y="3502152"/>
            <a:ext cx="3474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1">
                <a:solidFill>
                  <a:srgbClr val="566577"/>
                </a:solidFill>
                <a:latin typeface="Segoe UI"/>
              </a:rPr>
              <a:t>sensor_sample_fetch + channel_get</a:t>
            </a:r>
          </a:p>
        </p:txBody>
      </p:sp>
      <p:sp>
        <p:nvSpPr>
          <p:cNvPr id="32" name="Left Arrow 31"/>
          <p:cNvSpPr/>
          <p:nvPr/>
        </p:nvSpPr>
        <p:spPr>
          <a:xfrm>
            <a:off x="4768481" y="3826764"/>
            <a:ext cx="2654732" cy="100584"/>
          </a:xfrm>
          <a:prstGeom prst="leftArrow">
            <a:avLst/>
          </a:prstGeom>
          <a:solidFill>
            <a:srgbClr val="56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58487" y="3593592"/>
            <a:ext cx="3474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Consolas"/>
              </a:rPr>
              <a:t>imu_data_t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58487" y="3959352"/>
            <a:ext cx="3474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1">
                <a:solidFill>
                  <a:srgbClr val="566577"/>
                </a:solidFill>
                <a:latin typeface="Segoe UI"/>
              </a:rPr>
              <a:t>raw = phys × 1000, em int16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4768481" y="4283964"/>
            <a:ext cx="5346040" cy="10058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04141" y="4050792"/>
            <a:ext cx="3474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Consolas"/>
              </a:rPr>
              <a:t>feed_inputs(int16[6])</a:t>
            </a:r>
          </a:p>
        </p:txBody>
      </p:sp>
      <p:sp>
        <p:nvSpPr>
          <p:cNvPr id="37" name="Left Arrow 36"/>
          <p:cNvSpPr/>
          <p:nvPr/>
        </p:nvSpPr>
        <p:spPr>
          <a:xfrm>
            <a:off x="4768481" y="4741164"/>
            <a:ext cx="5346040" cy="100584"/>
          </a:xfrm>
          <a:prstGeom prst="leftArrow">
            <a:avLst/>
          </a:prstGeom>
          <a:solidFill>
            <a:srgbClr val="56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04141" y="4507992"/>
            <a:ext cx="3474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Consolas"/>
              </a:rPr>
              <a:t>INPROGRESS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04141" y="4873752"/>
            <a:ext cx="3474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1">
                <a:solidFill>
                  <a:srgbClr val="566577"/>
                </a:solidFill>
                <a:latin typeface="Segoe UI"/>
              </a:rPr>
              <a:t>32 de cada 33 — só guardou a amostra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4768481" y="5198364"/>
            <a:ext cx="5346040" cy="100584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04141" y="4965192"/>
            <a:ext cx="3474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Consolas"/>
              </a:rPr>
              <a:t>run_inference()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04141" y="5330952"/>
            <a:ext cx="3474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1">
                <a:solidFill>
                  <a:srgbClr val="566577"/>
                </a:solidFill>
                <a:latin typeface="Segoe UI"/>
              </a:rPr>
              <a:t>1 de cada 33 — janela deslocou</a:t>
            </a:r>
          </a:p>
        </p:txBody>
      </p:sp>
      <p:sp>
        <p:nvSpPr>
          <p:cNvPr id="43" name="Left Arrow 42"/>
          <p:cNvSpPr/>
          <p:nvPr/>
        </p:nvSpPr>
        <p:spPr>
          <a:xfrm>
            <a:off x="4768481" y="5655564"/>
            <a:ext cx="5346040" cy="100584"/>
          </a:xfrm>
          <a:prstGeom prst="leftArrow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04141" y="5422392"/>
            <a:ext cx="34747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Consolas"/>
              </a:rPr>
              <a:t>classe + probabilidades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04141" y="5788152"/>
            <a:ext cx="3474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1">
                <a:solidFill>
                  <a:srgbClr val="566577"/>
                </a:solidFill>
                <a:latin typeface="Segoe UI"/>
              </a:rPr>
              <a:t>decoded_output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NÍVEL 2 · MECANISMO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janela desliza dentro do runtime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aplicação entrega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uma amostra por vez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O runtime guarda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99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(≈ 1 s de movimento) e roda a inferência a cada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33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novas (~330 ms).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011680"/>
            <a:ext cx="8479231" cy="1905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975104"/>
            <a:ext cx="15240" cy="91440"/>
          </a:xfrm>
          <a:prstGeom prst="rect">
            <a:avLst/>
          </a:prstGeom>
          <a:solidFill>
            <a:srgbClr val="56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075688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09078" y="1975104"/>
            <a:ext cx="15240" cy="91440"/>
          </a:xfrm>
          <a:prstGeom prst="rect">
            <a:avLst/>
          </a:prstGeom>
          <a:solidFill>
            <a:srgbClr val="56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4758" y="2075688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33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04924" y="1975104"/>
            <a:ext cx="15240" cy="91440"/>
          </a:xfrm>
          <a:prstGeom prst="rect">
            <a:avLst/>
          </a:prstGeom>
          <a:solidFill>
            <a:srgbClr val="56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30604" y="2075688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66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00770" y="1975104"/>
            <a:ext cx="15240" cy="91440"/>
          </a:xfrm>
          <a:prstGeom prst="rect">
            <a:avLst/>
          </a:prstGeom>
          <a:solidFill>
            <a:srgbClr val="56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26450" y="2075688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99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6616" y="1975104"/>
            <a:ext cx="15240" cy="91440"/>
          </a:xfrm>
          <a:prstGeom prst="rect">
            <a:avLst/>
          </a:prstGeom>
          <a:solidFill>
            <a:srgbClr val="56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2296" y="2075688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132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92463" y="1975104"/>
            <a:ext cx="15240" cy="91440"/>
          </a:xfrm>
          <a:prstGeom prst="rect">
            <a:avLst/>
          </a:prstGeom>
          <a:solidFill>
            <a:srgbClr val="56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8143" y="2075688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165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9623" y="193852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66577"/>
                </a:solidFill>
                <a:latin typeface="Segoe UI"/>
              </a:rPr>
              <a:t>amostras · 10 ms cada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2359152"/>
            <a:ext cx="5087538" cy="365760"/>
          </a:xfrm>
          <a:prstGeom prst="roundRect">
            <a:avLst>
              <a:gd name="adj" fmla="val 18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9623" y="2404872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B2B"/>
                </a:solidFill>
                <a:latin typeface="Segoe UI"/>
              </a:rPr>
              <a:t>1ª inferência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 · t ≈ 1,0 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09078" y="2862072"/>
            <a:ext cx="3391692" cy="365760"/>
          </a:xfrm>
          <a:prstGeom prst="roundRect">
            <a:avLst>
              <a:gd name="adj" fmla="val 18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800770" y="2862072"/>
            <a:ext cx="1695846" cy="365760"/>
          </a:xfrm>
          <a:prstGeom prst="roundRect">
            <a:avLst>
              <a:gd name="adj" fmla="val 18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9623" y="2907792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B2B"/>
                </a:solidFill>
                <a:latin typeface="Segoe UI"/>
              </a:rPr>
              <a:t>2ª inferência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 · t ≈ 1,33 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04924" y="3364992"/>
            <a:ext cx="3391692" cy="365760"/>
          </a:xfrm>
          <a:prstGeom prst="roundRect">
            <a:avLst>
              <a:gd name="adj" fmla="val 18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96616" y="3364992"/>
            <a:ext cx="1695847" cy="365760"/>
          </a:xfrm>
          <a:prstGeom prst="roundRect">
            <a:avLst>
              <a:gd name="adj" fmla="val 18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9623" y="3410712"/>
            <a:ext cx="2103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B2B"/>
                </a:solidFill>
                <a:latin typeface="Segoe UI"/>
              </a:rPr>
              <a:t>3ª inferência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 · t ≈ 1,66 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3904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3877056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33 amostras novas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07792" y="39044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82112" y="3877056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66 reaproveitadas da janela anterior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4270248"/>
            <a:ext cx="10765231" cy="155448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4398264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20">
                <a:solidFill>
                  <a:srgbClr val="22C3E6"/>
                </a:solidFill>
                <a:latin typeface="Segoe UI"/>
              </a:rPr>
              <a:t>O CONTRATO VISTO PELO CÓDIGO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7552" y="4690872"/>
            <a:ext cx="10216591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3A6B8"/>
                </a:solidFill>
                <a:latin typeface="Consolas"/>
              </a:rPr>
              <a:t>feed_inputs()</a:t>
            </a:r>
            <a:r>
              <a:rPr sz="1100" b="0" i="0">
                <a:solidFill>
                  <a:srgbClr val="93A6B8"/>
                </a:solidFill>
                <a:latin typeface="Segoe UI"/>
              </a:rPr>
              <a:t> devolve </a:t>
            </a:r>
            <a:r>
              <a:rPr sz="1100" b="0" i="0">
                <a:solidFill>
                  <a:srgbClr val="93A6B8"/>
                </a:solidFill>
                <a:latin typeface="Consolas"/>
              </a:rPr>
              <a:t>INPROGRESS</a:t>
            </a:r>
            <a:r>
              <a:rPr sz="1100" b="0" i="0">
                <a:solidFill>
                  <a:srgbClr val="93A6B8"/>
                </a:solidFill>
                <a:latin typeface="Segoe UI"/>
              </a:rPr>
              <a:t> → amostra guardada, </a:t>
            </a:r>
            <a:r>
              <a:rPr sz="1100" b="1" i="0">
                <a:solidFill>
                  <a:srgbClr val="E8F1F8"/>
                </a:solidFill>
                <a:latin typeface="Segoe UI"/>
              </a:rPr>
              <a:t>nada a fazer</a:t>
            </a:r>
            <a:r>
              <a:rPr sz="1100" b="0" i="0">
                <a:solidFill>
                  <a:srgbClr val="93A6B8"/>
                </a:solidFill>
                <a:latin typeface="Segoe UI"/>
              </a:rPr>
              <a:t> — 32 de cada 33 vezes.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3A6B8"/>
                </a:solidFill>
                <a:latin typeface="Consolas"/>
              </a:rPr>
              <a:t>feed_inputs()</a:t>
            </a:r>
            <a:r>
              <a:rPr sz="1100" b="0" i="0">
                <a:solidFill>
                  <a:srgbClr val="93A6B8"/>
                </a:solidFill>
                <a:latin typeface="Segoe UI"/>
              </a:rPr>
              <a:t> devolve </a:t>
            </a:r>
            <a:r>
              <a:rPr sz="1100" b="0" i="0">
                <a:solidFill>
                  <a:srgbClr val="93A6B8"/>
                </a:solidFill>
                <a:latin typeface="Consolas"/>
              </a:rPr>
              <a:t>SUCCESS</a:t>
            </a:r>
            <a:r>
              <a:rPr sz="1100" b="0" i="0">
                <a:solidFill>
                  <a:srgbClr val="93A6B8"/>
                </a:solidFill>
                <a:latin typeface="Segoe UI"/>
              </a:rPr>
              <a:t> → a janela deslocou — </a:t>
            </a:r>
            <a:r>
              <a:rPr sz="1100" b="1" i="0">
                <a:solidFill>
                  <a:srgbClr val="E8F1F8"/>
                </a:solidFill>
                <a:latin typeface="Segoe UI"/>
              </a:rPr>
              <a:t>agora sim</a:t>
            </a:r>
            <a:r>
              <a:rPr sz="1100" b="0" i="0">
                <a:solidFill>
                  <a:srgbClr val="93A6B8"/>
                </a:solidFill>
                <a:latin typeface="Segoe UI"/>
              </a:rPr>
              <a:t>: </a:t>
            </a:r>
            <a:r>
              <a:rPr sz="1100" b="0" i="0">
                <a:solidFill>
                  <a:srgbClr val="93A6B8"/>
                </a:solidFill>
                <a:latin typeface="Consolas"/>
              </a:rPr>
              <a:t>run_inference()</a:t>
            </a:r>
            <a:r>
              <a:rPr sz="1100" b="0" i="0">
                <a:solidFill>
                  <a:srgbClr val="93A6B8"/>
                </a:solidFill>
                <a:latin typeface="Segoe UI"/>
              </a:rPr>
              <a:t> (1 de cada 33).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A primeira inferência só sai com a janela cheia: 99 amostras ≈ </a:t>
            </a:r>
            <a:r>
              <a:rPr sz="1100" b="1" i="0">
                <a:solidFill>
                  <a:srgbClr val="E8F1F8"/>
                </a:solidFill>
                <a:latin typeface="Segoe UI"/>
              </a:rPr>
              <a:t>1 s depois de ligar</a:t>
            </a:r>
            <a:r>
              <a:rPr sz="1100" b="0" i="0">
                <a:solidFill>
                  <a:srgbClr val="93A6B8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3A6B8"/>
                </a:solidFill>
                <a:latin typeface="Segoe UI"/>
              </a:rPr>
              <a:t>Streaming é opção, não regra: os samples do Add-on alimentam a </a:t>
            </a:r>
            <a:r>
              <a:rPr sz="1100" b="1" i="0">
                <a:solidFill>
                  <a:srgbClr val="E8F1F8"/>
                </a:solidFill>
                <a:latin typeface="Segoe UI"/>
              </a:rPr>
              <a:t>janela inteira de uma vez</a:t>
            </a:r>
            <a:r>
              <a:rPr sz="1100" b="0" i="0">
                <a:solidFill>
                  <a:srgbClr val="93A6B8"/>
                </a:solidFill>
                <a:latin typeface="Segoe UI"/>
              </a:rPr>
              <a:t> (</a:t>
            </a:r>
            <a:r>
              <a:rPr sz="1100" b="0" i="0">
                <a:solidFill>
                  <a:srgbClr val="93A6B8"/>
                </a:solidFill>
                <a:latin typeface="Consolas"/>
              </a:rPr>
              <a:t>6 × 99</a:t>
            </a:r>
            <a:r>
              <a:rPr sz="1100" b="0" i="0">
                <a:solidFill>
                  <a:srgbClr val="93A6B8"/>
                </a:solidFill>
                <a:latin typeface="Segoe UI"/>
              </a:rPr>
              <a:t> valores).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NÍVEL 2 · MECANISMO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Amostra a amostra ou janela inteira?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API é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uma só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feed_inputs()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aceita qualquer quantidade. O que muda é o contrato de retorno.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31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88410"/>
                <a:gridCol w="3588410"/>
                <a:gridCol w="358841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Aspecto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Streaming (este demo)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Em blocos (samples do Add-on)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Cada feed_inputs() entrega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1 amostra (6 valores)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janela inteira (uniq × window_size valores)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Retorno típico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INPROGRESS 32 de 33 — normal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SUCCESS já na primeira chamada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Quem bufferiza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runtime (janela interna)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aplicação — o dado já está completo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Sobreposição de janelas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de graça: shift &lt; janela (99/33)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nenhuma: janela = shift (128/128 na anomalia)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Primeira inferência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só com a janela cheia (~1 s)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imediata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Use quando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sensor contínuo em tempo real (IMU)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dataset de validação · dado que chega em bloco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42239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42239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Os samples de classificação/regressão/anomalia do Add-on alimentam uniq_inputs_num() × input_window_size() de uma vez para validar datasets. A escolha vem do modelo (janela/shift no Edge AI Lab), não do código.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NÍVEL 2 · MECANISMO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entra e o que sai da engine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fronteira, agora conectada: de onde o dado vem, o que a engine faz por dentro, e quem decide depois dela.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026664"/>
            <a:ext cx="1737360" cy="13716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227832"/>
            <a:ext cx="15179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B1B2B"/>
                </a:solidFill>
                <a:latin typeface="Consolas"/>
              </a:rPr>
              <a:t>imu_read()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575304"/>
            <a:ext cx="15179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BMI270</a:t>
            </a:r>
          </a:p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acel + giro · 100 Hz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3592" y="1975104"/>
            <a:ext cx="3108960" cy="338328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2" y="2103120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spc="130">
                <a:solidFill>
                  <a:srgbClr val="22C3E6"/>
                </a:solidFill>
                <a:latin typeface="Segoe UI"/>
              </a:rPr>
              <a:t>ENGINE · nrf_edgeai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22192" y="2487168"/>
            <a:ext cx="2651760" cy="603504"/>
          </a:xfrm>
          <a:prstGeom prst="roundRect">
            <a:avLst>
              <a:gd name="adj" fmla="val 12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50208" y="2560320"/>
            <a:ext cx="2395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8F1F8"/>
                </a:solidFill>
                <a:latin typeface="Consolas"/>
              </a:rPr>
              <a:t>janela deslizante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50208" y="2798064"/>
            <a:ext cx="2395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3A6B8"/>
                </a:solidFill>
                <a:latin typeface="Segoe UI"/>
              </a:rPr>
              <a:t>guarda 99 · desloca 33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097780" y="3145536"/>
            <a:ext cx="100584" cy="146304"/>
          </a:xfrm>
          <a:prstGeom prst="downArrow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22192" y="3346704"/>
            <a:ext cx="2651760" cy="603504"/>
          </a:xfrm>
          <a:prstGeom prst="roundRect">
            <a:avLst>
              <a:gd name="adj" fmla="val 12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50208" y="3419856"/>
            <a:ext cx="2395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8F1F8"/>
                </a:solidFill>
                <a:latin typeface="Consolas"/>
              </a:rPr>
              <a:t>DSP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0208" y="3657600"/>
            <a:ext cx="2395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3A6B8"/>
                </a:solidFill>
                <a:latin typeface="Segoe UI"/>
              </a:rPr>
              <a:t>extração de features (gerada no Lab)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5097780" y="4005072"/>
            <a:ext cx="100584" cy="146304"/>
          </a:xfrm>
          <a:prstGeom prst="downArrow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22192" y="4206240"/>
            <a:ext cx="2651760" cy="603504"/>
          </a:xfrm>
          <a:prstGeom prst="roundRect">
            <a:avLst>
              <a:gd name="adj" fmla="val 12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50208" y="4279392"/>
            <a:ext cx="2395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8F1F8"/>
                </a:solidFill>
                <a:latin typeface="Consolas"/>
              </a:rPr>
              <a:t>NN Neuton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0208" y="4517136"/>
            <a:ext cx="23957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93A6B8"/>
                </a:solidFill>
                <a:latin typeface="Segoe UI"/>
              </a:rPr>
              <a:t>classificador · 8 saídas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22192" y="491947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1">
                <a:solidFill>
                  <a:srgbClr val="93A6B8"/>
                </a:solidFill>
                <a:latin typeface="Segoe UI"/>
              </a:rPr>
              <a:t>tudo isso vem no nrf_edgeai_user_model.c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8432" y="2295144"/>
            <a:ext cx="3450031" cy="274320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2423160"/>
            <a:ext cx="30476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 spc="130">
                <a:solidFill>
                  <a:srgbClr val="0093D0"/>
                </a:solidFill>
                <a:latin typeface="Segoe UI"/>
              </a:rPr>
              <a:t>A APLICAÇÃO DECIDE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2779776"/>
            <a:ext cx="3047695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6" y="2852928"/>
            <a:ext cx="27916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B2B"/>
                </a:solidFill>
                <a:latin typeface="Consolas"/>
              </a:rPr>
              <a:t>inference_postprocess()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3090672"/>
            <a:ext cx="27916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66577"/>
                </a:solidFill>
                <a:latin typeface="Segoe UI"/>
              </a:rPr>
              <a:t>filtro 1 · concordância</a:t>
            </a:r>
          </a:p>
        </p:txBody>
      </p:sp>
      <p:sp>
        <p:nvSpPr>
          <p:cNvPr id="31" name="Down Arrow 30"/>
          <p:cNvSpPr/>
          <p:nvPr/>
        </p:nvSpPr>
        <p:spPr>
          <a:xfrm>
            <a:off x="9703155" y="3419856"/>
            <a:ext cx="100584" cy="146304"/>
          </a:xfrm>
          <a:prstGeom prst="downArrow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229600" y="3602736"/>
            <a:ext cx="3047695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7616" y="3675888"/>
            <a:ext cx="27916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B2B"/>
                </a:solidFill>
                <a:latin typeface="Consolas"/>
              </a:rPr>
              <a:t>should_act_on_prediction()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6" y="3913632"/>
            <a:ext cx="27916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66577"/>
                </a:solidFill>
                <a:latin typeface="Segoe UI"/>
              </a:rPr>
              <a:t>filtro 2 · debounce 800 ms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9703155" y="4242816"/>
            <a:ext cx="100584" cy="146304"/>
          </a:xfrm>
          <a:prstGeom prst="downArrow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29600" y="4425696"/>
            <a:ext cx="3047695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57616" y="4498848"/>
            <a:ext cx="27916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B1B2B"/>
                </a:solidFill>
                <a:latin typeface="Consolas"/>
              </a:rPr>
              <a:t>ble_hid_send_key()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7616" y="4736592"/>
            <a:ext cx="279166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566577"/>
                </a:solidFill>
                <a:latin typeface="Segoe UI"/>
              </a:rPr>
              <a:t>tabela modo × classe → tecla no PC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2450592" y="3648456"/>
            <a:ext cx="1143000" cy="128016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30552" y="3346704"/>
            <a:ext cx="17830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Consolas"/>
              </a:rPr>
              <a:t>6 × int16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30552" y="3831336"/>
            <a:ext cx="1783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1">
                <a:solidFill>
                  <a:srgbClr val="566577"/>
                </a:solidFill>
                <a:latin typeface="Segoe UI"/>
              </a:rPr>
              <a:t>phys × 1000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6702552" y="3602736"/>
            <a:ext cx="1325880" cy="128016"/>
          </a:xfrm>
          <a:prstGeom prst="rightArrow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45352" y="3300984"/>
            <a:ext cx="22402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Consolas"/>
              </a:rPr>
              <a:t>decoded_output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45352" y="3785616"/>
            <a:ext cx="2240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1">
                <a:solidFill>
                  <a:srgbClr val="566577"/>
                </a:solidFill>
                <a:latin typeface="Segoe UI"/>
              </a:rPr>
              <a:t>predicted_class + p_f32[8]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5541264"/>
            <a:ext cx="107652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Sem números mágicos: </a:t>
            </a:r>
            <a:r>
              <a:rPr sz="1050" b="0" i="0">
                <a:solidFill>
                  <a:srgbClr val="566577"/>
                </a:solidFill>
                <a:latin typeface="Consolas"/>
              </a:rPr>
              <a:t>input_window_size()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· </a:t>
            </a:r>
            <a:r>
              <a:rPr sz="1050" b="0" i="0">
                <a:solidFill>
                  <a:srgbClr val="566577"/>
                </a:solidFill>
                <a:latin typeface="Consolas"/>
              </a:rPr>
              <a:t>uniq_inputs_num()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· </a:t>
            </a:r>
            <a:r>
              <a:rPr sz="1050" b="0" i="0">
                <a:solidFill>
                  <a:srgbClr val="566577"/>
                </a:solidFill>
                <a:latin typeface="Consolas"/>
              </a:rPr>
              <a:t>input_type()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dizem o formato ao código.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" y="5815584"/>
            <a:ext cx="107652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Outras tarefas, mesma fronteira: </a:t>
            </a:r>
            <a:r>
              <a:rPr sz="1050" b="0" i="0">
                <a:solidFill>
                  <a:srgbClr val="566577"/>
                </a:solidFill>
                <a:latin typeface="Consolas"/>
              </a:rPr>
              <a:t>.regression.p_outputs[]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· </a:t>
            </a:r>
            <a:r>
              <a:rPr sz="1050" b="0" i="0">
                <a:solidFill>
                  <a:srgbClr val="566577"/>
                </a:solidFill>
                <a:latin typeface="Consolas"/>
              </a:rPr>
              <a:t>.anomaly.score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· quantizado: </a:t>
            </a:r>
            <a:r>
              <a:rPr sz="1050" b="0" i="0">
                <a:solidFill>
                  <a:srgbClr val="566577"/>
                </a:solidFill>
                <a:latin typeface="Consolas"/>
              </a:rPr>
              <a:t>q8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/</a:t>
            </a:r>
            <a:r>
              <a:rPr sz="1050" b="0" i="0">
                <a:solidFill>
                  <a:srgbClr val="566577"/>
                </a:solidFill>
                <a:latin typeface="Consolas"/>
              </a:rPr>
              <a:t>q16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NÍVEL 2 · MECANISMO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Pós-processamento: dois filtros em série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modelo erra em amostras isoladas. Dois filtros transformam predição em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ação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31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88410"/>
                <a:gridCol w="3588410"/>
                <a:gridCol w="358841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Classe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Repetições mín.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Limiar de probab.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SWIPE_LEFT · SWIPE_RIGHT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0,80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DOUBLE_SHAKE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0,70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DOUBLE_THUMB (double tap)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0,70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ROTATION_RIGHT · ROTATION_LEFT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0,70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IDLE · UNKNOWN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91947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91947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Filtro 1 — inference_postprocess(): exige N predições seguidas da mesma classe e média das probabilidades acima do limiar. Filtro 2 — should_act_on_prediction(): debounce de 800 ms, do qual as rotações são isentas (volume contínuo).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NÍVEL 2 · MECANISMO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cadeia de decisão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Os dois painéis escuros são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código do exemplo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não vêm da API. É aqui que se ajusta o comportamento sem tocar no modelo.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656332"/>
            <a:ext cx="2567863" cy="283464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820924"/>
            <a:ext cx="22021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10">
                <a:solidFill>
                  <a:srgbClr val="566577"/>
                </a:solidFill>
                <a:latin typeface="Segoe UI"/>
              </a:rPr>
              <a:t>SAÍDA DO MODELO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259836"/>
            <a:ext cx="22021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B2B"/>
                </a:solidFill>
                <a:latin typeface="Consolas"/>
              </a:rPr>
              <a:t>nrf_edgeai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643884"/>
            <a:ext cx="2202103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66577"/>
                </a:solidFill>
                <a:latin typeface="Consolas"/>
              </a:rPr>
              <a:t>predicted_class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+ vetor de probabilidades.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Uma predição a cada ~330 ms.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Sem memória: cada janela é independente.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99383" y="4009644"/>
            <a:ext cx="128016" cy="128016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45687" y="2656332"/>
            <a:ext cx="2567863" cy="283464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8567" y="2820924"/>
            <a:ext cx="22021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10">
                <a:solidFill>
                  <a:srgbClr val="22C3E6"/>
                </a:solidFill>
                <a:latin typeface="Segoe UI"/>
              </a:rPr>
              <a:t>FILTRO 1 · CONCORDÂNCIA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8567" y="3259836"/>
            <a:ext cx="22021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F1F8"/>
                </a:solidFill>
                <a:latin typeface="Consolas"/>
              </a:rPr>
              <a:t>inference_postprocess()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8567" y="3643884"/>
            <a:ext cx="2202103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3A6B8"/>
                </a:solidFill>
                <a:latin typeface="Segoe UI"/>
              </a:rPr>
              <a:t>Guarda até </a:t>
            </a:r>
            <a:r>
              <a:rPr sz="1050" b="1" i="0">
                <a:solidFill>
                  <a:srgbClr val="E8F1F8"/>
                </a:solidFill>
                <a:latin typeface="Segoe UI"/>
              </a:rPr>
              <a:t>3</a:t>
            </a:r>
            <a:r>
              <a:rPr sz="1050" b="0" i="0">
                <a:solidFill>
                  <a:srgbClr val="93A6B8"/>
                </a:solidFill>
                <a:latin typeface="Segoe UI"/>
              </a:rPr>
              <a:t> predições seguidas da mesma classe.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3A6B8"/>
                </a:solidFill>
                <a:latin typeface="Segoe UI"/>
              </a:rPr>
              <a:t>Classe mudou? zera o contador.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3A6B8"/>
                </a:solidFill>
                <a:latin typeface="Segoe UI"/>
              </a:rPr>
              <a:t>Exige </a:t>
            </a:r>
            <a:r>
              <a:rPr sz="1050" b="0" i="0">
                <a:solidFill>
                  <a:srgbClr val="93A6B8"/>
                </a:solidFill>
                <a:latin typeface="Consolas"/>
              </a:rPr>
              <a:t>min_repeat_count</a:t>
            </a:r>
            <a:r>
              <a:rPr sz="1050" b="0" i="0">
                <a:solidFill>
                  <a:srgbClr val="93A6B8"/>
                </a:solidFill>
                <a:latin typeface="Segoe UI"/>
              </a:rPr>
              <a:t> e </a:t>
            </a:r>
            <a:r>
              <a:rPr sz="1050" b="1" i="0">
                <a:solidFill>
                  <a:srgbClr val="E8F1F8"/>
                </a:solidFill>
                <a:latin typeface="Segoe UI"/>
              </a:rPr>
              <a:t>média</a:t>
            </a:r>
            <a:r>
              <a:rPr sz="1050" b="0" i="0">
                <a:solidFill>
                  <a:srgbClr val="93A6B8"/>
                </a:solidFill>
                <a:latin typeface="Segoe UI"/>
              </a:rPr>
              <a:t> das probabilidades ≥ limiar.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3A6B8"/>
                </a:solidFill>
                <a:latin typeface="Segoe UI"/>
              </a:rPr>
              <a:t>Reprovou? devolve </a:t>
            </a:r>
            <a:r>
              <a:rPr sz="1050" b="0" i="0">
                <a:solidFill>
                  <a:srgbClr val="93A6B8"/>
                </a:solidFill>
                <a:latin typeface="Consolas"/>
              </a:rPr>
              <a:t>UNKNOWN</a:t>
            </a:r>
            <a:r>
              <a:rPr sz="1050" b="0" i="0">
                <a:solidFill>
                  <a:srgbClr val="93A6B8"/>
                </a:solidFill>
                <a:latin typeface="Segoe UI"/>
              </a:rPr>
              <a:t>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31839" y="4009644"/>
            <a:ext cx="128016" cy="128016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78143" y="2656332"/>
            <a:ext cx="2567863" cy="283464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61023" y="2820924"/>
            <a:ext cx="22021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10">
                <a:solidFill>
                  <a:srgbClr val="22C3E6"/>
                </a:solidFill>
                <a:latin typeface="Segoe UI"/>
              </a:rPr>
              <a:t>FILTRO 2 · RITMO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1023" y="3259836"/>
            <a:ext cx="22021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8F1F8"/>
                </a:solidFill>
                <a:latin typeface="Consolas"/>
              </a:rPr>
              <a:t>should_act_on_prediction()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1023" y="3643884"/>
            <a:ext cx="2202103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E8F1F8"/>
                </a:solidFill>
                <a:latin typeface="Segoe UI"/>
              </a:rPr>
              <a:t>Debounce de 800 ms</a:t>
            </a:r>
            <a:r>
              <a:rPr sz="1050" b="0" i="0">
                <a:solidFill>
                  <a:srgbClr val="93A6B8"/>
                </a:solidFill>
                <a:latin typeface="Segoe UI"/>
              </a:rPr>
              <a:t> entre ações.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3A6B8"/>
                </a:solidFill>
                <a:latin typeface="Segoe UI"/>
              </a:rPr>
              <a:t>Rotações são </a:t>
            </a:r>
            <a:r>
              <a:rPr sz="1050" b="1" i="0">
                <a:solidFill>
                  <a:srgbClr val="E8F1F8"/>
                </a:solidFill>
                <a:latin typeface="Segoe UI"/>
              </a:rPr>
              <a:t>isentas</a:t>
            </a:r>
            <a:r>
              <a:rPr sz="1050" b="0" i="0">
                <a:solidFill>
                  <a:srgbClr val="93A6B8"/>
                </a:solidFill>
                <a:latin typeface="Segoe UI"/>
              </a:rPr>
              <a:t> — volume precisa repetir.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3A6B8"/>
                </a:solidFill>
                <a:latin typeface="Consolas"/>
              </a:rPr>
              <a:t>IDLE</a:t>
            </a:r>
            <a:r>
              <a:rPr sz="1050" b="0" i="0">
                <a:solidFill>
                  <a:srgbClr val="93A6B8"/>
                </a:solidFill>
                <a:latin typeface="Segoe UI"/>
              </a:rPr>
              <a:t> e </a:t>
            </a:r>
            <a:r>
              <a:rPr sz="1050" b="0" i="0">
                <a:solidFill>
                  <a:srgbClr val="93A6B8"/>
                </a:solidFill>
                <a:latin typeface="Consolas"/>
              </a:rPr>
              <a:t>UNKNOWN</a:t>
            </a:r>
            <a:r>
              <a:rPr sz="1050" b="0" i="0">
                <a:solidFill>
                  <a:srgbClr val="93A6B8"/>
                </a:solidFill>
                <a:latin typeface="Segoe UI"/>
              </a:rPr>
              <a:t> nunca agem.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764295" y="4009644"/>
            <a:ext cx="128016" cy="128016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910599" y="2656332"/>
            <a:ext cx="2567863" cy="283464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3479" y="2820924"/>
            <a:ext cx="22021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 spc="110">
                <a:solidFill>
                  <a:srgbClr val="566577"/>
                </a:solidFill>
                <a:latin typeface="Segoe UI"/>
              </a:rPr>
              <a:t>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3479" y="3259836"/>
            <a:ext cx="22021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B1B2B"/>
                </a:solidFill>
                <a:latin typeface="Consolas"/>
              </a:rPr>
              <a:t>ble_hid_send_key()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3479" y="3643884"/>
            <a:ext cx="2202103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66577"/>
                </a:solidFill>
                <a:latin typeface="Consolas"/>
              </a:rPr>
              <a:t>LABEL_VS_KEY_BY_MODE[modo][classe]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.</a:t>
            </a:r>
          </a:p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Uma tecla HID por gesto aprovado.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NÍVEL 2 · MECANISMO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Do resultado à tecla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ponte entre IA e aplicação é uma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tabela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não lógica espalhada.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56232"/>
            <a:ext cx="10765231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0B1B2B"/>
                </a:solidFill>
                <a:latin typeface="Segoe UI"/>
              </a:rPr>
              <a:t>Trocar o que um gesto faz = editar uma linha. Para outro caso de uso, é esta tabela que se reescreve.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044952"/>
            <a:ext cx="10765231" cy="3291840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3246120"/>
            <a:ext cx="10125151" cy="28895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1">
                <a:solidFill>
                  <a:srgbClr val="4FC3E8"/>
                </a:solidFill>
                <a:latin typeface="Consolas"/>
              </a:rPr>
              <a:t>static</a:t>
            </a:r>
            <a:r>
              <a:rPr sz="1400" b="0">
                <a:solidFill>
                  <a:srgbClr val="DCE8F2"/>
                </a:solidFill>
                <a:latin typeface="Consolas"/>
              </a:rPr>
              <a:t> </a:t>
            </a:r>
            <a:r>
              <a:rPr sz="1400" b="1">
                <a:solidFill>
                  <a:srgbClr val="4FC3E8"/>
                </a:solidFill>
                <a:latin typeface="Consolas"/>
              </a:rPr>
              <a:t>const</a:t>
            </a:r>
            <a:r>
              <a:rPr sz="1400" b="0">
                <a:solidFill>
                  <a:srgbClr val="DCE8F2"/>
                </a:solidFill>
                <a:latin typeface="Consolas"/>
              </a:rPr>
              <a:t> ble_hid_key_t LABEL_VS_KEY_BY_MODE[2][8] = {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    [UX_REMOTECTRL_MODE_PRESENTATION] = {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            [CLASS_LABEL_SWIPE_RIGHT]    = BLE_HID_KEY_ARROW_RIGHT,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            [CLASS_LABEL_DOUBLE_SHAKE]   = BLE_HID_KEY_F5,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            [CLASS_LABEL_ROTATION_RIGHT] = BLE_HID_KEYS_count,  </a:t>
            </a:r>
            <a:r>
              <a:rPr sz="1400" b="0">
                <a:solidFill>
                  <a:srgbClr val="7FB58E"/>
                </a:solidFill>
                <a:latin typeface="Consolas"/>
              </a:rPr>
              <a:t>/* sem tecla */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    },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    [UX_REMOTECTRL_MODE_MUSIC] = {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            [CLASS_LABEL_SWIPE_RIGHT]    = BLE_HID_KEY_MEDIA_NEXT_TRACK,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            [CLASS_LABEL_ROTATION_RIGHT] = BLE_HID_KEY_MEDIA_VOLUME_UP,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        },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};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ble_hid_send_key(LABEL_VS_KEY_BY_MODE[uxsm_get_remotectrl_mode()][class_label]);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NÍVEL 2 · MECANISMO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é API e o que é código do exemplo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Sete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funções bastam neste demo — e a família de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introspecção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dispensa números mágicos ao reusar o laço.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31" cy="390448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588410"/>
                <a:gridCol w="3588410"/>
                <a:gridCol w="358841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Símbolo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De onde vem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Papel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nrf_edgeai_user_model()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modelo gerado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Devolve o handle do modelo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nrf_edgeai_t *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nrf_edgeai_is_runtime_compatible()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API Edge AI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Confere modelo × versão do runtime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nrf_edgeai_init()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API Edge AI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Prepara buffers internos e a janela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nrf_edgeai_runtime_version()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API Edge AI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Versão do runtime (log)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nrf_edgeai_solution_id_str()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API Edge AI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Identifica a solução do Edge AI Lab (log)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nrf_edgeai_feed_inputs()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API Edge AI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Empurra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uma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amostra; devolve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INPROGRESS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nrf_edgeai_run_inference()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API Edge AI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Roda a janela; resultado em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decoded_output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nrf_edgeai_input_*() · model_*()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API Edge AI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Introspecção: janela, nº de entradas, tipo, tarefa — código agnóstico ao modelo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inference_postprocess()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código do exemplo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Filtro 1 — concordância entre predições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should_act_on_prediction()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código do exemplo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Filtro 2 — debounce de 800 ms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Consolas"/>
                        </a:rPr>
                        <a:t>imu_init() · imu_read()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código do exemplo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Envelopa a Sensor API do Zephyr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897878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897878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A API não filtra, não decide e não conhece o seu caso de uso: ela recebe amostras e devolve classe + probabilidades. Toda a inteligência de produto está do lado do exemplo.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NÍVEL 2 · MECANISMO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Demo 2 — anomalia de engrenagem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As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mesmas sete chamadas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, outra tarefa: a saída vira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um ponto numa reta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e a linha que separa normal de anomalia é você quem traça.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01952"/>
            <a:ext cx="2743200" cy="5303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39112"/>
            <a:ext cx="2523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vetor embarcado: engrenagem SAUDÁVEL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493008" y="2112264"/>
            <a:ext cx="457200" cy="109728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13232" y="2560320"/>
            <a:ext cx="2743200" cy="530352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97480"/>
            <a:ext cx="252374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vetor embarcado: engrenagem COM FALHA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493008" y="2770632"/>
            <a:ext cx="457200" cy="109728"/>
          </a:xfrm>
          <a:prstGeom prst="right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05072" y="1975104"/>
            <a:ext cx="2286000" cy="105156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96512" y="215798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E8F1F8"/>
                </a:solidFill>
                <a:latin typeface="Segoe UI"/>
              </a:rPr>
              <a:t>o MESMO modelo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6512" y="248716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93A6B8"/>
                </a:solidFill>
                <a:latin typeface="Segoe UI"/>
              </a:rPr>
              <a:t>Neuton · janela 128 · FFT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327648" y="2441448"/>
            <a:ext cx="502920" cy="118872"/>
          </a:xfrm>
          <a:prstGeom prst="rightArrow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76288" y="2267712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B2B"/>
                </a:solidFill>
                <a:latin typeface="Consolas"/>
              </a:rPr>
              <a:t>anomaly.score — um float por janela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2596896"/>
            <a:ext cx="4206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sem classes, sem rótulo: só a distância do normal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61872" y="3803904"/>
            <a:ext cx="3664153" cy="914400"/>
          </a:xfrm>
          <a:prstGeom prst="rect">
            <a:avLst/>
          </a:prstGeom>
          <a:solidFill>
            <a:srgbClr val="E1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26025" y="3803904"/>
            <a:ext cx="6003798" cy="914400"/>
          </a:xfrm>
          <a:prstGeom prst="rect">
            <a:avLst/>
          </a:prstGeom>
          <a:solidFill>
            <a:srgbClr val="FB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99032" y="387705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40">
                <a:solidFill>
                  <a:srgbClr val="0093D0"/>
                </a:solidFill>
                <a:latin typeface="Segoe UI"/>
              </a:rPr>
              <a:t>NORMAL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3863" y="387705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 spc="140">
                <a:solidFill>
                  <a:srgbClr val="E8A33D"/>
                </a:solidFill>
                <a:latin typeface="Segoe UI"/>
              </a:rPr>
              <a:t>ANOMALIA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61872" y="4517136"/>
            <a:ext cx="9667951" cy="19050"/>
          </a:xfrm>
          <a:prstGeom prst="rect">
            <a:avLst/>
          </a:prstGeom>
          <a:solidFill>
            <a:srgbClr val="5665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12055" y="3639312"/>
            <a:ext cx="27940" cy="1243584"/>
          </a:xfrm>
          <a:prstGeom prst="rect">
            <a:avLst/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88665" y="3346704"/>
            <a:ext cx="3474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00224E"/>
                </a:solidFill>
                <a:latin typeface="Segoe UI"/>
              </a:rPr>
              <a:t>limiar 0,000025 — </a:t>
            </a:r>
            <a:r>
              <a:rPr sz="1000" b="1" i="0">
                <a:solidFill>
                  <a:srgbClr val="00224E"/>
                </a:solidFill>
                <a:latin typeface="Segoe UI"/>
              </a:rPr>
              <a:t>decisão da aplicação</a:t>
            </a:r>
          </a:p>
        </p:txBody>
      </p:sp>
      <p:sp>
        <p:nvSpPr>
          <p:cNvPr id="28" name="Oval 27"/>
          <p:cNvSpPr/>
          <p:nvPr/>
        </p:nvSpPr>
        <p:spPr>
          <a:xfrm>
            <a:off x="2175374" y="4434840"/>
            <a:ext cx="164592" cy="164592"/>
          </a:xfrm>
          <a:prstGeom prst="ellipse">
            <a:avLst/>
          </a:prstGeom>
          <a:solidFill>
            <a:srgbClr val="0093D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8950" y="4096512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saudável · 0,000010</a:t>
            </a:r>
          </a:p>
        </p:txBody>
      </p:sp>
      <p:sp>
        <p:nvSpPr>
          <p:cNvPr id="30" name="Oval 29"/>
          <p:cNvSpPr/>
          <p:nvPr/>
        </p:nvSpPr>
        <p:spPr>
          <a:xfrm>
            <a:off x="9377998" y="4434840"/>
            <a:ext cx="164592" cy="164592"/>
          </a:xfrm>
          <a:prstGeom prst="ellipse">
            <a:avLst/>
          </a:prstGeom>
          <a:solidFill>
            <a:srgbClr val="E8A33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1574" y="4096512"/>
            <a:ext cx="23774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com falha · 0,000120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8223" y="4773168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1">
                <a:solidFill>
                  <a:srgbClr val="566577"/>
                </a:solidFill>
                <a:latin typeface="Segoe UI"/>
              </a:rPr>
              <a:t>escala 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102352"/>
            <a:ext cx="107652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66577"/>
                </a:solidFill>
                <a:latin typeface="Consolas"/>
              </a:rPr>
              <a:t>edge_ai/02_anomaly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· nRF54LM20-DK · 2 canais </a:t>
            </a:r>
            <a:r>
              <a:rPr sz="1050" b="0" i="0">
                <a:solidFill>
                  <a:srgbClr val="566577"/>
                </a:solidFill>
                <a:latin typeface="Consolas"/>
              </a:rPr>
              <a:t>float32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· FLASH 62,8 kB (3 %) · RAM 9 kB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NÍVEL 2 · MECANISMO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Demo 2 na bancada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Dez minutos de bancada, uma lição: o modelo dá o número —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o julgamento é da engenharia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1872" y="281178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238201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42773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235458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Grave e observe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266547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Build e flash pelo VS Code; na serial, os dois vereditos saem no boot: NORMAL para o vetor saudável, ANOMALY para o com falha.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1872" y="368046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325069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329641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322326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Mexa no limiar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353415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Consolas"/>
              </a:rPr>
              <a:t>USER_ANOMALY_THRESHOLD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em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src/main.c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: suba 10× e a falha vira “NORMAL”; desça 10× e o saudável vira “ANOMALY”. Recompile e veja.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4549140"/>
            <a:ext cx="25400" cy="54864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" y="411937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16509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409194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Nomeie os erros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" y="440283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Qual erro custa mais — parar a máquina à toa (falso positivo) ou deixar a engrenagem quebrar (falso negativo)? O limiar </a:t>
            </a:r>
            <a:r>
              <a:rPr sz="1250" b="1" i="0">
                <a:solidFill>
                  <a:srgbClr val="0B1B2B"/>
                </a:solidFill>
                <a:latin typeface="Segoe UI"/>
              </a:rPr>
              <a:t>codifica essa escolha de negócio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sp>
        <p:nvSpPr>
          <p:cNvPr id="24" name="Oval 23"/>
          <p:cNvSpPr/>
          <p:nvPr/>
        </p:nvSpPr>
        <p:spPr>
          <a:xfrm>
            <a:off x="1078992" y="4988052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5033772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960620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Calibre de verdade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4792" y="5271516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Em produção: colete dados anormais reais ou varra o limiar com o EdgeAI Inference Runner no desktop — nunca chute.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NÍVEL 2 · MECANISMO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Três arquiteturas para o “não sei”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Anomalia não nomeia a falha; classificação não reconhece o nunca-visto. O painel escuro é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onde mora a decisão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em cada padrão.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3454298" cy="40690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11680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10">
                <a:solidFill>
                  <a:srgbClr val="0093D0"/>
                </a:solidFill>
                <a:latin typeface="Segoe UI"/>
              </a:rPr>
              <a:t>1 · UNKNOWN NA CLASSE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359152"/>
            <a:ext cx="305196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487168"/>
            <a:ext cx="29056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janela de amostras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394661" y="2834640"/>
            <a:ext cx="91440" cy="128016"/>
          </a:xfrm>
          <a:prstGeom prst="downArrow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2999232"/>
            <a:ext cx="3051962" cy="457200"/>
          </a:xfrm>
          <a:prstGeom prst="roundRect">
            <a:avLst>
              <a:gd name="adj" fmla="val 14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044952"/>
            <a:ext cx="290565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E8F1F8"/>
                </a:solidFill>
                <a:latin typeface="Segoe UI"/>
              </a:rPr>
              <a:t>classificador — 8ª classe é UNKNOWN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3246120"/>
            <a:ext cx="290565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93A6B8"/>
                </a:solidFill>
                <a:latin typeface="Segoe UI"/>
              </a:rPr>
              <a:t>treinada com o “resto”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394661" y="3474720"/>
            <a:ext cx="91440" cy="128016"/>
          </a:xfrm>
          <a:prstGeom prst="downArrow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639312"/>
            <a:ext cx="305196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767328"/>
            <a:ext cx="29056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classe (ou UNKNOWN)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75504"/>
            <a:ext cx="305196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Fraqueza: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só pega o que</a:t>
            </a:r>
          </a:p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parece com o lixo treinado.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8698" y="1883664"/>
            <a:ext cx="3454298" cy="40690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51578" y="2011680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10">
                <a:solidFill>
                  <a:srgbClr val="0093D0"/>
                </a:solidFill>
                <a:latin typeface="Segoe UI"/>
              </a:rPr>
              <a:t>2 · LIMIAR DE CONFIANÇA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69866" y="2359152"/>
            <a:ext cx="305196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43018" y="2487168"/>
            <a:ext cx="29056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janela de amostras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6050127" y="2834640"/>
            <a:ext cx="91440" cy="128016"/>
          </a:xfrm>
          <a:prstGeom prst="downArrow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69866" y="2999232"/>
            <a:ext cx="305196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43018" y="3127248"/>
            <a:ext cx="29056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classificador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6050127" y="3474720"/>
            <a:ext cx="91440" cy="128016"/>
          </a:xfrm>
          <a:prstGeom prst="downArrow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69866" y="3639312"/>
            <a:ext cx="3051962" cy="457200"/>
          </a:xfrm>
          <a:prstGeom prst="roundRect">
            <a:avLst>
              <a:gd name="adj" fmla="val 14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3018" y="3685032"/>
            <a:ext cx="290565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E8F1F8"/>
                </a:solidFill>
                <a:latin typeface="Segoe UI"/>
              </a:rPr>
              <a:t>prob. média ≥ limiar?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3018" y="3886200"/>
            <a:ext cx="290565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93A6B8"/>
                </a:solidFill>
                <a:latin typeface="Segoe UI"/>
              </a:rPr>
              <a:t>inference_postprocess()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6050127" y="4114800"/>
            <a:ext cx="91440" cy="128016"/>
          </a:xfrm>
          <a:prstGeom prst="downArrow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69866" y="4279392"/>
            <a:ext cx="305196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3018" y="4407408"/>
            <a:ext cx="29056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classe · senão UNKNOWN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9866" y="5175504"/>
            <a:ext cx="305196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Grátis — já roda no demo.</a:t>
            </a:r>
          </a:p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Fraqueza: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a rede erra com convicção.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24164" y="1883664"/>
            <a:ext cx="3454298" cy="40690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07044" y="2011680"/>
            <a:ext cx="308853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110">
                <a:solidFill>
                  <a:srgbClr val="0093D0"/>
                </a:solidFill>
                <a:latin typeface="Segoe UI"/>
              </a:rPr>
              <a:t>3 · DOIS MODELOS, UM PORTEIRO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5332" y="2359152"/>
            <a:ext cx="305196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98484" y="2487168"/>
            <a:ext cx="29056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janela de amostras</a:t>
            </a:r>
          </a:p>
        </p:txBody>
      </p:sp>
      <p:sp>
        <p:nvSpPr>
          <p:cNvPr id="40" name="Down Arrow 39"/>
          <p:cNvSpPr/>
          <p:nvPr/>
        </p:nvSpPr>
        <p:spPr>
          <a:xfrm>
            <a:off x="9705593" y="2834640"/>
            <a:ext cx="91440" cy="128016"/>
          </a:xfrm>
          <a:prstGeom prst="downArrow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25332" y="2999232"/>
            <a:ext cx="1461973" cy="457200"/>
          </a:xfrm>
          <a:prstGeom prst="roundRect">
            <a:avLst>
              <a:gd name="adj" fmla="val 14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98484" y="3044952"/>
            <a:ext cx="1315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E8F1F8"/>
                </a:solidFill>
                <a:latin typeface="Segoe UI"/>
              </a:rPr>
              <a:t>anomalia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98484" y="3246120"/>
            <a:ext cx="131566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93A6B8"/>
                </a:solidFill>
                <a:latin typeface="Segoe UI"/>
              </a:rPr>
              <a:t>score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15321" y="2999232"/>
            <a:ext cx="1461973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88473" y="3044952"/>
            <a:ext cx="131566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classificador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88473" y="3246120"/>
            <a:ext cx="1315669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566577"/>
                </a:solidFill>
                <a:latin typeface="Segoe UI"/>
              </a:rPr>
              <a:t>classe+prob</a:t>
            </a:r>
          </a:p>
        </p:txBody>
      </p:sp>
      <p:sp>
        <p:nvSpPr>
          <p:cNvPr id="47" name="Down Arrow 46"/>
          <p:cNvSpPr/>
          <p:nvPr/>
        </p:nvSpPr>
        <p:spPr>
          <a:xfrm>
            <a:off x="9705593" y="3474720"/>
            <a:ext cx="91440" cy="128016"/>
          </a:xfrm>
          <a:prstGeom prst="downArrow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225332" y="3639312"/>
            <a:ext cx="3051962" cy="457200"/>
          </a:xfrm>
          <a:prstGeom prst="roundRect">
            <a:avLst>
              <a:gd name="adj" fmla="val 14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98484" y="3685032"/>
            <a:ext cx="290565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E8F1F8"/>
                </a:solidFill>
                <a:latin typeface="Segoe UI"/>
              </a:rPr>
              <a:t>gatekeeper: score &lt; limiar?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98484" y="3886200"/>
            <a:ext cx="290565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 i="0">
                <a:solidFill>
                  <a:srgbClr val="93A6B8"/>
                </a:solidFill>
                <a:latin typeface="Segoe UI"/>
              </a:rPr>
              <a:t>anomalia decide se a classe vale</a:t>
            </a:r>
          </a:p>
        </p:txBody>
      </p:sp>
      <p:sp>
        <p:nvSpPr>
          <p:cNvPr id="51" name="Down Arrow 50"/>
          <p:cNvSpPr/>
          <p:nvPr/>
        </p:nvSpPr>
        <p:spPr>
          <a:xfrm>
            <a:off x="9705593" y="4114800"/>
            <a:ext cx="91440" cy="128016"/>
          </a:xfrm>
          <a:prstGeom prst="downArrow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225332" y="4279392"/>
            <a:ext cx="3051962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98484" y="4407408"/>
            <a:ext cx="290565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classe · senão “nunca vi”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5332" y="5175504"/>
            <a:ext cx="305196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Robusto a novidade genuína.</a:t>
            </a:r>
          </a:p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Custo: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2 inferências · ~2× kB.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NÍVEL 2 · MECANISMO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Qual padrão escolher?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Não são excludentes: o demo de gestos já roda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1 + 2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O gatekeeper entra quando errar é caro.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31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91307"/>
                <a:gridCol w="2691307"/>
                <a:gridCol w="2691307"/>
                <a:gridCol w="2691310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Critério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1 · UNKNOWN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2 · Limiar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3 · Porteiro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Custo em flash e ciclos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zero extra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zero extra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2 inferências · +kB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Precisa de dados extras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 — exemplos do “resto”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 — usa só os normais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Pega novidade genuína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fraco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médio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forte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Já roda no demo de gestos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 — classe UNKNOWN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 — filtro 1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 — é exercício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Escolha quando</a:t>
                      </a:r>
                    </a:p>
                  </a:txBody>
                  <a:tcPr anchor="ctr" marT="38100" marB="38100">
                    <a:solidFill>
                      <a:srgbClr val="E1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há dataset de “outros”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sempre — é o piso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agir errado custa caro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4919472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4919472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Exercício avançado do Ato 3: treinar anomalia com os gestos “normais” da turma e usá-la como gatekeeper do classificador — gesto inventado cai em “nunca vi”, não numa tecla errada.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Modo de coleta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Mesma aplicação, sem inferência: o tag vira instrumento de captura.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2 · COLETA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muda no modo de coleta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bifurcação está em uma única linha do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main()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vale mostrar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IS_ENABLED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em aula.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Dois Kconfig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CONFIG_DATA_COLLECTION_MODE=y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CONFIG_BLE_MODE_NONE=y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Nenhuma linha de C muda.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O laço desvia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 mesmo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k_sem_take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e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imu_read()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No lugar de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execute_inference()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chama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send_imu_data()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O modelo nem é consultado.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246430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61061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Sai pela serial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299466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acc_x,acc_y,acc_z,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Consolas"/>
              </a:rPr>
              <a:t>gyro_x,gyro_y,gyro_z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int16, sem cabeçalho, a 100 Hz.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Com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BLE_MODE_NUS=y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o mesmo dado sai por Bluetooth.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788152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788152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Alternativa: o sample data_forwarder + a ferramenta de host, feitos para alimentar o Edge AI Lab.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Modelo próprio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Fechar o ciclo: dos dados coletados a um modelo que roda no mesmo firmware.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3 · MODELO PRÓPRIO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Onde cada peça nasce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engine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não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é gerada na compilação — chega pronta da Nordic. O modelo nasce no treino. O build só compila o descritor e linka.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3393338" cy="11887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02536"/>
            <a:ext cx="302757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120">
                <a:solidFill>
                  <a:srgbClr val="0093D0"/>
                </a:solidFill>
                <a:latin typeface="Segoe UI"/>
              </a:rPr>
              <a:t>NORDIC · FÁBRICA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286000"/>
            <a:ext cx="302757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1B2B"/>
                </a:solidFill>
                <a:latin typeface="Consolas"/>
              </a:rPr>
              <a:t>libnrf_edgeai_cortex-m33.a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578608"/>
            <a:ext cx="302757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engine pré-compilada:</a:t>
            </a:r>
          </a:p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runtime + DSP + NN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9178" y="1883664"/>
            <a:ext cx="3393338" cy="118872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2058" y="2002536"/>
            <a:ext cx="302757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120">
                <a:solidFill>
                  <a:srgbClr val="22C3E6"/>
                </a:solidFill>
                <a:latin typeface="Segoe UI"/>
              </a:rPr>
              <a:t>EDGE AI LAB · TREINO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2058" y="2286000"/>
            <a:ext cx="302757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8F1F8"/>
                </a:solidFill>
                <a:latin typeface="Consolas"/>
              </a:rPr>
              <a:t>nrf_edgeai_user_model.c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2058" y="2578608"/>
            <a:ext cx="302757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93A6B8"/>
                </a:solidFill>
                <a:latin typeface="Segoe UI"/>
              </a:rPr>
              <a:t>descritor + pesos,</a:t>
            </a:r>
          </a:p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93A6B8"/>
                </a:solidFill>
                <a:latin typeface="Segoe UI"/>
              </a:rPr>
              <a:t>gerado na nuvem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5124" y="1883664"/>
            <a:ext cx="3393338" cy="118872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8004" y="2002536"/>
            <a:ext cx="302757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 spc="120">
                <a:solidFill>
                  <a:srgbClr val="0093D0"/>
                </a:solidFill>
                <a:latin typeface="Segoe UI"/>
              </a:rPr>
              <a:t>VOCÊ · REPOSITÓRIO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8004" y="2286000"/>
            <a:ext cx="302757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0B1B2B"/>
                </a:solidFill>
                <a:latin typeface="Consolas"/>
              </a:rPr>
              <a:t>main.c · prj.conf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8004" y="2578608"/>
            <a:ext cx="3027578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aplicação e</a:t>
            </a:r>
          </a:p>
          <a:p>
            <a:pPr algn="ctr">
              <a:lnSpc>
                <a:spcPct val="12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configuração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350465" y="3127248"/>
            <a:ext cx="118872" cy="274320"/>
          </a:xfrm>
          <a:prstGeom prst="down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6036411" y="3127248"/>
            <a:ext cx="118872" cy="274320"/>
          </a:xfrm>
          <a:prstGeom prst="down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9722357" y="3127248"/>
            <a:ext cx="118872" cy="274320"/>
          </a:xfrm>
          <a:prstGeom prst="down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13232" y="3456432"/>
            <a:ext cx="10765231" cy="841248"/>
          </a:xfrm>
          <a:prstGeom prst="roundRect">
            <a:avLst>
              <a:gd name="adj" fmla="val 5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3566160"/>
            <a:ext cx="102165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west build — nada é gerado aqui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3913632"/>
            <a:ext cx="102165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566577"/>
                </a:solidFill>
                <a:latin typeface="Segoe UI"/>
              </a:rPr>
              <a:t>o CMake escolhe a </a:t>
            </a:r>
            <a:r>
              <a:rPr sz="1100" b="0" i="0">
                <a:solidFill>
                  <a:srgbClr val="566577"/>
                </a:solidFill>
                <a:latin typeface="Consolas"/>
              </a:rPr>
              <a:t>.a</a:t>
            </a:r>
            <a:r>
              <a:rPr sz="1100" b="0" i="0">
                <a:solidFill>
                  <a:srgbClr val="566577"/>
                </a:solidFill>
                <a:latin typeface="Segoe UI"/>
              </a:rPr>
              <a:t> da arquitetura · compila o modelo como fonte comum · linka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6036411" y="4352544"/>
            <a:ext cx="118872" cy="274320"/>
          </a:xfrm>
          <a:prstGeom prst="downArrow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724912" y="4681728"/>
            <a:ext cx="6741871" cy="77724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07792" y="4773168"/>
            <a:ext cx="637611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8F1F8"/>
                </a:solidFill>
                <a:latin typeface="Consolas"/>
              </a:rPr>
              <a:t>zephyr.hex · 285 kB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07792" y="5093208"/>
            <a:ext cx="637611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o linker puxou da </a:t>
            </a:r>
            <a:r>
              <a:rPr sz="1000" b="0" i="0">
                <a:solidFill>
                  <a:srgbClr val="93A6B8"/>
                </a:solidFill>
                <a:latin typeface="Consolas"/>
              </a:rPr>
              <a:t>.a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só o que o descritor referencia — a FFT ficou fora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614416"/>
            <a:ext cx="107652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1">
                <a:solidFill>
                  <a:srgbClr val="566577"/>
                </a:solidFill>
                <a:latin typeface="Segoe UI"/>
              </a:rPr>
              <a:t>Em execução, nada é gerado — só interpretado. </a:t>
            </a:r>
            <a:r>
              <a:rPr sz="1050" b="0" i="1">
                <a:solidFill>
                  <a:srgbClr val="566577"/>
                </a:solidFill>
                <a:latin typeface="Consolas"/>
              </a:rPr>
              <a:t>nrf_edgeai_is_runtime_compatible()</a:t>
            </a:r>
            <a:r>
              <a:rPr sz="1050" b="0" i="1">
                <a:solidFill>
                  <a:srgbClr val="566577"/>
                </a:solidFill>
                <a:latin typeface="Segoe UI"/>
              </a:rPr>
              <a:t> confere engine × modelo no boot.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3 · MODELO PRÓPRIO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ciclo completo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firmware não muda. Muda 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arquivo do modelo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— e por isso iterar é barato.</a:t>
            </a:r>
          </a:p>
        </p:txBody>
      </p:sp>
      <p:sp>
        <p:nvSpPr>
          <p:cNvPr id="9" name="Pentagon 8"/>
          <p:cNvSpPr/>
          <p:nvPr/>
        </p:nvSpPr>
        <p:spPr>
          <a:xfrm>
            <a:off x="713232" y="2930652"/>
            <a:ext cx="2606588" cy="1417320"/>
          </a:xfrm>
          <a:prstGeom prst="homePlate">
            <a:avLst/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>
            <a:off x="2752892" y="2930652"/>
            <a:ext cx="2606588" cy="1417320"/>
          </a:xfrm>
          <a:prstGeom prst="chevron">
            <a:avLst/>
          </a:prstGeom>
          <a:solidFill>
            <a:srgbClr val="003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4792553" y="2930652"/>
            <a:ext cx="2606588" cy="1417320"/>
          </a:xfrm>
          <a:prstGeom prst="chevron">
            <a:avLst/>
          </a:prstGeom>
          <a:solidFill>
            <a:srgbClr val="005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6832213" y="2930652"/>
            <a:ext cx="2606588" cy="1417320"/>
          </a:xfrm>
          <a:prstGeom prst="chevron">
            <a:avLst/>
          </a:prstGeom>
          <a:solidFill>
            <a:srgbClr val="0076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8871874" y="2930652"/>
            <a:ext cx="2606588" cy="1417320"/>
          </a:xfrm>
          <a:prstGeom prst="chevron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186684"/>
            <a:ext cx="19939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 · Coletar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552444"/>
            <a:ext cx="19939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modo de coleta,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várias mãos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548" y="3186684"/>
            <a:ext cx="16098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 · Treinar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548" y="3552444"/>
            <a:ext cx="16098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Edge AI Lab: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rotular + treinar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9209" y="3186684"/>
            <a:ext cx="16098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 · Baixar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69209" y="3552444"/>
            <a:ext cx="16098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nrf_edgeai_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user_model.c/.h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8869" y="3186684"/>
            <a:ext cx="16098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 · Substituir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08869" y="3552444"/>
            <a:ext cx="16098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mesmo build,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novo modelo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48530" y="3186684"/>
            <a:ext cx="16098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5 · Comparar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48530" y="3552444"/>
            <a:ext cx="160989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acurácia · flash</a:t>
            </a:r>
          </a:p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FFFFFF"/>
                </a:solidFill>
                <a:latin typeface="Segoe UI"/>
              </a:rPr>
              <a:t>· latência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15853" y="4439412"/>
            <a:ext cx="27940" cy="502920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61872" y="4942332"/>
            <a:ext cx="9667951" cy="27940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47902" y="4439412"/>
            <a:ext cx="27940" cy="502920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>
            <a:off x="1179576" y="4311396"/>
            <a:ext cx="164592" cy="146304"/>
          </a:xfrm>
          <a:prstGeom prst="triangl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0520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1">
                <a:solidFill>
                  <a:srgbClr val="0093D0"/>
                </a:solidFill>
                <a:latin typeface="Segoe UI"/>
              </a:rPr>
              <a:t>dataset maior → modelo melhor — o ciclo inteiro cabe numa tarde de laboratório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3 · MODELO PRÓPRIO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A mesma engine, outro descritor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Antes de treinar o seu: o que muda de um modelo para outro. A biblioteca traz o cardápio — o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seu treino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escolhe o prato.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965960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GESTOS · este demo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2432304"/>
            <a:ext cx="5245455" cy="309981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633472"/>
            <a:ext cx="4696815" cy="2734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IMU ·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6 canais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int16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· 100 Hz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Janela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99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, shift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33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— sobrepõe 66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Máscara: só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domínio do tempo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— nenhuma FFT no binário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Tabela: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15 primitivas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estatísticas → 85 features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Saída: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8 classes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(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classif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883664"/>
            <a:ext cx="5245455" cy="457200"/>
          </a:xfrm>
          <a:prstGeom prst="roundRect">
            <a:avLst>
              <a:gd name="adj" fmla="val 30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3007" y="1965960"/>
            <a:ext cx="52454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ANOMALIA · sample do Add-on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2432304"/>
            <a:ext cx="5245455" cy="309981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7327" y="2633472"/>
            <a:ext cx="4696815" cy="2734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Vibração ·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2 canais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float32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Janela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128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= shift — potência de 2 (regra da frequência)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Máscara: tempo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+ frequência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— a FFT entra no binário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Tabela: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26 primitivas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→ 100 features</a:t>
            </a:r>
          </a:p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566577"/>
                </a:solidFill>
                <a:latin typeface="Segoe UI"/>
              </a:rPr>
              <a:t>▪  Saída: 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score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 de anomalia (</a:t>
            </a:r>
            <a:r>
              <a:rPr sz="1300" b="0" i="0">
                <a:solidFill>
                  <a:srgbClr val="566577"/>
                </a:solidFill>
                <a:latin typeface="Consolas"/>
              </a:rPr>
              <a:t>anomaly.score</a:t>
            </a:r>
            <a:r>
              <a:rPr sz="1300" b="0" i="0">
                <a:solidFill>
                  <a:srgbClr val="566577"/>
                </a:solidFill>
                <a:latin typeface="Segoe UI"/>
              </a:rPr>
              <a:t>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5641848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641848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Os dois rodam Neuton na CPU, no mesmo runtime — muda só o descritor dentro do </a:t>
            </a:r>
            <a:r>
              <a:rPr sz="1300" b="1" i="0">
                <a:solidFill>
                  <a:srgbClr val="0B1B2B"/>
                </a:solidFill>
                <a:latin typeface="Consolas"/>
              </a:rPr>
              <a:t>nrf_edgeai_user_model.c</a:t>
            </a:r>
            <a:r>
              <a:rPr sz="1300" b="1" i="0">
                <a:solidFill>
                  <a:srgbClr val="0B1B2B"/>
                </a:solidFill>
                <a:latin typeface="Segoe UI"/>
              </a:rPr>
              <a:t>: máscaras por canal + tabela de ponteiros + escalas.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ATO 3 · MODELO PRÓPRIO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cardápio da máscara: 42 features, 3 domínios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M1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Lab liga os bits, o runtime chama as primitivas, o linker descarta o resto — 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frequência ligada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é o que puxa a FFT (e a janela em potência de 2).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1883664"/>
            <a:ext cx="5382615" cy="475488"/>
          </a:xfrm>
          <a:prstGeom prst="rect">
            <a:avLst/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011680"/>
            <a:ext cx="53826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110">
                <a:solidFill>
                  <a:srgbClr val="E8F1F8"/>
                </a:solidFill>
                <a:latin typeface="Segoe UI"/>
              </a:rPr>
              <a:t>TEMPO · bits 32–63 · 28 features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1883664"/>
            <a:ext cx="2691307" cy="47548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5847" y="2011680"/>
            <a:ext cx="26913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110">
                <a:solidFill>
                  <a:srgbClr val="FFFFFF"/>
                </a:solidFill>
                <a:latin typeface="Segoe UI"/>
              </a:rPr>
              <a:t>CUSTOM · 16–31 ·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87154" y="1883664"/>
            <a:ext cx="2691307" cy="475488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87154" y="2011680"/>
            <a:ext cx="269130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 spc="110">
                <a:solidFill>
                  <a:srgbClr val="0B1B2B"/>
                </a:solidFill>
                <a:latin typeface="Segoe UI"/>
              </a:rPr>
              <a:t>FREQUÊNCIA · 0–15 · 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395728"/>
            <a:ext cx="1076523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566577"/>
                </a:solidFill>
                <a:latin typeface="Segoe UI"/>
              </a:rPr>
              <a:t>uma máscara de 64 bits </a:t>
            </a:r>
            <a:r>
              <a:rPr sz="950" b="1" i="1">
                <a:solidFill>
                  <a:srgbClr val="0B1B2B"/>
                </a:solidFill>
                <a:latin typeface="Segoe UI"/>
              </a:rPr>
              <a:t>por canal</a:t>
            </a:r>
            <a:r>
              <a:rPr sz="950" b="0" i="1">
                <a:solidFill>
                  <a:srgbClr val="566577"/>
                </a:solidFill>
                <a:latin typeface="Segoe UI"/>
              </a:rPr>
              <a:t> — cada eixo pode ligar um conjunto diferente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843784"/>
            <a:ext cx="5212080" cy="26974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971800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0093D0"/>
                </a:solidFill>
                <a:latin typeface="Segoe UI"/>
              </a:rPr>
              <a:t>DOMÍNIO DO TEMPO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300984"/>
            <a:ext cx="4846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Amplitude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3483864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min · max · range · pico-a-pico LF/HF · crest factor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739896"/>
            <a:ext cx="4846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Energia e tendência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922776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mean · absmean · RMS · std · MAD · RMDS · AMDF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178808"/>
            <a:ext cx="4846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Distribuição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361688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skewness · kurtosis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617720"/>
            <a:ext cx="4846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Cruzamentos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800600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zero/mean/threshold-CR · ±sigma-CR · % acima de zero/mean/sigma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184648"/>
            <a:ext cx="4846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Estrutura temporal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5367528"/>
            <a:ext cx="4846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autocorrelação · Hjorth (mobilidade, complexidade) · regressão linear (slope, intercept)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2843784"/>
            <a:ext cx="3429000" cy="26974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971800"/>
            <a:ext cx="3063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0093D0"/>
                </a:solidFill>
                <a:latin typeface="Segoe UI"/>
              </a:rPr>
              <a:t>DOMÍNIO DA FREQUÊNCIA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300984"/>
            <a:ext cx="3063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Dominantes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483864"/>
            <a:ext cx="3063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frequências · amplitudes · THD · SNR · distância média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739896"/>
            <a:ext cx="3063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Energia por banda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922776"/>
            <a:ext cx="3063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razões low/mid · mid/high · low/high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178808"/>
            <a:ext cx="3063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Espectrais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361688"/>
            <a:ext cx="30632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RMS · crest · centroid · spread · bins do espectro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56648" y="2843784"/>
            <a:ext cx="1721815" cy="269748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39528" y="2971800"/>
            <a:ext cx="13560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0093D0"/>
                </a:solidFill>
                <a:latin typeface="Segoe UI"/>
              </a:rPr>
              <a:t>CUSTOM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9528" y="3300984"/>
            <a:ext cx="135605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B1B2B"/>
                </a:solidFill>
                <a:latin typeface="Segoe UI"/>
              </a:rPr>
              <a:t>Áudio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39528" y="3483864"/>
            <a:ext cx="13560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566577"/>
                </a:solidFill>
                <a:latin typeface="Segoe UI"/>
              </a:rPr>
              <a:t>mel-spectrogram (pipeline de áudio, experimental)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5650992"/>
            <a:ext cx="10765231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Gestos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liga 15 do tempo — a receita padrão do Lab menos NSCR, podada por eixo (85 features).</a:t>
            </a:r>
          </a:p>
          <a:p>
            <a:pPr algn="l">
              <a:lnSpc>
                <a:spcPct val="125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Anomalia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liga 26 do tempo + 12 da frequência — tudo menos regressão linear e bins (100 features).</a:t>
            </a:r>
          </a:p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Parâmetros (sigma, nº de picos, nº de bins) viajam em </a:t>
            </a:r>
            <a:r>
              <a:rPr sz="1000" b="0" i="0">
                <a:solidFill>
                  <a:srgbClr val="566577"/>
                </a:solidFill>
                <a:latin typeface="Consolas"/>
              </a:rPr>
              <a:t>FEATURES_EXTRACTION_ARGUMENTS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22C3E6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F1F8"/>
                </a:solidFill>
                <a:latin typeface="Segoe UI"/>
              </a:rPr>
              <a:t>O que levar deste bloco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M1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0765231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A aplicação </a:t>
            </a:r>
            <a:r>
              <a:rPr sz="1500" b="1">
                <a:solidFill>
                  <a:srgbClr val="E8F1F8"/>
                </a:solidFill>
                <a:latin typeface="Segoe UI"/>
              </a:rPr>
              <a:t>empurra amostras</a:t>
            </a:r>
            <a:r>
              <a:rPr sz="1500" b="0">
                <a:solidFill>
                  <a:srgbClr val="93A6B8"/>
                </a:solidFill>
                <a:latin typeface="Segoe UI"/>
              </a:rPr>
              <a:t>; a janela, a normalização e os atributos vivem </a:t>
            </a:r>
            <a:r>
              <a:rPr sz="1500" b="1">
                <a:solidFill>
                  <a:srgbClr val="E8F1F8"/>
                </a:solidFill>
                <a:latin typeface="Segoe UI"/>
              </a:rPr>
              <a:t>dentro do modelo</a:t>
            </a:r>
            <a:r>
              <a:rPr sz="1500" b="0">
                <a:solidFill>
                  <a:srgbClr val="93A6B8"/>
                </a:solidFill>
                <a:latin typeface="Segoe UI"/>
              </a:rPr>
              <a:t>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Consolas"/>
              </a:rPr>
              <a:t>INPROGRESS</a:t>
            </a:r>
            <a:r>
              <a:rPr sz="1500" b="0">
                <a:solidFill>
                  <a:srgbClr val="93A6B8"/>
                </a:solidFill>
                <a:latin typeface="Segoe UI"/>
              </a:rPr>
              <a:t> é o caminho normal — inferência só quando a janela desloca.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Entre o modelo e a ação existem </a:t>
            </a:r>
            <a:r>
              <a:rPr sz="1500" b="1">
                <a:solidFill>
                  <a:srgbClr val="E8F1F8"/>
                </a:solidFill>
                <a:latin typeface="Segoe UI"/>
              </a:rPr>
              <a:t>dois filtros</a:t>
            </a:r>
            <a:r>
              <a:rPr sz="1500" b="0">
                <a:solidFill>
                  <a:srgbClr val="93A6B8"/>
                </a:solidFill>
                <a:latin typeface="Segoe UI"/>
              </a:rPr>
              <a:t> e uma </a:t>
            </a:r>
            <a:r>
              <a:rPr sz="1500" b="1">
                <a:solidFill>
                  <a:srgbClr val="E8F1F8"/>
                </a:solidFill>
                <a:latin typeface="Segoe UI"/>
              </a:rPr>
              <a:t>tabela</a:t>
            </a:r>
            <a:r>
              <a:rPr sz="1500" b="0">
                <a:solidFill>
                  <a:srgbClr val="93A6B8"/>
                </a:solidFill>
                <a:latin typeface="Segoe UI"/>
              </a:rPr>
              <a:t>. É aí que se ajusta o comportamento.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Trocar de modelo é trocar um </a:t>
            </a:r>
            <a:r>
              <a:rPr sz="1500" b="0">
                <a:solidFill>
                  <a:srgbClr val="93A6B8"/>
                </a:solidFill>
                <a:latin typeface="Consolas"/>
              </a:rPr>
              <a:t>.c</a:t>
            </a:r>
            <a:r>
              <a:rPr sz="1500" b="0">
                <a:solidFill>
                  <a:srgbClr val="93A6B8"/>
                </a:solidFill>
                <a:latin typeface="Segoe UI"/>
              </a:rPr>
              <a:t>. O resto do firmware nem fica sabendo.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Hz de amostragem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1689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689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~330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8849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ms por inferência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classes na saída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605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8605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765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% da flash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22C3E6"/>
                </a:solidFill>
                <a:latin typeface="Segoe UI"/>
              </a:rPr>
              <a:t>Entendido o mecanismo aqui, os outros exemplos do Add-on são o mesmo laço com outro sensor.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