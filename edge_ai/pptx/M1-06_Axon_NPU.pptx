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06 · A NPU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Axon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IA na 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Neuton resolve o que cabe na CPU. Voz não cabe: redes grandes, o tempo todo, com bateria de moeda. Este bloco abre a caixa do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acelerador de IA do nRF54LM20B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— o que ele é, como executa e o que isso custa.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nRF54LM20B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6543" y="4709160"/>
            <a:ext cx="244602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TFLite → compilador → NPU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5443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até 15× vs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8911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medido na bancada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 PONTE COM O NEUTON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uma NPU? O tamanho do problema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Modelos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voz e visão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são 10–100× maiores que os de IMU — e rodam dezenas de vezes por segundo. É outro regime de computação.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9,4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0,33 ms/inf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Neuton típico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classificador de IMU — a CPU resolve com folga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35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2,35 ms/inf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wake 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rede TFLite pequena — já pede aceleração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359 kB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12 ms/inf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comandos de voz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33 inferências/s — impraticável na CPU em tempo real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15×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10× energia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claim da Nordic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NPU vs tflite-micro na CPU, no mesmo modelo grande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que é o Axon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 processador de redes neurais dentro do SoC — periférico como o PDM, não um segundo core de aplicação.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Axon é um periférico — como o PDM, o SPI, o rádio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analogia que carrega o bloco inteiro: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UART transmite bytes; PDM decima áudio; Axon executa redes neurais.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Processador próprio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Executa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independente da CPU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que pode dormir enquanto a rede roda.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Mestre do barramento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Busca sozinho, por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DMA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pesos na flash (RRAM) e ativações na RAM. Nada é copiado “para dentro” dele.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Cache pequeno (TCM)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Consome pesos em pedaços, em fluxo contínuo — por isso o desempenho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escala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o modelo.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Executa código compilado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rede não é interpretada: vira um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command buffer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gerado pelo compilador Axon (Edge AI Lab).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Um job por vez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driver serializa com mutex; vários modelos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intercalam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inferências — multiplexável.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Ultra-low power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Desliga sozinho entre jobs; feito para produto a bateria, não para datacenter.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roda na NPU — e o que volta para a CPU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Modelos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int8 quantizados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tensores até 1024×1024×512. A divisão de trabalho aparece no código gerado — dá para apontar as interfaces.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Nativo na NPU (int8)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Conv 1D/2D (pointwise acelerado)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Depthwise conv · Fully connected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Add · Mean · Avg/Max pooling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ReLU · ReLU6 · LeakyReLU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DSP int24: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FFT, log, exp, sqrt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slice · concat · splitV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Fica na 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Softmax, sigmoide, tanh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— as ativações finais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Dequantização int8 → float da saída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Pós-processamento (limiares, contagens, EMA)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Orquestração: feed, submissão do job, decisões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Regra prática: a NPU faz as MACs; a CPU decide o que elas significam.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1 · O QUE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o Axon se liga ao resto do SoC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Quatro blocos e um barramento: a CPU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aponta e dispara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a NPU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busca sozinha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 que precisa na flash e na RAM e avisa por interrupção quando termina.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20824"/>
            <a:ext cx="2148840" cy="16002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18196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CPU · Cortex-M33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59736"/>
            <a:ext cx="18196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128 MHz. Roda a aplicação, o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driver do Axon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(mutex, fila, IRQ) e o pós-processamento.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34272" y="2020824"/>
            <a:ext cx="2441448" cy="16002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98864" y="2130552"/>
            <a:ext cx="211226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PDM20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459736"/>
            <a:ext cx="2112264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Outro periférico com DMA: escreve o áudio na RAM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sem a CPU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— mesmo padrão do Axon.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36192" y="5038344"/>
            <a:ext cx="3749039" cy="1188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0784" y="5148072"/>
            <a:ext cx="3419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Flash (RRAM)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5477256"/>
            <a:ext cx="3419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command buffer + pesos int8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de cada modelo — nunca copiados: a NPU lê de lá por DMA.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5038344"/>
            <a:ext cx="4114800" cy="1188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5148072"/>
            <a:ext cx="3785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5477256"/>
            <a:ext cx="378561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interlayer buffer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(ativações) · janelas de entrada · buffers do PDM · saída dequantizada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59352" y="1883664"/>
            <a:ext cx="4572000" cy="260604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197510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Axon NPU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2232" y="2386584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9392" y="24597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C3E6"/>
                </a:solidFill>
                <a:latin typeface="Segoe UI"/>
              </a:rPr>
              <a:t>Sequenciador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2752344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lê o command buffer: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a rede, comando a comando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386584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45973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C3E6"/>
                </a:solidFill>
                <a:latin typeface="Segoe UI"/>
              </a:rPr>
              <a:t>DMA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752344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mestre do barramento: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busca pesos e ativações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42232" y="3456432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9392" y="35295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C3E6"/>
                </a:solidFill>
                <a:latin typeface="Segoe UI"/>
              </a:rPr>
              <a:t>TCM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3822192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cache pequeno, em fluxo: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sem parede de memória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3456432"/>
            <a:ext cx="2011680" cy="96012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5295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2C3E6"/>
                </a:solidFill>
                <a:latin typeface="Segoe UI"/>
              </a:rPr>
              <a:t>Matriz MAC + DSP int24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3822192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conv · FC · pooling · ReLU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FFT · log · exp · sqrt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862072" y="2569464"/>
            <a:ext cx="1097280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62072" y="229514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submete o job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2862072" y="3209544"/>
            <a:ext cx="1097280" cy="0"/>
          </a:xfrm>
          <a:prstGeom prst="line">
            <a:avLst/>
          </a:prstGeom>
          <a:ln w="25400">
            <a:solidFill>
              <a:srgbClr val="22C3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62072" y="32735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2C3E6"/>
                </a:solidFill>
                <a:latin typeface="Segoe UI"/>
              </a:rPr>
              <a:t>IRQ: acabou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3913632" y="4489704"/>
            <a:ext cx="1143000" cy="54864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53312" y="4672584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lê comandos + pesos (DMA)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16952" y="4489704"/>
            <a:ext cx="411480" cy="548640"/>
          </a:xfrm>
          <a:prstGeom prst="line">
            <a:avLst/>
          </a:prstGeom>
          <a:ln w="25400">
            <a:solidFill>
              <a:srgbClr val="0093D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96912" y="4626864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93D0"/>
                </a:solidFill>
                <a:latin typeface="Segoe UI"/>
              </a:rPr>
              <a:t>ativações (DMA)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131552" y="3621024"/>
            <a:ext cx="0" cy="1417320"/>
          </a:xfrm>
          <a:prstGeom prst="line">
            <a:avLst/>
          </a:prstGeom>
          <a:ln w="2540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445752" y="4123944"/>
            <a:ext cx="2011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66577"/>
                </a:solidFill>
                <a:latin typeface="Segoe UI"/>
              </a:rPr>
              <a:t>EasyDMA: áudio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261872" y="3621024"/>
            <a:ext cx="548640" cy="1417320"/>
          </a:xfrm>
          <a:prstGeom prst="line">
            <a:avLst/>
          </a:prstGeom>
          <a:ln w="25400">
            <a:solidFill>
              <a:srgbClr val="566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4215384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566577"/>
                </a:solidFill>
                <a:latin typeface="Segoe UI"/>
              </a:rPr>
              <a:t>roda o código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Da fonte ao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cadeia inteira do lab de voz: som → PDM → RAM → NPU → decisão. A RAM é o ponto de encontro de tudo.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caminho do áudio — ninguém copia nada na mão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Cada seta é hardware ou uma cópia deliberada —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cada cópia compra um desacoplamento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entre o tempo real do PDM e o tempo da inferência.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Microfone MEMS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sigma-delta: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 bit por pulso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de clock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PDM20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periférico: decima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em HW p/ PCM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16 kHz · 16 bit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EasyDMA entrega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blocos de 10 ms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(mem_slab)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Engine + NPU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mels + rede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no Axon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(command buffer)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CPU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probabilidade →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pós-processamento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→ 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701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1 bit @ MHz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5064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EasyDMA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427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feed_inputs()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790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decoded_output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Dois periféricos com DMA e a CPU só orquestra — é o mesmo padrão nas duas pontas.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cadeia de buffers — por que o Axon não lê o buffer do PDM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Axon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não come PCM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come features. E o slab do PDM não pode esperar a inferência: as cópias desacoplam os dois relógios.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8117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3820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277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545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mem_slab do driver (4 blocos de 10 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6654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PDM precisa deles de volta JÁ —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free_dmic_buffer()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logo após o feed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68046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2506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2964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2232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janela interna da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5341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feed_inputs()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copia e acumula até fechar a janela do modelo (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INPROGRESS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até lá)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5491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buffer de features (mel-espectrograma)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o áudio vira o 'retrato' tempo × frequência que redes de voz consomem</a:t>
            </a:r>
          </a:p>
        </p:txBody>
      </p:sp>
      <p:sp>
        <p:nvSpPr>
          <p:cNvPr id="24" name="Oval 23"/>
          <p:cNvSpPr/>
          <p:nvPr/>
        </p:nvSpPr>
        <p:spPr>
          <a:xfrm>
            <a:off x="1078992" y="49880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337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9606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interlayer buffer — o que a NPU consome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52715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buffer global em RAM,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compartilhado por todos os modelos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; dono é quem executa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2 · A CADEIA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RAM é o ponto de encontro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PDM → RAM → Axon → RAM → CPU: o diagrama mental que resolve quase toda dúvida de arquitetura deste bloco.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PDM escreve</a:t>
            </a:r>
            <a:r>
              <a:rPr sz="1700" b="0">
                <a:solidFill>
                  <a:srgbClr val="0B1B2B"/>
                </a:solidFill>
                <a:latin typeface="Segoe UI"/>
              </a:rPr>
              <a:t> amostras por EasyDMA — sem CPU no caminho.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Axon lê e escreve</a:t>
            </a:r>
            <a:r>
              <a:rPr sz="1700" b="0">
                <a:solidFill>
                  <a:srgbClr val="0B1B2B"/>
                </a:solidFill>
                <a:latin typeface="Segoe UI"/>
              </a:rPr>
              <a:t> por DMA: pesos direto da </a:t>
            </a:r>
            <a:r>
              <a:rPr sz="1700" b="1">
                <a:solidFill>
                  <a:srgbClr val="0093D0"/>
                </a:solidFill>
                <a:latin typeface="Segoe UI"/>
              </a:rPr>
              <a:t>flash</a:t>
            </a:r>
            <a:r>
              <a:rPr sz="1700" b="0">
                <a:solidFill>
                  <a:srgbClr val="0B1B2B"/>
                </a:solidFill>
                <a:latin typeface="Segoe UI"/>
              </a:rPr>
              <a:t>, ativações no interlayer buffer em RAM.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nada é copiado 'para dentro' da NPU — o TCM interno é só cache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CPU orquestra</a:t>
            </a:r>
            <a:r>
              <a:rPr sz="1700" b="0">
                <a:solidFill>
                  <a:srgbClr val="0B1B2B"/>
                </a:solidFill>
                <a:latin typeface="Segoe UI"/>
              </a:rPr>
              <a:t>: aponta buffers, dispara o job, dorme num semáforo, colhe o resultado.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Pesos e command buffer </a:t>
            </a:r>
            <a:r>
              <a:rPr sz="1700" b="1">
                <a:solidFill>
                  <a:srgbClr val="0093D0"/>
                </a:solidFill>
                <a:latin typeface="Segoe UI"/>
              </a:rPr>
              <a:t>nunca saem da flash</a:t>
            </a:r>
            <a:r>
              <a:rPr sz="1700" b="0">
                <a:solidFill>
                  <a:srgbClr val="0B1B2B"/>
                </a:solidFill>
                <a:latin typeface="Segoe UI"/>
              </a:rPr>
              <a:t> — zero cópia de modelo por inferência.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o custo por inferência é submissão + interrupção + dequantização — fixo, e importa nos modelos pequenos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Anatomia de um modelo compilado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que vem no zip do Edge AI Lab e o que acontece, passo a passo, a cada inferência.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TFLite ao command buffer — a toolchain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frase da súmula em uma linha: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modelo → compilador → alocação RAM/Flash → inferência acelerada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Você não escreve nenhuma dessas ferramentas — só as configura.</a:t>
            </a:r>
          </a:p>
        </p:txBody>
      </p:sp>
      <p:sp>
        <p:nvSpPr>
          <p:cNvPr id="9" name="Pentagon 8"/>
          <p:cNvSpPr/>
          <p:nvPr/>
        </p:nvSpPr>
        <p:spPr>
          <a:xfrm>
            <a:off x="713232" y="3387852"/>
            <a:ext cx="2266645" cy="1417320"/>
          </a:xfrm>
          <a:prstGeom prst="homePlat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2412949" y="3387852"/>
            <a:ext cx="2266645" cy="1417320"/>
          </a:xfrm>
          <a:prstGeom prst="chevron">
            <a:avLst/>
          </a:prstGeom>
          <a:solidFill>
            <a:srgbClr val="003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112666" y="3387852"/>
            <a:ext cx="2266645" cy="1417320"/>
          </a:xfrm>
          <a:prstGeom prst="chevron">
            <a:avLst/>
          </a:prstGeom>
          <a:solidFill>
            <a:srgbClr val="004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5812383" y="3387852"/>
            <a:ext cx="2266645" cy="1417320"/>
          </a:xfrm>
          <a:prstGeom prst="chevron">
            <a:avLst/>
          </a:prstGeom>
          <a:solidFill>
            <a:srgbClr val="0065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512100" y="3387852"/>
            <a:ext cx="2266645" cy="1417320"/>
          </a:xfrm>
          <a:prstGeom prst="chevron">
            <a:avLst/>
          </a:prstGeom>
          <a:solidFill>
            <a:srgbClr val="007C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11817" y="3387852"/>
            <a:ext cx="2266645" cy="1417320"/>
          </a:xfrm>
          <a:prstGeom prst="chevron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43884"/>
            <a:ext cx="165399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Edge AI 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09644"/>
            <a:ext cx="16539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treina a partir dos seus dados (ou de texto, para voz)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9605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TFLite int8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9605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rede quantizada, só com operadores que o Axon aceita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9322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Compilador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9322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Axon compiler: gera o command buffer + pesos, o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_axon.h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9039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Build (NCS)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9039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engine nrf_edgeai + driver; Kconfig dimensiona o interlayer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6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Flash · 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programa e pesos na flash; ativações no interlayer buffer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8473" y="3643884"/>
            <a:ext cx="126994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Inferência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8473" y="4009644"/>
            <a:ext cx="126994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NPU executa, CPU decide — até 15× vs tflite-micro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Edge AI Lab entrega — a anatomia do zip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Todo zip do Lab tem o mesmo contrato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gestos, som, anomalia. Trocar de modelo é trocar esta pasta.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39"/>
                <a:gridCol w="74733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Arquivo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é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nrf_edgeai_user_model.c/.h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modelo: descritores, pipeline de features e o getter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nrf_edgeai_user_model_&lt;solution&gt;()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nrf_edgeai_user_model_axon.h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modelo compilado para a NPU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command buffer (programa) + pesos int8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nrf_edgeai_user_model_labels.h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rótulos das classes (enum + strings)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nrf_edgeai_user_types.h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tipos de entrada e saída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prj_example.conf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os Kconfig de engine que o app precisa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CONFIG_NRF_EDGEAI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CONFIG_NRF_AXON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buffers)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Backend CPU (Neuton)? O mesmo zip, sem 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_axon.h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— a rede vem em float dentro do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.c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Uma inferência, passo a passo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que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nrf_edgeai_run_inference()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dispara — no lab de voz, isso acontece a cada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30 ms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para sempre.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59152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29384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75104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01952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feed_inputs() — a CPU alimenta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12848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memcpy do bloco para a janela interna; devolve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INPROGRESS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até a janela fechar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089148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659380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705100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631948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features — o áudio vira imagem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2942844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mel-espectrograma dentro da execução Axon (FFT/log acelerados na NPU)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819144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389376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435096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361944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submissão — a CPU entrega e dorme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672840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aponta o command buffer, dispara o job e bloqueia num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semáforo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549140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a NPU executa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pesos int8 da flash por DMA, camada por camada; ativações no interlayer buffer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61872" y="5279136"/>
            <a:ext cx="25400" cy="409956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8992" y="4849368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895088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4821936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interrupção — a CPU colhe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4792" y="5132832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dequantiza int8→float, aplica softmax/sigmoide e decodifica a classe</a:t>
            </a:r>
          </a:p>
        </p:txBody>
      </p:sp>
      <p:sp>
        <p:nvSpPr>
          <p:cNvPr id="34" name="Oval 33"/>
          <p:cNvSpPr/>
          <p:nvPr/>
        </p:nvSpPr>
        <p:spPr>
          <a:xfrm>
            <a:off x="1078992" y="5579364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625084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551932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decoded_output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5862828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predicted_class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+ probabilidades — daqui em diante é pós-processamento do 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3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Três memórias para conhecer pelo nome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Cada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_axon.h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declara o que precisa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a engine confere na inicialização — dimensionamento é design, não tentativa e erro.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Interlayer buffer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Ativações intermediárias, em RAM.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Global e compartilhado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dono é o modelo que executa.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CONFIG_NRF_AXON_INTERLAYER_BUFFER_SIZE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é dimensionado pela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maior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necessidade declarada entre os modelos.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Variáveis persistentes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Modelos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streaming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guardam contexto entre inferências (TFLite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VarHandle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). É o que os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*_reset()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zeram na troca de estágio — sem isso um modelo “ouviria” o passado do outro.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TCM (cache da NPU)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Pequeno de propósito: a NPU trabalha em fluxo, trazendo pedaços de pesos e ativações por DMA. Consequência: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sem parede de memória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— o desempenho degrada suave, não despenca.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No ww_kws real: interlayer de 6.656 B atende os dois modelos; as persistentes do KWS ocupam 26,6 kB.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Neuton × Axon, em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mesma solution do Lab nos dois backends — o que muda, o que não muda, e quem ganha quando.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4 · NEUTON × 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mesmo modelo, dois caminhos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pic>
        <p:nvPicPr>
          <p:cNvPr id="8" name="Picture 7" descr="pipeline_neuton_axon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80160"/>
            <a:ext cx="10765231" cy="49340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4 · NEUTON × 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muda entre os backends — e o que não muda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 11_benchmark a troca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uma escolha de Kconfig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zero mudança no código da aplicação.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4023359"/>
                <a:gridCol w="4364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Neuton (CPU)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Axon (NPU)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float32, executada por funções 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int8, executada pela NPU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Pesos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dentro do próprio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.c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gerado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na flash, lidos por DMA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Arquivo extra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_axon.h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(command buffer + pesos)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Interface de inferência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run_inference_neuton_f32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run_inference_axon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Precisa 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CONFIG_NRF_AXON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interlayer buffer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app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as mesmas 4 chamadas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as mesmas 4 chamadas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geração também: mesmo dataset, mesmo treino no Lab — muda só o alvo na exportação.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4 · NEUTON × 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4 chamadas não mudam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Build:</a:t>
            </a:r>
            <a:r>
              <a:rPr sz="1500" b="0">
                <a:solidFill>
                  <a:srgbClr val="0B1B2B"/>
                </a:solidFill>
                <a:latin typeface="Segoe UI"/>
              </a:rPr>
              <a:t> o Kconfig escolhe o backend; o CMake compila </a:t>
            </a:r>
            <a:r>
              <a:rPr sz="1500" b="0">
                <a:solidFill>
                  <a:srgbClr val="0B1B2B"/>
                </a:solidFill>
                <a:latin typeface="Consolas"/>
              </a:rPr>
              <a:t>Neuton/</a:t>
            </a:r>
            <a:r>
              <a:rPr sz="1500" b="0">
                <a:solidFill>
                  <a:srgbClr val="0B1B2B"/>
                </a:solidFill>
                <a:latin typeface="Segoe UI"/>
              </a:rPr>
              <a:t> ou </a:t>
            </a:r>
            <a:r>
              <a:rPr sz="1500" b="0">
                <a:solidFill>
                  <a:srgbClr val="0B1B2B"/>
                </a:solidFill>
                <a:latin typeface="Consolas"/>
              </a:rPr>
              <a:t>Axon/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Só no Axon:</a:t>
            </a:r>
            <a:r>
              <a:rPr sz="1500" b="0">
                <a:solidFill>
                  <a:srgbClr val="0B1B2B"/>
                </a:solidFill>
                <a:latin typeface="Segoe UI"/>
              </a:rPr>
              <a:t> </a:t>
            </a:r>
            <a:r>
              <a:rPr sz="1500" b="0">
                <a:solidFill>
                  <a:srgbClr val="0B1B2B"/>
                </a:solidFill>
                <a:latin typeface="Consolas"/>
              </a:rPr>
              <a:t>CONFIG_NRF_AXON</a:t>
            </a:r>
            <a:r>
              <a:rPr sz="1500" b="0">
                <a:solidFill>
                  <a:srgbClr val="0B1B2B"/>
                </a:solidFill>
                <a:latin typeface="Segoe UI"/>
              </a:rPr>
              <a:t> + interlayer buffer + reset das variáveis persistentes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Nomes:</a:t>
            </a:r>
            <a:r>
              <a:rPr sz="1500" b="0">
                <a:solidFill>
                  <a:srgbClr val="0B1B2B"/>
                </a:solidFill>
                <a:latin typeface="Segoe UI"/>
              </a:rPr>
              <a:t> o getter muda com a solution — o alias </a:t>
            </a:r>
            <a:r>
              <a:rPr sz="1500" b="0">
                <a:solidFill>
                  <a:srgbClr val="0B1B2B"/>
                </a:solidFill>
                <a:latin typeface="Consolas"/>
              </a:rPr>
              <a:t>nrf_edgeai_user_model()</a:t>
            </a:r>
            <a:r>
              <a:rPr sz="1500" b="0">
                <a:solidFill>
                  <a:srgbClr val="0B1B2B"/>
                </a:solidFill>
                <a:latin typeface="Segoe UI"/>
              </a:rPr>
              <a:t> esconde isso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624328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2221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nrf_edgeai_t *p_model = nrf_edgeai_user_model();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1. pegar o modelo  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nrf_edgeai_init(p_model);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2. inicializar (1x) */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loop: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nrf_edgeai_feed_inputs(p_model, buf, n);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3. alimentar       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if</a:t>
            </a:r>
            <a:r>
              <a:rPr sz="1400" b="0">
                <a:solidFill>
                  <a:srgbClr val="DCE8F2"/>
                </a:solidFill>
                <a:latin typeface="Consolas"/>
              </a:rPr>
              <a:t> (nrf_edgeai_run_inference(p_model) == NRF_EDGEAI_ERR_SUCCESS) {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4.   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</a:t>
            </a:r>
            <a:r>
              <a:rPr sz="1400" b="1">
                <a:solidFill>
                  <a:srgbClr val="4FC3E8"/>
                </a:solidFill>
                <a:latin typeface="Consolas"/>
              </a:rPr>
              <a:t>uint16_t</a:t>
            </a:r>
            <a:r>
              <a:rPr sz="1400" b="0">
                <a:solidFill>
                  <a:srgbClr val="DCE8F2"/>
                </a:solidFill>
                <a:latin typeface="Consolas"/>
              </a:rPr>
              <a:t> cls = p_model-&gt;decoded_output.classif.predicted_class;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</a:t>
            </a:r>
            <a:r>
              <a:rPr sz="1400" b="1">
                <a:solidFill>
                  <a:srgbClr val="4FC3E8"/>
                </a:solidFill>
                <a:latin typeface="Consolas"/>
              </a:rPr>
              <a:t>float</a:t>
            </a:r>
            <a:r>
              <a:rPr sz="1400" b="0">
                <a:solidFill>
                  <a:srgbClr val="DCE8F2"/>
                </a:solidFill>
                <a:latin typeface="Consolas"/>
              </a:rPr>
              <a:t> p = p_model-&gt;decoded_output.classif.probabilities.p_f32[cls];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04104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O mesmo código do 04_classify_led do loop 2 — CPU ou NPU, gesto ou voz, o contrato é este.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4 · NEUTON × AXON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Quem ganha quando — o resultado honesto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mesmo harness, o mesmo estímulo, dois tamanhos de modelo — medido na nossa bancada (cycle counter + PPK2, 2026-09-04).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83664"/>
            <a:ext cx="3855567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3855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Neuton (CPU)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2895" y="1883664"/>
            <a:ext cx="3855567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2895" y="1965960"/>
            <a:ext cx="38555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Axon (NPU)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542032"/>
            <a:ext cx="2651760" cy="14081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16352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Modelo pequeno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transporte · 9,4 kB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542032"/>
            <a:ext cx="3855567" cy="1408176"/>
          </a:xfrm>
          <a:prstGeom prst="roundRect">
            <a:avLst>
              <a:gd name="adj" fmla="val 7000"/>
            </a:avLst>
          </a:prstGeom>
          <a:solidFill>
            <a:srgbClr val="E1F0FA"/>
          </a:solidFill>
          <a:ln w="12700">
            <a:solidFill>
              <a:srgbClr val="009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706624"/>
            <a:ext cx="2392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93D0"/>
                </a:solidFill>
                <a:latin typeface="Consolas"/>
              </a:rPr>
              <a:t>229 µs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319272"/>
            <a:ext cx="339836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B1B2B"/>
                </a:solidFill>
                <a:latin typeface="Segoe UI"/>
              </a:rPr>
              <a:t>1,0 µJ por inferência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72491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 ganha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2895" y="2542032"/>
            <a:ext cx="3855567" cy="14081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51495" y="2706624"/>
            <a:ext cx="2392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66577"/>
                </a:solidFill>
                <a:latin typeface="Consolas"/>
              </a:rPr>
              <a:t>332 µs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1495" y="3319272"/>
            <a:ext cx="339836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577"/>
                </a:solidFill>
                <a:latin typeface="Segoe UI"/>
              </a:rPr>
              <a:t>1,7 µJ — o custo fixo do job domina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151376"/>
            <a:ext cx="2651760" cy="14081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2569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Modelo grande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9145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comandos de voz · 359 kB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4151376"/>
            <a:ext cx="3855567" cy="14081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315968"/>
            <a:ext cx="2392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566577"/>
                </a:solidFill>
                <a:latin typeface="Consolas"/>
              </a:rPr>
              <a:t>não fecha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928616"/>
            <a:ext cx="339836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66577"/>
                </a:solidFill>
                <a:latin typeface="Segoe UI"/>
              </a:rPr>
              <a:t>dezenas de ms em tflite-micro — estoura a janela de 30 ms (referência Nordic)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2895" y="4151376"/>
            <a:ext cx="3855567" cy="1408176"/>
          </a:xfrm>
          <a:prstGeom prst="roundRect">
            <a:avLst>
              <a:gd name="adj" fmla="val 7000"/>
            </a:avLst>
          </a:prstGeom>
          <a:solidFill>
            <a:srgbClr val="E1F0FA"/>
          </a:solidFill>
          <a:ln w="12700">
            <a:solidFill>
              <a:srgbClr val="009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51495" y="4315968"/>
            <a:ext cx="239252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93D0"/>
                </a:solidFill>
                <a:latin typeface="Consolas"/>
              </a:rPr>
              <a:t>12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1495" y="4928616"/>
            <a:ext cx="3398367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0B1B2B"/>
                </a:solidFill>
                <a:latin typeface="Segoe UI"/>
              </a:rPr>
              <a:t>40% da janela de 30 ms — tempo real com folga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4023" y="4334256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 escala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583387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83387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NPU não é “sempre mais rápido” — é “escala para modelos que a CPU não aguenta”.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 cascata do lab de voz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Dois modelos no mesmo microfone: o pequeno decide quando o grande merece acordar. É o padrão “Hey Siri”/“Alexa”.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5 · A CASCATA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Dois modelos, um microfone — o ww_kws da Nordic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Mesma entrada (PCM 16 kHz em blocos de 10 ms), mesma engine — papéis opostos por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design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79"/>
                <a:gridCol w="4023359"/>
                <a:gridCol w="42729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Wake word (gatekeeper)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Comandos (KWS)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Classes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okay nordic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(sigmoide)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12: OTHER, SILENCE + 10 comandos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Tamanho na flash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35 kB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359 kB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(10×)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Quando roda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sempre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33 inferências/s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por 3 s após a wake word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Latência na NPU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2,35 ms (8% da janela)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12 ms (40% da janela)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Pós-processamento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15 de 20 quadros ≥ 0,99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 seguidas com EMA ≥ 0,8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pós-processamento é do app, não do modelo — limiares em Kconfig, calibráveis sem retreinar.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5 · A CASCATA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Por que cascata: a conta de energia decide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Rodar o modelo grande o tempo todo dobraria o consumo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os falsos positivos: o gatekeeper filtra os dois.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Escutando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wake word 35 kB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33 inf/s · NPU 8%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93A6B8"/>
                </a:solidFill>
                <a:latin typeface="Segoe UI"/>
              </a:rPr>
              <a:t>837 µA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0501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0269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7429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“Okay Nordic”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429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15 de 20 quadros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acima de 99% →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LED0 acende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7539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Janela de comandos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KWS 359 kB por 3 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NPU 40% · 1.452 µA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cada acerto renova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4577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4345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505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Timeout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505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3 s sem comando →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zera o contexto 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volta a escutar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0421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detectou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7459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comandos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4497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3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Medido sem UART, mic ativo, @1,8 V: escutar com o gatekeeper custa 57% do modelo grande direto — ~11 dias numa CR2032.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5 · QUANTO CUSTA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escala do Axon — quatro modelos, uma NPU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achado que vale o slide: DS-CNN e wake word têm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mesmo tamanho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latências 2,3× diferentes —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latência segue os MACs, não os bytes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bench_escal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447" y="1810512"/>
            <a:ext cx="99568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SEÇÃO 5 · QUANTO CUSTA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cascata vista pela bateria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média de corrente segue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duty cycle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NPU: base de ~0,4 mA + duty × 2,7 mA —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arquitetura vira autonomia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pic>
        <p:nvPicPr>
          <p:cNvPr id="9" name="Picture 8" descr="bench_escut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34987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Axon em uma tela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É um </a:t>
            </a:r>
            <a:r>
              <a:rPr sz="1500" b="1">
                <a:solidFill>
                  <a:srgbClr val="E8F1F8"/>
                </a:solidFill>
                <a:latin typeface="Segoe UI"/>
              </a:rPr>
              <a:t>periférico</a:t>
            </a:r>
            <a:r>
              <a:rPr sz="1500" b="0">
                <a:solidFill>
                  <a:srgbClr val="93A6B8"/>
                </a:solidFill>
                <a:latin typeface="Segoe UI"/>
              </a:rPr>
              <a:t>: processador próprio, mestre de barramento, executa redes </a:t>
            </a:r>
            <a:r>
              <a:rPr sz="1500" b="1">
                <a:solidFill>
                  <a:srgbClr val="E8F1F8"/>
                </a:solidFill>
                <a:latin typeface="Segoe UI"/>
              </a:rPr>
              <a:t>compiladas</a:t>
            </a:r>
            <a:r>
              <a:rPr sz="1500" b="0">
                <a:solidFill>
                  <a:srgbClr val="93A6B8"/>
                </a:solidFill>
                <a:latin typeface="Segoe UI"/>
              </a:rPr>
              <a:t> (command buffer + pesos int8 na flash).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cadeia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PDM → RAM → Axon → RAM → CPU</a:t>
            </a:r>
            <a:r>
              <a:rPr sz="1500" b="0">
                <a:solidFill>
                  <a:srgbClr val="93A6B8"/>
                </a:solidFill>
                <a:latin typeface="Segoe UI"/>
              </a:rPr>
              <a:t> — DMA nas pontas, CPU só orquestra e decide.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</a:t>
            </a:r>
            <a:r>
              <a:rPr sz="1500" b="1">
                <a:solidFill>
                  <a:srgbClr val="E8F1F8"/>
                </a:solidFill>
                <a:latin typeface="Segoe UI"/>
              </a:rPr>
              <a:t>API não muda</a:t>
            </a:r>
            <a:r>
              <a:rPr sz="1500" b="0">
                <a:solidFill>
                  <a:srgbClr val="93A6B8"/>
                </a:solidFill>
                <a:latin typeface="Segoe UI"/>
              </a:rPr>
              <a:t> entre CPU e NPU — e o benchmark diz quem ganha: pequeno na CPU, grande na NPU.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Cascata de modelos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arquitetura de energia</a:t>
            </a:r>
            <a:r>
              <a:rPr sz="1500" b="0">
                <a:solidFill>
                  <a:srgbClr val="93A6B8"/>
                </a:solidFill>
                <a:latin typeface="Segoe UI"/>
              </a:rPr>
              <a:t>: o gatekeeper de 35 kB compra 11 dias de escuta numa CR2032.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12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comandos de voz (359 kB)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na NPU — 40% da janela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2,3×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mesmo tamanho, outra latência: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MACs mandam, não 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837 µA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escuta contínua com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gatekeeper @ 1,8 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4 µA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piso de sono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entre inferências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A NPU não acelera sempre — ela escala. E escala é o que a voz precisa.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