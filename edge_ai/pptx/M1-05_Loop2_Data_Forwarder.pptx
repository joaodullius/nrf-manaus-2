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MÓDULO 1 · BLOCO 05 · LOOP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O fluxo oficial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Data Forwarder, Host e Edge AI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loop 1 adaptou o dado à app de gestos. Agora o caminho que a Nordic documenta, de ponta a ponta: o sample de coleta, a GUI oficial, o pipeline genérico do Lab — e uma app </a:t>
            </a:r>
            <a:r>
              <a:rPr sz="1600" b="1" i="0">
                <a:solidFill>
                  <a:srgbClr val="E8F1F8"/>
                </a:solidFill>
                <a:latin typeface="Segoe UI"/>
              </a:rPr>
              <a:t>escrita para o dado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, não o contrário.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2871216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nRF54L15-TAG + Bluetooth do PC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67328" y="4709160"/>
            <a:ext cx="1935784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Data Forwarder Host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85992" y="4709160"/>
            <a:ext cx="1765706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Edge AI Lab · FFT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34578" y="4709160"/>
            <a:ext cx="1765706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Solution id 95922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LOOP 2 ·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loop numa tela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Oito passos, quatro atos — a mesma forma do loop 1, com outro firmware, outra ferramenta e outro problema. Os dois pontos escuros são onde a aula começa e onde ela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prova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que terminou.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83664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93D0"/>
                </a:solidFill>
                <a:latin typeface="Segoe UI"/>
              </a:rPr>
              <a:t>ATO 1 · COLETAR   →   ATO 2 · PREPARAR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40487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60604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data_forwarder na TAG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02666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9 canais · CBOR+COBS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→ BLE NUS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00501" y="304038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30269" y="240487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7429" y="260604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Data Forwarder 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7429" y="302666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GUI no PC: conecta,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plota, grava CSV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17539" y="304038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7307" y="240487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4467" y="260604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Uma gravação por classe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4467" y="302666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idle · vel1 · vel2 · vel3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~5 min cada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34577" y="304038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64345" y="240487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1505" y="260604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fwd_to_lab.py merge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1505" y="302666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label → inteiro,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concatena, valida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0421" y="209397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BLE direto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7459" y="209397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Record / Stop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4497" y="209397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CSV + .txt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073652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93D0"/>
                </a:solidFill>
                <a:latin typeface="Segoe UI"/>
              </a:rPr>
              <a:t>ATO 3 · TREINAR   →   ATO 4 · EMBARCAR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594860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4796028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Edge AI 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5216652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FLOAT32 · janela 128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features de frequência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100501" y="5230368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530269" y="4594860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67429" y="4796028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Zip do Lab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67429" y="5216652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nrf_edgeai_generated/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3 arquivos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917539" y="5230368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47307" y="4594860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4467" y="4796028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04_classify_led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4467" y="5216652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CURSO_MODELO + 2 blocos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west build -p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734577" y="5230368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164345" y="4594860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01505" y="4796028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Provar na TAG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01505" y="5216652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Solution id · ritmo da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janela · LED por classe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0421" y="4283964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treino em minutos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77459" y="4283964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zip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4497" y="4283964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-p obrigatório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LOOP 2 ·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muda do loop 1 para o loop 2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No loop 1 o dado foi formatado para caber numa app que já existia. Aqui a ordem inverte: o dado sai como a ferramenta oficial entrega, e a app é escrita para ele.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9044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24231"/>
                <a:gridCol w="4048462"/>
                <a:gridCol w="4692536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Loop 1 (bloco 04)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Loop 2 (este)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Firmware na TAG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01_gesture_recognition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 + fragmento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05_data_forwarder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 (sample do add-on)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Protocolo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texto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&lt;id&gt; ax,...,gz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CBOR + COBS + CRC-16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 por NUS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Ferramenta no PC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prep_dataset.py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 na serial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Data Forwarder Host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 (GUI, BLE direto)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Segunda placa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nRF54LM20-DK obrigatória (ponte)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não: o PC conecta por BLE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Unidades / tipo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mili · INT16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micro · FLOAT32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, sem conversão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Preparo do dado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centralizar gestos + merge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só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merge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: vibração é contínua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Lab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preset de gestos, janela 99/33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pipeline genérico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, FFT, janela 128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app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a de gestos, pronta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a do aluno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 — escrita para o dado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897880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897880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Nenhuma armadilha do loop 1 deixa de valer aqui — e o loop 2 acrescenta duas, igualmente silenciosas: escala e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taxa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Coletar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sample como a Nordic entrega, a GUI oficial no PC, e a TAG na bateria presa ao que se quer medir.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COLETAR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data_forwarder: o sample como a Nordic entrega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Rode-o primeiro: a TAG anunciando, o Host plotando 9 canais. As duas divergências do repo, fundo de escala e LED, vêm nos próximos slides.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Transporte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BLE NUS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(default): a TAG anuncia como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nRF DataFwd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o PC conecta direto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UART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para boards com USB-serial — a TAG não tem, precisaria de conversor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MTU 247 dos dois lados: 100 frames/s cabem folgados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Protocolo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CBOR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dentro de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COBS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com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CRC-16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por frame — o Host valida cada um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Metadados de sessão a cada 5 s: nome, taxa, canais — quem chega atrasado se acha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Modo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ASCII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opcional: CSV puro para o data forwarder do Edge Impulse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Sensores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BMI270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6 eixos a 100 Hz (default) — ou ADXL367 3 eixos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BME688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anexado: temp/hum/pres repetidos entre leituras (é lento) →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9 canais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Unidades: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sensor_value_to_micro()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— micro-unidades SI em int32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788152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788152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No Windows o sample do add-on não compila (bug do zcbor com caminho absoluto); a cópia do repo traz o contorno no CMakeLists.txt.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COLETAR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Primeira divergência: o fundo de escala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121615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813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/* 05_data_forwarder/src/sensor/bmi270.c — sample: 2 g / 500 dps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full_scale.val1 = 4;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G   */</a:t>
            </a:r>
            <a:r>
              <a:rPr sz="1400" b="0">
                <a:solidFill>
                  <a:srgbClr val="DCE8F2"/>
                </a:solidFill>
                <a:latin typeface="Consolas"/>
              </a:rPr>
              <a:t>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DIVERGENCIA DO CURSO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full_scale.val1 = 1000;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dps */</a:t>
            </a:r>
            <a:r>
              <a:rPr sz="1400" b="0">
                <a:solidFill>
                  <a:srgbClr val="DCE8F2"/>
                </a:solidFill>
                <a:latin typeface="Consolas"/>
              </a:rPr>
              <a:t>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DIVERGENCIA DO CURSO */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07208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west build -p · west flash. A TAG anuncia como nRF DataFwd, 9 canais a 100 Hz.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310128"/>
            <a:ext cx="10765231" cy="2907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Dois literais, sem Kconfig — já trocados no repo, marcados no fonte. É o que a app de inferência repete em </a:t>
            </a:r>
            <a:r>
              <a:rPr sz="1400" b="0">
                <a:solidFill>
                  <a:srgbClr val="0B1B2B"/>
                </a:solidFill>
                <a:latin typeface="Consolas"/>
              </a:rPr>
              <a:t>imu_init()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Não muda a unidade (continua micro), só o </a:t>
            </a:r>
            <a:r>
              <a:rPr sz="1400" b="1">
                <a:solidFill>
                  <a:srgbClr val="0093D0"/>
                </a:solidFill>
                <a:latin typeface="Segoe UI"/>
              </a:rPr>
              <a:t>teto antes de saturar</a:t>
            </a:r>
            <a:r>
              <a:rPr sz="1400" b="0">
                <a:solidFill>
                  <a:srgbClr val="0B1B2B"/>
                </a:solidFill>
                <a:latin typeface="Segoe UI"/>
              </a:rPr>
              <a:t>. Um modelo treinado com sinal saturado a ±2 g vê outra coisa na TAG a ±4 g — e vice-versa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Vale a regra: </a:t>
            </a:r>
            <a:r>
              <a:rPr sz="1400" b="1">
                <a:solidFill>
                  <a:srgbClr val="0093D0"/>
                </a:solidFill>
                <a:latin typeface="Segoe UI"/>
              </a:rPr>
              <a:t>o mesmo fundo de escala na coleta e na inferência.</a:t>
            </a:r>
            <a:r>
              <a:rPr sz="1400" b="0">
                <a:solidFill>
                  <a:srgbClr val="0B1B2B"/>
                </a:solidFill>
                <a:latin typeface="Segoe UI"/>
              </a:rPr>
              <a:t> O 04 usa </a:t>
            </a:r>
            <a:r>
              <a:rPr sz="1400" b="0">
                <a:solidFill>
                  <a:srgbClr val="0B1B2B"/>
                </a:solidFill>
                <a:latin typeface="Consolas"/>
              </a:rPr>
              <a:t>IMU_ACCEL_FS_G 4</a:t>
            </a:r>
            <a:r>
              <a:rPr sz="1400" b="0">
                <a:solidFill>
                  <a:srgbClr val="0B1B2B"/>
                </a:solidFill>
                <a:latin typeface="Segoe UI"/>
              </a:rPr>
              <a:t> / </a:t>
            </a:r>
            <a:r>
              <a:rPr sz="1400" b="0">
                <a:solidFill>
                  <a:srgbClr val="0B1B2B"/>
                </a:solidFill>
                <a:latin typeface="Consolas"/>
              </a:rPr>
              <a:t>IMU_GYRO_FS_DPS 1000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COLETAR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LED de estado: a TAG conta o que está fazendo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1920240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1517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azul,  1 flash/s     anunciando, sem central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verde, 2 Hz          central conectado e laço de coleta rodando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nenhum               travou antes do laço (sensor, BLE) → RTT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/* por que o estado vem de um bt_conn_cb e não do retorno do envio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err = proto_send_samples(values, count);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retorna 0 SEM conexão: só enfileira */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30168"/>
            <a:ext cx="10765231" cy="2587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Segunda divergência do curso no 05 (marcada no cabeçalho do </a:t>
            </a:r>
            <a:r>
              <a:rPr sz="1400" b="0">
                <a:solidFill>
                  <a:srgbClr val="0B1B2B"/>
                </a:solidFill>
                <a:latin typeface="Consolas"/>
              </a:rPr>
              <a:t>main.c</a:t>
            </a:r>
            <a:r>
              <a:rPr sz="1400" b="0">
                <a:solidFill>
                  <a:srgbClr val="0B1B2B"/>
                </a:solidFill>
                <a:latin typeface="Segoe UI"/>
              </a:rPr>
              <a:t>, </a:t>
            </a:r>
            <a:r>
              <a:rPr sz="1400" b="0">
                <a:solidFill>
                  <a:srgbClr val="0B1B2B"/>
                </a:solidFill>
                <a:latin typeface="Consolas"/>
              </a:rPr>
              <a:t>CONFIG_GPIO=y</a:t>
            </a:r>
            <a:r>
              <a:rPr sz="1400" b="0">
                <a:solidFill>
                  <a:srgbClr val="0B1B2B"/>
                </a:solidFill>
                <a:latin typeface="Segoe UI"/>
              </a:rPr>
              <a:t>). Na aula a TAG está na bateria, sem RTT: o LED é o único feedback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O verde é um </a:t>
            </a:r>
            <a:r>
              <a:rPr sz="1400" b="1">
                <a:solidFill>
                  <a:srgbClr val="0093D0"/>
                </a:solidFill>
                <a:latin typeface="Segoe UI"/>
              </a:rPr>
              <a:t>heartbeat do laço</a:t>
            </a:r>
            <a:r>
              <a:rPr sz="1400" b="0">
                <a:solidFill>
                  <a:srgbClr val="0B1B2B"/>
                </a:solidFill>
                <a:latin typeface="Segoe UI"/>
              </a:rPr>
              <a:t>: se o sensor travar, para de piscar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Consolas"/>
              </a:rPr>
              <a:t>proto_send_samples()</a:t>
            </a:r>
            <a:r>
              <a:rPr sz="1400" b="0">
                <a:solidFill>
                  <a:srgbClr val="0B1B2B"/>
                </a:solidFill>
                <a:latin typeface="Segoe UI"/>
              </a:rPr>
              <a:t> retorna 0 mesmo sem ninguém conectado — o envio real falha depois, numa work queue (</a:t>
            </a:r>
            <a:r>
              <a:rPr sz="1400" b="0">
                <a:solidFill>
                  <a:srgbClr val="0B1B2B"/>
                </a:solidFill>
                <a:latin typeface="Consolas"/>
              </a:rPr>
              <a:t>-22</a:t>
            </a:r>
            <a:r>
              <a:rPr sz="1400" b="0">
                <a:solidFill>
                  <a:srgbClr val="0B1B2B"/>
                </a:solidFill>
                <a:latin typeface="Segoe UI"/>
              </a:rPr>
              <a:t>, </a:t>
            </a:r>
            <a:r>
              <a:rPr sz="1400" b="0">
                <a:solidFill>
                  <a:srgbClr val="0B1B2B"/>
                </a:solidFill>
                <a:latin typeface="Consolas"/>
              </a:rPr>
              <a:t>nus_mtu == 0</a:t>
            </a:r>
            <a:r>
              <a:rPr sz="1400" b="0">
                <a:solidFill>
                  <a:srgbClr val="0B1B2B"/>
                </a:solidFill>
                <a:latin typeface="Segoe UI"/>
              </a:rPr>
              <a:t>). O estado vem de </a:t>
            </a:r>
            <a:r>
              <a:rPr sz="1400" b="0">
                <a:solidFill>
                  <a:srgbClr val="0B1B2B"/>
                </a:solidFill>
                <a:latin typeface="Consolas"/>
              </a:rPr>
              <a:t>BT_CONN_CB_DEFINE</a:t>
            </a:r>
            <a:r>
              <a:rPr sz="1400" b="0">
                <a:solidFill>
                  <a:srgbClr val="0B1B2B"/>
                </a:solidFill>
                <a:latin typeface="Segoe UI"/>
              </a:rPr>
              <a:t>, sem tocar no transporte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Sem central, o RTT repete a cada 5 s </a:t>
            </a:r>
            <a:r>
              <a:rPr sz="1400" b="0">
                <a:solidFill>
                  <a:srgbClr val="0B1B2B"/>
                </a:solidFill>
                <a:latin typeface="Consolas"/>
              </a:rPr>
              <a:t>Skipped 499 messages</a:t>
            </a:r>
            <a:r>
              <a:rPr sz="1400" b="0">
                <a:solidFill>
                  <a:srgbClr val="0B1B2B"/>
                </a:solidFill>
                <a:latin typeface="Segoe UI"/>
              </a:rPr>
              <a:t> / </a:t>
            </a:r>
            <a:r>
              <a:rPr sz="1400" b="0">
                <a:solidFill>
                  <a:srgbClr val="0B1B2B"/>
                </a:solidFill>
                <a:latin typeface="Consolas"/>
              </a:rPr>
              <a:t>send failed: -22</a:t>
            </a:r>
            <a:r>
              <a:rPr sz="1400" b="0">
                <a:solidFill>
                  <a:srgbClr val="0B1B2B"/>
                </a:solidFill>
                <a:latin typeface="Segoe UI"/>
              </a:rPr>
              <a:t>. É o esperado, não é falha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COLETAR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Data Forwarder Host: vem no add-on, é GUI pura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1450848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1048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C:\ncs\sdk-edge-ai\edge-ai\tools\data_forwarder_host\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onde fica (add-on v2.3.0)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pip</a:t>
            </a:r>
            <a:r>
              <a:rPr sz="1400" b="0">
                <a:solidFill>
                  <a:srgbClr val="DCE8F2"/>
                </a:solidFill>
                <a:latin typeface="Consolas"/>
              </a:rPr>
              <a:t> install -r requirements.txt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PySide6 (Qt), bleak, pyserial, cobs — uma vez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main.py         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não há CLI: "there is no command-line interface"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160776"/>
            <a:ext cx="10765231" cy="3057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Requisitos: Python ≥ 3.12 e um adaptador Bluetooth no PC. Validado com o Bluetooth interno de um notebook Windows 11 — </a:t>
            </a:r>
            <a:r>
              <a:rPr sz="1400" b="1">
                <a:solidFill>
                  <a:srgbClr val="0093D0"/>
                </a:solidFill>
                <a:latin typeface="Segoe UI"/>
              </a:rPr>
              <a:t>24 min de gravação, 18 amostras perdidas em 146 mil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Gravações: pasta escolhida na aba, ou </a:t>
            </a:r>
            <a:r>
              <a:rPr sz="1400" b="0">
                <a:solidFill>
                  <a:srgbClr val="0B1B2B"/>
                </a:solidFill>
                <a:latin typeface="Consolas"/>
              </a:rPr>
              <a:t>recordings/</a:t>
            </a:r>
            <a:r>
              <a:rPr sz="1400" b="0">
                <a:solidFill>
                  <a:srgbClr val="0B1B2B"/>
                </a:solidFill>
                <a:latin typeface="Segoe UI"/>
              </a:rPr>
              <a:t> dentro do pacote. Cada </a:t>
            </a:r>
            <a:r>
              <a:rPr sz="1400" b="0">
                <a:solidFill>
                  <a:srgbClr val="0B1B2B"/>
                </a:solidFill>
                <a:latin typeface="Consolas"/>
              </a:rPr>
              <a:t>Record</a:t>
            </a:r>
            <a:r>
              <a:rPr sz="1400" b="0">
                <a:solidFill>
                  <a:srgbClr val="0B1B2B"/>
                </a:solidFill>
                <a:latin typeface="Segoe UI"/>
              </a:rPr>
              <a:t> gera o </a:t>
            </a:r>
            <a:r>
              <a:rPr sz="1400" b="0">
                <a:solidFill>
                  <a:srgbClr val="0B1B2B"/>
                </a:solidFill>
                <a:latin typeface="Consolas"/>
              </a:rPr>
              <a:t>.csv</a:t>
            </a:r>
            <a:r>
              <a:rPr sz="1400" b="0">
                <a:solidFill>
                  <a:srgbClr val="0B1B2B"/>
                </a:solidFill>
                <a:latin typeface="Segoe UI"/>
              </a:rPr>
              <a:t> e um </a:t>
            </a:r>
            <a:r>
              <a:rPr sz="1400" b="0">
                <a:solidFill>
                  <a:srgbClr val="0B1B2B"/>
                </a:solidFill>
                <a:latin typeface="Consolas"/>
              </a:rPr>
              <a:t>.txt</a:t>
            </a:r>
            <a:r>
              <a:rPr sz="1400" b="0">
                <a:solidFill>
                  <a:srgbClr val="0B1B2B"/>
                </a:solidFill>
                <a:latin typeface="Segoe UI"/>
              </a:rPr>
              <a:t> de metadados (transporte, taxa, canais, erros)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Log em </a:t>
            </a:r>
            <a:r>
              <a:rPr sz="1400" b="0">
                <a:solidFill>
                  <a:srgbClr val="0B1B2B"/>
                </a:solidFill>
                <a:latin typeface="Consolas"/>
              </a:rPr>
              <a:t>%LOCALAPPDATA%\Nordic Semiconductor\data_forwarder\Logs\</a:t>
            </a:r>
            <a:r>
              <a:rPr sz="1400" b="0">
                <a:solidFill>
                  <a:srgbClr val="0B1B2B"/>
                </a:solidFill>
                <a:latin typeface="Segoe UI"/>
              </a:rPr>
              <a:t> — mas se o </a:t>
            </a:r>
            <a:r>
              <a:rPr sz="1400" b="0">
                <a:solidFill>
                  <a:srgbClr val="0B1B2B"/>
                </a:solidFill>
                <a:latin typeface="Consolas"/>
              </a:rPr>
              <a:t>python</a:t>
            </a:r>
            <a:r>
              <a:rPr sz="1400" b="0">
                <a:solidFill>
                  <a:srgbClr val="0B1B2B"/>
                </a:solidFill>
                <a:latin typeface="Segoe UI"/>
              </a:rPr>
              <a:t> for o da </a:t>
            </a:r>
            <a:r>
              <a:rPr sz="1400" b="1">
                <a:solidFill>
                  <a:srgbClr val="0093D0"/>
                </a:solidFill>
                <a:latin typeface="Segoe UI"/>
              </a:rPr>
              <a:t>Microsoft Store</a:t>
            </a:r>
            <a:r>
              <a:rPr sz="1400" b="0">
                <a:solidFill>
                  <a:srgbClr val="0B1B2B"/>
                </a:solidFill>
                <a:latin typeface="Segoe UI"/>
              </a:rPr>
              <a:t>, o Windows virtualiza a pasta: procure em </a:t>
            </a:r>
            <a:r>
              <a:rPr sz="1400" b="0">
                <a:solidFill>
                  <a:srgbClr val="0B1B2B"/>
                </a:solidFill>
                <a:latin typeface="Consolas"/>
              </a:rPr>
              <a:t>%LOCALAPPDATA%\Packages\PythonSoftwareFoundation...\LocalCache\Local\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Sem Bluetooth no notebook: um adaptador USB BLE. A DK não entra no loop 2 — ela só grava a TAG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COLETAR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Session → New session: cinco campos e uma espera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Depois do Connect o status fica verde,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Create session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habilita, e o streaming começa sozinho: 9 canais no plot, os três do BME688 em escada.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76294"/>
                <a:gridCol w="2392273"/>
                <a:gridCol w="5796662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Campo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Valor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Por quê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Session tag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um nome sem espaço/acento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entra no nome do CSV: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{label}_{tag}_{utc}.csv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Plot window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10 s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padrão basta para ver o gesto/vibração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Kind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ble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BLE NUS direto — a TAG não tem UART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Dispositivo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nRF DataFwd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conferir o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endereço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— todos os tags têm o mesmo nome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Frames carry CRC-16 trailer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marcado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firmware tem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DATA_FWD_PROTO_CRC=y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; desmarcado, o Host rejeita tudo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Connect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esperar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10–15 s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Windows negocia devagar e o popup parece travado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42239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42239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Não clique Cancel no popup.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Cancelar derruba a conexão — inclusive uma que acabou de completar. Vale dizer antes do clique.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COLETAR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o Host grava: 9 canais, micro-unidades, float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2154936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175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device_time_ms,ax,ay,az,gx,gy,gz,temp,hum,pres,label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33203,119713.0,-241821.0,10011659.0,-2663.0,-4261.0,-1597.0,24030000.0,48718000.0,101618000.0,idle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                 │                │                  │          │          └─ 101,6 kPa × 10⁶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                 │                │                  │          └─ 48,7 % × 10⁶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                 │                │                  └─ 24,03 °C × 10⁶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                 │                └─ −0,0027 rad/s × 10⁶  (giroscópio do Zephyr é rad/s, não dps)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                 └─ 10,01 m/s² × 10⁶ — a gravidade, TAG parada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864864"/>
            <a:ext cx="10765231" cy="2353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Consolas"/>
              </a:rPr>
              <a:t>.0</a:t>
            </a:r>
            <a:r>
              <a:rPr sz="1400" b="0">
                <a:solidFill>
                  <a:srgbClr val="0B1B2B"/>
                </a:solidFill>
                <a:latin typeface="Segoe UI"/>
              </a:rPr>
              <a:t> no fim de tudo: o Host escreve </a:t>
            </a:r>
            <a:r>
              <a:rPr sz="1400" b="1">
                <a:solidFill>
                  <a:srgbClr val="0093D0"/>
                </a:solidFill>
                <a:latin typeface="Segoe UI"/>
              </a:rPr>
              <a:t>float</a:t>
            </a:r>
            <a:r>
              <a:rPr sz="1400" b="0">
                <a:solidFill>
                  <a:srgbClr val="0B1B2B"/>
                </a:solidFill>
                <a:latin typeface="Segoe UI"/>
              </a:rPr>
              <a:t>, e é assim que vai para o Lab — que detecta </a:t>
            </a:r>
            <a:r>
              <a:rPr sz="1400" b="1">
                <a:solidFill>
                  <a:srgbClr val="0093D0"/>
                </a:solidFill>
                <a:latin typeface="Segoe UI"/>
              </a:rPr>
              <a:t>FLOAT32</a:t>
            </a:r>
            <a:r>
              <a:rPr sz="1400" b="0">
                <a:solidFill>
                  <a:srgbClr val="0B1B2B"/>
                </a:solidFill>
                <a:latin typeface="Segoe UI"/>
              </a:rPr>
              <a:t>. Nenhuma conversão de escala no caminho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A app alimenta o modelo com </a:t>
            </a:r>
            <a:r>
              <a:rPr sz="1400" b="0">
                <a:solidFill>
                  <a:srgbClr val="0B1B2B"/>
                </a:solidFill>
                <a:latin typeface="Consolas"/>
              </a:rPr>
              <a:t>sensor_value_to_micro()</a:t>
            </a:r>
            <a:r>
              <a:rPr sz="1400" b="0">
                <a:solidFill>
                  <a:srgbClr val="0B1B2B"/>
                </a:solidFill>
                <a:latin typeface="Segoe UI"/>
              </a:rPr>
              <a:t>: </a:t>
            </a:r>
            <a:r>
              <a:rPr sz="1400" b="1">
                <a:solidFill>
                  <a:srgbClr val="0093D0"/>
                </a:solidFill>
                <a:latin typeface="Segoe UI"/>
              </a:rPr>
              <a:t>o número do CSV é o número que entra no modelo</a:t>
            </a:r>
            <a:r>
              <a:rPr sz="1400" b="0">
                <a:solidFill>
                  <a:srgbClr val="0B1B2B"/>
                </a:solidFill>
                <a:latin typeface="Segoe UI"/>
              </a:rPr>
              <a:t>. Sem fator. (O loop 1 trabalhava em mili; aqui isso não importa)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Consolas"/>
              </a:rPr>
              <a:t>device_time_ms</a:t>
            </a:r>
            <a:r>
              <a:rPr sz="1400" b="0">
                <a:solidFill>
                  <a:srgbClr val="0B1B2B"/>
                </a:solidFill>
                <a:latin typeface="Segoe UI"/>
              </a:rPr>
              <a:t> avança 9/10/11 ms — jitter do timer, não perda. A taxa real é 99,8 Hz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1">
                <a:solidFill>
                  <a:srgbClr val="0093D0"/>
                </a:solidFill>
                <a:latin typeface="Segoe UI"/>
              </a:rPr>
              <a:t>Uma gravação por classe</a:t>
            </a:r>
            <a:r>
              <a:rPr sz="1400" b="0">
                <a:solidFill>
                  <a:srgbClr val="0B1B2B"/>
                </a:solidFill>
                <a:latin typeface="Segoe UI"/>
              </a:rPr>
              <a:t>: label, </a:t>
            </a:r>
            <a:r>
              <a:rPr sz="1400" b="0">
                <a:solidFill>
                  <a:srgbClr val="0B1B2B"/>
                </a:solidFill>
                <a:latin typeface="Consolas"/>
              </a:rPr>
              <a:t>Record</a:t>
            </a:r>
            <a:r>
              <a:rPr sz="1400" b="0">
                <a:solidFill>
                  <a:srgbClr val="0B1B2B"/>
                </a:solidFill>
                <a:latin typeface="Segoe UI"/>
              </a:rPr>
              <a:t>, ~5 min na condição da classe, </a:t>
            </a:r>
            <a:r>
              <a:rPr sz="1400" b="0">
                <a:solidFill>
                  <a:srgbClr val="0B1B2B"/>
                </a:solidFill>
                <a:latin typeface="Consolas"/>
              </a:rPr>
              <a:t>Stop</a:t>
            </a:r>
            <a:r>
              <a:rPr sz="1400" b="0">
                <a:solidFill>
                  <a:srgbClr val="0B1B2B"/>
                </a:solidFill>
                <a:latin typeface="Segoe UI"/>
              </a:rPr>
              <a:t>. Sem mexer na TAG entre uma e outra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Preparar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Um problema de vibração, um script de 150 linhas, e duas regras de coleta que valem mais que qualquer botão do Lab.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2 · PREPARAR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caso: a velocidade de um ventilador pela vibração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Um ventilador portátil de 3 velocidades com a TAG presa nele. Dado contínuo, sem centralização, e um sinal em que 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frequência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carrega a informação.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Por que não repetir os gestos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Gesto discreto exige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centralizar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— o loop 1 já ensinou isso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Vibração é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contínua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qualquer trecho de 1,28 s é um exemplo completo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E o que separa as classes é o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espectro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não a amplitude — é o pipeline genérico do Lab que entra em cena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Quatro classes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idle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— TAG presa, ventilador desligado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vel1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·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vel2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·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vel3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— as três velocidades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Ventilador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na bateria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TAG presa uma vez e sem sair do lugar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que o σ já mostra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az: idle 0,009 → vel1 0,054 → vel2 0,098 → vel3 0,174 m/s²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gx: vel2 e vel3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iguais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(0,014 rad/s) — amplitude não separa as duas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É a frequência que decide → features de FFT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788152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788152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Dataset completo no repo: 05_data_forwarder/dataset_referencia/ — 4 gravações brutas + dataset_ventilador.csv pronto para o Lab.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2 · PREPARAR · ⭐ VALE O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As quatro classes no tempo e na frequência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Em cima, uma janela de 1,28 s do eixo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az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de cada gravação, mesma escala: a amplitude cresce com a velocidade, mas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vel1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vel2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são parecidas a olho. Embaixo, o espectro médio de todas as janelas: cada velocidade tem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seu pico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35 Hz, 38 Hz, 14 Hz com harmônicos.</a:t>
            </a:r>
          </a:p>
        </p:txBody>
      </p:sp>
      <p:pic>
        <p:nvPicPr>
          <p:cNvPr id="9" name="Picture 8" descr="vibracao_ventila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494" y="1810512"/>
            <a:ext cx="9706707" cy="4206240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13232" y="6089904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Gerado por doc/_template/fig_m1_05_vibracao.py a partir de 05_data_forwarder/dataset_referencia/bruto/. Amostragem a 100 Hz: tudo acima de 50 Hz aparece dobrado (aliasing) — o pico de vel3 em 14 Hz provavelmente é um rebatimento, e o modelo não se importa: o padrão é estável e diferente dos outros.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2 · PREPARAR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fwd_to_lab.py: junta, rotula, valida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3093720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2691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cd edge_ai/05_data_forwarder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tools/fwd_to_lab.py info  recordings/*.csv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taxa, perdidas, σ por gravação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tools/fwd_to_lab.py merge recordings/idle_*.csv recordings/vel1_*.csv \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recordings/vel2_*.csv recordings/vel3_*.csv --classes idle,vel1,vel2,vel3 \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--out dataset_ventilador.csv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dicionario de classes (a app precisa dele):     ← a ordem de --classes É o dicionário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0  idle     36695 amostras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1  vel1     37237 amostras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2  vel2     36120 amostras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3  vel3     36471 amostras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803648"/>
            <a:ext cx="10765231" cy="1414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Consolas"/>
              </a:rPr>
              <a:t>merge</a:t>
            </a:r>
            <a:r>
              <a:rPr sz="1400" b="0">
                <a:solidFill>
                  <a:srgbClr val="0B1B2B"/>
                </a:solidFill>
                <a:latin typeface="Segoe UI"/>
              </a:rPr>
              <a:t>: descarta </a:t>
            </a:r>
            <a:r>
              <a:rPr sz="1400" b="0">
                <a:solidFill>
                  <a:srgbClr val="0B1B2B"/>
                </a:solidFill>
                <a:latin typeface="Consolas"/>
              </a:rPr>
              <a:t>device_time_ms</a:t>
            </a:r>
            <a:r>
              <a:rPr sz="1400" b="0">
                <a:solidFill>
                  <a:srgbClr val="0B1B2B"/>
                </a:solidFill>
                <a:latin typeface="Segoe UI"/>
              </a:rPr>
              <a:t>, troca </a:t>
            </a:r>
            <a:r>
              <a:rPr sz="1400" b="0">
                <a:solidFill>
                  <a:srgbClr val="0B1B2B"/>
                </a:solidFill>
                <a:latin typeface="Consolas"/>
              </a:rPr>
              <a:t>label</a:t>
            </a:r>
            <a:r>
              <a:rPr sz="1400" b="0">
                <a:solidFill>
                  <a:srgbClr val="0B1B2B"/>
                </a:solidFill>
                <a:latin typeface="Segoe UI"/>
              </a:rPr>
              <a:t> por inteiro a partir de 0, concatena </a:t>
            </a:r>
            <a:r>
              <a:rPr sz="1400" b="1">
                <a:solidFill>
                  <a:srgbClr val="0093D0"/>
                </a:solidFill>
                <a:latin typeface="Segoe UI"/>
              </a:rPr>
              <a:t>sem embaralhar</a:t>
            </a:r>
            <a:r>
              <a:rPr sz="1400" b="0">
                <a:solidFill>
                  <a:srgbClr val="0B1B2B"/>
                </a:solidFill>
                <a:latin typeface="Segoe UI"/>
              </a:rPr>
              <a:t>, recusa dataset inválido (≥ 2 classes, ≥ 20 amostras, classe 0) — sai com 1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1">
                <a:solidFill>
                  <a:srgbClr val="0093D0"/>
                </a:solidFill>
                <a:latin typeface="Segoe UI"/>
              </a:rPr>
              <a:t>Não mexe nos valores</a:t>
            </a:r>
            <a:r>
              <a:rPr sz="1400" b="0">
                <a:solidFill>
                  <a:srgbClr val="0B1B2B"/>
                </a:solidFill>
                <a:latin typeface="Segoe UI"/>
              </a:rPr>
              <a:t>: micro float, verbatim. </a:t>
            </a:r>
            <a:r>
              <a:rPr sz="1400" b="0">
                <a:solidFill>
                  <a:srgbClr val="0B1B2B"/>
                </a:solidFill>
                <a:latin typeface="Consolas"/>
              </a:rPr>
              <a:t>temp,hum,pres</a:t>
            </a:r>
            <a:r>
              <a:rPr sz="1400" b="0">
                <a:solidFill>
                  <a:srgbClr val="0B1B2B"/>
                </a:solidFill>
                <a:latin typeface="Segoe UI"/>
              </a:rPr>
              <a:t> ficam e saem </a:t>
            </a:r>
            <a:r>
              <a:rPr sz="1400" b="1">
                <a:solidFill>
                  <a:srgbClr val="0093D0"/>
                </a:solidFill>
                <a:latin typeface="Segoe UI"/>
              </a:rPr>
              <a:t>no Lab</a:t>
            </a:r>
            <a:r>
              <a:rPr sz="1400" b="0">
                <a:solidFill>
                  <a:srgbClr val="0B1B2B"/>
                </a:solidFill>
                <a:latin typeface="Segoe UI"/>
              </a:rPr>
              <a:t> (*Remove variables*); </a:t>
            </a:r>
            <a:r>
              <a:rPr sz="1400" b="0">
                <a:solidFill>
                  <a:srgbClr val="0B1B2B"/>
                </a:solidFill>
                <a:latin typeface="Consolas"/>
              </a:rPr>
              <a:t>--drop-env</a:t>
            </a:r>
            <a:r>
              <a:rPr sz="1400" b="0">
                <a:solidFill>
                  <a:srgbClr val="0B1B2B"/>
                </a:solidFill>
                <a:latin typeface="Segoe UI"/>
              </a:rPr>
              <a:t> tira antes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Consolas"/>
              </a:rPr>
              <a:t>--session-col</a:t>
            </a:r>
            <a:r>
              <a:rPr sz="1400" b="0">
                <a:solidFill>
                  <a:srgbClr val="0B1B2B"/>
                </a:solidFill>
                <a:latin typeface="Segoe UI"/>
              </a:rPr>
              <a:t>: coluna </a:t>
            </a:r>
            <a:r>
              <a:rPr sz="1400" b="0">
                <a:solidFill>
                  <a:srgbClr val="0B1B2B"/>
                </a:solidFill>
                <a:latin typeface="Consolas"/>
              </a:rPr>
              <a:t>session</a:t>
            </a:r>
            <a:r>
              <a:rPr sz="1400" b="0">
                <a:solidFill>
                  <a:srgbClr val="0B1B2B"/>
                </a:solidFill>
                <a:latin typeface="Segoe UI"/>
              </a:rPr>
              <a:t> = índice do arquivo → *Session ID* no Lab, validação </a:t>
            </a:r>
            <a:r>
              <a:rPr sz="1400" b="1">
                <a:solidFill>
                  <a:srgbClr val="0093D0"/>
                </a:solidFill>
                <a:latin typeface="Segoe UI"/>
              </a:rPr>
              <a:t>entre gravações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2 · PREPARAR · ⭐ VALE O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Duas regras de coleta que o ventilador ensinou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Nenhuma das duas aparece como erro. Aparecem como um modelo com 100 % no Lab que erra na mão.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65960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Muda só a variável que se quer classificar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432304"/>
            <a:ext cx="5245455" cy="309981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633472"/>
            <a:ext cx="4696815" cy="2734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fixação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do sensor faz parte da classe: a mesma velocidade com a TAG presa de outro jeito dá outro perfil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Prender uma vez, gravar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todas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as classes sem mexer —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idle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incluído, com o ventilador desligado e a TAG no mesmo lugar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O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info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denuncia: duas gravações da mesma classe com σ muito diferentes = algo além da velocidade mudou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83664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007" y="1965960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Colete na condição em que o modelo vai rodar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2432304"/>
            <a:ext cx="5245455" cy="309981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7327" y="2633472"/>
            <a:ext cx="4696815" cy="2734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Ventilador no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carregador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gira mais devagar que na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bateria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Modelo treinado no carregador, rodando na bateria: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vel1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vira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vel2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— com 99 % de confiança, sem nenhum aviso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O espectro é o objeto que o modelo aprende; a fonte de alimentação faz parte dele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Se as duas condições importam: grave as duas, junte na mesma classe, e use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--session-col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5641848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641848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As duas são a mesma lição do </a:t>
            </a:r>
            <a:r>
              <a:rPr sz="1300" b="1" i="0">
                <a:solidFill>
                  <a:srgbClr val="0B1B2B"/>
                </a:solidFill>
                <a:latin typeface="Consolas"/>
              </a:rPr>
              <a:t>acc_mean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 do loop 1: o modelo aprende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tudo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 que está no dado — inclusive o que você não queria ensinar.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2 · PREPARAR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dataset pronto: 146.523 linhas, 4 classes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Consolas"/>
              </a:rPr>
              <a:t>dataset_ventilador.csv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header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ax,ay,az,gx,gy,gz,temp,hum,pres,class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valores em micro float. É o que sobe no Lab — e a rede de segurança da aula.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5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95492"/>
                <a:gridCol w="2591629"/>
                <a:gridCol w="1395492"/>
                <a:gridCol w="1196136"/>
                <a:gridCol w="1196136"/>
                <a:gridCol w="1495170"/>
                <a:gridCol w="1495170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Classe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Gravação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Linhas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Duração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Perdidas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σ az (m/s²)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σ gx (rad/s)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 · idle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ventilador desligado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36.695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367 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0,009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0,001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 · vel1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velocidade 1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37.237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373 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0,054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0,003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 · vel2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velocidade 2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36.120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362 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0,098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0,014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 · vel3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velocidade 3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36.471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365 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15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0,174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0,014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uma sessão BLE, TAG no lugar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146.523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24 min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18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91947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91947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Classes do mesmo tamanho →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Accuracy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serve como métrica. No loop 1, com 2,3 : 1 de fundo para gesto, foi preciso Balanced accuracy.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Treinar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pipeline genérico do Lab: janela, features, tipo. Cada tela vira uma linha do .c gerado — e a FFT é a maior delas.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3 · TREINAR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Subir o CSV e dizer o que é cada coluna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Cinco decisões na tela de dados. A terceira é a que o 9-canais do forwarder existe para mostrar: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remover coluna é um passo de dados, e mora no Lab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872" y="237744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194767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192024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Drag-and-drop em ai.lab.nordicsemi.com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223113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não há API; nova solution, task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Classification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1872" y="324612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281635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286207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278892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Target = </a:t>
            </a:r>
            <a:r>
              <a:rPr sz="1500" b="1" i="0">
                <a:solidFill>
                  <a:srgbClr val="0B1B2B"/>
                </a:solidFill>
                <a:latin typeface="Consolas"/>
              </a:rPr>
              <a:t>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309981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os inteiros 0–3 do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merge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; o Lab checa: ≥ 2 classes, ≥ 20 amostras por classe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411480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" y="368503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73075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365760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Remove variables: </a:t>
            </a:r>
            <a:r>
              <a:rPr sz="1500" b="1" i="0">
                <a:solidFill>
                  <a:srgbClr val="0B1B2B"/>
                </a:solidFill>
                <a:latin typeface="Consolas"/>
              </a:rPr>
              <a:t>temp</a:t>
            </a:r>
            <a:r>
              <a:rPr sz="1500" b="1" i="0">
                <a:solidFill>
                  <a:srgbClr val="0B1B2B"/>
                </a:solidFill>
                <a:latin typeface="Segoe UI"/>
              </a:rPr>
              <a:t>, </a:t>
            </a:r>
            <a:r>
              <a:rPr sz="1500" b="1" i="0">
                <a:solidFill>
                  <a:srgbClr val="0B1B2B"/>
                </a:solidFill>
                <a:latin typeface="Consolas"/>
              </a:rPr>
              <a:t>hum</a:t>
            </a:r>
            <a:r>
              <a:rPr sz="1500" b="1" i="0">
                <a:solidFill>
                  <a:srgbClr val="0B1B2B"/>
                </a:solidFill>
                <a:latin typeface="Segoe UI"/>
              </a:rPr>
              <a:t>, </a:t>
            </a:r>
            <a:r>
              <a:rPr sz="1500" b="1" i="0">
                <a:solidFill>
                  <a:srgbClr val="0B1B2B"/>
                </a:solidFill>
                <a:latin typeface="Consolas"/>
              </a:rPr>
              <a:t>pres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396849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as três do BME688 saem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aqui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, não no firmware — o modelo gerado sai com 6 entradas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61872" y="498348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8992" y="455371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59943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4792" y="452628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Session ID (opcional)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4792" y="483717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se usou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--session-col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o Lab separa treino e validação por gravação</a:t>
            </a:r>
          </a:p>
        </p:txBody>
      </p:sp>
      <p:sp>
        <p:nvSpPr>
          <p:cNvPr id="29" name="Oval 28"/>
          <p:cNvSpPr/>
          <p:nvPr/>
        </p:nvSpPr>
        <p:spPr>
          <a:xfrm>
            <a:off x="1078992" y="542239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546811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39496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Data type: FLOAT32, detectado sozinho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64792" y="570585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micro-unidades em float; INT16 exigiria dividir por 1000 e não cabia para o BME688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3 · TREINAR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Signal processing: 128 amostras, não 128 ms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app não tem janela própria: lê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INPUT_WINDOW_SIZE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INPUT_WINDOW_SHIFT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do modelo, e confere com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__ASSERT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O que se escolhe aqui é o que a TAG executa.</a:t>
            </a:r>
          </a:p>
        </p:txBody>
      </p:sp>
      <p:pic>
        <p:nvPicPr>
          <p:cNvPr id="9" name="Picture 8" descr="lab2_04_aviso_janela_frequ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83664"/>
            <a:ext cx="3882789" cy="4379976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870341" y="1883664"/>
            <a:ext cx="6608122" cy="437997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9797" y="2029968"/>
            <a:ext cx="616921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Janela e shifts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9797" y="2432304"/>
            <a:ext cx="616921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Windowing = Number of Rows.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Em *Time Interval*, 128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ms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a 100 Hz vira 12 amostras — e o Lab recusa: features de frequência exigem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potência de 2 entre 128 e 2048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Window 128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→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INPUT_WINDOW_SIZE 128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1,28 s por inferência, bins de FFT de 0,78 Hz. Se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vel2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vel3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se confundirem, 256 dobra a resolução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Shift de treino 32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vibração é contínua, janelas sobrepostas são exemplos válidos — 4× mais janelas (≈ 4.500). No gesto centrado do loop 1, era proibido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Shift de inferência 64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→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INPUT_WINDOW_SHIFT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(o modelo gerado saiu com 128: uma inferência a cada 1,28 s na TAG)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SRAM estimada antes de treinar: a janela — 128 × 6 × 4 B = 3 kB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3 · TREINAR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Features para vibração: frequência e energia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Com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Feature selection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ligado, marcar a mais não custa acurácia — o Lab descarta o que não contribui. Custa footprint só no que sobrar.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904487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60052"/>
                <a:gridCol w="4048462"/>
                <a:gridCol w="6256715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Por quê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Amplitude spectrum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espectro em si — o feature nº 1 do modelo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ax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gz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Dominant frequencies · Spectral centroid / spread / crest / RMS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doc do Lab lista *vibration analysis* e *motor condition monitoring* como o caso deles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Root mean square · Standard deviation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energia da vibração; cresce com a velocidade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Range · Mean-crossing rate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amplitude de pico; frequência grosseira sem FFT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✘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Mean · Absolute mean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no acelerômetro, média =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gravidade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= orientação da TAG. O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acc_mean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do loop 1 de novo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✘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Linear regression slope / intercept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tendência dentro da janela; sinal estacionário não tem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✘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Skewness · Kurtosis · Hjorth · Autocorrelation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impulsividade e falha de rolamento — não velocidade; só somam código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897879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897879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Resultado no ventilador: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45 features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selecionadas de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495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candidatas — a máscara está no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.c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gerado.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3 · TREINAR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Input data e Model settings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21</a:t>
            </a:r>
          </a:p>
        </p:txBody>
      </p:sp>
      <p:pic>
        <p:nvPicPr>
          <p:cNvPr id="8" name="Picture 7" descr="lab2_05_model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98951"/>
            <a:ext cx="4521397" cy="4020217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5508949" y="1554480"/>
            <a:ext cx="5969514" cy="47091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28405" y="1700784"/>
            <a:ext cx="55306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que aparece depois no .c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8405" y="2103120"/>
            <a:ext cx="5530602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Data type FLOAT32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→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typedef flt32_t nrf_user_input_t;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no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nrf_edgeai_user_types.h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. É o tipo do CSV e o que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sensor_value_to_micro()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entrega (com cast)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Normalization AutoSelect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vive dentro do modelo (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INPUT_FEATURES_SCALE_MIN/MAX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no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.c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) — a app só empurra amostras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Weights float32, output float32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MODEL_PARAMS_TYPE f32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probabilities.p_f32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. Quantizar é otimização para depois que a acurácia estiver boa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Target: Arm Cortex-M33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— o único campo vazio, e obrigatório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Early stopping 36 h é só teto: este treino levou minutos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3 · TREINAR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Resultado: 100 % na validação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Frequência decide, como o σ tinha prometido.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Solution 95922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8 neurônios, 31 pesos, 39 coeficientes.</a:t>
            </a:r>
          </a:p>
        </p:txBody>
      </p:sp>
      <p:pic>
        <p:nvPicPr>
          <p:cNvPr id="9" name="Picture 8" descr="lab2_09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83664"/>
            <a:ext cx="5245455" cy="3667452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13232" y="5642556"/>
            <a:ext cx="52454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Validação = 20 % das janelas de treino. Quatro classes, zero erros. É a acurácia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na mesma sessão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— a do ventilador na mão é outra medida.</a:t>
            </a:r>
          </a:p>
        </p:txBody>
      </p:sp>
      <p:pic>
        <p:nvPicPr>
          <p:cNvPr id="11" name="Picture 10" descr="lab2_10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883664"/>
            <a:ext cx="4695708" cy="3694176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233007" y="5669280"/>
            <a:ext cx="469570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Os 4 primeiros são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espectro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(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ax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/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gz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amplitude spectrum,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az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/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ay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dominant freqs). 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idle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(ciano) quase não aparece: qualquer feature de energia o separa; as espectrais existem para separar as três velocidades entre si.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3 · TREINAR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Footprint: o modelo é 2 %; a FFT é 75 %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No loop 1 o modelo era 10 % do gerado. Aqui é 2 %: quem pesa é o extrator de features — e é ele que a escolha de features no Lab controla.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11,7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kB NVM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Total gerado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0,25 kB modelo (39 coef.) · 2,6 kB engine · </a:t>
            </a:r>
            <a:r>
              <a:rPr sz="1100" b="1" i="0">
                <a:solidFill>
                  <a:srgbClr val="566577"/>
                </a:solidFill>
                <a:latin typeface="Segoe UI"/>
              </a:rPr>
              <a:t>8,8 kB signal 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61689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3129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5,2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1689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kB SRAM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8849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Total em 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6281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0,16 kB engine · 5,0 kB signal processing: janela 128 × 6 float + buffers da FFT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7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1587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45 / 495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7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307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Selecionados / candidatos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4739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std, rms, mcr + FFT 128, dominant freqs, energy ratios, 64 bins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8605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0045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89,4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8605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kB flash · TAG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5765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Imagem inteira do 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3197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24,0 kB RAM. O exemplo da Nordic (sem FFT): 87,6 kB / 19,5 kB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3 · TREINAR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Que features o modelo usa? Está no .c gerado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356311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3160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/* nrf_edgeai_user_model.c — o extrator, em dois pipelines */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static</a:t>
            </a:r>
            <a:r>
              <a:rPr sz="1400" b="0">
                <a:solidFill>
                  <a:srgbClr val="DCE8F2"/>
                </a:solidFill>
                <a:latin typeface="Consolas"/>
              </a:rPr>
              <a:t> </a:t>
            </a:r>
            <a:r>
              <a:rPr sz="1400" b="1">
                <a:solidFill>
                  <a:srgbClr val="4FC3E8"/>
                </a:solidFill>
                <a:latin typeface="Consolas"/>
              </a:rPr>
              <a:t>const</a:t>
            </a:r>
            <a:r>
              <a:rPr sz="1400" b="0">
                <a:solidFill>
                  <a:srgbClr val="DCE8F2"/>
                </a:solidFill>
                <a:latin typeface="Consolas"/>
              </a:rPr>
              <a:t> nrf_edgeai_features_pipeline_func_f32_t timedomain_features_[] = {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nrf_edgeai_feature_std_f32,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Standard deviation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nrf_edgeai_feature_rms_f32,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Root mean square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nrf_edgeai_feature_mcr_f32 };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Mean-crossing rate */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static</a:t>
            </a:r>
            <a:r>
              <a:rPr sz="1400" b="0">
                <a:solidFill>
                  <a:srgbClr val="DCE8F2"/>
                </a:solidFill>
                <a:latin typeface="Consolas"/>
              </a:rPr>
              <a:t> </a:t>
            </a:r>
            <a:r>
              <a:rPr sz="1400" b="1">
                <a:solidFill>
                  <a:srgbClr val="4FC3E8"/>
                </a:solidFill>
                <a:latin typeface="Consolas"/>
              </a:rPr>
              <a:t>const</a:t>
            </a:r>
            <a:r>
              <a:rPr sz="1400" b="0">
                <a:solidFill>
                  <a:srgbClr val="DCE8F2"/>
                </a:solidFill>
                <a:latin typeface="Consolas"/>
              </a:rPr>
              <a:t> nrf_edgeai_features_pipeline_func_f32_t freqdomain_features_[] = {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nrf_edgeai_feature_utility_rfft_128_f32,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a FFT de 128 pontos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nrf_edgeai_feature_dom_freqs_features_f32,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Dominant frequencies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nrf_edgeai_feature_freqs_energy_ratios_f32,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razão de energia entre bandas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nrf_edgeai_feature_spectrum_bins_f32 };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Amplitude spectrum, 64 bins */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static</a:t>
            </a:r>
            <a:r>
              <a:rPr sz="1400" b="0">
                <a:solidFill>
                  <a:srgbClr val="DCE8F2"/>
                </a:solidFill>
                <a:latin typeface="Consolas"/>
              </a:rPr>
              <a:t> </a:t>
            </a:r>
            <a:r>
              <a:rPr sz="1400" b="1">
                <a:solidFill>
                  <a:srgbClr val="4FC3E8"/>
                </a:solidFill>
                <a:latin typeface="Consolas"/>
              </a:rPr>
              <a:t>const</a:t>
            </a:r>
            <a:r>
              <a:rPr sz="1400" b="0">
                <a:solidFill>
                  <a:srgbClr val="DCE8F2"/>
                </a:solidFill>
                <a:latin typeface="Consolas"/>
              </a:rPr>
              <a:t> uint64_t FEATURES_EXTRACTION_MASK[] = {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1 uint64 por canal, 1 bit por feature: 45 ligados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0x3800000107f, 0x1000000101f, 0x109f, 0x109f, 0x800000101f, 0x101f };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273040"/>
            <a:ext cx="10765231" cy="94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Pipelines = o que o firmware </a:t>
            </a:r>
            <a:r>
              <a:rPr sz="1400" b="1">
                <a:solidFill>
                  <a:srgbClr val="0093D0"/>
                </a:solidFill>
                <a:latin typeface="Segoe UI"/>
              </a:rPr>
              <a:t>calcula</a:t>
            </a:r>
            <a:r>
              <a:rPr sz="1400" b="0">
                <a:solidFill>
                  <a:srgbClr val="0B1B2B"/>
                </a:solidFill>
                <a:latin typeface="Segoe UI"/>
              </a:rPr>
              <a:t>; máscara = o que o modelo </a:t>
            </a:r>
            <a:r>
              <a:rPr sz="1400" b="1">
                <a:solidFill>
                  <a:srgbClr val="0093D0"/>
                </a:solidFill>
                <a:latin typeface="Segoe UI"/>
              </a:rPr>
              <a:t>consome</a:t>
            </a:r>
            <a:r>
              <a:rPr sz="1400" b="0">
                <a:solidFill>
                  <a:srgbClr val="0B1B2B"/>
                </a:solidFill>
                <a:latin typeface="Segoe UI"/>
              </a:rPr>
              <a:t>. Feature que não sobreviveu à seleção nem entra no pipeline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Consolas"/>
              </a:rPr>
              <a:t>ax</a:t>
            </a:r>
            <a:r>
              <a:rPr sz="1400" b="0">
                <a:solidFill>
                  <a:srgbClr val="0B1B2B"/>
                </a:solidFill>
                <a:latin typeface="Segoe UI"/>
              </a:rPr>
              <a:t> tem mais bits que os outros canais — é o </a:t>
            </a:r>
            <a:r>
              <a:rPr sz="1400" b="0">
                <a:solidFill>
                  <a:srgbClr val="0B1B2B"/>
                </a:solidFill>
                <a:latin typeface="Consolas"/>
              </a:rPr>
              <a:t>ax_amplitude_spectrum</a:t>
            </a:r>
            <a:r>
              <a:rPr sz="1400" b="0">
                <a:solidFill>
                  <a:srgbClr val="0B1B2B"/>
                </a:solidFill>
                <a:latin typeface="Segoe UI"/>
              </a:rPr>
              <a:t> do topo. </a:t>
            </a:r>
            <a:r>
              <a:rPr sz="1400" b="1">
                <a:solidFill>
                  <a:srgbClr val="0093D0"/>
                </a:solidFill>
                <a:latin typeface="Segoe UI"/>
              </a:rPr>
              <a:t>O `.c` é a verdade do que roda na TAG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Embarcar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Primeiro o modelo original da Nordic, para a fiação rodar. Depois o do ventilador — e duas armadilhas que dão 99 % de confiança na resposta errada.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4 · EMBARCAR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04 com o modelo original: a engine em 4 chamadas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2154936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175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nrf_edgeai_t *p_model = nrf_edgeai_user_model();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o .c gerado (CURSO_MODELO)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nrf_edgeai_init(p_model);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/* laço a 100 Hz, ritmado por k_timer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nrf_edgeai_feed_inputs(p_model, amostra, USER_UNIQ_INPUTS_NUM);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UMA amostra; o runtime acumula */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if</a:t>
            </a:r>
            <a:r>
              <a:rPr sz="1400" b="0">
                <a:solidFill>
                  <a:srgbClr val="DCE8F2"/>
                </a:solidFill>
                <a:latin typeface="Consolas"/>
              </a:rPr>
              <a:t> (res == NRF_EDGEAI_ERR_SUCCESS) nrf_edgeai_run_inference(p_model);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só quando a janela fecha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classe = p_model-&gt;decoded_output.classif.predicted_class;  →  led_set(&amp;CLASS_COLORS[classe]);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&lt;inf&gt; main: Solution id: 90449 · janela 50 · entradas 1 · classes 7 · classe 0 — Idle (98%)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864864"/>
            <a:ext cx="10765231" cy="2353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O 04 vem ligado no </a:t>
            </a:r>
            <a:r>
              <a:rPr sz="1400" b="1">
                <a:solidFill>
                  <a:srgbClr val="0093D0"/>
                </a:solidFill>
                <a:latin typeface="Segoe UI"/>
              </a:rPr>
              <a:t>exemplo da Nordic</a:t>
            </a:r>
            <a:r>
              <a:rPr sz="1400" b="0">
                <a:solidFill>
                  <a:srgbClr val="0B1B2B"/>
                </a:solidFill>
                <a:latin typeface="Segoe UI"/>
              </a:rPr>
              <a:t>: estados de transporte de uma encomenda (Idle, Shaking, Impact, Free Fall, Carrying, in Car, Placed) a partir de </a:t>
            </a:r>
            <a:r>
              <a:rPr sz="1400" b="1">
                <a:solidFill>
                  <a:srgbClr val="0093D0"/>
                </a:solidFill>
                <a:latin typeface="Segoe UI"/>
              </a:rPr>
              <a:t>uma</a:t>
            </a:r>
            <a:r>
              <a:rPr sz="1400" b="0">
                <a:solidFill>
                  <a:srgbClr val="0B1B2B"/>
                </a:solidFill>
                <a:latin typeface="Segoe UI"/>
              </a:rPr>
              <a:t> entrada, a magnitude da aceleração. Funciona sem treinar nada — e sem BLE nem MCUboot: 87,6 kB, um terço do 01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Demo na mão: chacoalhar → vermelho (Shaking); andar → verde (Carrying); soltar sobre a mesa → magenta (Free Fall) por uma janela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As três constantes </a:t>
            </a:r>
            <a:r>
              <a:rPr sz="1400" b="0">
                <a:solidFill>
                  <a:srgbClr val="0B1B2B"/>
                </a:solidFill>
                <a:latin typeface="Consolas"/>
              </a:rPr>
              <a:t>USER_*</a:t>
            </a:r>
            <a:r>
              <a:rPr sz="1400" b="0">
                <a:solidFill>
                  <a:srgbClr val="0B1B2B"/>
                </a:solidFill>
                <a:latin typeface="Segoe UI"/>
              </a:rPr>
              <a:t> são conferidas contra o modelo por </a:t>
            </a:r>
            <a:r>
              <a:rPr sz="1400" b="0">
                <a:solidFill>
                  <a:srgbClr val="0B1B2B"/>
                </a:solidFill>
                <a:latin typeface="Consolas"/>
              </a:rPr>
              <a:t>__ASSERT_NO_MSG()</a:t>
            </a:r>
            <a:r>
              <a:rPr sz="1400" b="0">
                <a:solidFill>
                  <a:srgbClr val="0B1B2B"/>
                </a:solidFill>
                <a:latin typeface="Segoe UI"/>
              </a:rPr>
              <a:t>: </a:t>
            </a:r>
            <a:r>
              <a:rPr sz="1400" b="1">
                <a:solidFill>
                  <a:srgbClr val="0093D0"/>
                </a:solidFill>
                <a:latin typeface="Segoe UI"/>
              </a:rPr>
              <a:t>o modelo tem contrato</a:t>
            </a:r>
            <a:r>
              <a:rPr sz="1400" b="0">
                <a:solidFill>
                  <a:srgbClr val="0B1B2B"/>
                </a:solidFill>
                <a:latin typeface="Segoe UI"/>
              </a:rPr>
              <a:t>, e errar trava o boot de propósito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4 · EMBARCAR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Trocar pelo ventilador: 1 linha, 2 blocos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2859024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2456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22C3E6"/>
                </a:solidFill>
                <a:latin typeface="Consolas"/>
              </a:rPr>
              <a:t># 04_classify_led/CMakeLists.txt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22C3E6"/>
                </a:solidFill>
                <a:latin typeface="Consolas"/>
              </a:rPr>
              <a:t># set(CURSO_MODELO </a:t>
            </a:r>
            <a:r>
              <a:rPr sz="1400" b="0">
                <a:solidFill>
                  <a:srgbClr val="FFCF6B"/>
                </a:solidFill>
                <a:latin typeface="Consolas"/>
              </a:rPr>
              <a:t>"Neuton"</a:t>
            </a:r>
            <a:r>
              <a:rPr sz="1400" b="0">
                <a:solidFill>
                  <a:srgbClr val="DCE8F2"/>
                </a:solidFill>
                <a:latin typeface="Consolas"/>
              </a:rPr>
              <a:t>)             # 90449 · exemplo da Nordic · 50 / 1 / 7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set(CURSO_MODELO </a:t>
            </a:r>
            <a:r>
              <a:rPr sz="1400" b="0">
                <a:solidFill>
                  <a:srgbClr val="FFCF6B"/>
                </a:solidFill>
                <a:latin typeface="Consolas"/>
              </a:rPr>
              <a:t>"ventilador_95922"</a:t>
            </a:r>
            <a:r>
              <a:rPr sz="1400" b="0">
                <a:solidFill>
                  <a:srgbClr val="DCE8F2"/>
                </a:solidFill>
                <a:latin typeface="Consolas"/>
              </a:rPr>
              <a:t>)     # 95922 · modelo do curso   · 128 / 6 / 4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/* src/main.c — os dois blocos já estão lá; troque qual está comentado */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22C3E6"/>
                </a:solidFill>
                <a:latin typeface="Consolas"/>
              </a:rPr>
              <a:t>#define USER_WINDOW_SIZE      128U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22C3E6"/>
                </a:solidFill>
                <a:latin typeface="Consolas"/>
              </a:rPr>
              <a:t>#define USER_UNIQ_INPUTS_NUM  6U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→ o leitor de 6 eixos entra no binário */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22C3E6"/>
                </a:solidFill>
                <a:latin typeface="Consolas"/>
              </a:rPr>
              <a:t>#define USER_MODELS_CLASS_NUM 4U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static</a:t>
            </a:r>
            <a:r>
              <a:rPr sz="1400" b="0">
                <a:solidFill>
                  <a:srgbClr val="DCE8F2"/>
                </a:solidFill>
                <a:latin typeface="Consolas"/>
              </a:rPr>
              <a:t> </a:t>
            </a:r>
            <a:r>
              <a:rPr sz="1400" b="1">
                <a:solidFill>
                  <a:srgbClr val="4FC3E8"/>
                </a:solidFill>
                <a:latin typeface="Consolas"/>
              </a:rPr>
              <a:t>const</a:t>
            </a:r>
            <a:r>
              <a:rPr sz="1400" b="0">
                <a:solidFill>
                  <a:srgbClr val="DCE8F2"/>
                </a:solidFill>
                <a:latin typeface="Consolas"/>
              </a:rPr>
              <a:t> class_color_t CLASS_COLORS[] = {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na ordem do dicionário do merge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{0,0,1,</a:t>
            </a:r>
            <a:r>
              <a:rPr sz="1400" b="0">
                <a:solidFill>
                  <a:srgbClr val="FFCF6B"/>
                </a:solidFill>
                <a:latin typeface="Consolas"/>
              </a:rPr>
              <a:t>"idle"</a:t>
            </a:r>
            <a:r>
              <a:rPr sz="1400" b="0">
                <a:solidFill>
                  <a:srgbClr val="DCE8F2"/>
                </a:solidFill>
                <a:latin typeface="Consolas"/>
              </a:rPr>
              <a:t>}, {0,1,0,</a:t>
            </a:r>
            <a:r>
              <a:rPr sz="1400" b="0">
                <a:solidFill>
                  <a:srgbClr val="FFCF6B"/>
                </a:solidFill>
                <a:latin typeface="Consolas"/>
              </a:rPr>
              <a:t>"vel1"</a:t>
            </a:r>
            <a:r>
              <a:rPr sz="1400" b="0">
                <a:solidFill>
                  <a:srgbClr val="DCE8F2"/>
                </a:solidFill>
                <a:latin typeface="Consolas"/>
              </a:rPr>
              <a:t>}, {1,1,0,</a:t>
            </a:r>
            <a:r>
              <a:rPr sz="1400" b="0">
                <a:solidFill>
                  <a:srgbClr val="FFCF6B"/>
                </a:solidFill>
                <a:latin typeface="Consolas"/>
              </a:rPr>
              <a:t>"vel2"</a:t>
            </a:r>
            <a:r>
              <a:rPr sz="1400" b="0">
                <a:solidFill>
                  <a:srgbClr val="DCE8F2"/>
                </a:solidFill>
                <a:latin typeface="Consolas"/>
              </a:rPr>
              <a:t>}, {1,0,0,</a:t>
            </a:r>
            <a:r>
              <a:rPr sz="1400" b="0">
                <a:solidFill>
                  <a:srgbClr val="FFCF6B"/>
                </a:solidFill>
                <a:latin typeface="Consolas"/>
              </a:rPr>
              <a:t>"vel3"</a:t>
            </a:r>
            <a:r>
              <a:rPr sz="1400" b="0">
                <a:solidFill>
                  <a:srgbClr val="DCE8F2"/>
                </a:solidFill>
                <a:latin typeface="Consolas"/>
              </a:rPr>
              <a:t>} };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568952"/>
            <a:ext cx="10765231" cy="1648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Pasta por modelo em </a:t>
            </a:r>
            <a:r>
              <a:rPr sz="1400" b="0">
                <a:solidFill>
                  <a:srgbClr val="0B1B2B"/>
                </a:solidFill>
                <a:latin typeface="Consolas"/>
              </a:rPr>
              <a:t>src/nrf_edgeai_generated/</a:t>
            </a:r>
            <a:r>
              <a:rPr sz="1400" b="0">
                <a:solidFill>
                  <a:srgbClr val="0B1B2B"/>
                </a:solidFill>
                <a:latin typeface="Segoe UI"/>
              </a:rPr>
              <a:t>, como o </a:t>
            </a:r>
            <a:r>
              <a:rPr sz="1400" b="0">
                <a:solidFill>
                  <a:srgbClr val="0B1B2B"/>
                </a:solidFill>
                <a:latin typeface="Consolas"/>
              </a:rPr>
              <a:t>fabrica</a:t>
            </a:r>
            <a:r>
              <a:rPr sz="1400" b="0">
                <a:solidFill>
                  <a:srgbClr val="0B1B2B"/>
                </a:solidFill>
                <a:latin typeface="Segoe UI"/>
              </a:rPr>
              <a:t> / </a:t>
            </a:r>
            <a:r>
              <a:rPr sz="1400" b="0">
                <a:solidFill>
                  <a:srgbClr val="0B1B2B"/>
                </a:solidFill>
                <a:latin typeface="Consolas"/>
              </a:rPr>
              <a:t>manaus_4gestos</a:t>
            </a:r>
            <a:r>
              <a:rPr sz="1400" b="0">
                <a:solidFill>
                  <a:srgbClr val="0B1B2B"/>
                </a:solidFill>
                <a:latin typeface="Segoe UI"/>
              </a:rPr>
              <a:t> do 01. O seu modelo: copie a pasta do zip (</a:t>
            </a:r>
            <a:r>
              <a:rPr sz="1400" b="1">
                <a:solidFill>
                  <a:srgbClr val="0093D0"/>
                </a:solidFill>
                <a:latin typeface="Segoe UI"/>
              </a:rPr>
              <a:t>3 arquivos</a:t>
            </a:r>
            <a:r>
              <a:rPr sz="1400" b="0">
                <a:solidFill>
                  <a:srgbClr val="0B1B2B"/>
                </a:solidFill>
                <a:latin typeface="Segoe UI"/>
              </a:rPr>
              <a:t>, o </a:t>
            </a:r>
            <a:r>
              <a:rPr sz="1400" b="0">
                <a:solidFill>
                  <a:srgbClr val="0B1B2B"/>
                </a:solidFill>
                <a:latin typeface="Consolas"/>
              </a:rPr>
              <a:t>types.h</a:t>
            </a:r>
            <a:r>
              <a:rPr sz="1400" b="0">
                <a:solidFill>
                  <a:srgbClr val="0B1B2B"/>
                </a:solidFill>
                <a:latin typeface="Segoe UI"/>
              </a:rPr>
              <a:t> junto) e aponte </a:t>
            </a:r>
            <a:r>
              <a:rPr sz="1400" b="0">
                <a:solidFill>
                  <a:srgbClr val="0B1B2B"/>
                </a:solidFill>
                <a:latin typeface="Consolas"/>
              </a:rPr>
              <a:t>CURSO_MODELO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Consolas"/>
              </a:rPr>
              <a:t>CLASS_COLORS</a:t>
            </a:r>
            <a:r>
              <a:rPr sz="1400" b="0">
                <a:solidFill>
                  <a:srgbClr val="0B1B2B"/>
                </a:solidFill>
                <a:latin typeface="Segoe UI"/>
              </a:rPr>
              <a:t> </a:t>
            </a:r>
            <a:r>
              <a:rPr sz="1400" b="1">
                <a:solidFill>
                  <a:srgbClr val="0093D0"/>
                </a:solidFill>
                <a:latin typeface="Segoe UI"/>
              </a:rPr>
              <a:t>na ordem do dicionário</a:t>
            </a:r>
            <a:r>
              <a:rPr sz="1400" b="0">
                <a:solidFill>
                  <a:srgbClr val="0B1B2B"/>
                </a:solidFill>
                <a:latin typeface="Segoe UI"/>
              </a:rPr>
              <a:t> do </a:t>
            </a:r>
            <a:r>
              <a:rPr sz="1400" b="0">
                <a:solidFill>
                  <a:srgbClr val="0B1B2B"/>
                </a:solidFill>
                <a:latin typeface="Consolas"/>
              </a:rPr>
              <a:t>merge</a:t>
            </a:r>
            <a:r>
              <a:rPr sz="1400" b="0">
                <a:solidFill>
                  <a:srgbClr val="0B1B2B"/>
                </a:solidFill>
                <a:latin typeface="Segoe UI"/>
              </a:rPr>
              <a:t> — e com exatamente </a:t>
            </a:r>
            <a:r>
              <a:rPr sz="1400" b="0">
                <a:solidFill>
                  <a:srgbClr val="0B1B2B"/>
                </a:solidFill>
                <a:latin typeface="Consolas"/>
              </a:rPr>
              <a:t>USER_MODELS_CLASS_NUM</a:t>
            </a:r>
            <a:r>
              <a:rPr sz="1400" b="0">
                <a:solidFill>
                  <a:srgbClr val="0B1B2B"/>
                </a:solidFill>
                <a:latin typeface="Segoe UI"/>
              </a:rPr>
              <a:t> linhas: </a:t>
            </a:r>
            <a:r>
              <a:rPr sz="1400" b="0">
                <a:solidFill>
                  <a:srgbClr val="0B1B2B"/>
                </a:solidFill>
                <a:latin typeface="Consolas"/>
              </a:rPr>
              <a:t>BUILD_ASSERT</a:t>
            </a:r>
            <a:r>
              <a:rPr sz="1400" b="0">
                <a:solidFill>
                  <a:srgbClr val="0B1B2B"/>
                </a:solidFill>
                <a:latin typeface="Segoe UI"/>
              </a:rPr>
              <a:t> pega a mais e a menos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1">
                <a:solidFill>
                  <a:srgbClr val="0093D0"/>
                </a:solidFill>
                <a:latin typeface="Segoe UI"/>
              </a:rPr>
              <a:t>`west build -p`.</a:t>
            </a:r>
            <a:r>
              <a:rPr sz="1400" b="0">
                <a:solidFill>
                  <a:srgbClr val="0B1B2B"/>
                </a:solidFill>
                <a:latin typeface="Segoe UI"/>
              </a:rPr>
              <a:t> Sem pristine o CMake não relê </a:t>
            </a:r>
            <a:r>
              <a:rPr sz="1400" b="0">
                <a:solidFill>
                  <a:srgbClr val="0B1B2B"/>
                </a:solidFill>
                <a:latin typeface="Consolas"/>
              </a:rPr>
              <a:t>CURSO_MODELO</a:t>
            </a:r>
            <a:r>
              <a:rPr sz="1400" b="0">
                <a:solidFill>
                  <a:srgbClr val="0B1B2B"/>
                </a:solidFill>
                <a:latin typeface="Segoe UI"/>
              </a:rPr>
              <a:t> e a TAG fica com o modelo antigo. Prova: </a:t>
            </a:r>
            <a:r>
              <a:rPr sz="1400" b="0">
                <a:solidFill>
                  <a:srgbClr val="0B1B2B"/>
                </a:solidFill>
                <a:latin typeface="Consolas"/>
              </a:rPr>
              <a:t>Solution id: 95922</a:t>
            </a:r>
            <a:r>
              <a:rPr sz="1400" b="0">
                <a:solidFill>
                  <a:srgbClr val="0B1B2B"/>
                </a:solidFill>
                <a:latin typeface="Segoe UI"/>
              </a:rPr>
              <a:t> no boot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4 · EMBARCAR · ⭐ A LIÇÃO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Armadilha 1 · Escala: dois modelos, duas escalas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modelo espera a escala do dataset em que foi treinado. Errar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compila, roda e classifica errado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com confiança alta.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65960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Neuton (exemplo): magnitude em mili-g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432304"/>
            <a:ext cx="5245455" cy="309981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633472"/>
            <a:ext cx="4696815" cy="2734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1 g ≈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1000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, não 9,81. Não está na doc — está nos vetores embarcados: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CLASS_0_..._IDLE_ACCEL_DATA[] = {1019.23, 1018.65, ...}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Alimentar em m/s²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não dá erro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: 9,8 cai no fundo da faixa do modelo (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SCALE_MIN = 6.26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) — e o fundo da faixa é queda livre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Verificado: TAG parada na mesa →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Free Fall (65 %)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. Em mili-g →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Idle (98 %)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83664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007" y="1965960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ventilador_95922: micro-unidades 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2432304"/>
            <a:ext cx="5245455" cy="309981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7327" y="2633472"/>
            <a:ext cx="4696815" cy="2734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sensor_value_to_micro()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para os 6 eixos, na ordem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ax,ay,az,gx,gy,gz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do CSV.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Sem fator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O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.c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confirma: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SCALE_MIN/MAX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de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az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= 9.620.195 … 10.377.983 — a gravidade × 10⁶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E o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fundo de escala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igual ao da coleta: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IMU_ACCEL_FS_G 4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/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IMU_GYRO_FS_DPS 1000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5641848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641848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O leitor do IMU é escolhido por </a:t>
            </a:r>
            <a:r>
              <a:rPr sz="1300" b="1" i="0">
                <a:solidFill>
                  <a:srgbClr val="0B1B2B"/>
                </a:solidFill>
                <a:latin typeface="Consolas"/>
              </a:rPr>
              <a:t>USER_UNIQ_INPUTS_NUM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: 6 → eixos em micro; 1 → magnitude em mili-g. Outro valor não compila.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4 · EMBARCAR · ⭐ SILENCIOSA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Armadilha 2 · Taxa: k_msleep(10) não é 100 Hz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238963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1987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/* ERRADO: o tempo da leitura SPI (~0,3 ms) soma ao sleep → 10,3 ms → 96,9 Hz */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while</a:t>
            </a:r>
            <a:r>
              <a:rPr sz="1400" b="0">
                <a:solidFill>
                  <a:srgbClr val="DCE8F2"/>
                </a:solidFill>
                <a:latin typeface="Consolas"/>
              </a:rPr>
              <a:t> (1) { imu_read_sample(a); feed(a); k_msleep(10); }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&lt;inf&gt; main: janela fechou em 1321 ms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esperado 1280: espectro 3 % deslocado */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/* CERTO: k_timer periódico + semáforo, como o data_forwarder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k_timer_start(&amp;tick_timer, K_NO_WAIT, K_USEC(10000));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while</a:t>
            </a:r>
            <a:r>
              <a:rPr sz="1400" b="0">
                <a:solidFill>
                  <a:srgbClr val="DCE8F2"/>
                </a:solidFill>
                <a:latin typeface="Consolas"/>
              </a:rPr>
              <a:t> (1) { k_sem_take(&amp;tick_sem, K_FOREVER); imu_read_sample(a); feed(a); }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&lt;inf&gt; main: janela em 1282 ms (esperado 1280)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0,2 % — e &lt;wrn&gt; se sair de 2 % */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099560"/>
            <a:ext cx="10765231" cy="2118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Com features de frequência, o espectro que o modelo vê depende da </a:t>
            </a:r>
            <a:r>
              <a:rPr sz="1400" b="1">
                <a:solidFill>
                  <a:srgbClr val="0093D0"/>
                </a:solidFill>
                <a:latin typeface="Segoe UI"/>
              </a:rPr>
              <a:t>taxa em que a app entrega amostras</a:t>
            </a:r>
            <a:r>
              <a:rPr sz="1400" b="0">
                <a:solidFill>
                  <a:srgbClr val="0B1B2B"/>
                </a:solidFill>
                <a:latin typeface="Segoe UI"/>
              </a:rPr>
              <a:t>. 3 % mais lento = todos os picos 3 % acima = com bins de 0,78 Hz, mais de um bin em 30 Hz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Medido na TAG: janela em </a:t>
            </a:r>
            <a:r>
              <a:rPr sz="1400" b="1">
                <a:solidFill>
                  <a:srgbClr val="0093D0"/>
                </a:solidFill>
                <a:latin typeface="Segoe UI"/>
              </a:rPr>
              <a:t>1321 ms</a:t>
            </a:r>
            <a:r>
              <a:rPr sz="1400" b="0">
                <a:solidFill>
                  <a:srgbClr val="0B1B2B"/>
                </a:solidFill>
                <a:latin typeface="Segoe UI"/>
              </a:rPr>
              <a:t>, e a classe saía </a:t>
            </a:r>
            <a:r>
              <a:rPr sz="1400" b="1">
                <a:solidFill>
                  <a:srgbClr val="0093D0"/>
                </a:solidFill>
                <a:latin typeface="Segoe UI"/>
              </a:rPr>
              <a:t>uma velocidade acima</a:t>
            </a:r>
            <a:r>
              <a:rPr sz="1400" b="0">
                <a:solidFill>
                  <a:srgbClr val="0B1B2B"/>
                </a:solidFill>
                <a:latin typeface="Segoe UI"/>
              </a:rPr>
              <a:t> da real. Nenhum erro, nenhum aviso, 99 % de confiança — o mesmo perfil da armadilha de escala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O 04 agora imprime o ritmo das três primeiras janelas no boot e avisa se sair de 2 %: </a:t>
            </a:r>
            <a:r>
              <a:rPr sz="1400" b="1">
                <a:solidFill>
                  <a:srgbClr val="0093D0"/>
                </a:solidFill>
                <a:latin typeface="Segoe UI"/>
              </a:rPr>
              <a:t>a taxa da inferência é parte do contrato</a:t>
            </a:r>
            <a:r>
              <a:rPr sz="1400" b="0">
                <a:solidFill>
                  <a:srgbClr val="0B1B2B"/>
                </a:solidFill>
                <a:latin typeface="Segoe UI"/>
              </a:rPr>
              <a:t>, tanto quanto a janela e a escala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4 · EMBARCAR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Na TAG, no ventilador: o que ver, e o que não concluir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veredito é o ventilador na bancada. Um modelo com 100 % que erra quando você muda uma condição não é um modelo ruim: é um modelo que aprendeu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exatamente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o que foi ensinado.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No boot (RTT)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Solution id: 95922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— gravou o certo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janela 128 · entradas 6 · classes 4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— os asserts passaram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janela em 1282 ms (esperado 1280)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— o ritmo está certo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classe 0 — idle (99%)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parada na mesa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No LED (bateria)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azul parado · verde vel1 · amarelo vel2 · vermelho vel3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Decisão a cada 1,28 s: uma troca leva até dois ciclos para aparecer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TAG presa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no mesmo lugar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da coleta, ventilador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na bateria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que os 100 % não dizem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Validação na mesma sessão, mesma fixação, mesma alimentação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Mude a fixação ou ligue no carregador: o modelo erra — e é a melhor aula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Generalizar = coletar as condições, ou aceitar o domínio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788152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788152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Demonstração melhor que um modelo perfeito: prenda a TAG de outro jeito e mostre a classe trocar.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Além do ventilador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Os mesmos sensores, o mesmo pipeline — outros problemas, isolados e combinados.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ALÉM DO VENTILADOR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mais a TAG mede — sozinha e combinada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Tudo que este bloco fez — coletar com o forwarder, treinar no pipeline genérico, embarcar no 04 — serve para qualquer um destes. O que muda é o dataset.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BMI270 · IMU 6 eixos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Gestos e atividade (loop 1)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Vibração de máquina: velocidade, desbalanceamento, desgaste (loop 2)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Queda, impacto, orientação — os estados de transporte do modelo original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ADXL367 · baixo consumo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Wake-on-motion: dorme a µA e acorda o BMI270 só quando algo se move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Tap / double-tap por hardware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Registro longo de atividade em bateria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BME688 · ambiente + gás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Temperatura, umidade, pressão: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regressão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e anomalia lenta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Gás (VOC): qualidade do ar, detecção de odor — tarefa de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anomalia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do Lab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Sinal lento: janelas de minutos, não de segundos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Microfone PDM (nRF54LM20-DK)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Keyword spotting (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ww_kws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do add-on)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Anomalia acústica: o motor que "soa diferente"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Espectro de novo — a mesma FFT do ventilador, com outro sensor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8698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8154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Combinações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8154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Vibração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+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temperatura: saúde de motor (o BME688 já está no CSV)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Movimento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+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ambiente: cadeia fria — o que aconteceu com a encomenda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Som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+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vibração: falha que um sensor sozinho não separa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4164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3620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As três tarefas do Lab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3620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Classificação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gestos, velocidades, estados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Regressão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um número contínuo — temperatura, rotação, desgaste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Anomalia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treinar só com o normal e reconhecer o que sai dele (lab 02)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F1F8"/>
                </a:solidFill>
                <a:latin typeface="Segoe UI"/>
              </a:rPr>
              <a:t>O que levar deste bloco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076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1">
                <a:solidFill>
                  <a:srgbClr val="E8F1F8"/>
                </a:solidFill>
                <a:latin typeface="Segoe UI"/>
              </a:rPr>
              <a:t>Forwarder → Host → Lab → app</a:t>
            </a:r>
            <a:r>
              <a:rPr sz="1500" b="0">
                <a:solidFill>
                  <a:srgbClr val="93A6B8"/>
                </a:solidFill>
                <a:latin typeface="Segoe UI"/>
              </a:rPr>
              <a:t>: o dado sai como a ferramenta entrega, e a app é escrita para ele.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Frequência é feature: a FFT separa o que a amplitude não separa — e custa janela potência de 2 e </a:t>
            </a:r>
            <a:r>
              <a:rPr sz="1500" b="1">
                <a:solidFill>
                  <a:srgbClr val="E8F1F8"/>
                </a:solidFill>
                <a:latin typeface="Segoe UI"/>
              </a:rPr>
              <a:t>75 % do footprint</a:t>
            </a:r>
            <a:r>
              <a:rPr sz="1500" b="0">
                <a:solidFill>
                  <a:srgbClr val="93A6B8"/>
                </a:solidFill>
                <a:latin typeface="Segoe UI"/>
              </a:rPr>
              <a:t>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Duas armadilhas silenciosas, </a:t>
            </a:r>
            <a:r>
              <a:rPr sz="1500" b="1">
                <a:solidFill>
                  <a:srgbClr val="E8F1F8"/>
                </a:solidFill>
                <a:latin typeface="Segoe UI"/>
              </a:rPr>
              <a:t>escala</a:t>
            </a:r>
            <a:r>
              <a:rPr sz="1500" b="0">
                <a:solidFill>
                  <a:srgbClr val="93A6B8"/>
                </a:solidFill>
                <a:latin typeface="Segoe UI"/>
              </a:rPr>
              <a:t> e </a:t>
            </a:r>
            <a:r>
              <a:rPr sz="1500" b="1">
                <a:solidFill>
                  <a:srgbClr val="E8F1F8"/>
                </a:solidFill>
                <a:latin typeface="Segoe UI"/>
              </a:rPr>
              <a:t>taxa</a:t>
            </a:r>
            <a:r>
              <a:rPr sz="1500" b="0">
                <a:solidFill>
                  <a:srgbClr val="93A6B8"/>
                </a:solidFill>
                <a:latin typeface="Segoe UI"/>
              </a:rPr>
              <a:t>: 99 % de confiança na resposta errada, e uma linha de log para conferir cada uma.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O modelo aprende tudo que está no dado. Colete </a:t>
            </a:r>
            <a:r>
              <a:rPr sz="1500" b="1">
                <a:solidFill>
                  <a:srgbClr val="E8F1F8"/>
                </a:solidFill>
                <a:latin typeface="Segoe UI"/>
              </a:rPr>
              <a:t>na condição em que ele vai rodar</a:t>
            </a:r>
            <a:r>
              <a:rPr sz="1500" b="0">
                <a:solidFill>
                  <a:srgbClr val="93A6B8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classes · 24 min de coleta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689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689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45 / 495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849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features selecionados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11,7 kB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NVM · 8,8 são a FFT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605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8605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1282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janela na TAG (1280)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22C3E6"/>
                </a:solidFill>
                <a:latin typeface="Segoe UI"/>
              </a:rPr>
              <a:t>Da próxima vez que um modelo com 100 % errar na mão, a pergunta não é "o que o Lab fez de errado" — é "o que mudou entre a coleta e agora".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