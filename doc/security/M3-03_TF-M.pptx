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  <a:p>
            <a:r>
              <a:t>NCS — nRF Connect SDK.</a:t>
            </a:r>
          </a:p>
          <a:p>
            <a:r>
              <a:t>SDK — Software Development Kit.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RoT — Root of Trust: o conjunto mínimo de hardware e firmware em que todo o resto confia; nada abaixo dele é verificável.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  <a:p>
            <a:r>
              <a:t>Kconfig — O sistema de configuração do Zephyr: as opções CONFIG_* do prj.conf.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MPC — Memory Protection Controller: no nRF54L, quem impõe os atributos de segurança da memória (com a SAU).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TrustZone — A separação de hardware entre mundo seguro e não seguro no Cortex-M33.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TF-M — Trusted Firmware-M: o firmware seguro (TrustZone) dos alvos /ns.</a:t>
            </a:r>
          </a:p>
          <a:p>
            <a:r>
              <a:t>NSC — Non-Secure Callable: a região de entrada segura chamável pelo mundo não seguro (os veneers).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  <a:p>
            <a:r>
              <a:t>API — Application Programming Interface.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NCS — nRF Connect SDK.</a:t>
            </a:r>
          </a:p>
          <a:p>
            <a:r>
              <a:t>FICR — Factory Information Configuration Registers: dados de fábrica só de leitura (IDs, calibração).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SPE — Secure Processing Environment: o mundo seguro (TF-M).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MKEK — Master Key Encryption Key: a HUK que deriva as chaves que cifram o ITS.</a:t>
            </a:r>
          </a:p>
          <a:p>
            <a:r>
              <a:t>PS — Power Save: modo de economia em que o rádio dorme entre beacons.</a:t>
            </a:r>
          </a:p>
          <a:p>
            <a:r>
              <a:t>AES — Advanced Encryption Standard: a cifra simétrica por trás do CCMP.</a:t>
            </a:r>
          </a:p>
          <a:p>
            <a:r>
              <a:t>IAK — Initial Attestation Key: a chave secp256r1 que assina o token de atestação (a identity key do KMU).</a:t>
            </a:r>
          </a:p>
          <a:p>
            <a:r>
              <a:t>MCUboot — O bootloader do Zephyr.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SPE — Secure Processing Environment: o mundo seguro (TF-M).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IKG — Isolated Key Generator: o gerador do CRACEN que recria as chaves de hardware a partir de uma semente a cada ciclo de energia.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MKEK — Master Key Encryption Key: a HUK que deriva as chaves que cifram o ITS.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KDR — Device Root Key: chave AES de 128 bits do CryptoCell, carregada por um bootloader imutável e retida até o reset.</a:t>
            </a:r>
          </a:p>
          <a:p>
            <a:r>
              <a:t>KPRTL — A chave de RTL do CryptoCell: igual em todos os chips do mesmo código de peça; pode ser travada até o reset.</a:t>
            </a:r>
          </a:p>
          <a:p>
            <a:r>
              <a:t>SP — Service Period: a janela em que a estação TWT está acordada e o AP a atende.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IAK — Initial Attestation Key: a chave secp256r1 que assina o token de atestação (a identity key do KMU).</a:t>
            </a:r>
          </a:p>
          <a:p>
            <a:r>
              <a:t>MCUboot — O bootloader do Zephyr.</a:t>
            </a:r>
          </a:p>
          <a:p>
            <a:r>
              <a:t>DPA — Differential Power Analysis: ataque de canal lateral por consumo; o CRACEN é mascarado contra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KDR — Device Root Key: chave AES de 128 bits do CryptoCell, carregada por um bootloader imutável e retida até o reset.</a:t>
            </a:r>
          </a:p>
          <a:p>
            <a:r>
              <a:t>MKEK — Master Key Encryption Key: a HUK que deriva as chaves que cifram o ITS.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TF-M — Trusted Firmware-M: o firmware seguro (TrustZone) dos alvos /ns.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IKG — Isolated Key Generator: o gerador do CRACEN que recria as chaves de hardware a partir de uma semente a cada ciclo de energia.</a:t>
            </a:r>
          </a:p>
          <a:p>
            <a:r>
              <a:t>ACL — Access Control List: a proteção de flash do nRF52840 (sem KMU).</a:t>
            </a:r>
          </a:p>
          <a:p>
            <a:r>
              <a:t>SP — Service Period: a janela em que a estação TWT está acordada e o AP a atende.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API — Application Programming Interface.</a:t>
            </a:r>
          </a:p>
          <a:p>
            <a:r>
              <a:t>TF-M — Trusted Firmware-M: o firmware seguro (TrustZone) dos alvos /ns.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SPE — Secure Processing Environment: o mundo seguro (TF-M).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  <a:p>
            <a:r>
              <a:t>PS — Power Save: modo de economia em que o rádio dorme entre beacons.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TF-M — Trusted Firmware-M: o firmware seguro (TrustZone) dos alvos /ns.</a:t>
            </a:r>
          </a:p>
          <a:p>
            <a:r>
              <a:t>SPE — Secure Processing Environment: o mundo seguro (TF-M).</a:t>
            </a:r>
          </a:p>
          <a:p>
            <a:r>
              <a:t>MKEK — Master Key Encryption Key: a HUK que deriva as chaves que cifram o ITS.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AES — Advanced Encryption Standard: a cifra simétrica por trás do CCMP.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RAM — Random Access Memory: a memória de trabalho (511 KB no nRF54LM20).</a:t>
            </a:r>
          </a:p>
          <a:p>
            <a:r>
              <a:t>SPE — Secure Processing Environment: o mundo seguro (TF-M).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IAK — Initial Attestation Key: a chave secp256r1 que assina o token de atestação (a identity key do KMU).</a:t>
            </a:r>
          </a:p>
          <a:p>
            <a:r>
              <a:t>ERASEALL — O comando do CTRL-AP que apaga flash, UICR e RAM e reabre o debug.</a:t>
            </a:r>
          </a:p>
          <a:p>
            <a:r>
              <a:t>UICR — User Information Configuration Registers: a região de configuração do chip (APPROTECT, BOOTCONF, OTP, chaves de RoT).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IPC — Inter-Processor Communication: o periférico pelo qual a aplicação fala com o modem.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NSPE — Non-Secure Processing Environment: o mundo não seguro (a aplicação Zephyr).</a:t>
            </a:r>
          </a:p>
          <a:p>
            <a:r>
              <a:t>IRQ — Interrupt Request: HOST_IRQ é a linha com que o companion avisa o host.</a:t>
            </a:r>
          </a:p>
          <a:p>
            <a:r>
              <a:t>NSC — Non-Secure Callable: a região de entrada segura chamável pelo mundo não seguro (os veneers).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GPIO — General Purpose I/O: pino digital.</a:t>
            </a:r>
          </a:p>
          <a:p>
            <a:r>
              <a:t>RAM — Random Access Memory: a memória de trabalho (511 KB no nRF54LM20).</a:t>
            </a:r>
          </a:p>
          <a:p>
            <a:r>
              <a:t>CMake — O gerador de build que o Zephyr usa por baixo do west.</a:t>
            </a:r>
          </a:p>
          <a:p>
            <a:r>
              <a:t>TF-M — Trusted Firmware-M: o firmware seguro (TrustZone) dos alvos /ns.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TF-M — Trusted Firmware-M: o firmware seguro (TrustZone) dos alvos /ns.</a:t>
            </a:r>
          </a:p>
          <a:p>
            <a:r>
              <a:t>ERASEALL — O comando do CTRL-AP que apaga flash, UICR e RAM e reabre o debug.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MKEK — Master Key Encryption Key: a HUK que deriva as chaves que cifram o ITS.</a:t>
            </a:r>
          </a:p>
          <a:p>
            <a:r>
              <a:t>MEXT — Master Key for External Storage: a HUK que deriva as chaves do Protected Storage e de flash externa.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APPROTECT — Access Port Protection: bloqueia o debugger; só um ERASEALL reabre.</a:t>
            </a:r>
          </a:p>
          <a:p>
            <a:r>
              <a:t>IAK — Initial Attestation Key: a chave secp256r1 que assina o token de atestação (a identity key do KMU).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CBOR — Concise Binary Object Representation: JSON binário.</a:t>
            </a:r>
          </a:p>
          <a:p>
            <a:r>
              <a:t>COSE — CBOR Object Signing and Encryption: o formato de assinatura dos tokens do modem.</a:t>
            </a:r>
          </a:p>
          <a:p>
            <a:r>
              <a:t>IAK — Initial Attestation Key: a chave secp256r1 que assina o token de atestação (a identity key do KMU).</a:t>
            </a:r>
          </a:p>
          <a:p>
            <a:r>
              <a:t>TF-M — Trusted Firmware-M: o firmware seguro (TrustZone) dos alvos /ns.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ECDSA — Assinatura por curva elíptica (P-256 no NSIB e no MCUboot do nRF91).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TLS — Transport Layer Security: cifra e autentica uma conexão (HTTPS = HTTP sobre TLS).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IPC — Inter-Processor Communication: o periférico pelo qual a aplicação fala com o modem.</a:t>
            </a:r>
          </a:p>
          <a:p>
            <a:r>
              <a:t>RAM — Random Access Memory: a memória de trabalho (511 KB no nRF54LM20).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MCUmgr — O subsistema de gerenciamento do Zephyr que implementa o SMP (imagens, arquivos, OS).</a:t>
            </a:r>
          </a:p>
          <a:p>
            <a:r>
              <a:t>fota_download — Biblioteca do NCS que baixa a imagem por HTTP(S) ou CoAP e a entrega ao dfu_target.</a:t>
            </a:r>
          </a:p>
          <a:p>
            <a:r>
              <a:t>dfu_target — Biblioteca do NCS que reconhece o tipo de imagem e a grava no lugar certo (slot1, modem delta, FMFU).</a:t>
            </a:r>
          </a:p>
          <a:p>
            <a:r>
              <a:t>SPE — Secure Processing Environment: o mundo seguro (TF-M).</a:t>
            </a:r>
          </a:p>
          <a:p>
            <a:r>
              <a:t>API — Application Programming Interface.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TF-M — Trusted Firmware-M: o firmware seguro (TrustZone) dos alvos /ns.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%CMNG — O comando AT de gestão de credenciais do modem (escrever, listar, ler, apagar).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DTLS — TLS sobre UDP (CoAP, LwM2M).</a:t>
            </a:r>
          </a:p>
          <a:p>
            <a:r>
              <a:t>sec_tag — Security tag: o número que identifica um conjunto de credenciais no modem do nRF91.</a:t>
            </a:r>
          </a:p>
          <a:p>
            <a:r>
              <a:t>%KEYGEN — O comando AT que gera um par de chaves dentro do modem e devolve CSR ou chave pública.</a:t>
            </a:r>
          </a:p>
          <a:p>
            <a:r>
              <a:t>%ATTESTTOKEN — O comando AT que devolve o token de identidade do chip, assinado com a identidade de fábrica.</a:t>
            </a:r>
          </a:p>
          <a:p>
            <a:r>
              <a:t>%JWT — O comando AT que faz o modem assinar um JSON Web Token.</a:t>
            </a:r>
          </a:p>
          <a:p>
            <a:r>
              <a:t>JWT — JSON Web Token: um token assinado com claims (emissor, público, validade).</a:t>
            </a:r>
          </a:p>
          <a:p>
            <a:r>
              <a:t>FMFU — Full Modem Firmware Update: troca completa do firmware do modem (imagem de ~2 MB, flash externa).</a:t>
            </a:r>
          </a:p>
          <a:p>
            <a:r>
              <a:t>TrustZone — A separação de hardware entre mundo seguro e não seguro no Cortex-M33.</a:t>
            </a:r>
          </a:p>
          <a:p>
            <a:r>
              <a:t>NSC — Non-Secure Callable: a região de entrada segura chamável pelo mundo não seguro (os veneers).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%CMNG — O comando AT de gestão de credenciais do modem (escrever, listar, ler, apagar).</a:t>
            </a:r>
          </a:p>
          <a:p>
            <a:r>
              <a:t>sec_tag — Security tag: o número que identifica um conjunto de credenciais no modem do nRF91.</a:t>
            </a:r>
          </a:p>
          <a:p>
            <a:r>
              <a:t>PSK — Pre-Shared Key: a senha da rede, compartilhada por todos os clientes.</a:t>
            </a:r>
          </a:p>
          <a:p>
            <a:r>
              <a:t>CA — Certificate Authority: quem assina certificados; o cliente confia no servidor porque confia na CA.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%KEYGEN — O comando AT que gera um par de chaves dentro do modem e devolve CSR ou chave pública.</a:t>
            </a:r>
          </a:p>
          <a:p>
            <a:r>
              <a:t>DTLS — TLS sobre UDP (CoAP, LwM2M).</a:t>
            </a:r>
          </a:p>
          <a:p>
            <a:r>
              <a:t>LwM2M — Lightweight M2M: gerenciamento de dispositivos sobre CoAP.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DTLS — TLS sobre UDP (CoAP, LwM2M).</a:t>
            </a:r>
          </a:p>
          <a:p>
            <a:r>
              <a:t>CA — Certificate Authority: quem assina certificados; o cliente confia no servidor porque confia na CA.</a:t>
            </a:r>
          </a:p>
          <a:p>
            <a:r>
              <a:t>sec_tag — Security tag: o número que identifica um conjunto de credenciais no modem do nRF91.</a:t>
            </a:r>
          </a:p>
          <a:p>
            <a:r>
              <a:t>ECDSA — Assinatura por curva elíptica (P-256 no NSIB e no MCUboot do nRF91).</a:t>
            </a:r>
          </a:p>
          <a:p>
            <a:r>
              <a:t>AES — Advanced Encryption Standard: a cifra simétrica por trás do CCMP.</a:t>
            </a:r>
          </a:p>
          <a:p>
            <a:r>
              <a:t>PSK — Pre-Shared Key: a senha da rede, compartilhada por todos os clientes.</a:t>
            </a:r>
          </a:p>
          <a:p>
            <a:r>
              <a:t>nrfcredstore — Ferramenta Python da Nordic que gerencia as credenciais do modem pela porta serial.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%ATTESTTOKEN — O comando AT que devolve o token de identidade do chip, assinado com a identidade de fábrica.</a:t>
            </a:r>
          </a:p>
          <a:p>
            <a:r>
              <a:t>UUID — Universally Unique Identifier: identificador de 128 bits de serviços e características.</a:t>
            </a:r>
          </a:p>
          <a:p>
            <a:r>
              <a:t>COSE — CBOR Object Signing and Encryption: o formato de assinatura dos tokens do modem.</a:t>
            </a:r>
          </a:p>
          <a:p>
            <a:r>
              <a:t>%KEYGEN — O comando AT que gera um par de chaves dentro do modem e devolve CSR ou chave pública.</a:t>
            </a:r>
          </a:p>
          <a:p>
            <a:r>
              <a:t>CSR — Certificate Signing Request: o pedido de certificado que uma CA assina.</a:t>
            </a:r>
          </a:p>
          <a:p>
            <a:r>
              <a:t>sec_tag — Security tag: o número que identifica um conjunto de credenciais no modem do nRF91.</a:t>
            </a:r>
          </a:p>
          <a:p>
            <a:r>
              <a:t>nrfcredstore — Ferramenta Python da Nordic que gerencia as credenciais do modem pela porta serial.</a:t>
            </a:r>
          </a:p>
          <a:p>
            <a:r>
              <a:t>%JWT — O comando AT que faz o modem assinar um JSON Web Token.</a:t>
            </a:r>
          </a:p>
          <a:p>
            <a:r>
              <a:t>JWT — JSON Web Token: um token assinado com claims (emissor, público, validade).</a:t>
            </a:r>
          </a:p>
          <a:p>
            <a:r>
              <a:t>CoAP — Constrained Application Protocol: um HTTP leve sobre UDP, para dispositivos pequenos.</a:t>
            </a:r>
          </a:p>
          <a:p>
            <a:r>
              <a:t>DTLS — TLS sobre UDP (CoAP, LwM2M).</a:t>
            </a:r>
          </a:p>
          <a:p>
            <a:r>
              <a:t>nrf_provisioning — Biblioteca do NCS que busca credenciais no serviço de provisionamento do nRF Cloud, autenticando por JWT.</a:t>
            </a:r>
          </a:p>
          <a:p>
            <a:r>
              <a:t>CBOR — Concise Binary Object Representation: JSON binário.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CoAP — Constrained Application Protocol: um HTTP leve sobre UDP, para dispositivos pequenos.</a:t>
            </a:r>
          </a:p>
          <a:p>
            <a:r>
              <a:t>DTLS — TLS sobre UDP (CoAP, LwM2M).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nrf_provisioning — Biblioteca do NCS que busca credenciais no serviço de provisionamento do nRF Cloud, autenticando por JWT.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UUID — Universally Unique Identifier: identificador de 128 bits de serviços e características.</a:t>
            </a:r>
          </a:p>
          <a:p>
            <a:r>
              <a:t>COSE — CBOR Object Signing and Encryption: o formato de assinatura dos tokens do modem.</a:t>
            </a:r>
          </a:p>
          <a:p>
            <a:r>
              <a:t>REST — Representational State Transfer: API sobre HTTP com URLs e verbos (GET, POST).</a:t>
            </a:r>
          </a:p>
          <a:p>
            <a:r>
              <a:t>CA — Certificate Authority: quem assina certificados; o cliente confia no servidor porque confia na CA.</a:t>
            </a:r>
          </a:p>
          <a:p>
            <a:r>
              <a:t>JWT — JSON Web Token: um token assinado com claims (emissor, público, validade).</a:t>
            </a:r>
          </a:p>
          <a:p>
            <a:r>
              <a:t>%JWT — O comando AT que faz o modem assinar um JSON Web Token.</a:t>
            </a:r>
          </a:p>
          <a:p>
            <a:r>
              <a:t>%KEYGEN — O comando AT que gera um par de chaves dentro do modem e devolve CSR ou chave pública.</a:t>
            </a:r>
          </a:p>
          <a:p>
            <a:r>
              <a:t>%CMNG — O comando AT de gestão de credenciais do modem (escrever, listar, ler, apagar).</a:t>
            </a:r>
          </a:p>
          <a:p>
            <a:r>
              <a:t>sec_tag — Security tag: o número que identifica um conjunto de credenciais no modem do nRF91.</a:t>
            </a:r>
          </a:p>
          <a:p>
            <a:r>
              <a:t>%ATTESTTOKEN — O comando AT que devolve o token de identidade do chip, assinado com a identidade de fábrica.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IRQ — Interrupt Request: HOST_IRQ é a linha com que o companion avisa o host.</a:t>
            </a:r>
          </a:p>
          <a:p>
            <a:r>
              <a:t>HUK — Hardware Unique Key: chave simétrica única do chip, usada só para derivar outras chaves.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MCUboot — O bootloader do Zephyr.</a:t>
            </a:r>
          </a:p>
          <a:p>
            <a:r>
              <a:t>DFU — Device Firmware Update: atualização de firmware, por cabo ou por rádio.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sec_tag — Security tag: o número que identifica um conjunto de credenciais no modem do nRF91.</a:t>
            </a:r>
          </a:p>
          <a:p>
            <a:r>
              <a:t>JWT — JSON Web Token: um token assinado com claims (emissor, público, validade).</a:t>
            </a:r>
          </a:p>
          <a:p>
            <a:r>
              <a:t>%CMNG — O comando AT de gestão de credenciais do modem (escrever, listar, ler, apagar).</a:t>
            </a:r>
          </a:p>
          <a:p>
            <a:r>
              <a:t>%KEYGEN — O comando AT que gera um par de chaves dentro do modem e devolve CSR ou chave pública.</a:t>
            </a:r>
          </a:p>
          <a:p>
            <a:r>
              <a:t>%ATTESTTOKEN — O comando AT que devolve o token de identidade do chip, assinado com a identidade de fábrica.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  <a:p>
            <a:r>
              <a:t>NCS — nRF Connect SDK.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  <a:p>
            <a:r>
              <a:t>SPE — Secure Processing Environment: o mundo seguro (TF-M).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NSPE — Non-Secure Processing Environment: o mundo não seguro (a aplicação Zephyr).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3 · BLOCO 03 · SEGURANÇA EMBARCADA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Trusted Firmware-M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firmware do mundo seguro: perfis, serviços, chaves que a aplicação usa sem ver, armazenamento com integridade e sigilo, partições que executam isoladas, o ciclo de vida até a atestação — e o modem do nRF91 como segundo domínio de confiança.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TF-M 2.3.0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3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PSA Crypto 1.4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60011" y="4709160"/>
            <a:ext cx="100035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ITS · 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43244" y="4709160"/>
            <a:ext cx="108539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atestação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1516" y="4709160"/>
            <a:ext cx="74523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modem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que é o TF-M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implementação de referência do PSA Root of Trust para Cortex-M, e o que o NCS escolhe dela.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TF-M no NCS 3.4.0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TF-M support and limitations in the nRF Connect SDK, versão 3.4.0.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Trusted Firmware-M</a:t>
            </a:r>
            <a:r>
              <a:rPr sz="1700" b="0">
                <a:solidFill>
                  <a:srgbClr val="0B1B2B"/>
                </a:solidFill>
                <a:latin typeface="Segoe UI"/>
              </a:rPr>
              <a:t>: projeto aberto da Arm que implementa o PSA-RoT: um gerente de partições (SPM), serviços seguros e a interface PSA para o NSPE.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Versões nesta release</a:t>
            </a:r>
            <a:r>
              <a:rPr sz="1700" b="0">
                <a:solidFill>
                  <a:srgbClr val="0B1B2B"/>
                </a:solidFill>
                <a:latin typeface="Segoe UI"/>
              </a:rPr>
              <a:t>: TF-M </a:t>
            </a:r>
            <a:r>
              <a:rPr sz="1700" b="1">
                <a:solidFill>
                  <a:srgbClr val="0093D0"/>
                </a:solidFill>
                <a:latin typeface="Segoe UI"/>
              </a:rPr>
              <a:t>2.3.0</a:t>
            </a:r>
            <a:r>
              <a:rPr sz="1700" b="0">
                <a:solidFill>
                  <a:srgbClr val="0B1B2B"/>
                </a:solidFill>
                <a:latin typeface="Segoe UI"/>
              </a:rPr>
              <a:t>, Mbed TLS </a:t>
            </a:r>
            <a:r>
              <a:rPr sz="1700" b="1">
                <a:solidFill>
                  <a:srgbClr val="0093D0"/>
                </a:solidFill>
                <a:latin typeface="Segoe UI"/>
              </a:rPr>
              <a:t>4.1.0</a:t>
            </a:r>
            <a:r>
              <a:rPr sz="1700" b="0">
                <a:solidFill>
                  <a:srgbClr val="0B1B2B"/>
                </a:solidFill>
                <a:latin typeface="Segoe UI"/>
              </a:rPr>
              <a:t>, Oberon PSA Crypto como núcleo criptográfico.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NCS não segue os perfis do TF-M</a:t>
            </a:r>
            <a:r>
              <a:rPr sz="1700" b="0">
                <a:solidFill>
                  <a:srgbClr val="0B1B2B"/>
                </a:solidFill>
                <a:latin typeface="Segoe UI"/>
              </a:rPr>
              <a:t> (Small, ARoT-less, Medium, Large): oferece dois seus.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1">
                <a:solidFill>
                  <a:srgbClr val="566577"/>
                </a:solidFill>
                <a:latin typeface="Segoe UI"/>
              </a:rPr>
              <a:t>mínimo</a:t>
            </a:r>
            <a:r>
              <a:rPr sz="1400" b="0">
                <a:solidFill>
                  <a:srgbClr val="566577"/>
                </a:solidFill>
                <a:latin typeface="Segoe UI"/>
              </a:rPr>
              <a:t>: 32 KB; RNG, SHA-256 opcional, serviço de plataforma, reboot. Supported no nRF91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1">
                <a:solidFill>
                  <a:srgbClr val="566577"/>
                </a:solidFill>
                <a:latin typeface="Segoe UI"/>
              </a:rPr>
              <a:t>configurável</a:t>
            </a:r>
            <a:r>
              <a:rPr sz="1400" b="0">
                <a:solidFill>
                  <a:srgbClr val="566577"/>
                </a:solidFill>
                <a:latin typeface="Segoe UI"/>
              </a:rPr>
              <a:t>: cada partição ligada ou desligada por Kconfig. Experimental em todos os chips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Como entra no build</a:t>
            </a:r>
            <a:r>
              <a:rPr sz="1700" b="0">
                <a:solidFill>
                  <a:srgbClr val="0B1B2B"/>
                </a:solidFill>
                <a:latin typeface="Segoe UI"/>
              </a:rPr>
              <a:t>: escolher um alvo </a:t>
            </a:r>
            <a:r>
              <a:rPr sz="1700" b="0">
                <a:solidFill>
                  <a:srgbClr val="0B1B2B"/>
                </a:solidFill>
                <a:latin typeface="Consolas"/>
              </a:rPr>
              <a:t>/ns</a:t>
            </a:r>
            <a:r>
              <a:rPr sz="1700" b="0">
                <a:solidFill>
                  <a:srgbClr val="0B1B2B"/>
                </a:solidFill>
                <a:latin typeface="Segoe UI"/>
              </a:rPr>
              <a:t>; o sysbuild compila o TF-M como imagem segura e funde com a app.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Quem o inicia</a:t>
            </a:r>
            <a:r>
              <a:rPr sz="1700" b="0">
                <a:solidFill>
                  <a:srgbClr val="0B1B2B"/>
                </a:solidFill>
                <a:latin typeface="Segoe UI"/>
              </a:rPr>
              <a:t>: o bootloader trata TF-M + app como uma imagem; o TF-M sobe primeiro, configura SPU/MPC e salta.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Perfis e maturidade por chip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Tabela Hardware support matrix for TF-M profiles. No curso, o nRF9151 é onde o TF-M é produto; no LM20 ainda é experimental nos dois perfis.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1554479"/>
                <a:gridCol w="1737359"/>
                <a:gridCol w="2011679"/>
                <a:gridCol w="27185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Chip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Mínimo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Configurável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TF-M Crypto Service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Observação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nRF9151 · nRF9160 · nRF9161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alvo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é o padrão de toda app celular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nRF9131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nRF5340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Supported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nRF54L15 · L10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nRF54LM20A ·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LM20B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kit do curso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nRF54L05 · LS05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TF-M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nRF54H20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usa o IronSide Secure Enclave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níveis de isolamento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TrustZone separa SPE de NSPE. Dentro do SPE, o TF-M ainda separa os serviços da plataforma dos da aplicação, e cada partição do seu vizinho.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552526" cy="387705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31867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NSPE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86584"/>
            <a:ext cx="3186766" cy="323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aplicação Zephyr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pilhas de rede, drivers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vê só os ids de chave e os handles de serviço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chama o SPE pelos veneers NSC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0078" y="1883664"/>
            <a:ext cx="6938385" cy="3877056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958" y="2020824"/>
            <a:ext cx="657262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SPE · TF-M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2958" y="2432304"/>
            <a:ext cx="3194872" cy="3191256"/>
          </a:xfrm>
          <a:prstGeom prst="roundRect">
            <a:avLst>
              <a:gd name="adj" fmla="val 7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0118" y="2523744"/>
            <a:ext cx="2920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PRoT · serviços da plataforma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0118" y="2889504"/>
            <a:ext cx="2920552" cy="4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1558" y="2889504"/>
            <a:ext cx="2737672" cy="4700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SPM (o escalonador)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0118" y="3432657"/>
            <a:ext cx="2920552" cy="4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1558" y="3432657"/>
            <a:ext cx="2737672" cy="4700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Crypto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0118" y="3975811"/>
            <a:ext cx="2920552" cy="4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1558" y="3975811"/>
            <a:ext cx="2737672" cy="4700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ITS · 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0118" y="4518964"/>
            <a:ext cx="2920552" cy="4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1558" y="4518964"/>
            <a:ext cx="2737672" cy="4700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Attestation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0118" y="5062118"/>
            <a:ext cx="2920552" cy="4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1558" y="5062118"/>
            <a:ext cx="2737672" cy="4700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Platform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0710" y="2432304"/>
            <a:ext cx="3194872" cy="3191256"/>
          </a:xfrm>
          <a:prstGeom prst="roundRect">
            <a:avLst>
              <a:gd name="adj" fmla="val 7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7870" y="2523744"/>
            <a:ext cx="2920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ARoT · serviços da aplicação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37870" y="2889504"/>
            <a:ext cx="2920552" cy="8321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9310" y="2889504"/>
            <a:ext cx="2737672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partição custom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7870" y="3794760"/>
            <a:ext cx="2920552" cy="8321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9310" y="3794760"/>
            <a:ext cx="2737672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periférico seguro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37870" y="4700016"/>
            <a:ext cx="2920552" cy="83210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9310" y="4700016"/>
            <a:ext cx="2737672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cada uma em </a:t>
            </a:r>
            <a:r>
              <a:rPr sz="1050" b="1" i="0">
                <a:solidFill>
                  <a:srgbClr val="0093D0"/>
                </a:solidFill>
                <a:latin typeface="Segoe UI"/>
              </a:rPr>
              <a:t>sandbox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 próprio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852160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566577"/>
                </a:solidFill>
                <a:latin typeface="Segoe UI"/>
              </a:rPr>
              <a:t>Nível 1: SPE contra NSPE (TrustZone).   Nível 2: PRoT contra ARoT dentro do SPE.   Nível 3: cada partição só acessa os próprios recursos (</a:t>
            </a:r>
            <a:r>
              <a:rPr sz="1000" b="0" i="1">
                <a:solidFill>
                  <a:srgbClr val="566577"/>
                </a:solidFill>
                <a:latin typeface="Consolas"/>
              </a:rPr>
              <a:t>CONFIG_TFM_ISOLATION_LEVEL</a:t>
            </a:r>
            <a:r>
              <a:rPr sz="1000" b="0" i="1">
                <a:solidFill>
                  <a:srgbClr val="566577"/>
                </a:solidFill>
                <a:latin typeface="Segoe UI"/>
              </a:rPr>
              <a:t>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serviços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TF-M services. Os quatro primeiros são o PRoT; partições custom são o ARoT.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59"/>
                <a:gridCol w="2011679"/>
                <a:gridCol w="3931919"/>
                <a:gridCol w="26270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Serviço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API PSA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NCS 3.4.0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Platform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Nordic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tfm_platform_*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ler FICR/UICR e endereços permitidos, reboot, contadores NV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sim, inclusive no mínimo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Crypto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Crypto API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1.4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chaves por id, assinatura, cifra, hash, derivação; a chave não sai do SPE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Experimental como serviço; direto via Oberon é 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ITS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Internal Trusted Storage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Storage 1.0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pares chave-valor na flash interna, cifrados por chave derivada da MKEK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Protected Storage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Storage 1.0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dados em partição NS com integridade, sigilo e autenticidade (AES CCM no nRF9160)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Initial Attestation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Attestation 1.0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token assinado com a IAK: identidade, versão de boot, estado do ciclo de vida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sim; sample só nRF91 e nRF5340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Firmware Update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FWU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o NCS usa MCUboot/NSIB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Criptografia e chaves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aplicação recebe um número: o id da chave. O material fica no SPE, no KMU ou dentro do acelerador.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CHAVES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De onde vêm as chaves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Raízes em cima, derivações embaixo. No nRF91, a HUK mora no KMU e é entregue ao CryptoCell; no nRF54L, o IKG do CRACEN recria as HUKs a cada ciclo de energia a partir de uma semente.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5154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nRF9151 · CryptoCell 310 + KMU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5154015" cy="8686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404872"/>
            <a:ext cx="4824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KMU (NVM, só o CC310 lê)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34056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MKEK · MEXT · identity key (cifrada com a MKEK) · chaves da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73552"/>
            <a:ext cx="5154015" cy="8686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383280"/>
            <a:ext cx="4824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CryptoCell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12464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KDR (128 bits, carregada no boot) · KPRTL (de RTL, igual por código de peça)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0239" y="4206240"/>
            <a:ext cx="0" cy="32004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1679" y="427024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derivação (SP 800-108) ou uso por referência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617720"/>
            <a:ext cx="5154015" cy="1554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727448"/>
            <a:ext cx="47882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MKEK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KEK por rótulo (client ID + UID) → cifra cada entrada do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ITS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MEXT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chaves do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Protected Storage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e de flash externa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identity key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IAK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: assina o token de atestação (secp256r1)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KDR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derivação genérica pela app (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hw_unique_key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1883664"/>
            <a:ext cx="5154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nRF54LM20 · CRACEN + KMU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447" y="2295144"/>
            <a:ext cx="5154015" cy="8686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9039" y="2404872"/>
            <a:ext cx="4824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KMU (NVM, só o CRACEN lê)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2734056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chave pública do MCUboot (slots com revogação) · chaves persistentes da app (</a:t>
            </a:r>
            <a:r>
              <a:rPr sz="1000" b="0" i="0">
                <a:solidFill>
                  <a:srgbClr val="93A6B8"/>
                </a:solidFill>
                <a:latin typeface="Consolas"/>
              </a:rPr>
              <a:t>keys.json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3273552"/>
            <a:ext cx="5154015" cy="8686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3383280"/>
            <a:ext cx="48248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CRACEN IKG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9039" y="3712464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semente → MKEK e MEXT recriadas a cada ciclo de energia; nunca ficam em memória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01455" y="4206240"/>
            <a:ext cx="0" cy="32004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92895" y="427024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derivação (SP 800-108) ou uso por referência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4617720"/>
            <a:ext cx="5154015" cy="1554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7327" y="4727448"/>
            <a:ext cx="47882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MKEK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chaves do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ITS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(ou o próprio KMU no lugar do ITS)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MEXT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chaves do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Protected Storage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slot do KMU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verificação da assinatura da imagem no boot</a:t>
            </a: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IKG →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 chaves só usáveis por referência; DPA mascarado no motor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CHAVES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Chaves únicas de hardware por chip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da biblioteca Hardware unique key. Regra da Nordic: HUK só para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derivar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chaves, nunca para cifrar direto.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599"/>
                <a:gridCol w="1828799"/>
                <a:gridCol w="914399"/>
                <a:gridCol w="2194559"/>
                <a:gridCol w="44558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Chip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Acelerador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KMU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Tipos de HUK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carrega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CryptoCell 310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KDR, MKEK, MEXT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 no boot (gera se não existir); KDR pelo bootloader com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hw_unique_key_load_kdr()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CRACEN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MKEK, MEXT, IKG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driver do CRACEN, da semente do IKG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nRF5340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CryptoCell 312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MKEK, MEXT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 no boot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nRF52840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CryptoCell 310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KDR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bootloader imutável, de página de flash travada por ACL; uma chave só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Derivação em SP 800-108 (CMAC) por rótulo: a mesma HUK e o mesmo rótulo dão sempre a mesma chave, sem guardar nada.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CHAVES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API que a aplicação vê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Mesma API com ou sem TF-M: sem TF-M, o Oberon PSA Crypto roda na própria app; com TF-M, cada chamada atravessa a fronteira e a chave fica no SPE.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403250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samples/crypto/eddsa/src/main.c (resumido): a chave nasce e morre por id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psa_key_attributes_t attr = PSA_KEY_ATTRIBUTES_INIT;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psa_key_id_t key_pair_id;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psa_crypto_init();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psa_set_key_usage_flags(&amp;attr, PSA_KEY_USAGE_SIGN_MESSAGE);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psa_set_key_lifetime(&amp;attr, PSA_KEY_LIFETIME_VOLATILE);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ou PERSISTENT: vai ao ITS/KMU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psa_set_key_algorithm(&amp;attr, PSA_ALG_PURE_EDDSA);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psa_set_key_type(&amp;attr, PSA_KEY_TYPE_ECC_KEY_PAIR(PSA_ECC_FAMILY_TWISTED_EDWARDS));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psa_set_key_bits(&amp;attr, 255);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psa_generate_key(&amp;attr, &amp;key_pair_id);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a app nunca vê os bytes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psa_sign_message(key_pair_id, PSA_ALG_PURE_EDDSA, msg, len, sig, </a:t>
            </a:r>
            <a:r>
              <a:rPr sz="1400" b="1">
                <a:solidFill>
                  <a:srgbClr val="4FC3E8"/>
                </a:solidFill>
                <a:latin typeface="Consolas"/>
              </a:rPr>
              <a:t>sizeof</a:t>
            </a:r>
            <a:r>
              <a:rPr sz="1400" b="0">
                <a:solidFill>
                  <a:srgbClr val="DCE8F2"/>
                </a:solidFill>
                <a:latin typeface="Consolas"/>
              </a:rPr>
              <a:t>(sig), &amp;sig_len);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psa_export_public_key(key_pair_id, pub, </a:t>
            </a:r>
            <a:r>
              <a:rPr sz="1400" b="1">
                <a:solidFill>
                  <a:srgbClr val="4FC3E8"/>
                </a:solidFill>
                <a:latin typeface="Consolas"/>
              </a:rPr>
              <a:t>sizeof</a:t>
            </a:r>
            <a:r>
              <a:rPr sz="1400" b="0">
                <a:solidFill>
                  <a:srgbClr val="DCE8F2"/>
                </a:solidFill>
                <a:latin typeface="Consolas"/>
              </a:rPr>
              <a:t>(pub), &amp;pub_len);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psa_destroy_key(key_pair_id);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5274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Consolas"/>
              </a:rPr>
              <a:t>PSA_KEY_LIFETIME_PERSISTENT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 mais um id fixo: no nRF54L a chave vai ao KMU (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persistent_key_usage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,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kmu_cracen_usage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); no nRF91, ao 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Armazenamento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Integridade, sigilo e autenticidade para dados em repouso, com ou sem TF-M. O que muda é de onde vem a chave.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ARMAZENAMENTO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mecanismos de armazenamento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Secure storage in the nRF Connect SDK. Os rótulos de derivação do PS não são estáticos: combinam o cliente e o UID, então dois itens nunca dividem chave.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799"/>
                <a:gridCol w="2926079"/>
                <a:gridCol w="2926079"/>
                <a:gridCol w="30842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ITS (TF-M)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PS (TF-M)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Secure Storage do Zephyr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Onde grava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interna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partição do SPE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partição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segura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storage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interna ou externa, sem TF-M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Protege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sigilo e integridade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sigilo, integridade 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autenticidade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(AEAD)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sigilo e integridade (AEAD)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derivada da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MKEK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por rótulo (client ID + UID do item)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derivada da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MEXT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derivada da HUK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CONFIG_SECURE_STORAGE_*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Cifra (nRF9160)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AES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CCM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conforme driver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Quem chama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próprio TF-M (chaves persistentes) e a app pela PSA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app pela PSA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app pela PSA, sem fronteira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Quando usar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chaves e segredos pequenos do próprio TF-M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dados da aplicação que precisam de proteção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alvos sem TF-M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/cpuapp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ARMAZENAMENTO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cifrar não resolve sozinho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limites que separam "cifrado" de "seguro".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Chave em memória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dado decifrado vive na RAM do SPE enquanto é usado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por isso o nível 3 de isolamento: cada partição só vê a própria RAM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e por isso o KMU: a chave de assinatura nem chega a memória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Flash externa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fora do chip, sem SPU: só a cifra protege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MEXT existe para isso; o Protected Storage pode apontar para ela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rollback de conteúdo exige contador ou versão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Provisionamento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HUK nasce aleatória no chip: não há segredo compartilhado com a fábrica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que a fábrica injeta é a identidade (IAK) e, no nRF91, a identidade do modem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ERASEALL apaga a UICR e, com ela, a identity key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Execução isolada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Uma partição custom: código próprio dentro do SPE, com o periférico que só ela vê, e um serviço que o NSPE chama por id.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EXECUÇÃO ISOLADA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manifesto da partição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manifesto declara o que a partição possui (periféricos, interrupções), o que oferece (serviços com SID) e de quem depende. O SPM só deixa a partição tocar o que está declarado.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409651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085" b="0">
                <a:solidFill>
                  <a:srgbClr val="7FB58E"/>
                </a:solidFill>
                <a:latin typeface="Consolas"/>
              </a:rPr>
              <a:t># samples/tfm/tfm_secure_peripheral/secure_peripheral_partition/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7FB58E"/>
                </a:solidFill>
                <a:latin typeface="Consolas"/>
              </a:rPr>
              <a:t>#   tfm_secure_peripheral_partition.yaml.in (resumido)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"psa_framework_version"</a:t>
            </a:r>
            <a:r>
              <a:rPr sz="1085" b="0">
                <a:solidFill>
                  <a:srgbClr val="DCE8F2"/>
                </a:solidFill>
                <a:latin typeface="Consolas"/>
              </a:rPr>
              <a:t>: 1.1,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"name"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"TFM_SP_SPP"</a:t>
            </a:r>
            <a:r>
              <a:rPr sz="1085" b="0">
                <a:solidFill>
                  <a:srgbClr val="DCE8F2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"type"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"APPLICATION-ROT"</a:t>
            </a:r>
            <a:r>
              <a:rPr sz="1085" b="0">
                <a:solidFill>
                  <a:srgbClr val="DCE8F2"/>
                </a:solidFill>
                <a:latin typeface="Consolas"/>
              </a:rPr>
              <a:t>,          </a:t>
            </a:r>
            <a:r>
              <a:rPr sz="1085" b="0">
                <a:solidFill>
                  <a:srgbClr val="7FB58E"/>
                </a:solidFill>
                <a:latin typeface="Consolas"/>
              </a:rPr>
              <a:t># ARoT: isolada do PRoT e das outras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"model"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"IPC"</a:t>
            </a:r>
            <a:r>
              <a:rPr sz="1085" b="0">
                <a:solidFill>
                  <a:srgbClr val="DCE8F2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"entry_point"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"tfm_spp_main"</a:t>
            </a:r>
            <a:r>
              <a:rPr sz="1085" b="0">
                <a:solidFill>
                  <a:srgbClr val="DCE8F2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"stack_size"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"0x800"</a:t>
            </a:r>
            <a:r>
              <a:rPr sz="1085" b="0">
                <a:solidFill>
                  <a:srgbClr val="DCE8F2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"services"</a:t>
            </a:r>
            <a:r>
              <a:rPr sz="1085" b="0">
                <a:solidFill>
                  <a:srgbClr val="DCE8F2"/>
                </a:solidFill>
                <a:latin typeface="Consolas"/>
              </a:rPr>
              <a:t>: [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  { </a:t>
            </a:r>
            <a:r>
              <a:rPr sz="1085" b="0">
                <a:solidFill>
                  <a:srgbClr val="FFCF6B"/>
                </a:solidFill>
                <a:latin typeface="Consolas"/>
              </a:rPr>
              <a:t>"name"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"TFM_SPP_PROCESS"</a:t>
            </a:r>
            <a:r>
              <a:rPr sz="1085" b="0">
                <a:solidFill>
                  <a:srgbClr val="DCE8F2"/>
                </a:solidFill>
                <a:latin typeface="Consolas"/>
              </a:rPr>
              <a:t>, </a:t>
            </a:r>
            <a:r>
              <a:rPr sz="1085" b="0">
                <a:solidFill>
                  <a:srgbClr val="FFCF6B"/>
                </a:solidFill>
                <a:latin typeface="Consolas"/>
              </a:rPr>
              <a:t>"sid"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"0xFFFFF001"</a:t>
            </a:r>
            <a:r>
              <a:rPr sz="1085" b="0">
                <a:solidFill>
                  <a:srgbClr val="DCE8F2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    </a:t>
            </a:r>
            <a:r>
              <a:rPr sz="1085" b="0">
                <a:solidFill>
                  <a:srgbClr val="FFCF6B"/>
                </a:solidFill>
                <a:latin typeface="Consolas"/>
              </a:rPr>
              <a:t>"non_secure_clients"</a:t>
            </a:r>
            <a:r>
              <a:rPr sz="1085" b="0">
                <a:solidFill>
                  <a:srgbClr val="DCE8F2"/>
                </a:solidFill>
                <a:latin typeface="Consolas"/>
              </a:rPr>
              <a:t>: true, </a:t>
            </a:r>
            <a:r>
              <a:rPr sz="1085" b="0">
                <a:solidFill>
                  <a:srgbClr val="FFCF6B"/>
                </a:solidFill>
                <a:latin typeface="Consolas"/>
              </a:rPr>
              <a:t>"stateless_handle"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"auto"</a:t>
            </a:r>
            <a:r>
              <a:rPr sz="1085" b="0">
                <a:solidFill>
                  <a:srgbClr val="DCE8F2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  { </a:t>
            </a:r>
            <a:r>
              <a:rPr sz="1085" b="0">
                <a:solidFill>
                  <a:srgbClr val="FFCF6B"/>
                </a:solidFill>
                <a:latin typeface="Consolas"/>
              </a:rPr>
              <a:t>"name"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"TFM_SPP_SEND"</a:t>
            </a:r>
            <a:r>
              <a:rPr sz="1085" b="0">
                <a:solidFill>
                  <a:srgbClr val="DCE8F2"/>
                </a:solidFill>
                <a:latin typeface="Consolas"/>
              </a:rPr>
              <a:t>,    </a:t>
            </a:r>
            <a:r>
              <a:rPr sz="1085" b="0">
                <a:solidFill>
                  <a:srgbClr val="FFCF6B"/>
                </a:solidFill>
                <a:latin typeface="Consolas"/>
              </a:rPr>
              <a:t>"sid"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"0xFFFFF002"</a:t>
            </a:r>
            <a:r>
              <a:rPr sz="1085" b="0">
                <a:solidFill>
                  <a:srgbClr val="DCE8F2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    </a:t>
            </a:r>
            <a:r>
              <a:rPr sz="1085" b="0">
                <a:solidFill>
                  <a:srgbClr val="FFCF6B"/>
                </a:solidFill>
                <a:latin typeface="Consolas"/>
              </a:rPr>
              <a:t>"non_secure_clients"</a:t>
            </a:r>
            <a:r>
              <a:rPr sz="1085" b="0">
                <a:solidFill>
                  <a:srgbClr val="DCE8F2"/>
                </a:solidFill>
                <a:latin typeface="Consolas"/>
              </a:rPr>
              <a:t>: true, </a:t>
            </a:r>
            <a:r>
              <a:rPr sz="1085" b="0">
                <a:solidFill>
                  <a:srgbClr val="FFCF6B"/>
                </a:solidFill>
                <a:latin typeface="Consolas"/>
              </a:rPr>
              <a:t>"stateless_handle"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"auto"</a:t>
            </a:r>
            <a:r>
              <a:rPr sz="1085" b="0">
                <a:solidFill>
                  <a:srgbClr val="DCE8F2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],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"mmio_regions"</a:t>
            </a:r>
            <a:r>
              <a:rPr sz="1085" b="0">
                <a:solidFill>
                  <a:srgbClr val="DCE8F2"/>
                </a:solidFill>
                <a:latin typeface="Consolas"/>
              </a:rPr>
              <a:t>: [ { </a:t>
            </a:r>
            <a:r>
              <a:rPr sz="1085" b="0">
                <a:solidFill>
                  <a:srgbClr val="FFCF6B"/>
                </a:solidFill>
                <a:latin typeface="Consolas"/>
              </a:rPr>
              <a:t>"name"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"${TFM_PERIPHERAL_TIMER_N}"</a:t>
            </a:r>
            <a:r>
              <a:rPr sz="1085" b="0">
                <a:solidFill>
                  <a:srgbClr val="DCE8F2"/>
                </a:solidFill>
                <a:latin typeface="Consolas"/>
              </a:rPr>
              <a:t>, </a:t>
            </a:r>
            <a:r>
              <a:rPr sz="1085" b="0">
                <a:solidFill>
                  <a:srgbClr val="FFCF6B"/>
                </a:solidFill>
                <a:latin typeface="Consolas"/>
              </a:rPr>
              <a:t>"permission"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"READ-WRITE"</a:t>
            </a:r>
            <a:r>
              <a:rPr sz="1085" b="0">
                <a:solidFill>
                  <a:srgbClr val="DCE8F2"/>
                </a:solidFill>
                <a:latin typeface="Consolas"/>
              </a:rPr>
              <a:t> },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                  { </a:t>
            </a:r>
            <a:r>
              <a:rPr sz="1085" b="0">
                <a:solidFill>
                  <a:srgbClr val="FFCF6B"/>
                </a:solidFill>
                <a:latin typeface="Consolas"/>
              </a:rPr>
              <a:t>"name"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"${TFM_PERIPHERAL_SPIM_N}"</a:t>
            </a:r>
            <a:r>
              <a:rPr sz="1085" b="0">
                <a:solidFill>
                  <a:srgbClr val="DCE8F2"/>
                </a:solidFill>
                <a:latin typeface="Consolas"/>
              </a:rPr>
              <a:t>,  </a:t>
            </a:r>
            <a:r>
              <a:rPr sz="1085" b="0">
                <a:solidFill>
                  <a:srgbClr val="FFCF6B"/>
                </a:solidFill>
                <a:latin typeface="Consolas"/>
              </a:rPr>
              <a:t>"permission"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"READ-WRITE"</a:t>
            </a:r>
            <a:r>
              <a:rPr sz="1085" b="0">
                <a:solidFill>
                  <a:srgbClr val="DCE8F2"/>
                </a:solidFill>
                <a:latin typeface="Consolas"/>
              </a:rPr>
              <a:t> } ],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"irqs"</a:t>
            </a:r>
            <a:r>
              <a:rPr sz="1085" b="0">
                <a:solidFill>
                  <a:srgbClr val="DCE8F2"/>
                </a:solidFill>
                <a:latin typeface="Consolas"/>
              </a:rPr>
              <a:t>: [ { </a:t>
            </a:r>
            <a:r>
              <a:rPr sz="1085" b="0">
                <a:solidFill>
                  <a:srgbClr val="FFCF6B"/>
                </a:solidFill>
                <a:latin typeface="Consolas"/>
              </a:rPr>
              <a:t>"source"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"${TFM_TIMER_N_IRQ}"</a:t>
            </a:r>
            <a:r>
              <a:rPr sz="1085" b="0">
                <a:solidFill>
                  <a:srgbClr val="DCE8F2"/>
                </a:solidFill>
                <a:latin typeface="Consolas"/>
              </a:rPr>
              <a:t>, </a:t>
            </a:r>
            <a:r>
              <a:rPr sz="1085" b="0">
                <a:solidFill>
                  <a:srgbClr val="FFCF6B"/>
                </a:solidFill>
                <a:latin typeface="Consolas"/>
              </a:rPr>
              <a:t>"handling"</a:t>
            </a:r>
            <a:r>
              <a:rPr sz="1085" b="0">
                <a:solidFill>
                  <a:srgbClr val="DCE8F2"/>
                </a:solidFill>
                <a:latin typeface="Consolas"/>
              </a:rPr>
              <a:t>: </a:t>
            </a:r>
            <a:r>
              <a:rPr sz="1085" b="0">
                <a:solidFill>
                  <a:srgbClr val="FFCF6B"/>
                </a:solidFill>
                <a:latin typeface="Consolas"/>
              </a:rPr>
              <a:t>"FLIH"</a:t>
            </a:r>
            <a:r>
              <a:rPr sz="1085" b="0">
                <a:solidFill>
                  <a:srgbClr val="DCE8F2"/>
                </a:solidFill>
                <a:latin typeface="Consolas"/>
              </a:rPr>
              <a:t> } ],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  </a:t>
            </a:r>
            <a:r>
              <a:rPr sz="1085" b="0">
                <a:solidFill>
                  <a:srgbClr val="FFCF6B"/>
                </a:solidFill>
                <a:latin typeface="Consolas"/>
              </a:rPr>
              <a:t>"dependencies"</a:t>
            </a:r>
            <a:r>
              <a:rPr sz="1085" b="0">
                <a:solidFill>
                  <a:srgbClr val="DCE8F2"/>
                </a:solidFill>
                <a:latin typeface="Consolas"/>
              </a:rPr>
              <a:t>: [ </a:t>
            </a:r>
            <a:r>
              <a:rPr sz="1085" b="0">
                <a:solidFill>
                  <a:srgbClr val="FFCF6B"/>
                </a:solidFill>
                <a:latin typeface="Consolas"/>
              </a:rPr>
              <a:t>"TFM_CRYPTO"</a:t>
            </a:r>
            <a:r>
              <a:rPr sz="1085" b="0">
                <a:solidFill>
                  <a:srgbClr val="DCE8F2"/>
                </a:solidFill>
                <a:latin typeface="Consolas"/>
              </a:rPr>
              <a:t> ],</a:t>
            </a:r>
          </a:p>
          <a:p>
            <a:pPr>
              <a:lnSpc>
                <a:spcPct val="112000"/>
              </a:lnSpc>
            </a:pPr>
            <a:r>
              <a:rPr sz="1085" b="0">
                <a:solidFill>
                  <a:srgbClr val="DCE8F2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1675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SID: bits 31:12 identificam o fornecedor; o sample usa 0xFFFFF e pede para trocar. FLIH: a interrupção é tratada na própria partição, em primeiro nível.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EXECUÇÃO ISOLADA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NSPE ao periférico seguro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sample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tfm_secure_peripheral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LM20B: TIMER10, SPIM21, GPIOTE20 e três pinos marcados como seguros; a app só tem dois handles.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app 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psa_call(handle,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PSA_IPC_CALL, ...)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não sabe onde o timer está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SPM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valida handle e versão;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entrega a mensagem à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partição TFM_SP_SPP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partição SPP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psa_get()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recebe;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programa o TIMER seguro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 o SPIM; responde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periférico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TIMER10 no alias 0x5;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IRQ tratada dentro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da partição (FLIH)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veneer NSC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sinal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MMIO declarado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Com um analisador lógico nos pinos seguros da porta 1 vê-se o periférico pulsando sem que a app NS o alcance.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EXECUÇÃO ISOLADA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uma partição custom compra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7403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2034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Segredo com código próprio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0438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um algoritmo ou protocolo proprietário roda no SPE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depende de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TFM_CRYPTO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usa as chaves por id, como qualquer cliente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NSPE só vê entrada e saída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57403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154" y="272034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Periférico que a app não alcança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310438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sensor, rádio auxiliar ou GPIO crítico no alias seguro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interrupção tratada no SPE (FLIH ou SLIH)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um driver comprometido no NSPE não o aciona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257403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272034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310438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CONFIG_TFM_ISOLATION_LEVEL=3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a partição não lê a RAM das outras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manifesto, CMake e código ficam na app, não no TF-M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custo: pilha própria (0x800 no sample) e a latência da chamada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Ciclo de vida e atestação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chip muda de estado uma vez só, e depois prova quem é com uma chave que nunca saiu do KMU.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estados do PRoT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ARM Platform Security Model 1.1 e da página TF-M provisioning. Não há caminho de volta: reproduzir o sample exige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--erase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e um ERASEALL apaga a identity key da UICR.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3387852"/>
            <a:ext cx="3966362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4112666" y="3387852"/>
            <a:ext cx="3966362" cy="1417320"/>
          </a:xfrm>
          <a:prstGeom prst="chevron">
            <a:avLst/>
          </a:prstGeom>
          <a:solidFill>
            <a:srgbClr val="00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7512100" y="3387852"/>
            <a:ext cx="3966362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43884"/>
            <a:ext cx="335371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Device Assembly and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09644"/>
            <a:ext cx="3353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chip como sai da fábrica;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sem HUK, sem identidade;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debug aberto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9322" y="3643884"/>
            <a:ext cx="29696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PRoT Provisioning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9322" y="4009644"/>
            <a:ext cx="296966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provisioning_image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: gera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MKEK e MEXT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no KMU e uma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identity key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secp256r1 cifrada com a MKEK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756" y="3643884"/>
            <a:ext cx="29696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Secured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8756" y="4009644"/>
            <a:ext cx="296966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CONFIG_TFM_NRF_PROVISIONING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: no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primeiro boot o TF-M confere as chaves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e fecha o estado; APPROTECT em produto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Atestação: o que o token carrega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PSA Attestation 1.0, token em CBOR/COSE. O sample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tfm_psa_template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pede um token com desafio de 64 B e recebe 360 B; só lista nRF91 e nRF5340.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3291839"/>
                <a:gridCol w="50959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Origem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Para que serve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desafio (nonce)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quem pergunta (servidor)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prova que o token é fresco, não repetido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 da instância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hash da chave pública da IAK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identifica o chip sem expor a chave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estado do ciclo de vida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Secured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ou não)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servidor recusa chip em provisionamento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medições de boot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bootloader (versão, hash)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servidor sabe qual firmware está rodando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 de implementação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32 B definidos pelo dono (NSIB)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distingue o bootloader imutável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assinatura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IAK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KMU, ECDSA secp256r1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um chip provisionado assina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No LM20 não há sample de atestação no 3.4.0: a IAK e o serviço existem, o fluxo de provisionamento não está empacotado.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modem como segundo domínio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No nRF91 há outra raiz de confiança fora do Cortex-M33: o modem guarda credenciais, fecha o TLS e assina com uma identidade de fábrica.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O MODEM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domínios num nRF9151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modem é outro núcleo, com memória própria; a app só chega nele por IPC e RAM compartilhada, e só com comandos AT e 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009290" cy="39227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264353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NSPE · aplicação Zephyr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14016"/>
            <a:ext cx="264353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código do aluno, drivers, pilhas de rede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nrf_modem_lib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(a biblioteca do modem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só roda aqui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MCUmgr,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fota_download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dfu_target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chama o SPE pela API PSA: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psa_call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psa_sign_message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tfm_platform_mem_read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▪  não lê memória S nem periférico S: 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1202" y="1883664"/>
            <a:ext cx="3009290" cy="3922776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4082" y="2011680"/>
            <a:ext cx="264353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F1F8"/>
                </a:solidFill>
                <a:latin typeface="Segoe UI"/>
              </a:rPr>
              <a:t>SPE · TF-M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2414016"/>
            <a:ext cx="264353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▪  SPM: escalona as partições e valida cada chamada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▪  PRoT: Platform,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Crypto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,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ITS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,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PS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,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Attestation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▪  ARoT: partições custom (periférico seguro, serviço próprio)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▪  chaves: KMU e HUK; a NS só vê o id da chave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▪  configura SPU (ou MPC/SAU) no boot e salta para o NSPE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69172" y="1883664"/>
            <a:ext cx="3009290" cy="3922776"/>
          </a:xfrm>
          <a:prstGeom prst="roundRect">
            <a:avLst>
              <a:gd name="adj" fmla="val 7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2052" y="2011680"/>
            <a:ext cx="264353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modem · firmware da Nordic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2052" y="2414016"/>
            <a:ext cx="264353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▪  credential store </a:t>
            </a:r>
            <a:r>
              <a:rPr sz="1050" b="0" i="0">
                <a:solidFill>
                  <a:srgbClr val="FFFFFF"/>
                </a:solidFill>
                <a:latin typeface="Consolas"/>
              </a:rPr>
              <a:t>%CMNG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: chave privada </a:t>
            </a:r>
            <a:r>
              <a:rPr sz="1050" b="1" i="0">
                <a:solidFill>
                  <a:srgbClr val="FFFFFF"/>
                </a:solidFill>
                <a:latin typeface="Segoe UI"/>
              </a:rPr>
              <a:t>write-only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▪  TLS/DTLS 1.2 por </a:t>
            </a:r>
            <a:r>
              <a:rPr sz="1050" b="0" i="0">
                <a:solidFill>
                  <a:srgbClr val="FFFFFF"/>
                </a:solidFill>
                <a:latin typeface="Consolas"/>
              </a:rPr>
              <a:t>sec_tag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; o handshake fica aqui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FFFFFF"/>
                </a:solidFill>
                <a:latin typeface="Consolas"/>
              </a:rPr>
              <a:t>%KEYGEN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, </a:t>
            </a:r>
            <a:r>
              <a:rPr sz="1050" b="0" i="0">
                <a:solidFill>
                  <a:srgbClr val="FFFFFF"/>
                </a:solidFill>
                <a:latin typeface="Consolas"/>
              </a:rPr>
              <a:t>%ATTESTTOKEN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, </a:t>
            </a:r>
            <a:r>
              <a:rPr sz="1050" b="0" i="0">
                <a:solidFill>
                  <a:srgbClr val="FFFFFF"/>
                </a:solidFill>
                <a:latin typeface="Consolas"/>
              </a:rPr>
              <a:t>%JWT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: assina sem exportar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▪  boot seguro próprio; delta e FMFU assinados e cifrados pela Nordic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▪  só fala com a app por </a:t>
            </a:r>
            <a:r>
              <a:rPr sz="1050" b="1" i="0">
                <a:solidFill>
                  <a:srgbClr val="FFFFFF"/>
                </a:solidFill>
                <a:latin typeface="Segoe UI"/>
              </a:rPr>
              <a:t>IPC + RAM compartilhada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55694" y="3845052"/>
            <a:ext cx="402336" cy="0"/>
          </a:xfrm>
          <a:prstGeom prst="line">
            <a:avLst/>
          </a:prstGeom>
          <a:ln w="25400">
            <a:solidFill>
              <a:srgbClr val="0093D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33902" y="327812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TrustZone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veneers NSC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33664" y="3845052"/>
            <a:ext cx="402336" cy="0"/>
          </a:xfrm>
          <a:prstGeom prst="line">
            <a:avLst/>
          </a:prstGeom>
          <a:ln w="25400">
            <a:solidFill>
              <a:srgbClr val="0093D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11872" y="327812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IPC + RAM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compartilhada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91616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Duas fronteiras de hardware: a do Cortex-M33 (S/NS, imposta pelo SPU) e a do SiP (o modem é outro núcleo, com memória própria).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O MODEM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credential store do modem (%CMNG)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AT Commands Reference do nRF91x1. Cada conjunto tem um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sec_tag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escrita só com o modem offline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+CFUN=4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). O que importa: chave privada, certificado de cliente e PSK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 se leem de volta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399"/>
                <a:gridCol w="3291839"/>
                <a:gridCol w="1463039"/>
                <a:gridCol w="1463039"/>
                <a:gridCol w="36329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Conteúdo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Escreve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Uso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certificado de CA raiz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verificar o servidor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certificado de cliente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autenticar o dispositivo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privada de cliente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 mútuo; nasce aqui com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%KEYGEN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 · 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PSK · identidade PSK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 não · 4 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DTLS com chave pré-compartilhada (LwM2M)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pública para AT autenticado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(uma vez)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comandos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%XSUDO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pública de identidade do dispositivo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identidade Nordic de fábrica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 · 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endorsement · ownership key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 uma vez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 só a pública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provisionamento e cifra de conteúdo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 · 11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 e chave base da Nordic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raiz do serviço de identidade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asset encryption key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cifra de ativos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O MODEM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TLS dentro do modem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TLS/DTLS configuration da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nrf_modem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da biblioteca Modem key management. Samples: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cellular/tls_ciphersuites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net/https_client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net/mqtt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Como a app usa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nrf_setsockopt(fd, NRF_SOL_SECURE, NRF_SO_SEC_TAG_LIST, ...)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antes de conectar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NRF_SO_SEC_PEER_VERIFY = REQUIRED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para exigir a CA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vários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sec_tag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numa lista: o modem escolhe no handshake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o modem faz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TLS 1.2 e DTLS 1.2; ECDHE-ECDSA e ECDHE-RSA com AES-CBC/GCM; suites PSK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handshake, verificação de cadeia e assinatura com a chave privada, tudo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dentro do modem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app só vê o socket cifrado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Ferramentas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modem_key_mgmt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(write, exists, cmp, delete, clear)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nrfcredstore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(Python, pela serial) e o Cellular Monitor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sec_tag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2147483648–2147483667: tráfego decifrável nas ferramentas Nordic,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só depuração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O MODEM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Identidade e provisionamento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identidade Nordic é injetada em produção e protegida pela raiz do modem; o fabricante nunca manipula chave privada, e as credenciais de nuvem nascem no chip.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4023359"/>
                <a:gridCol w="2560319"/>
                <a:gridCol w="21698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Comando ou peça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usa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No NCS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%ATTESTTOKEN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token de identidade do chip: UUID do dispositivo, UUID do firmware do modem, assinatura COSE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claim do dispositivo no nRF Cloud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modem_attest_token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%KEYGEN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gera par de chaves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no modem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 devolve CSR ou chave pública; a privada fica no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sec_tag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onboarding em nRF Cloud, Azure, AWS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nrfcredstore generate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device_credentials_installer.py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%JWT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JWT assinado pelo modem com a identity key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autenticação no serviço de provisionamento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modem_jwt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 Cloud Provisioning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dispositivo baixa credenciais por CoAP/DTLS e grava no modem; LTE cai e volta durante a escrita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produção sem chave na linha de montagem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nrf_provisioning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sample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nrf_device_provisioning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%XSUDO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 um comando AT sensível com a chave do tipo 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bloquear AT perigosos em campo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O MODEM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Provisionamento pelo nRF Cloud, passo a passo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participantes e oito passos. A aplicação só orquestra: quem assina é o modem, quem decide é o serviço.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039770" cy="640080"/>
          </a:xfrm>
          <a:prstGeom prst="roundRect">
            <a:avLst>
              <a:gd name="adj" fmla="val 2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38528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F1F8"/>
                </a:solidFill>
                <a:latin typeface="Segoe UI"/>
              </a:rPr>
              <a:t>nRF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12848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portal e serviço de provisionamento (CoAP/DTLS)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3117" y="2569464"/>
            <a:ext cx="0" cy="3374136"/>
          </a:xfrm>
          <a:prstGeom prst="line">
            <a:avLst/>
          </a:prstGeom>
          <a:ln w="19050">
            <a:solidFill>
              <a:srgbClr val="D3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5962" y="1883664"/>
            <a:ext cx="3039770" cy="640080"/>
          </a:xfrm>
          <a:prstGeom prst="roundRect">
            <a:avLst>
              <a:gd name="adj" fmla="val 2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5962" y="1938528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aplicação NSPE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212848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biblioteca </a:t>
            </a:r>
            <a:r>
              <a:rPr sz="900" b="0" i="0">
                <a:solidFill>
                  <a:srgbClr val="93A6B8"/>
                </a:solidFill>
                <a:latin typeface="Consolas"/>
              </a:rPr>
              <a:t>nrf_provisioning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2569464"/>
            <a:ext cx="0" cy="3374136"/>
          </a:xfrm>
          <a:prstGeom prst="line">
            <a:avLst/>
          </a:prstGeom>
          <a:ln w="19050">
            <a:solidFill>
              <a:srgbClr val="D3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38692" y="1883664"/>
            <a:ext cx="3039770" cy="640080"/>
          </a:xfrm>
          <a:prstGeom prst="roundRect">
            <a:avLst>
              <a:gd name="adj" fmla="val 20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8692" y="1938528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modem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8692" y="2212848"/>
            <a:ext cx="30397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0B1B2B"/>
                </a:solidFill>
                <a:latin typeface="Segoe UI"/>
              </a:rPr>
              <a:t>credential store, identidade de fábrica, TLS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58577" y="2569464"/>
            <a:ext cx="0" cy="3374136"/>
          </a:xfrm>
          <a:prstGeom prst="line">
            <a:avLst/>
          </a:prstGeom>
          <a:ln w="19050">
            <a:solidFill>
              <a:srgbClr val="D3E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885425" y="2875788"/>
            <a:ext cx="146304" cy="146304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7212" y="2619756"/>
            <a:ext cx="3862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0 · fábrica: identidade Nordic e chave de identidade gravadas no modem; não saem nunca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150711" y="3342132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21527" y="3012948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1 ·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AT%ATTESTTOKEN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→ token (UUID + UUID do firmware do modem, assinado COSE)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287981" y="3735324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58797" y="3406140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2 · claim: o token é colado no portal (ou REST); o serviço confere a assinatura Nordic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87981" y="4128516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58797" y="3799332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3 ·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nrf_provisioning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abre CoAP/DTLS com a CA raiz do serviço e autentica com </a:t>
            </a:r>
            <a:r>
              <a:rPr sz="900" b="1" i="0">
                <a:solidFill>
                  <a:srgbClr val="0B1B2B"/>
                </a:solidFill>
                <a:latin typeface="Segoe UI"/>
              </a:rPr>
              <a:t>JWT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assinado pelo modem (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%JWT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7981" y="4521708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58797" y="4192524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4 · comandos: gerar par de chaves, instalar certificados do nRF Cloud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50711" y="4914900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21527" y="4585716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5 ·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+CFUN=4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(offline) →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%KEYGEN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gera a chave </a:t>
            </a:r>
            <a:r>
              <a:rPr sz="900" b="1" i="0">
                <a:solidFill>
                  <a:srgbClr val="0B1B2B"/>
                </a:solidFill>
                <a:latin typeface="Segoe UI"/>
              </a:rPr>
              <a:t>no modem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%CMNG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grava certificados →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+CFUN=1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; o LTE cai e volta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287981" y="5308092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58797" y="4978908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6 · resultado reportado; comandos saem da fila do serviço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287981" y="5701284"/>
            <a:ext cx="3753002" cy="0"/>
          </a:xfrm>
          <a:prstGeom prst="line">
            <a:avLst/>
          </a:prstGeom>
          <a:ln w="1905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958797" y="5372100"/>
            <a:ext cx="4411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7 · conexão ao nRF Cloud (CoAP/DTLS) com as credenciais novas, no </a:t>
            </a:r>
            <a:r>
              <a:rPr sz="900" b="0" i="0">
                <a:solidFill>
                  <a:srgbClr val="566577"/>
                </a:solidFill>
                <a:latin typeface="Consolas"/>
              </a:rPr>
              <a:t>sec_tag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provisionado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989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Nenhuma chave privada sai do modem e nenhuma passa pela linha de produção: a fábrica só gravou a identidade Nordic.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O MODEM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está no NCS 3.4.0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Alvos conferidos nos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sample.yaml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Atestação, provisionamento e credential store só existem no nRF9151.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59"/>
                <a:gridCol w="1280159"/>
                <a:gridCol w="1280159"/>
                <a:gridCol w="41815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Sample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samples/tfm/tfm_secure_peripheral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partição custom, periférico e IRQ seguros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samples/tfm/provisioning_image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HUK e identity key no KMU; estado PRoT Provisioning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samples/tfm/tfm_psa_template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estado Secured, token de atestação, MCUboot e DFU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samples/keys/hw_unique_key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identity_key_usage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derivar da HUK; assinar com a identity key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samples/crypto/kmu_cracen_usage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persistent_key_usage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chave persistente no KMU (54L) ou no ITS (91)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samples/crypto/psa_tls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 com PSA no Cortex-M33 (não no modem)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cellular/tls_ciphersuites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net/https_client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net/mqtt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 pelo modem, por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sec_tag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cellular/nrf_device_provisioning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JWT + serviço de provisionamento do nRF Cloud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cellular/modem_shell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at_client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%CMNG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%KEYGEN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%ATTESTTOKEN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à mão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03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TF-M 2.3.0, dois perfis do NCS: mínimo (32 KB, Supported no nRF91) e configurável (Experimental em todos).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Serviços: Platform, Crypto (PSA 1.4), ITS e PS, Attestation. A app usa chave por </a:t>
            </a:r>
            <a:r>
              <a:rPr sz="1500" b="1">
                <a:solidFill>
                  <a:srgbClr val="E8F1F8"/>
                </a:solidFill>
                <a:latin typeface="Segoe UI"/>
              </a:rPr>
              <a:t>id</a:t>
            </a:r>
            <a:r>
              <a:rPr sz="1500" b="0">
                <a:solidFill>
                  <a:srgbClr val="93A6B8"/>
                </a:solidFill>
                <a:latin typeface="Segoe UI"/>
              </a:rPr>
              <a:t>; o material fica no SPE, no KMU ou no CRACEN.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Partição custom: manifesto declara periféricos, IRQs e serviços; o SPM só deixa tocar o que está declarado.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No nRF91 o modem é a terceira fronteira: credenciais write-only, TLS interno, identidade de fábrica que assina sem exportar.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TF-M mínimo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níveis de isolamento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TF-M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360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token de atestação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Segoe UI"/>
              </a:rPr>
              <a:t>write-only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chave privada no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credential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Critério de partição: o que precisa do material da chave fica no SPE; o que só precisa do resultado fica no NSPE.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