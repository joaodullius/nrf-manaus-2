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PSA Certified — O programa de certificação da Arm: níveis 1 a 3 para o chip, e certificação funcional das APIs.</a:t>
            </a:r>
          </a:p>
          <a:p>
            <a:r>
              <a:t>SESIP — Security Evaluation Standard for IoT Platforms: outro esquema de certificação, também obtido pela Nordic via Riscure.</a:t>
            </a:r>
          </a:p>
          <a:p>
            <a:r>
              <a:t>RED — Radio Equipment Directive 2014/53/EU: a diretiva europeia de equipamentos de rádio.</a:t>
            </a:r>
          </a:p>
          <a:p>
            <a:r>
              <a:t>RED DA — O Delegated Act (EU) 2022/30 que ativa os requisitos de cibersegurança da RED desde 1 de agosto de 2025.</a:t>
            </a:r>
          </a:p>
          <a:p>
            <a:r>
              <a:t>EN 18031 — A norma harmonizada (partes 1, 2 e 3) que atende os artigos 3.3(d), (e) e (f) da RED.</a:t>
            </a:r>
          </a:p>
          <a:p>
            <a:r>
              <a:t>NCS — nRF Connect SDK.</a:t>
            </a:r>
          </a:p>
          <a:p>
            <a:r>
              <a:t>CC310 — Arm CryptoCell 310: o acelerador dos nRF52840 e nRF91 (AES-128, SHA-256, RSA 2048, ECC até 521 bits).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ML-KEM — Module-Lattice Key Encapsulation Mechanism (FIPS 203): troca de chave pós-quântica, ex-Kyber.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NCS — nRF Connect SDK.</a:t>
            </a:r>
          </a:p>
          <a:p>
            <a:r>
              <a:t>TRNG — True Random Number Generator: gerador físico de aleatoriedade (SP 800-90B).</a:t>
            </a:r>
          </a:p>
          <a:p>
            <a:r>
              <a:t>SP — Service Period: a janela em que a estação TWT está acordada e o AP a atende.</a:t>
            </a:r>
          </a:p>
          <a:p>
            <a:r>
              <a:t>AES — Advanced Encryption Standard: a cifra simétrica por trás do CCMP.</a:t>
            </a:r>
          </a:p>
          <a:p>
            <a:r>
              <a:t>KDR — Device Root Key: chave AES de 128 bits do CryptoCell, carregada por um bootloader imutável e retida até o reset.</a:t>
            </a:r>
          </a:p>
          <a:p>
            <a:r>
              <a:t>KPRTL — A chave de RTL do CryptoCell: igual em todos os chips do mesmo código de peça; pode ser travada até o reset.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IKG — Isolated Key Generator: o gerador do CRACEN que recria as chaves de hardware a partir de uma semente a cada ciclo de energia.</a:t>
            </a:r>
          </a:p>
          <a:p>
            <a:r>
              <a:t>DPA — Differential Power Analysis: ataque de canal lateral por consumo; o CRACEN é mascarado contra ele.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API — Application Programming Interface.</a:t>
            </a:r>
          </a:p>
          <a:p>
            <a:r>
              <a:t>SDK — Software Development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NCS — nRF Connect SDK.</a:t>
            </a:r>
          </a:p>
          <a:p>
            <a:r>
              <a:t>Kconfig — O sistema de configuração do Zephyr: as opções CONFIG_* do prj.conf.</a:t>
            </a:r>
          </a:p>
          <a:p>
            <a:r>
              <a:t>TF-M — Trusted Firmware-M: o firmware seguro (TrustZone) dos alvos /ns.</a:t>
            </a:r>
          </a:p>
          <a:p>
            <a:r>
              <a:t>API — Application Programming Interface.</a:t>
            </a:r>
          </a:p>
          <a:p>
            <a:r>
              <a:t>Oberon — Oberon PSA Crypto: o núcleo PSA usado pelo nRF Security, com o driver nrf_oberon como fallback em software.</a:t>
            </a:r>
          </a:p>
          <a:p>
            <a:r>
              <a:t>CC310 — Arm CryptoCell 310: o acelerador dos nRF52840 e nRF91 (AES-128, SHA-256, RSA 2048, ECC até 521 bits).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PQC — Post-Quantum Cryptography: algoritmos resistentes a computadores quânticos.</a:t>
            </a:r>
          </a:p>
          <a:p>
            <a:r>
              <a:t>SPE — Secure Processing Environment: o mundo seguro (TF-M).</a:t>
            </a:r>
          </a:p>
          <a:p>
            <a:r>
              <a:t>cc3xx — O driver PSA fechado da Nordic para CryptoCell 310/312 (nrf_cc3xx_platform e nrf_cc3xx_mbedcrypto).</a:t>
            </a:r>
          </a:p>
          <a:p>
            <a:r>
              <a:t>CRACEN — Crypto Accelerator Engine: o acelerador dos nRF54L, com mascaramento contra DPA e TRNG SP 800-90B.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TF-M — Trusted Firmware-M: o firmware seguro (TrustZone) dos alvos /ns.</a:t>
            </a:r>
          </a:p>
          <a:p>
            <a:r>
              <a:t>Oberon — Oberon PSA Crypto: o núcleo PSA usado pelo nRF Security, com o driver nrf_oberon como fallback em software.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ECDSA — Assinatura por curva elíptica (P-256 no NSIB e no MCUboot do nRF91).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LMS — Leighton-Micali Signatures: assinatura de hash com estado (SP 800-208), usada em boot seguro.</a:t>
            </a:r>
          </a:p>
          <a:p>
            <a:r>
              <a:t>HSS — Hierarchical Signature System: LMS em árvore hierárquica.</a:t>
            </a:r>
          </a:p>
          <a:p>
            <a:r>
              <a:t>SP — Service Period: a janela em que a estação TWT está acordada e o AP a atende.</a:t>
            </a:r>
          </a:p>
          <a:p>
            <a:r>
              <a:t>XMSS — eXtended Merkle Signature Scheme: assinatura de hash com estado (SP 800-208).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KMU — Key Management Unit: slots de chave em NVM que só o acelerador lê; a aplicação usa a chave por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NCS — nRF Connect SDK.</a:t>
            </a:r>
          </a:p>
          <a:p>
            <a:r>
              <a:t>RAM — Random Access Memory: a memória de trabalho (511 KB no nRF54LM20).</a:t>
            </a:r>
          </a:p>
          <a:p>
            <a:r>
              <a:t>AES — Advanced Encryption Standard: a cifra simétrica por trás do CCMP.</a:t>
            </a:r>
          </a:p>
          <a:p>
            <a:r>
              <a:t>CC310 — Arm CryptoCell 310: o acelerador dos nRF52840 e nRF91 (AES-128, SHA-256, RSA 2048, ECC até 521 bits).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MCUboot — O bootloader do Zephyr.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TF-M — Trusted Firmware-M: o firmware seguro (TrustZone) dos alvos /ns.</a:t>
            </a:r>
          </a:p>
          <a:p>
            <a:r>
              <a:t>API — Application Programming Interface.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IKG — Isolated Key Generator: o gerador do CRACEN que recria as chaves de hardware a partir de uma semente a cada ciclo de energia.</a:t>
            </a:r>
          </a:p>
          <a:p>
            <a:r>
              <a:t>SPE — Secure Processing Environment: o mundo seguro (TF-M).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TF-M — Trusted Firmware-M: o firmware seguro (TrustZone) dos alvos /ns.</a:t>
            </a:r>
          </a:p>
          <a:p>
            <a:r>
              <a:t>KDR — Device Root Key: chave AES de 128 bits do CryptoCell, carregada por um bootloader imutável e retida até o reset.</a:t>
            </a:r>
          </a:p>
          <a:p>
            <a:r>
              <a:t>KPRTL — A chave de RTL do CryptoCell: igual em todos os chips do mesmo código de peça; pode ser travada até o reset.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AES — Advanced Encryption Standard: a cifra simétrica por trás do CCMP.</a:t>
            </a:r>
          </a:p>
          <a:p>
            <a:r>
              <a:t>ECDSA — Assinatura por curva elíptica (P-256 no NSIB e no MCUboot do nRF91).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TRNG — True Random Number Generator: gerador físico de aleatoriedade (SP 800-90B).</a:t>
            </a:r>
          </a:p>
          <a:p>
            <a:r>
              <a:t>SP — Service Period: a janela em que a estação TWT está acordada e o AP a atende.</a:t>
            </a:r>
          </a:p>
          <a:p>
            <a:r>
              <a:t>IKG — Isolated Key Generator: o gerador do CRACEN que recria as chaves de hardware a partir de uma semente a cada ciclo de energia.</a:t>
            </a:r>
          </a:p>
          <a:p>
            <a:r>
              <a:t>MKEK — Master Key Encryption Key: a HUK que deriva as chaves que cifram o ITS.</a:t>
            </a:r>
          </a:p>
          <a:p>
            <a:r>
              <a:t>MEXT — Master Key for External Storage: a HUK que deriva as chaves do Protected Storage e de flash externa.</a:t>
            </a:r>
          </a:p>
          <a:p>
            <a:r>
              <a:t>DPA — Differential Power Analysis: ataque de canal lateral por consumo; o CRACEN é mascarado contra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CC310 — Arm CryptoCell 310: o acelerador dos nRF52840 e nRF91 (AES-128, SHA-256, RSA 2048, ECC até 521 bits).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KDR — Device Root Key: chave AES de 128 bits do CryptoCell, carregada por um bootloader imutável e retida até o reset.</a:t>
            </a:r>
          </a:p>
          <a:p>
            <a:r>
              <a:t>KPRTL — A chave de RTL do CryptoCell: igual em todos os chips do mesmo código de peça; pode ser travada até o reset.</a:t>
            </a:r>
          </a:p>
          <a:p>
            <a:r>
              <a:t>MKEK — Master Key Encryption Key: a HUK que deriva as chaves que cifram o ITS.</a:t>
            </a:r>
          </a:p>
          <a:p>
            <a:r>
              <a:t>IKG — Isolated Key Generator: o gerador do CRACEN que recria as chaves de hardware a partir de uma semente a cada ciclo de energia.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MEXT — Master Key for External Storage: a HUK que deriva as chaves do Protected Storage e de flash externa.</a:t>
            </a:r>
          </a:p>
          <a:p>
            <a:r>
              <a:t>IAK — Initial Attestation Key: a chave secp256r1 que assina o token de atestação (a identity key do KMU).</a:t>
            </a:r>
          </a:p>
          <a:p>
            <a:r>
              <a:t>MCUboot — O bootloader do Zephyr.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%CMNG — O comando AT de gestão de credenciais do modem (escrever, listar, ler, apagar).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Certified — O programa de certificação da Arm: níveis 1 a 3 para o chip, e certificação funcional das APIs.</a:t>
            </a:r>
          </a:p>
          <a:p>
            <a:r>
              <a:t>SESIP — Security Evaluation Standard for IoT Platforms: outro esquema de certificação, também obtido pela Nordic via Riscure.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Certified — O programa de certificação da Arm: níveis 1 a 3 para o chip, e certificação funcional das APIs.</a:t>
            </a:r>
          </a:p>
          <a:p>
            <a:r>
              <a:t>RED — Radio Equipment Directive 2014/53/EU: a diretiva europeia de equipamentos de rádio.</a:t>
            </a:r>
          </a:p>
          <a:p>
            <a:r>
              <a:t>RED DA — O Delegated Act (EU) 2022/30 que ativa os requisitos de cibersegurança da RED desde 1 de agosto de 2025.</a:t>
            </a:r>
          </a:p>
          <a:p>
            <a:r>
              <a:t>EN 18031 — A norma harmonizada (partes 1, 2 e 3) que atende os artigos 3.3(d), (e) e (f) da RED.</a:t>
            </a:r>
          </a:p>
          <a:p>
            <a:r>
              <a:t>ETSI EN 303 645 — A norma europeia de segurança básica para IoT de consumo.</a:t>
            </a:r>
          </a:p>
          <a:p>
            <a:r>
              <a:t>EN 303 645 — Ver ETSI EN 303 645.</a:t>
            </a:r>
          </a:p>
          <a:p>
            <a:r>
              <a:t>NIST IR 8259A — A baseline de capacidades de cibersegurança para dispositivos IoT do NIST.</a:t>
            </a:r>
          </a:p>
          <a:p>
            <a:r>
              <a:t>TF-M — Trusted Firmware-M: o firmware seguro (TrustZone) dos alvos /ns.</a:t>
            </a:r>
          </a:p>
          <a:p>
            <a:r>
              <a:t>SDK — Software Development Kit.</a:t>
            </a:r>
          </a:p>
          <a:p>
            <a:r>
              <a:t>RoT — Root of Trust: o conjunto mínimo de hardware e firmware em que todo o resto confia; nada abaixo dele é verificável.</a:t>
            </a:r>
          </a:p>
          <a:p>
            <a:r>
              <a:t>L2 — Camada 2 (enlace): no Zephyr, o módulo que fala com o driver — Ethernet, Wi-Fi mgmt.</a:t>
            </a:r>
          </a:p>
          <a:p>
            <a:r>
              <a:t>L3 — Camada 3 (rede): IPv4/IPv6.</a:t>
            </a:r>
          </a:p>
          <a:p>
            <a:r>
              <a:t>SESIP — Security Evaluation Standard for IoT Platforms: outro esquema de certificação, também obtido pela Nordic via Riscure.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Certified — O programa de certificação da Arm: níveis 1 a 3 para o chip, e certificação funcional das APIs.</a:t>
            </a:r>
          </a:p>
          <a:p>
            <a:r>
              <a:t>SESIP — Security Evaluation Standard for IoT Platforms: outro esquema de certificação, também obtido pela Nordic via Riscure.</a:t>
            </a:r>
          </a:p>
          <a:p>
            <a:r>
              <a:t>TrustZone — A separação de hardware entre mundo seguro e não seguro no Cortex-M33.</a:t>
            </a:r>
          </a:p>
          <a:p>
            <a:r>
              <a:t>RoT — Root of Trust: o conjunto mínimo de hardware e firmware em que todo o resto confia; nada abaixo dele é verificável.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Certified — O programa de certificação da Arm: níveis 1 a 3 para o chip, e certificação funcional das APIs.</a:t>
            </a:r>
          </a:p>
          <a:p>
            <a:r>
              <a:t>NCS — nRF Connect SDK.</a:t>
            </a:r>
          </a:p>
          <a:p>
            <a:r>
              <a:t>API — Application Programming Interface.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PQC — Post-Quantum Cryptography: algoritmos resistentes a computadores quânticos.</a:t>
            </a:r>
          </a:p>
          <a:p>
            <a:r>
              <a:t>Oberon — Oberon PSA Crypto: o núcleo PSA usado pelo nRF Security, com o driver nrf_oberon como fallback em software.</a:t>
            </a:r>
          </a:p>
          <a:p>
            <a:r>
              <a:t>TF-M — Trusted Firmware-M: o firmware seguro (TrustZone) dos alvos /ns.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PS — Power Save: modo de economia em que o rádio dorme entre beacons.</a:t>
            </a:r>
          </a:p>
          <a:p>
            <a:r>
              <a:t>MCUboot — O bootloader do Zephyr.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CC310 — Arm CryptoCell 310: o acelerador dos nRF52840 e nRF91 (AES-128, SHA-256, RSA 2048, ECC até 521 bits).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Kconfig — O sistema de configuração do Zephyr: as opções CONFIG_* do prj.conf.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SDK — Software Development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RED — Radio Equipment Directive 2014/53/EU: a diretiva europeia de equipamentos de rádio.</a:t>
            </a:r>
          </a:p>
          <a:p>
            <a:r>
              <a:t>EN 18031 — A norma harmonizada (partes 1, 2 e 3) que atende os artigos 3.3(d), (e) e (f) da RED.</a:t>
            </a:r>
          </a:p>
          <a:p>
            <a:r>
              <a:t>RED DA — O Delegated Act (EU) 2022/30 que ativa os requisitos de cibersegurança da RED desde 1 de agosto de 2025.</a:t>
            </a:r>
          </a:p>
          <a:p>
            <a:r>
              <a:t>UE — User Equipment: o dispositivo, na nomenclatura 3GPP.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Certified — O programa de certificação da Arm: níveis 1 a 3 para o chip, e certificação funcional das APIs.</a:t>
            </a:r>
          </a:p>
          <a:p>
            <a:r>
              <a:t>ETSI EN 303 645 — A norma europeia de segurança básica para IoT de consumo.</a:t>
            </a:r>
          </a:p>
          <a:p>
            <a:r>
              <a:t>EN 303 645 — Ver ETSI EN 303 645.</a:t>
            </a:r>
          </a:p>
          <a:p>
            <a:r>
              <a:t>NIST IR 8259A — A baseline de capacidades de cibersegurança para dispositivos IoT do NIST.</a:t>
            </a:r>
          </a:p>
          <a:p>
            <a:r>
              <a:t>SESIP — Security Evaluation Standard for IoT Platforms: outro esquema de certificação, também obtido pela Nordic via Riscure.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EN 18031 — A norma harmonizada (partes 1, 2 e 3) que atende os artigos 3.3(d), (e) e (f) da RED.</a:t>
            </a:r>
          </a:p>
          <a:p>
            <a:r>
              <a:t>ETSI EN 303 645 — A norma europeia de segurança básica para IoT de consumo.</a:t>
            </a:r>
          </a:p>
          <a:p>
            <a:r>
              <a:t>EN 303 645 — Ver ETSI EN 303 645.</a:t>
            </a:r>
          </a:p>
          <a:p>
            <a:r>
              <a:t>NIST IR 8259A — A baseline de capacidades de cibersegurança para dispositivos IoT do NIST.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DTLS — TLS sobre UDP (CoAP, LwM2M).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BLE — Bluetooth Low Energy: o rádio de 2,4 GHz do próprio nRF54LM20.</a:t>
            </a:r>
          </a:p>
          <a:p>
            <a:r>
              <a:t>MCUboot — O bootloader do Zephyr.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PS — Power Save: modo de economia em que o rádio dorme entre beacons.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%ATTESTTOKEN — O comando AT que devolve o token de identidade do chip, assinado com a identidade de fábrica.</a:t>
            </a:r>
          </a:p>
          <a:p>
            <a:r>
              <a:t>IAK — Initial Attestation Key: a chave secp256r1 que assina o token de atestação (a identity key do KMU).</a:t>
            </a:r>
          </a:p>
          <a:p>
            <a:r>
              <a:t>UUID — Universally Unique Identifier: identificador de 128 bits de serviços e características.</a:t>
            </a:r>
          </a:p>
          <a:p>
            <a:r>
              <a:t>APPROTECT — Access Port Protection: bloqueia o debugger; só um ERASEALL reabre.</a:t>
            </a:r>
          </a:p>
          <a:p>
            <a:r>
              <a:t>SECUREAPPROTECT — A proteção do acesso de debug ao mundo seguro, separada da APPROTECT.</a:t>
            </a:r>
          </a:p>
          <a:p>
            <a:r>
              <a:t>SMP — Simple Management Protocol: o protocolo do MCUmgr, por BLE, UART, USB ou shell.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%KEYGEN — O comando AT que gera um par de chaves dentro do modem e devolve CSR ou chave pública.</a:t>
            </a:r>
          </a:p>
          <a:p>
            <a:r>
              <a:t>SBOM — Software Bill of Materials: a lista de componentes do firmware; o NCS gera com um comando west.</a:t>
            </a:r>
          </a:p>
          <a:p>
            <a:r>
              <a:t>PSIRT — Product Security Incident Response Team: a equipe que trata vulnerabilidades reportadas.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SDK — Software Development Kit.</a:t>
            </a:r>
          </a:p>
          <a:p>
            <a:r>
              <a:t>SBOM — Software Bill of Materials: a lista de componentes do firmware; o NCS gera com um comando west.</a:t>
            </a:r>
          </a:p>
          <a:p>
            <a:r>
              <a:t>PSIRT — Product Security Incident Response Team: a equipe que trata vulnerabilidades reportadas.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PQC — Post-Quantum Cryptography: algoritmos resistentes a computadores quânticos.</a:t>
            </a:r>
          </a:p>
          <a:p>
            <a:r>
              <a:t>ECDSA — Assinatura por curva elíptica (P-256 no NSIB e no MCUboot do nRF91).</a:t>
            </a:r>
          </a:p>
          <a:p>
            <a:r>
              <a:t>AES — Advanced Encryption Standard: a cifra simétrica por trás do CCMP.</a:t>
            </a:r>
          </a:p>
          <a:p>
            <a:r>
              <a:t>ML-KEM — Module-Lattice Key Encapsulation Mechanism (FIPS 203): troca de chave pós-quântica, ex-Kyber.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SLH-DSA — Stateless Hash-based DSA (FIPS 205): assinatura pós-quântica baseada em hash, ex-SPHINCS+.</a:t>
            </a:r>
          </a:p>
          <a:p>
            <a:r>
              <a:t>LMS — Leighton-Micali Signatures: assinatura de hash com estado (SP 800-208), usada em boot seguro.</a:t>
            </a:r>
          </a:p>
          <a:p>
            <a:r>
              <a:t>HSS — Hierarchical Signature System: LMS em árvore hierárquica.</a:t>
            </a:r>
          </a:p>
          <a:p>
            <a:r>
              <a:t>XMSS — eXtended Merkle Signature Scheme: assinatura de hash com estado (SP 800-208).</a:t>
            </a:r>
          </a:p>
          <a:p>
            <a:r>
              <a:t>SP — Service Period: a janela em que a estação TWT está acordada e o AP a atende.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PQC — Post-Quantum Cryptography: algoritmos resistentes a computadores quânticos.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NCS — nRF Connect SDK.</a:t>
            </a:r>
          </a:p>
          <a:p>
            <a:r>
              <a:t>MCUboot — O bootloader do Zephyr.</a:t>
            </a:r>
          </a:p>
          <a:p>
            <a:r>
              <a:t>ECDSA — Assinatura por curva elíptica (P-256 no NSIB e no MCUboot do nRF91).</a:t>
            </a:r>
          </a:p>
          <a:p>
            <a:r>
              <a:t>ED25519 — Assinatura EdDSA na curva 25519: padrão do MCUboot no nRF54L, verificada pelo CRACEN.</a:t>
            </a:r>
          </a:p>
          <a:p>
            <a:r>
              <a:t>ECIES — Esquema de cifra híbrida com curva elíptica; o MCUboot usa ECIES-X25519 para a chave da imagem cifrada.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AES — Advanced Encryption Standard: a cifra simétrica por trás do CCMP.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DTLS — TLS sobre UDP (CoAP, LwM2M).</a:t>
            </a:r>
          </a:p>
          <a:p>
            <a:r>
              <a:t>PSK — Pre-Shared Key: a senha da rede, compartilhada por todos os clientes.</a:t>
            </a:r>
          </a:p>
          <a:p>
            <a:r>
              <a:t>JWT — JSON Web Token: um token assinado com claims (emissor, público, validade).</a:t>
            </a:r>
          </a:p>
          <a:p>
            <a:r>
              <a:t>COSE — CBOR Object Signing and Encryption: o formato de assinatura dos tokens do modem.</a:t>
            </a:r>
          </a:p>
          <a:p>
            <a:r>
              <a:t>BLE — Bluetooth Low Energy: o rádio de 2,4 GHz do próprio nRF54LM20.</a:t>
            </a:r>
          </a:p>
          <a:p>
            <a:r>
              <a:t>WPA3 — Wi-Fi Protected Access 3: sucessor do WPA2; -SAE troca o PSK por um handshake resistente a dicionário.</a:t>
            </a:r>
          </a:p>
          <a:p>
            <a:r>
              <a:t>SAE — Simultaneous Authentication of Equals: o handshake do WPA3-Personal (Dragonfly).</a:t>
            </a:r>
          </a:p>
          <a:p>
            <a:r>
              <a:t>WPA2 — Wi-Fi Protected Access 2 (2004): segurança com cifra CCMP/AES; -PSK usa senha compartilhada.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PS — Power Save: modo de economia em que o rádio dorme entre beacons.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CC310 — Arm CryptoCell 310: o acelerador dos nRF52840 e nRF91 (AES-128, SHA-256, RSA 2048, ECC até 521 bits).</a:t>
            </a:r>
          </a:p>
          <a:p>
            <a:r>
              <a:t>Oberon — Oberon PSA Crypto: o núcleo PSA usado pelo nRF Security, com o driver nrf_oberon como fallback em software.</a:t>
            </a:r>
          </a:p>
          <a:p>
            <a:r>
              <a:t>CRACEN — Crypto Accelerator Engine: o acelerador dos nRF54L, com mascaramento contra DPA e TRNG SP 800-90B.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PQC — Post-Quantum Cryptography: algoritmos resistentes a computadores quânticos.</a:t>
            </a:r>
          </a:p>
          <a:p>
            <a:r>
              <a:t>ED25519 — Assinatura EdDSA na curva 25519: padrão do MCUboot no nRF54L, verificada pelo CRACEN.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TF-M — Trusted Firmware-M: o firmware seguro (TrustZone) dos alvos /ns.</a:t>
            </a:r>
          </a:p>
          <a:p>
            <a:r>
              <a:t>BLE — Bluetooth Low Energy: o rádio de 2,4 GHz do próprio nRF54LM20.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PQC — Post-Quantum Cryptography: algoritmos resistentes a computadores quânticos.</a:t>
            </a:r>
          </a:p>
          <a:p>
            <a:r>
              <a:t>NCS — nRF Connect SDK.</a:t>
            </a:r>
          </a:p>
          <a:p>
            <a:r>
              <a:t>Kconfig — O sistema de configuração do Zephyr: as opções CONFIG_* do prj.conf.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API — Application Programming Interface.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ML-KEM — Module-Lattice Key Encapsulation Mechanism (FIPS 203): troca de chave pós-quântica, ex-Kyber.</a:t>
            </a:r>
          </a:p>
          <a:p>
            <a:r>
              <a:t>LMS — Leighton-Micali Signatures: assinatura de hash com estado (SP 800-208), usada em boot seguro.</a:t>
            </a:r>
          </a:p>
          <a:p>
            <a:r>
              <a:t>HSS — Hierarchical Signature System: LMS em árvore hierárquica.</a:t>
            </a:r>
          </a:p>
          <a:p>
            <a:r>
              <a:t>XMSS — eXtended Merkle Signature Scheme: assinatura de hash com estado (SP 800-208).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MCUboot — O bootloader do Zephyr.</a:t>
            </a:r>
          </a:p>
          <a:p>
            <a:r>
              <a:t>TF-M — Trusted Firmware-M: o firmware seguro (TrustZone) dos alvos /ns.</a:t>
            </a:r>
          </a:p>
          <a:p>
            <a:r>
              <a:t>TLS — Transport Layer Security: cifra e autentica uma conexão (HTTPS = HTTP sobre TLS).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PQC — Post-Quantum Cryptography: algoritmos resistentes a computadores quânticos.</a:t>
            </a:r>
          </a:p>
          <a:p>
            <a:r>
              <a:t>NCS — nRF Connect SDK.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ML-KEM — Module-Lattice Key Encapsulation Mechanism (FIPS 203): troca de chave pós-quântica, ex-Kyber.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  <a:p>
            <a:r>
              <a:t>MCUboot — O bootloader do Zephyr.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ECDSA — Assinatura por curva elíptica (P-256 no NSIB e no MCUboot do nRF91).</a:t>
            </a:r>
          </a:p>
          <a:p>
            <a:r>
              <a:t>ED25519 — Assinatura EdDSA na curva 25519: padrão do MCUboot no nRF54L, verificada pelo CRACEN.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API — Application Programming Interface.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Kconfig — O sistema de configuração do Zephyr: as opções CONFIG_* do prj.conf.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CC310 — Arm CryptoCell 310: o acelerador dos nRF52840 e nRF91 (AES-128, SHA-256, RSA 2048, ECC até 521 bits).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API — Application Programming Interface.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Oberon — Oberon PSA Crypto: o núcleo PSA usado pelo nRF Security, com o driver nrf_oberon como fallback em software.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RED — Radio Equipment Directive 2014/53/EU: a diretiva europeia de equipamentos de rádio.</a:t>
            </a:r>
          </a:p>
          <a:p>
            <a:r>
              <a:t>RED DA — O Delegated Act (EU) 2022/30 que ativa os requisitos de cibersegurança da RED desde 1 de agosto de 2025.</a:t>
            </a:r>
          </a:p>
          <a:p>
            <a:r>
              <a:t>EN 18031 — A norma harmonizada (partes 1, 2 e 3) que atende os artigos 3.3(d), (e) e (f) da RED.</a:t>
            </a:r>
          </a:p>
          <a:p>
            <a:r>
              <a:t>PQC — Post-Quantum Cryptography: algoritmos resistentes a computadores quânticos.</a:t>
            </a:r>
          </a:p>
          <a:p>
            <a:r>
              <a:t>ML-DSA — Module-Lattice Digital Signature Algorithm (FIPS 204): assinatura pós-quântica, ex-Dilithium.</a:t>
            </a:r>
          </a:p>
          <a:p>
            <a:r>
              <a:t>ML-KEM — Module-Lattice Key Encapsulation Mechanism (FIPS 203): troca de chave pós-quântica, ex-Kyber.</a:t>
            </a:r>
          </a:p>
          <a:p>
            <a:r>
              <a:t>LMS — Leighton-Micali Signatures: assinatura de hash com estado (SP 800-208), usada em boot seguro.</a:t>
            </a:r>
          </a:p>
          <a:p>
            <a:r>
              <a:t>XMSS — eXtended Merkle Signature Scheme: assinatura de hash com estado (SP 800-208).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NCS — nRF Connect SDK.</a:t>
            </a:r>
          </a:p>
          <a:p>
            <a:r>
              <a:t>PSA Certified — O programa de certificação da Arm: níveis 1 a 3 para o chip, e certificação funcional das APIs.</a:t>
            </a:r>
          </a:p>
          <a:p>
            <a:r>
              <a:t>UE — User Equipment: o dispositivo, na nomenclatura 3GPP.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3 · BLOCO 04 · SEGURANÇA EMBARCADA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Criptografia, certificação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e regulação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Os dois aceleradores, a pilha PSA Crypto e seus drivers, onde as chaves moram, o que a Nordic certificou (PSA Certified, SESIP), o que a Europa passou a exigir (RED DA, EN 18031) e o estado da criptografia pós-quântica no NCS 3.4.0.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CC310 · CRACEN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6700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PSA Crypto 1.4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0168" y="4709160"/>
            <a:ext cx="1425549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PSA Certified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08597" y="4709160"/>
            <a:ext cx="1000353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EN 18031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91830" y="4709160"/>
            <a:ext cx="159562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ML-DSA · ML-KEM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Os aceleradores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Dois motores de gerações diferentes. O que cada um faz em hardware define o que é rápido, o que é software e o que não existe.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ACELERADORES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CryptoCell 310 contra CRACEN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capítulo CRYPTOCELL do datasheet do nRF9151 e do capítulo Security do nRF54LM20. Coluna do CRACEN conforme as tabelas Supported cryptographic operations do NCS.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79"/>
                <a:gridCol w="4389119"/>
                <a:gridCol w="4364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CryptoCell 310 (nRF91, nRF52840)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CRACEN (nRF54L)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TRNG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FIPS 140-2, AIS-31, NIST SP 800-90B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NIST SP 800-90B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Simétrica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AES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128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(ECB, CBC, CTR, CMAC, CCM); ChaCha20-Poly1305 128/256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AES 128/192/256 incl. GCM; ChaCha20-Poly1305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Hash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SHA-1, SHA-2 até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SHA-1, SHA-2 até 512, SHA-3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RSA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até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2048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bits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até 4096 bits (verificação)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Curvas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NIST até P-521, Koblitz, Brainpool 256,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Ed25519 e Curve25519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NIST, Brainpool, Ed25519/448, Curve25519/448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Chaves de hardware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KDR, KPRTL, sessão; KMU empurra direto para AES/ChaCha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KMU +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IKG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(chaves recriadas da semente)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Canal lateral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mascaramento contra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SPA/DPA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proteção contra timing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Pós-quântica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verificação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ML-DSA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só no NCS 3.4.99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Driver PSA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nrf_cc3xx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(binário fechado)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cracen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(aberto no NCS)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80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80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Nordic só dá suporte à API de alto nível do SDK; o registro do CryptoCell é documentado para referência, sem suporte.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ACELERADORES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pilha PSA Crypto no NCS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página Cryptographic drivers. Nenhum driver é chamado direto: a app fala PSA, e o Kconfig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PSA_WANT_ALG_*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diz o que compilar.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aplicação ou TF-M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psa_*()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PSA Crypto API 1.4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chave por id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0501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0269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7429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Oberon PSA Crypto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429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o núcleo: despacha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cada operação para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um driver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7539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driver de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nrf_cc3xx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(CC310/312)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ou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cracen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(nRF54L)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chaves no KMU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4577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4345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1505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fallback </a:t>
            </a:r>
            <a:r>
              <a:rPr sz="1400" b="1" i="0">
                <a:solidFill>
                  <a:srgbClr val="0B1B2B"/>
                </a:solidFill>
                <a:latin typeface="Consolas"/>
              </a:rPr>
              <a:t>nrf_oberon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505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software otimizado;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cobre o que o hardware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não faz (PQC, SHA-3 no CC310)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7459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acelera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4497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senão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Com TF-M, a mesma API vira um serviço: a chamada atravessa a fronteira e o driver roda no SPE. No nRF54H20, o IronSide Secure Enclave ocupa esse lugar.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ACELERADORES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Maturidade por implementação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Tabelas Security Feature Support da página de maturidade do NCS. Criptografia direta pela app é produto nos dois kits; como serviço do TF-M ainda é experimental.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74719"/>
                <a:gridCol w="1828799"/>
                <a:gridCol w="1828799"/>
                <a:gridCol w="1828799"/>
                <a:gridCol w="18041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Implementação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nRF9151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nRF54LM20B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nRF54L15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nRF5340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Oberon PSA Crypto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nrf_cc3xx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Oberon PSA Crypto · CRACEN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Oberon PSA Crypto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nrf_oberon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(software)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TF-M Crypto Service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Derivação da HUK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NSIB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ACELERADORES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Assinaturas: quem faz o quê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Tabelas Asymmetric signature algorithms por família. Tudo que é pós-quântico é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nrf_oberon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em software, nas duas famílias, no NCS 3.4.0.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59"/>
                <a:gridCol w="2560319"/>
                <a:gridCol w="2560319"/>
                <a:gridCol w="25356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Algoritmo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 · nrf_cc3xx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 · CRACEN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nrf_oberon (software)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ECDSA (P-256, P-384...)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 (224/256/384)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ECDSA determinístico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PureEdDSA (Ed25519)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RSA PKCS#1 v1.5 · PSS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 (≤ 2048)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HashEdDSA (Ed25519ph, Ed448ph)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ML-DSA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(FIPS 204)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 (verify no 3.4.99)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LMS · HSS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(SP 800-208)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XMSS · XMSS-MT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Onde as chaves moram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Chave legível pelo CPU fica exposta a qualquer falha de memória da aplicação. O KMU entrega a chave ao acelerador sem passar pelo barramento do CPU.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CHAVES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KMU: chave por referência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datasheet (KMU) e das páginas Key storage e KMU guides do NCS. A app usa a chave por referência; o material nunca fica em 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slots de chave em NVM, com atributos de uso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KMU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empurra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 chave para o registro do motor; nunca passa pelo barramento do CPU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nRF91: para AES e ChaCha do CC310; nRF54L: para o CRACEN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Como se provisiona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nRF54L: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nrfutil device x-provision-keys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um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keys.json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; o build gera um para o MCUboot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west flash --erase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reprovisiona; sem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--erase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a chave antiga fica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nRF91: a HUK é gerada no chip pelo TF-M ou pelo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provisioning_image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Na API PSA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PSA_KEY_LIFETIME_PERSISTENT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um id na faixa do KMU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kmu_cracen_usage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importa, usa, apaga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TF-M pode filtrar chaves do KMU e do IKG para só o SPE 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CHAVES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subsistema criptográfico por dentro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Dois caminhos até o motor: o do CPU, por onde passam dados e ids, e o do KMU, por onde passa a chave. Só a chave de sessão, escrita em claro pelo CPU, mistura os dois.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84832"/>
            <a:ext cx="2048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Cortex-M33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14016"/>
            <a:ext cx="20482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driver PSA (</a:t>
            </a:r>
            <a:r>
              <a:rPr sz="900" b="0" i="0">
                <a:solidFill>
                  <a:srgbClr val="93A6B8"/>
                </a:solidFill>
                <a:latin typeface="Consolas"/>
              </a:rPr>
              <a:t>nrf_cc3xx</a:t>
            </a:r>
            <a:r>
              <a:rPr sz="900" b="0" i="0">
                <a:solidFill>
                  <a:srgbClr val="93A6B8"/>
                </a:solidFill>
                <a:latin typeface="Segoe UI"/>
              </a:rPr>
              <a:t> ou </a:t>
            </a:r>
            <a:r>
              <a:rPr sz="900" b="0" i="0">
                <a:solidFill>
                  <a:srgbClr val="93A6B8"/>
                </a:solidFill>
                <a:latin typeface="Consolas"/>
              </a:rPr>
              <a:t>cracen</a:t>
            </a:r>
            <a:r>
              <a:rPr sz="900" b="0" i="0">
                <a:solidFill>
                  <a:srgbClr val="93A6B8"/>
                </a:solidFill>
                <a:latin typeface="Segoe UI"/>
              </a:rPr>
              <a:t>); escreve dados e </a:t>
            </a:r>
            <a:r>
              <a:rPr sz="900" b="1" i="0">
                <a:solidFill>
                  <a:srgbClr val="E8F1F8"/>
                </a:solidFill>
                <a:latin typeface="Segoe UI"/>
              </a:rPr>
              <a:t>ids</a:t>
            </a:r>
            <a:r>
              <a:rPr sz="900" b="0" i="0">
                <a:solidFill>
                  <a:srgbClr val="93A6B8"/>
                </a:solidFill>
                <a:latin typeface="Segoe UI"/>
              </a:rPr>
              <a:t> de chave; só uma chave de </a:t>
            </a:r>
            <a:r>
              <a:rPr sz="900" b="1" i="0">
                <a:solidFill>
                  <a:srgbClr val="E8F1F8"/>
                </a:solidFill>
                <a:latin typeface="Segoe UI"/>
              </a:rPr>
              <a:t>sessão</a:t>
            </a:r>
            <a:r>
              <a:rPr sz="900" b="0" i="0">
                <a:solidFill>
                  <a:srgbClr val="93A6B8"/>
                </a:solidFill>
                <a:latin typeface="Segoe UI"/>
              </a:rPr>
              <a:t> passa em claro por aqui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92424"/>
            <a:ext cx="2377440" cy="12344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502152"/>
            <a:ext cx="2048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KMU (slots em NVM)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831336"/>
            <a:ext cx="2048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chave gravada uma vez (</a:t>
            </a:r>
            <a:r>
              <a:rPr sz="900" b="0" i="0">
                <a:solidFill>
                  <a:srgbClr val="566577"/>
                </a:solidFill>
                <a:latin typeface="Consolas"/>
              </a:rPr>
              <a:t>nrfutil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, TF-M ou app); atributos de uso; </a:t>
            </a:r>
            <a:r>
              <a:rPr sz="900" b="1" i="0">
                <a:solidFill>
                  <a:srgbClr val="0B1B2B"/>
                </a:solidFill>
                <a:latin typeface="Segoe UI"/>
              </a:rPr>
              <a:t>push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direto para o registro do motor, sem passar pelo 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855464"/>
            <a:ext cx="2377440" cy="9601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965192"/>
            <a:ext cx="20482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KDR · KPRTL (CryptoCell)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294376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KDR carregada no boot pelo bootloader; KPRTL fixa no silício; mux </a:t>
            </a:r>
            <a:r>
              <a:rPr sz="850" b="0" i="0">
                <a:solidFill>
                  <a:srgbClr val="566577"/>
                </a:solidFill>
                <a:latin typeface="Consolas"/>
              </a:rPr>
              <a:t>HOST_CRYPTOKEY_SEL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6512" y="1883664"/>
            <a:ext cx="7381951" cy="383133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1975104"/>
            <a:ext cx="7016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acelerador · CryptoCell 310 (nRF91) ou CRACEN (nRF54L)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2340864"/>
            <a:ext cx="7016191" cy="502920"/>
          </a:xfrm>
          <a:prstGeom prst="roundRect">
            <a:avLst>
              <a:gd name="adj" fmla="val 15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9392" y="2340864"/>
            <a:ext cx="701619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8F1F8"/>
                </a:solidFill>
                <a:latin typeface="Segoe UI"/>
              </a:rPr>
              <a:t>registradores de chave · write-only · não se leem de volta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072384"/>
            <a:ext cx="129351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3163824"/>
            <a:ext cx="12935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93D0"/>
                </a:solidFill>
                <a:latin typeface="Segoe UI"/>
              </a:rPr>
              <a:t>AES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3666744"/>
            <a:ext cx="114720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ECB, CBC, CTR, CMAC, CCM; GCM só no CRACEN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26147" y="2843784"/>
            <a:ext cx="0" cy="210312"/>
          </a:xfrm>
          <a:prstGeom prst="line">
            <a:avLst/>
          </a:prstGeom>
          <a:ln w="15875">
            <a:solidFill>
              <a:srgbClr val="0022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710062" y="3072384"/>
            <a:ext cx="129351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0062" y="3163824"/>
            <a:ext cx="12935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93D0"/>
                </a:solidFill>
                <a:latin typeface="Segoe UI"/>
              </a:rPr>
              <a:t>ChaCha20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93D0"/>
                </a:solidFill>
                <a:latin typeface="Segoe UI"/>
              </a:rPr>
              <a:t>Poly1305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3214" y="3666744"/>
            <a:ext cx="114720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AEAD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56817" y="2843784"/>
            <a:ext cx="0" cy="210312"/>
          </a:xfrm>
          <a:prstGeom prst="line">
            <a:avLst/>
          </a:prstGeom>
          <a:ln w="15875">
            <a:solidFill>
              <a:srgbClr val="0022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140732" y="3072384"/>
            <a:ext cx="129351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0732" y="3163824"/>
            <a:ext cx="12935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93D0"/>
                </a:solidFill>
                <a:latin typeface="Segoe UI"/>
              </a:rPr>
              <a:t>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884" y="3666744"/>
            <a:ext cx="114720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SHA-1, SHA-2; SHA-3 e SHAKE só no CRACEN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87487" y="2843784"/>
            <a:ext cx="0" cy="210312"/>
          </a:xfrm>
          <a:prstGeom prst="line">
            <a:avLst/>
          </a:prstGeom>
          <a:ln w="15875">
            <a:solidFill>
              <a:srgbClr val="0022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571402" y="3072384"/>
            <a:ext cx="129351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1402" y="3163824"/>
            <a:ext cx="12935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93D0"/>
                </a:solidFill>
                <a:latin typeface="Segoe UI"/>
              </a:rPr>
              <a:t>PKA / ECC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4554" y="3666744"/>
            <a:ext cx="114720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ECDSA, EdDSA, ECDH, RSA; ML-DSA verify só no CRACEN (main)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18157" y="2843784"/>
            <a:ext cx="0" cy="210312"/>
          </a:xfrm>
          <a:prstGeom prst="line">
            <a:avLst/>
          </a:prstGeom>
          <a:ln w="15875">
            <a:solidFill>
              <a:srgbClr val="0022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002072" y="3072384"/>
            <a:ext cx="129351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02072" y="3163824"/>
            <a:ext cx="12935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93D0"/>
                </a:solidFill>
                <a:latin typeface="Segoe UI"/>
              </a:rPr>
              <a:t>TRNG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5224" y="3666744"/>
            <a:ext cx="114720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SP 800-90B; semente do PRNG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648827" y="2843784"/>
            <a:ext cx="0" cy="210312"/>
          </a:xfrm>
          <a:prstGeom prst="line">
            <a:avLst/>
          </a:prstGeom>
          <a:ln w="15875">
            <a:solidFill>
              <a:srgbClr val="0022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9392" y="4809744"/>
            <a:ext cx="7016191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CryptoCell 310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: o KMU empurra chave só para AES e ChaCha; a chave da PKA vai pela SRAM do motor; AES de 128 bits; KDR e KPRTL entram pelo mux de chave do AES.</a:t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CRACEN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: o KMU alimenta os motores simétricos e assimétricos; o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IKG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recria MKEK e MEXT da semente a cada ciclo; AES até 256 bits; motores mascarados contra DPA.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136392" y="2596896"/>
            <a:ext cx="914400" cy="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108960" y="2139696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93D0"/>
                </a:solidFill>
                <a:latin typeface="Segoe UI"/>
              </a:rPr>
              <a:t>dados, id da chave,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93D0"/>
                </a:solidFill>
                <a:latin typeface="Segoe UI"/>
              </a:rPr>
              <a:t>chave de sessão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3136392" y="2724912"/>
            <a:ext cx="914400" cy="1261872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108960" y="4078224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FA971"/>
                </a:solidFill>
                <a:latin typeface="Segoe UI"/>
              </a:rPr>
              <a:t>push da chave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FA971"/>
                </a:solidFill>
                <a:latin typeface="Segoe UI"/>
              </a:rPr>
              <a:t>(fora do CPU)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3136392" y="2798064"/>
            <a:ext cx="914400" cy="256032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3232" y="5989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A aplicação vê o id da chave e o resultado. O material da chave só existe no KMU e, durante a operação, no registro write-only do motor.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CHAVES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raízes de chave, chip a chip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doc Hardware unique key, do datasheet e do levantamento. A linha que mais muda entre as famílias é a do bootloader: no nRF54L a chave de verificação é revogável sem regravar nada.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79"/>
                <a:gridCol w="3291839"/>
                <a:gridCol w="2926079"/>
                <a:gridCol w="25356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Chave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 (CC310 + KMU)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 (CRACEN + KMU)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Para que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KDR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128 bits, carregada no CC310 no boot por bootloader imutável; retida até o reset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derivação genérica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hw_unique_key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KPRTL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 de RTL, igual por código de peça; travável até o reset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operações que não exigem unicidade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MKEK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KMU; entregue ao CC310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recriada pelo IKG a cada ciclo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cifra do ITS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MEXT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KMU; entregue ao CC310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recriada pelo IKG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Protected Storage, flash externa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identity key (IAK)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KMU, cifrada com a MKEK;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provisioning_image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  (sem sample)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assinar o token de atestação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 pública do MCUboot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embutida na imagem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slot do KMU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com revogação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verificar o firmware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chaves da app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ITS (cifrado pela MKEK)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KMU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persistent_key_usage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TLS na app, assinaturas próprias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credenciais de rede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no modem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%CMNG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TLS do modem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Certificação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 laboratório independente avalia o chip; o fabricante do produto herda a avaliação. É o mecanismo de herança do PSA Certified e do SESIP.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CERTIFICAÇÃO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PSA Certified: chip, software, dispositivo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whitepaper nwp_057 e da página Certifications da Nordic. A herança de certificados reduz o trabalho de quem certifica o produto final.</a:t>
            </a:r>
          </a:p>
        </p:txBody>
      </p:sp>
      <p:sp>
        <p:nvSpPr>
          <p:cNvPr id="9" name="Trapezoid 8"/>
          <p:cNvSpPr/>
          <p:nvPr/>
        </p:nvSpPr>
        <p:spPr>
          <a:xfrm>
            <a:off x="3673671" y="1975104"/>
            <a:ext cx="4844353" cy="1124712"/>
          </a:xfrm>
          <a:prstGeom prst="trapezoid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0871" y="2066544"/>
            <a:ext cx="39299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dispositivo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3751" y="2414016"/>
            <a:ext cx="356419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o produto do fabricante: herda as avaliações do chip e do software; aqui entram RED DA / EN 18031, ETSI EN 303 645, NIST IR 8259A</a:t>
            </a:r>
          </a:p>
        </p:txBody>
      </p:sp>
      <p:sp>
        <p:nvSpPr>
          <p:cNvPr id="12" name="Trapezoid 11"/>
          <p:cNvSpPr/>
          <p:nvPr/>
        </p:nvSpPr>
        <p:spPr>
          <a:xfrm>
            <a:off x="2193451" y="3191256"/>
            <a:ext cx="7804792" cy="1124712"/>
          </a:xfrm>
          <a:prstGeom prst="trapezoid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0651" y="3282696"/>
            <a:ext cx="6890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software de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531" y="3630168"/>
            <a:ext cx="65246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RTOS, TF-M, SDK: constrói sobre o PSA-RoT do chip</a:t>
            </a:r>
          </a:p>
        </p:txBody>
      </p:sp>
      <p:sp>
        <p:nvSpPr>
          <p:cNvPr id="15" name="Trapezoid 14"/>
          <p:cNvSpPr/>
          <p:nvPr/>
        </p:nvSpPr>
        <p:spPr>
          <a:xfrm>
            <a:off x="713232" y="4407408"/>
            <a:ext cx="10765231" cy="1124712"/>
          </a:xfrm>
          <a:prstGeom prst="trapezoid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498848"/>
            <a:ext cx="985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E8F1F8"/>
                </a:solidFill>
                <a:latin typeface="Segoe UI"/>
              </a:rPr>
              <a:t>chip com PSA-RoT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846320"/>
            <a:ext cx="948507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E8F1F8"/>
                </a:solidFill>
                <a:latin typeface="Segoe UI"/>
              </a:rPr>
              <a:t>avaliado por laboratório independente (Riscure): nRF52840 L1 · nRF5340, nRF9160, nRF9151 L2 · nRF54L15/L10 L3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87552" y="2340864"/>
            <a:ext cx="0" cy="3099816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8952" y="20208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A971"/>
                </a:solidFill>
                <a:latin typeface="Segoe UI"/>
              </a:rPr>
              <a:t>herança de certificados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71500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566577"/>
                </a:solidFill>
                <a:latin typeface="Segoe UI"/>
              </a:rPr>
              <a:t>Níveis PSA Certified: 1 = questionário + revisão de laboratório; 2 = avaliação de laboratório do RoT e ataques leves de hardware; 3 = inclui canal lateral e tamper. Certificação funcional das APIs à parte.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CERTIFICAÇÃO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a Nordic certificou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Combinação da tabela de recursos do nwp_057 com a página Certifications. Onde a fonte não diz, a célula diz que não consta; o material não infere nível.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3931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79"/>
                <a:gridCol w="2377439"/>
                <a:gridCol w="1097279"/>
                <a:gridCol w="1645919"/>
                <a:gridCol w="36329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Chip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PSA Certified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SESIP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Laboratório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Observação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nRF52840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Level 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Riscure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TrustZone; RoT por software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nRF5340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Level 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Riscure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nRF9160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Level 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Riscure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listado em psacertified.org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nRF9151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Level 2 (alvo declarado)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tabela do nwp_057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nRF54L15 · L10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Level 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Riscure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inclui canal lateral e tamper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nRF54LM20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consta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kit do curso ainda não está na tabela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nRF54H20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listado na série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IronSide Secure Enclave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CERTIFICAÇÃO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Certificação funcional: as APIs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página PSA Certified Security Framework overview do NCS.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PSA Certified API</a:t>
            </a:r>
            <a:r>
              <a:rPr sz="1700" b="0">
                <a:solidFill>
                  <a:srgbClr val="0B1B2B"/>
                </a:solidFill>
                <a:latin typeface="Segoe UI"/>
              </a:rPr>
              <a:t>: uma certificação à parte, de conformidade de interface, para que o código da aplicação seja portável entre chips certificados.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que o NCS 3.4.0 implementa</a:t>
            </a:r>
            <a:r>
              <a:rPr sz="1700" b="0">
                <a:solidFill>
                  <a:srgbClr val="0B1B2B"/>
                </a:solidFill>
                <a:latin typeface="Segoe UI"/>
              </a:rPr>
              <a:t>: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PSA Crypto API </a:t>
            </a:r>
            <a:r>
              <a:rPr sz="1400" b="1">
                <a:solidFill>
                  <a:srgbClr val="566577"/>
                </a:solidFill>
                <a:latin typeface="Segoe UI"/>
              </a:rPr>
              <a:t>1.4</a:t>
            </a:r>
            <a:r>
              <a:rPr sz="1400" b="0">
                <a:solidFill>
                  <a:srgbClr val="566577"/>
                </a:solidFill>
                <a:latin typeface="Segoe UI"/>
              </a:rPr>
              <a:t> (com a extensão PQC), pelo Oberon PSA Crypto ou pelo TF-M Crypto Service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PSA Storage API </a:t>
            </a:r>
            <a:r>
              <a:rPr sz="1400" b="1">
                <a:solidFill>
                  <a:srgbClr val="566577"/>
                </a:solidFill>
                <a:latin typeface="Segoe UI"/>
              </a:rPr>
              <a:t>1.0</a:t>
            </a:r>
            <a:r>
              <a:rPr sz="1400" b="0">
                <a:solidFill>
                  <a:srgbClr val="566577"/>
                </a:solidFill>
                <a:latin typeface="Segoe UI"/>
              </a:rPr>
              <a:t>: ITS e PS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PSA Attestation API </a:t>
            </a:r>
            <a:r>
              <a:rPr sz="1400" b="1">
                <a:solidFill>
                  <a:srgbClr val="566577"/>
                </a:solidFill>
                <a:latin typeface="Segoe UI"/>
              </a:rPr>
              <a:t>1.0</a:t>
            </a:r>
            <a:r>
              <a:rPr sz="1400" b="0">
                <a:solidFill>
                  <a:srgbClr val="566577"/>
                </a:solidFill>
                <a:latin typeface="Segoe UI"/>
              </a:rPr>
              <a:t>: Initial Attestation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PSA Firmware Update: </a:t>
            </a:r>
            <a:r>
              <a:rPr sz="1400" b="1">
                <a:solidFill>
                  <a:srgbClr val="566577"/>
                </a:solidFill>
                <a:latin typeface="Segoe UI"/>
              </a:rPr>
              <a:t>não</a:t>
            </a:r>
            <a:r>
              <a:rPr sz="1400" b="0">
                <a:solidFill>
                  <a:srgbClr val="566577"/>
                </a:solidFill>
                <a:latin typeface="Segoe UI"/>
              </a:rPr>
              <a:t>; o NCS usa MCUboot e NSIB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Testes</a:t>
            </a:r>
            <a:r>
              <a:rPr sz="1700" b="0">
                <a:solidFill>
                  <a:srgbClr val="0B1B2B"/>
                </a:solidFill>
                <a:latin typeface="Segoe UI"/>
              </a:rPr>
              <a:t>: </a:t>
            </a:r>
            <a:r>
              <a:rPr sz="1700" b="0">
                <a:solidFill>
                  <a:srgbClr val="0B1B2B"/>
                </a:solidFill>
                <a:latin typeface="Consolas"/>
              </a:rPr>
              <a:t>psa-arch-tests</a:t>
            </a:r>
            <a:r>
              <a:rPr sz="1700" b="0">
                <a:solidFill>
                  <a:srgbClr val="0B1B2B"/>
                </a:solidFill>
                <a:latin typeface="Segoe UI"/>
              </a:rPr>
              <a:t> e os testes de regressão do TF-M rodam no NCS (</a:t>
            </a:r>
            <a:r>
              <a:rPr sz="1700" b="0">
                <a:solidFill>
                  <a:srgbClr val="0B1B2B"/>
                </a:solidFill>
                <a:latin typeface="Consolas"/>
              </a:rPr>
              <a:t>zephyr/samples/tfm_integration</a:t>
            </a:r>
            <a:r>
              <a:rPr sz="1700" b="0">
                <a:solidFill>
                  <a:srgbClr val="0B1B2B"/>
                </a:solidFill>
                <a:latin typeface="Segoe UI"/>
              </a:rPr>
              <a:t>).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Por que importa</a:t>
            </a:r>
            <a:r>
              <a:rPr sz="1700" b="0">
                <a:solidFill>
                  <a:srgbClr val="0B1B2B"/>
                </a:solidFill>
                <a:latin typeface="Segoe UI"/>
              </a:rPr>
              <a:t>: o mesmo </a:t>
            </a:r>
            <a:r>
              <a:rPr sz="1700" b="0">
                <a:solidFill>
                  <a:srgbClr val="0B1B2B"/>
                </a:solidFill>
                <a:latin typeface="Consolas"/>
              </a:rPr>
              <a:t>psa_sign_message()</a:t>
            </a:r>
            <a:r>
              <a:rPr sz="1700" b="0">
                <a:solidFill>
                  <a:srgbClr val="0B1B2B"/>
                </a:solidFill>
                <a:latin typeface="Segoe UI"/>
              </a:rPr>
              <a:t> roda no nRF91 com CC310, no nRF54L com CRACEN e em software; muda o Kconfig, não o código.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Regulação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Desde agosto de 2025, vender rádio conectado na Europa exige cibersegurança demonstrável. A Nordic mapeia isso para o que o chip e o SDK já fazem.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REGULAÇÃO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RED Delegated Act e EN 18031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página Security / Regulations da Nordic, que também publica um guia de cliente para o RED 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RED</a:t>
            </a:r>
            <a:r>
              <a:rPr sz="1700" b="0">
                <a:solidFill>
                  <a:srgbClr val="0B1B2B"/>
                </a:solidFill>
                <a:latin typeface="Segoe UI"/>
              </a:rPr>
              <a:t> (2014/53/EU): a diretiva de equipamentos de rádio; até 2025 era EMC, segurança elétrica, espectro.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RED Delegated Act</a:t>
            </a:r>
            <a:r>
              <a:rPr sz="1700" b="0">
                <a:solidFill>
                  <a:srgbClr val="0B1B2B"/>
                </a:solidFill>
                <a:latin typeface="Segoe UI"/>
              </a:rPr>
              <a:t> (EU) 2022/30: ativa três requisitos essenciais para todo produto colocado no mercado da UE </a:t>
            </a:r>
            <a:r>
              <a:rPr sz="1700" b="1">
                <a:solidFill>
                  <a:srgbClr val="0093D0"/>
                </a:solidFill>
                <a:latin typeface="Segoe UI"/>
              </a:rPr>
              <a:t>desde 1 de agosto de 2025</a:t>
            </a:r>
            <a:r>
              <a:rPr sz="1700" b="0">
                <a:solidFill>
                  <a:srgbClr val="0B1B2B"/>
                </a:solidFill>
                <a:latin typeface="Segoe UI"/>
              </a:rPr>
              <a:t>: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Artigo 3.3(d): proteção da </a:t>
            </a:r>
            <a:r>
              <a:rPr sz="1400" b="1">
                <a:solidFill>
                  <a:srgbClr val="566577"/>
                </a:solidFill>
                <a:latin typeface="Segoe UI"/>
              </a:rPr>
              <a:t>rede</a:t>
            </a:r>
            <a:r>
              <a:rPr sz="1400" b="0">
                <a:solidFill>
                  <a:srgbClr val="566577"/>
                </a:solidFill>
                <a:latin typeface="Segoe UI"/>
              </a:rPr>
              <a:t> contra dano ou uso indevido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Artigo 3.3(e): proteção de </a:t>
            </a:r>
            <a:r>
              <a:rPr sz="1400" b="1">
                <a:solidFill>
                  <a:srgbClr val="566577"/>
                </a:solidFill>
                <a:latin typeface="Segoe UI"/>
              </a:rPr>
              <a:t>dados pessoais</a:t>
            </a:r>
            <a:r>
              <a:rPr sz="1400" b="0">
                <a:solidFill>
                  <a:srgbClr val="566577"/>
                </a:solidFill>
                <a:latin typeface="Segoe UI"/>
              </a:rPr>
              <a:t> e privacidade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Artigo 3.3(f): proteção contra </a:t>
            </a:r>
            <a:r>
              <a:rPr sz="1400" b="1">
                <a:solidFill>
                  <a:srgbClr val="566577"/>
                </a:solidFill>
                <a:latin typeface="Segoe UI"/>
              </a:rPr>
              <a:t>fraude</a:t>
            </a:r>
            <a:r>
              <a:rPr sz="1400" b="0">
                <a:solidFill>
                  <a:srgbClr val="566577"/>
                </a:solidFill>
                <a:latin typeface="Segoe UI"/>
              </a:rPr>
              <a:t> e transações não autorizadas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EN 18031</a:t>
            </a:r>
            <a:r>
              <a:rPr sz="1700" b="0">
                <a:solidFill>
                  <a:srgbClr val="0B1B2B"/>
                </a:solidFill>
                <a:latin typeface="Segoe UI"/>
              </a:rPr>
              <a:t>, partes 1, 2 e 3: uma norma por artigo; reconhecida como harmonizada </a:t>
            </a:r>
            <a:r>
              <a:rPr sz="1700" b="1">
                <a:solidFill>
                  <a:srgbClr val="0093D0"/>
                </a:solidFill>
                <a:latin typeface="Segoe UI"/>
              </a:rPr>
              <a:t>com restrições</a:t>
            </a:r>
            <a:r>
              <a:rPr sz="1700" b="0">
                <a:solidFill>
                  <a:srgbClr val="0B1B2B"/>
                </a:solidFill>
                <a:latin typeface="Segoe UI"/>
              </a:rPr>
              <a:t> em janeiro de 2025.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Dois caminhos</a:t>
            </a:r>
            <a:r>
              <a:rPr sz="1700" b="0">
                <a:solidFill>
                  <a:srgbClr val="0B1B2B"/>
                </a:solidFill>
                <a:latin typeface="Segoe UI"/>
              </a:rPr>
              <a:t>: autoavaliação documentada contra a norma, ou organismo notificado; a documentação fica disponível por 10 anos após a última venda.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Alinhamentos</a:t>
            </a:r>
            <a:r>
              <a:rPr sz="1700" b="0">
                <a:solidFill>
                  <a:srgbClr val="0B1B2B"/>
                </a:solidFill>
                <a:latin typeface="Segoe UI"/>
              </a:rPr>
              <a:t>: PSA Certified mapeia para ETSI EN 303 645 e NIST IR 8259A; a Nordic trabalha com laboratórios para que PSA, SESIP e EN 18031 do chip sirvam de evidência para o produto.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REGULAÇÃO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 requisito ao recurso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coluna da esquerda resume o que EN 18031, ETSI EN 303 645 e NIST IR 8259A pedem em comum; a do meio aponta o mecanismo dos blocos anteriores. O mapeamento formal é do fabricante, não do chip.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39"/>
                <a:gridCol w="4937759"/>
                <a:gridCol w="25356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Exigência típica das normas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a plataforma oferece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Onde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dados em trânsito cifrados e autenticados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TLS/DTLS 1.2 no modem; Mbed TLS/PSA na app; BLE LE Secure Connections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 03 §6; módulo 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atualização de firmware íntegra e autêntica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MCUboot e NSIB com assinatura, anti-rollback; modem só aceita firmware Nordic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 01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credenciais em armazenamento seguro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credential store do modem (write-only), ITS/PS, KMU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 03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identidade única por dispositivo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identidade Nordic de fábrica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%ATTESTTOKEN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), IAK, UUID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 03 §5–6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controle de acesso a interfaces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APPROTECT, SECUREAPPROTECT, SMP autenticado por pareamento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 01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segredo compartilhado de fábrica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HUK gerada no chip;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%KEYGEN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gera a chave no modem; provisionamento pela nuvem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 03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dispositivo comprometido não compromete a frota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 por dispositivo, revogação de chave de boot (nRF54L)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 01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algoritmos fracos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SHA-1 marcado como fraco nas tabelas; RSA ≥ 2048; curvas P-256+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este bloco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gestão de vulnerabilidades e componentes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SBOM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por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west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portal de divulgação,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PSIRT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bug bounty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página Regulations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REGULAÇÃO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Cadeia de suprimento de software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página Regulations: secure by design e secure by default seguindo o framework PSA, com o SDK entregando as evidências que ele consegue entregar.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SBOM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west ncs-sbom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gera a lista de componentes e licenças do build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inventário de software que a conformidade pede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inclui os binários fechados (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nrf_cc3xx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nrf_modem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Vulnerabilidades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portal de divulgação 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PSIRT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da Nordic: da análise do relato à comunicação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programa de bug bounty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avisos de segurança por produto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fica com o fabricante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análise de ameaças e objetivos de segurança do produto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chaves próprias, provisionamento, política de atualização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 documentação de conformidade, por 10 anos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Criptografia pós-quântica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 computador quântico grande quebra RSA e curvas elípticas. Os algoritmos novos existem; o que está no NCS hoje é software e experimental.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PQC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problema e os padrões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65231" cy="4553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risco</a:t>
            </a:r>
            <a:r>
              <a:rPr sz="1700" b="0">
                <a:solidFill>
                  <a:srgbClr val="0B1B2B"/>
                </a:solidFill>
                <a:latin typeface="Segoe UI"/>
              </a:rPr>
              <a:t>: o algoritmo de Shor resolve fatoração e logaritmo discreto; RSA, ECDSA, EdDSA e ECDH caem juntos. AES e SHA só perdem margem (Grover).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Colher agora, decifrar depois</a:t>
            </a:r>
            <a:r>
              <a:rPr sz="1700" b="0">
                <a:solidFill>
                  <a:srgbClr val="0B1B2B"/>
                </a:solidFill>
                <a:latin typeface="Segoe UI"/>
              </a:rPr>
              <a:t>: tráfego gravado hoje pode ser aberto quando a máquina existir; firmware assinado hoje pode ser forjado.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Os padrões do NIST (agosto de 2024)</a:t>
            </a:r>
            <a:r>
              <a:rPr sz="1700" b="0">
                <a:solidFill>
                  <a:srgbClr val="0B1B2B"/>
                </a:solidFill>
                <a:latin typeface="Segoe UI"/>
              </a:rPr>
              <a:t>: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1">
                <a:solidFill>
                  <a:srgbClr val="566577"/>
                </a:solidFill>
                <a:latin typeface="Segoe UI"/>
              </a:rPr>
              <a:t>ML-KEM</a:t>
            </a:r>
            <a:r>
              <a:rPr sz="1400" b="0">
                <a:solidFill>
                  <a:srgbClr val="566577"/>
                </a:solidFill>
                <a:latin typeface="Segoe UI"/>
              </a:rPr>
              <a:t>, FIPS 203: troca de chave por reticulados (ex-Kyber); 512, 768, 1024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1">
                <a:solidFill>
                  <a:srgbClr val="566577"/>
                </a:solidFill>
                <a:latin typeface="Segoe UI"/>
              </a:rPr>
              <a:t>ML-DSA</a:t>
            </a:r>
            <a:r>
              <a:rPr sz="1400" b="0">
                <a:solidFill>
                  <a:srgbClr val="566577"/>
                </a:solidFill>
                <a:latin typeface="Segoe UI"/>
              </a:rPr>
              <a:t>, FIPS 204: assinatura por reticulados (ex-Dilithium); 44, 65, 87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1">
                <a:solidFill>
                  <a:srgbClr val="566577"/>
                </a:solidFill>
                <a:latin typeface="Segoe UI"/>
              </a:rPr>
              <a:t>SLH-DSA</a:t>
            </a:r>
            <a:r>
              <a:rPr sz="1400" b="0">
                <a:solidFill>
                  <a:srgbClr val="566577"/>
                </a:solidFill>
                <a:latin typeface="Segoe UI"/>
              </a:rPr>
              <a:t>, FIPS 205: assinatura por hash sem estado (ex-SPHINCS+)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1">
                <a:solidFill>
                  <a:srgbClr val="566577"/>
                </a:solidFill>
                <a:latin typeface="Segoe UI"/>
              </a:rPr>
              <a:t>LMS/HSS e XMSS</a:t>
            </a:r>
            <a:r>
              <a:rPr sz="1400" b="0">
                <a:solidFill>
                  <a:srgbClr val="566577"/>
                </a:solidFill>
                <a:latin typeface="Segoe UI"/>
              </a:rPr>
              <a:t>, SP 800-208: assinatura por hash </a:t>
            </a:r>
            <a:r>
              <a:rPr sz="1400" b="1">
                <a:solidFill>
                  <a:srgbClr val="566577"/>
                </a:solidFill>
                <a:latin typeface="Segoe UI"/>
              </a:rPr>
              <a:t>com estado</a:t>
            </a:r>
            <a:r>
              <a:rPr sz="1400" b="0">
                <a:solidFill>
                  <a:srgbClr val="566577"/>
                </a:solidFill>
                <a:latin typeface="Segoe UI"/>
              </a:rPr>
              <a:t>; a escolha típica para boot seguro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custo</a:t>
            </a:r>
            <a:r>
              <a:rPr sz="1700" b="0">
                <a:solidFill>
                  <a:srgbClr val="0B1B2B"/>
                </a:solidFill>
                <a:latin typeface="Segoe UI"/>
              </a:rPr>
              <a:t>: chaves e assinaturas de kB, não de dezenas de bytes; verificação mais pesada; estado a guardar nos esquemas de hash.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PQC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cai e o que fica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Mecanismos dos blocos 01 a 03 pelo algoritmo que usam. A última coluna é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main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fora da versão do curso: só a verificação ML-DSA ganhou hardware. A assinatura do firmware do modem não tem algoritmo publicado.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2194559"/>
                <a:gridCol w="2926079"/>
                <a:gridCol w="32671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Mecanismo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Algoritmo hoje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Sob computador quântico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 main do NCS (3.4.99)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Assinatura do MCUboot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ECDSA P-256 · ED25519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cai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imagem forjável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PQC; várias chaves clássicas, ECIES-P-256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Assinatura do NSIB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ECDSA P-256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cai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mudança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Imagem cifrada (MCUboot)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 em ECIES-X25519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cai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chave AES recuperável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ECIES-P-256, HMAC-SHA512; clássico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TLS/DTLS do modem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ECDHE + ECDSA/RSA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cai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gravado hoje, aberto depois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mudança; suites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PSK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resistem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Identidade, atestação, JWT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ECDSA secp256r1, COSE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cai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identidade forjável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mudança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Pareamento BLE · WPA3-SAE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ECDH P-256 · curva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cai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(WPA2-PSK fica)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mudança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LTE · ITS · PS · HUK · KMU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AKA, AES-CCM, CMAC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fica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AES-128 do CC310 vale 64 bits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Verificação ML-DSA na app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Oberon, software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resiste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CRACEN verifica ML-DSA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(nRF54L); sample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ml_dsa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PQC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Tamanhos: ED25519 contra ML-DSA-65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Uma assinatura ML-DSA-65 tem 3,3 KB: um décimo de um TF-M mínimo, e em BLE uma dúzia de pacotes só para a assinatura. O custo aparece antes em memória e tráfego do que em tempo de CPU.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174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Ed25519 · chave pública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2112" y="2180844"/>
            <a:ext cx="54864" cy="457200"/>
          </a:xfrm>
          <a:prstGeom prst="roundRect">
            <a:avLst>
              <a:gd name="adj" fmla="val 4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22174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Consolas"/>
              </a:rPr>
              <a:t>32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2448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66577"/>
                </a:solidFill>
                <a:latin typeface="Segoe UI"/>
              </a:rPr>
              <a:t>RFC 8032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861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Ed25519 · assinatura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2112" y="3049524"/>
            <a:ext cx="103867" cy="457200"/>
          </a:xfrm>
          <a:prstGeom prst="roundRect">
            <a:avLst>
              <a:gd name="adj" fmla="val 4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3139" y="30861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Consolas"/>
              </a:rPr>
              <a:t>64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579" y="31135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66577"/>
                </a:solidFill>
                <a:latin typeface="Segoe UI"/>
              </a:rPr>
              <a:t>RFC 8032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547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ML-DSA-65 · chave pública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2112" y="3918204"/>
            <a:ext cx="3167956" cy="457200"/>
          </a:xfrm>
          <a:prstGeom prst="roundRect">
            <a:avLst>
              <a:gd name="adj" fmla="val 4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7228" y="39547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Consolas"/>
              </a:rPr>
              <a:t>1 952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1668" y="39822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FA971"/>
                </a:solidFill>
                <a:latin typeface="Segoe UI"/>
              </a:rPr>
              <a:t>61× a chave Ed25519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8234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ML-DSA-65 · assinatura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82112" y="4786884"/>
            <a:ext cx="5370271" cy="457200"/>
          </a:xfrm>
          <a:prstGeom prst="roundRect">
            <a:avLst>
              <a:gd name="adj" fmla="val 4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9543" y="48234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Consolas"/>
              </a:rPr>
              <a:t>3 309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3983" y="48508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FA971"/>
                </a:solidFill>
                <a:latin typeface="Segoe UI"/>
              </a:rPr>
              <a:t>52× a assinatura Ed25519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67385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66577"/>
                </a:solidFill>
                <a:latin typeface="Segoe UI"/>
              </a:rPr>
              <a:t>Escala linear. Números do sample ml_dsa do NCS 3.4.99 (vetor NIST ACVP) e do RFC 8032; ML-DSA-65 é o nível de segurança 3 do FIPS 204.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PQC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PQC no NCS 3.4.0, chip a chip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Kconfig.psa.nordic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da árvore instalada e das tabelas do NCS. O que a Nordic declara: Experimental e "PSA Crypto API 1.4 PQC Extension"; nada além disso sobre roadmap.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19"/>
                <a:gridCol w="3108959"/>
                <a:gridCol w="1371599"/>
                <a:gridCol w="1737359"/>
                <a:gridCol w="24441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Algoritmo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Kconfig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nRF9151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nRF54LM20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ML-DSA 44/65/87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PSA_WANT_ALG_ML_DSA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PSA_WANT_ML_DSA_KEY_SIZE_65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nrf_oberon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em software: sign e verify de mensagem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Hash ML-DSA · determinístico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PSA_WANT_ALG_HASH_ML_DSA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..._DETERMINISTIC_ML_DSA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software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ML-KEM 512/768/1024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PSA_WANT_ALG_ML_KEM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PSA_WANT_ML_KEM_KEY_SIZE_768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software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LMS · HSS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PSA_WANT_ALG_LMS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PSA_WANT_ALG_HSS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software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XMSS · XMSS-MT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PSA_WANT_ALG_XMSS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..._XMSS_MT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software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ML-DSA no CRACEN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só no 3.4.99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verify apenas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hardware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Sample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crypto/ml_dsa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lista nRF91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no 3.4.99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verifica ML-DSA-65 de um vetor NIST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MCUboot com assinatura PQC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há no NCS; o BL1 do TF-M upstream usa LMS, a Nordic não usa BL1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TLS pós-quântico no modem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anunciado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PQC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dá para fazer hoje, e o que não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hoje, no NCS 3.4.0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verificar e assinar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ML-DSA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na aplicação, em software, nos dois kits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encapsular chave com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ML-KEM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entre dois dispositivos ou com um servidor próprio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medir o custo real: FLASH, RAM, tempo por verificação, contra Ed25519 no mesmo firmware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carregar chave pública ML-DSA por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psa_import_key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 usar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psa_verify_message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como no sample do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main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combinar: assinatura clássica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pós-quântica na mesma imagem (híbrido) em camada de aplicação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ainda não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boot seguro com assinatura pós-quântica: MCUboot e NSIB só ECDSA, ED25519, RSA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aceleração em hardware no 3.4.0; verificação no CRACEN chega no 3.4.99, só verify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TLS pós-quântico no modem do nRF91 ou no Mbed TLS do NCS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chave ML-DSA no KMU: os slots são para os tipos que o motor conhece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qualquer promessa de data: a Nordic marca Experimental e para aí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A migração que a Nordic já entregou é a da API: quem fala PSA troca o algoritmo por Kconfig quando o hardware chegar.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04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CC310 (nRF91) e CRACEN (nRF54L) atrás da mesma API: PSA Crypto 1.4 pelo Oberon, com </a:t>
            </a:r>
            <a:r>
              <a:rPr sz="1500" b="0">
                <a:solidFill>
                  <a:srgbClr val="93A6B8"/>
                </a:solidFill>
                <a:latin typeface="Consolas"/>
              </a:rPr>
              <a:t>nrf_oberon</a:t>
            </a:r>
            <a:r>
              <a:rPr sz="1500" b="0">
                <a:solidFill>
                  <a:srgbClr val="93A6B8"/>
                </a:solidFill>
                <a:latin typeface="Segoe UI"/>
              </a:rPr>
              <a:t> cobrindo em software o que falta.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KMU nos dois: a chave vai do cofre ao motor sem passar pelo CPU; no nRF54L até a chave do bootloader mora lá.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Certificação: Level 2 no nRF91, Level 3 no nRF54L15; o produto herda. RED DA e EN 18031 valem desde agosto de 2025.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PQC: ML-DSA, ML-KEM, LMS e XMSS em software, Experimental; boot e TLS pós-quânticos ainda não.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PSA Crypto API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no NCS 3.4.0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Level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PSA Certified do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nRF54L15/L10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2025-08-01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RED DA em vigor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na 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3 309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uma assinatura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ML-DSA-65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A PSA Crypto API já aceita ML-DSA e ML-KEM; aceleração em hardware e boot pós-quântico ainda não existem no NCS 3.4.0.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