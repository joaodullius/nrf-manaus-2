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MCUboot — O bootloader do Zephyr.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APPROTECT — Access Port Protection: bloqueia o debugger; só um ERASEALL reabre.</a:t>
            </a:r>
          </a:p>
          <a:p>
            <a:r>
              <a:t>FOTA — Firmware Over The Air: DFU por rádio.</a:t>
            </a:r>
          </a:p>
          <a:p>
            <a:r>
              <a:t>BLE — Bluetooth Low Energy: o rádio de 2,4 GHz do próprio nRF54LM20.</a:t>
            </a:r>
          </a:p>
          <a:p>
            <a:r>
              <a:t>NCS — nRF Connect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PRoT — Platform Root of Trust: a raiz de confiança da plataforma (boot imutável, chaves de hardware, serviços seguros), na terminologia PSA.</a:t>
            </a:r>
          </a:p>
          <a:p>
            <a:r>
              <a:t>ARoT — Application Root of Trust: serviços de confiança específicos da aplicação, isolados dentro do TF-M (as partições custom).</a:t>
            </a:r>
          </a:p>
          <a:p>
            <a:r>
              <a:t>fprotect — Proteção de escrita de flash por hardware, usada pelo bootloader para se travar.</a:t>
            </a:r>
          </a:p>
          <a:p>
            <a:r>
              <a:t>BOOTCONF — Registro do UICR do nRF54L que trava a região de boot antes de o CPU sair do reset.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OTP — One-Time Programmable: memória gravada de fábrica; guarda o MAC do nRF7002.</a:t>
            </a:r>
          </a:p>
          <a:p>
            <a:r>
              <a:t>APPROTECT — Access Port Protection: bloqueia o debugger; só um ERASEALL reabre.</a:t>
            </a:r>
          </a:p>
          <a:p>
            <a:r>
              <a:t>ECDSA — Assinatura por curva elíptica (P-256 no NSIB e no MCUboot do nRF91).</a:t>
            </a:r>
          </a:p>
          <a:p>
            <a:r>
              <a:t>ED25519 — Assinatura EdDSA na curva 25519: padrão do MCUboot no nRF54L, verificada pelo CRACEN.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TRNG — True Random Number Generator: gerador físico de aleatoriedade (SP 800-90B).</a:t>
            </a:r>
          </a:p>
          <a:p>
            <a:r>
              <a:t>SP — Service Period: a janela em que a estação TWT está acordada e o AP a atende.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TrustZone — A separação de hardware entre mundo seguro e não seguro no Cortex-M33.</a:t>
            </a:r>
          </a:p>
          <a:p>
            <a:r>
              <a:t>PSA — Platform Security Architecture: as APIs de criptografia e armazenamento seguro da Arm; PSA ITS é o armazenamento interno confiável.</a:t>
            </a:r>
          </a:p>
          <a:p>
            <a:r>
              <a:t>PSA Certified — O programa de certificação da Arm: níveis 1 a 3 para o chip, e certificação funcional das APIs.</a:t>
            </a:r>
          </a:p>
          <a:p>
            <a:r>
              <a:t>CC310 — Arm CryptoCell 310: o acelerador dos nRF52840 e nRF91 (AES-128, SHA-256, RSA 2048, ECC até 521 bits).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MCUboot — O bootloader do Zephyr.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fprotect — Proteção de escrita de flash por hardware, usada pelo bootloader para se travar.</a:t>
            </a:r>
          </a:p>
          <a:p>
            <a:r>
              <a:t>OTP — One-Time Programmable: memória gravada de fábrica; guarda o MAC do nRF7002.</a:t>
            </a:r>
          </a:p>
          <a:p>
            <a:r>
              <a:t>UICR — User Information Configuration Registers: a região de configuração do chip (APPROTECT, BOOTCONF, OTP, chaves de RoT).</a:t>
            </a:r>
          </a:p>
          <a:p>
            <a:r>
              <a:t>B0 — O nome antigo do NSIB nas partições (b0_partition).</a:t>
            </a:r>
          </a:p>
          <a:p>
            <a:r>
              <a:t>ECDSA — Assinatura por curva elíptica (P-256 no NSIB e no MCUboot do nRF91).</a:t>
            </a:r>
          </a:p>
          <a:p>
            <a:r>
              <a:t>S0/S1 — Os dois slots do segundo estágio (MCUboot) que o NSIB escolhe pela versão.</a:t>
            </a:r>
          </a:p>
          <a:p>
            <a:r>
              <a:t>swap — Modo do MCUboot que troca as imagens dos dois slots e pode reverter se a nova não confirmar.</a:t>
            </a:r>
          </a:p>
          <a:p>
            <a:r>
              <a:t>direct-xip — Modo do MCUboot que executa a imagem no próprio slot, sem swap.</a:t>
            </a:r>
          </a:p>
          <a:p>
            <a:r>
              <a:t>TF-M — Trusted Firmware-M: o firmware seguro (TrustZone) dos alvos /ns.</a:t>
            </a:r>
          </a:p>
          <a:p>
            <a:r>
              <a:t>SPU — System Protection Unit: no nRF91 e nRF53, quem marca memória, periféricos, pinos e DPPI como seguros ou não; controla o IDAU.</a:t>
            </a:r>
          </a:p>
          <a:p>
            <a:r>
              <a:t>NSPE — Non-Secure Processing Environment: o mundo não seguro (a aplicação Zephyr).</a:t>
            </a:r>
          </a:p>
          <a:p>
            <a:r>
              <a:t>BOOTCONF — Registro do UICR do nRF54L que trava a região de boot antes de o CPU sair do reset.</a:t>
            </a:r>
          </a:p>
          <a:p>
            <a:r>
              <a:t>ED25519 — Assinatura EdDSA na curva 25519: padrão do MCUboot no nRF54L, verificada pelo CRACEN.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ECIES — Esquema de cifra híbrida com curva elíptica; o MCUboot usa ECIES-X25519 para a chave da imagem cifrada.</a:t>
            </a:r>
          </a:p>
          <a:p>
            <a:r>
              <a:t>MPC — Memory Protection Controller: no nRF54L, quem impõe os atributos de segurança da memória (com a SAU).</a:t>
            </a:r>
          </a:p>
          <a:p>
            <a:r>
              <a:t>SAU — Security Attribution Unit: a unidade do Cortex-M33 que atribui segurança a regiões de endereço; no nRF91 fica desligada.</a:t>
            </a:r>
          </a:p>
          <a:p>
            <a:r>
              <a:t>DFU — Device Firmware Update: atualização de firmware, por cabo ou por rádio.</a:t>
            </a:r>
          </a:p>
          <a:p>
            <a:r>
              <a:t>NCS — nRF Connect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MCUboot — O bootloader do Zephyr.</a:t>
            </a:r>
          </a:p>
          <a:p>
            <a:r>
              <a:t>fprotect — Proteção de escrita de flash por hardware, usada pelo bootloader para se travar.</a:t>
            </a:r>
          </a:p>
          <a:p>
            <a:r>
              <a:t>ACL — Access Control List: a proteção de flash do nRF52840 (sem KMU).</a:t>
            </a:r>
          </a:p>
          <a:p>
            <a:r>
              <a:t>UICR — User Information Configuration Registers: a região de configuração do chip (APPROTECT, BOOTCONF, OTP, chaves de RoT).</a:t>
            </a:r>
          </a:p>
          <a:p>
            <a:r>
              <a:t>BOOTCONF — Registro do UICR do nRF54L que trava a região de boot antes de o CPU sair do reset.</a:t>
            </a:r>
          </a:p>
          <a:p>
            <a:r>
              <a:t>S0/S1 — Os dois slots do segundo estágio (MCUboot) que o NSIB escolhe pela versão.</a:t>
            </a:r>
          </a:p>
          <a:p>
            <a:r>
              <a:t>KMU — Key Management Unit: slots de chave em NVM que só o acelerador lê; a aplicação usa a chave por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DFU — Device Firmware Update: atualização de firmware, por cabo ou por rádio.</a:t>
            </a:r>
          </a:p>
          <a:p>
            <a:r>
              <a:t>SMP — Simple Management Protocol: o protocolo do MCUmgr, por BLE, UART, USB ou shell.</a:t>
            </a:r>
          </a:p>
          <a:p>
            <a:r>
              <a:t>FOTA — Firmware Over The Air: DFU por rádio.</a:t>
            </a:r>
          </a:p>
          <a:p>
            <a:r>
              <a:t>BLE — Bluetooth Low Energy: o rádio de 2,4 GHz do próprio nRF54LM20.</a:t>
            </a:r>
          </a:p>
          <a:p>
            <a:r>
              <a:t>MCUboot — O bootloader do Zephyr.</a:t>
            </a:r>
          </a:p>
          <a:p>
            <a:r>
              <a:t>B0 — O nome antigo do NSIB nas partições (b0_partition).</a:t>
            </a:r>
          </a:p>
          <a:p>
            <a:r>
              <a:t>ECDSA — Assinatura por curva elíptica (P-256 no NSIB e no MCUboot do nRF91).</a:t>
            </a:r>
          </a:p>
          <a:p>
            <a:r>
              <a:t>ED25519 — Assinatura EdDSA na curva 25519: padrão do MCUboot no nRF54L, verificada pelo CRACEN.</a:t>
            </a:r>
          </a:p>
          <a:p>
            <a:r>
              <a:t>imgtool — A ferramenta do MCUboot que assina (e cifra) imagens.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direct-xip — Modo do MCUboot que executa a imagem no próprio slot, sem swap.</a:t>
            </a:r>
          </a:p>
          <a:p>
            <a:r>
              <a:t>S0/S1 — Os dois slots do segundo estágio (MCUboot) que o NSIB escolhe pela versão.</a:t>
            </a:r>
          </a:p>
          <a:p>
            <a:r>
              <a:t>swap — Modo do MCUboot que troca as imagens dos dois slots e pode reverter se a nova não confirmar.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UICR — User Information Configuration Registers: a região de configuração do chip (APPROTECT, BOOTCONF, OTP, chaves de RoT).</a:t>
            </a:r>
          </a:p>
          <a:p>
            <a:r>
              <a:t>OTP — One-Time Programmable: memória gravada de fábrica; guarda o MAC do nRF7002.</a:t>
            </a:r>
          </a:p>
          <a:p>
            <a:r>
              <a:t>ECDSA — Assinatura por curva elíptica (P-256 no NSIB e no MCUboot do nRF91).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MCUboot — O bootloader do Zephyr.</a:t>
            </a:r>
          </a:p>
          <a:p>
            <a:r>
              <a:t>TF-M — Trusted Firmware-M: o firmware seguro (TrustZone) dos alvos /ns.</a:t>
            </a:r>
          </a:p>
          <a:p>
            <a:r>
              <a:t>ECDSA — Assinatura por curva elíptica (P-256 no NSIB e no MCUboot do nRF91).</a:t>
            </a:r>
          </a:p>
          <a:p>
            <a:r>
              <a:t>swap — Modo do MCUboot que troca as imagens dos dois slots e pode reverter se a nova não confirmar.</a:t>
            </a:r>
          </a:p>
          <a:p>
            <a:r>
              <a:t>OTP — One-Time Programmable: memória gravada de fábrica; guarda o MAC do nRF7002.</a:t>
            </a:r>
          </a:p>
          <a:p>
            <a:r>
              <a:t>UICR — User Information Configuration Registers: a região de configuração do chip (APPROTECT, BOOTCONF, OTP, chaves de RoT).</a:t>
            </a:r>
          </a:p>
          <a:p>
            <a:r>
              <a:t>BOOTCONF — Registro do UICR do nRF54L que trava a região de boot antes de o CPU sair do reset.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direct-xip — Modo do MCUboot que executa a imagem no próprio slot, sem swap.</a:t>
            </a:r>
          </a:p>
          <a:p>
            <a:r>
              <a:t>S0/S1 — Os dois slots do segundo estágio (MCUboot) que o NSIB escolhe pela versão.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MCUboot — O bootloader do Zephyr.</a:t>
            </a:r>
          </a:p>
          <a:p>
            <a:r>
              <a:t>NCS — nRF Connect SDK.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ECDSA — Assinatura por curva elíptica (P-256 no NSIB e no MCUboot do nRF91).</a:t>
            </a:r>
          </a:p>
          <a:p>
            <a:r>
              <a:t>Kconfig — O sistema de configuração do Zephyr: as opções CONFIG_* do prj.conf.</a:t>
            </a:r>
          </a:p>
          <a:p>
            <a:r>
              <a:t>ED25519 — Assinatura EdDSA na curva 25519: padrão do MCUboot no nRF54L, verificada pelo CRACEN.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AES — Advanced Encryption Standard: a cifra simétrica por trás do CCMP.</a:t>
            </a:r>
          </a:p>
          <a:p>
            <a:r>
              <a:t>ECIES — Esquema de cifra híbrida com curva elíptica; o MCUboot usa ECIES-X25519 para a chave da imagem cifrada.</a:t>
            </a:r>
          </a:p>
          <a:p>
            <a:r>
              <a:t>direct-xip — Modo do MCUboot que executa a imagem no próprio slot, sem swap.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BOOTCONF — Registro do UICR do nRF54L que trava a região de boot antes de o CPU sair do reset.</a:t>
            </a:r>
          </a:p>
          <a:p>
            <a:r>
              <a:t>fprotect — Proteção de escrita de flash por hardware, usada pelo bootloader para se travar.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sysbuild — O build de sistema do Zephyr, que constrói várias imagens e escopa opções por imagem.</a:t>
            </a:r>
          </a:p>
          <a:p>
            <a:r>
              <a:t>MCUboot — O bootloader do Zephyr.</a:t>
            </a:r>
          </a:p>
          <a:p>
            <a:r>
              <a:t>DFU — Device Firmware Update: atualização de firmware, por cabo ou por rádio.</a:t>
            </a:r>
          </a:p>
          <a:p>
            <a:r>
              <a:t>KMU — Key Management Unit: slots de chave em NVM que só o acelerador lê; a aplicação usa a chave por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UICR — User Information Configuration Registers: a região de configuração do chip (APPROTECT, BOOTCONF, OTP, chaves de RoT).</a:t>
            </a:r>
          </a:p>
          <a:p>
            <a:r>
              <a:t>BOOTCONF — Registro do UICR do nRF54L que trava a região de boot antes de o CPU sair do reset.</a:t>
            </a:r>
          </a:p>
          <a:p>
            <a:r>
              <a:t>RoT — Root of Trust: o conjunto mínimo de hardware e firmware em que todo o resto confia; nada abaixo dele é verificável.</a:t>
            </a:r>
          </a:p>
          <a:p>
            <a:r>
              <a:t>MCUboot — O bootloader do Zephyr.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DPA — Differential Power Analysis: ataque de canal lateral por consumo; o CRACEN é mascarado contra ele.</a:t>
            </a:r>
          </a:p>
          <a:p>
            <a:r>
              <a:t>ADAC — Authenticated Debug Access Control: debug autenticado por desafio-resposta; no nRF54L existe no silício, sem suporte no NCS.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APPROTECT — Access Port Protection: bloqueia o debugger; só um ERASEALL reabre.</a:t>
            </a:r>
          </a:p>
          <a:p>
            <a:r>
              <a:t>NCS — nRF Connect SDK.</a:t>
            </a:r>
          </a:p>
          <a:p>
            <a:r>
              <a:t>ERASEPROTECT — Impede o ERASEALL; com APPROTECT junto, o chip não se recupera.</a:t>
            </a:r>
          </a:p>
          <a:p>
            <a:r>
              <a:t>UICR — User Information Configuration Registers: a região de configuração do chip (APPROTECT, BOOTCONF, OTP, chaves de RoT).</a:t>
            </a:r>
          </a:p>
          <a:p>
            <a:r>
              <a:t>Kconfig — O sistema de configuração do Zephyr: as opções CONFIG_* do prj.conf.</a:t>
            </a:r>
          </a:p>
          <a:p>
            <a:r>
              <a:t>ERASEALL — O comando do CTRL-AP que apaga flash, UICR e RAM e reabre o debug.</a:t>
            </a:r>
          </a:p>
          <a:p>
            <a:r>
              <a:t>ADAC — Authenticated Debug Access Control: debug autenticado por desafio-resposta; no nRF54L existe no silício, sem suporte no NCS.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BLE — Bluetooth Low Energy: o rádio de 2,4 GHz do próprio nRF54LM20.</a:t>
            </a:r>
          </a:p>
          <a:p>
            <a:r>
              <a:t>MCUmgr — O subsistema de gerenciamento do Zephyr que implementa o SMP (imagens, arquivos, OS).</a:t>
            </a:r>
          </a:p>
          <a:p>
            <a:r>
              <a:t>MCUboot — O bootloader do Zephyr.</a:t>
            </a:r>
          </a:p>
          <a:p>
            <a:r>
              <a:t>fota_download — Biblioteca do NCS que baixa a imagem por HTTP(S) ou CoAP e a entrega ao dfu_target.</a:t>
            </a:r>
          </a:p>
          <a:p>
            <a:r>
              <a:t>dfu_target — Biblioteca do NCS que reconhece o tipo de imagem e a grava no lugar certo (slot1, modem delta, FMFU).</a:t>
            </a:r>
          </a:p>
          <a:p>
            <a:r>
              <a:t>SMP — Simple Management Protocol: o protocolo do MCUmgr, por BLE, UART, USB ou shell.</a:t>
            </a:r>
          </a:p>
          <a:p>
            <a:r>
              <a:t>MTU — Maximum Transmission Unit: o maior pacote que a interface envia (1492 B no wlan0).</a:t>
            </a:r>
          </a:p>
          <a:p>
            <a:r>
              <a:t>ED25519 — Assinatura EdDSA na curva 25519: padrão do MCUboot no nRF54L, verificada pelo CRACEN.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swap — Modo do MCUboot que troca as imagens dos dois slots e pode reverter se a nova não confirmar.</a:t>
            </a:r>
          </a:p>
          <a:p>
            <a:r>
              <a:t>HTTP — Hypertext Transfer Protocol: pedido/resposta; o cliente sempre inicia.</a:t>
            </a:r>
          </a:p>
          <a:p>
            <a:r>
              <a:t>MQTT — Message Queuing Telemetry Transport: publish/subscribe por meio de um broker.</a:t>
            </a:r>
          </a:p>
          <a:p>
            <a:r>
              <a:t>CoAP — Constrained Application Protocol: um HTTP leve sobre UDP, para dispositivos pequenos.</a:t>
            </a:r>
          </a:p>
          <a:p>
            <a:r>
              <a:t>LwM2M — Lightweight M2M: gerenciamento de dispositivos sobre CoAP.</a:t>
            </a:r>
          </a:p>
          <a:p>
            <a:r>
              <a:t>FMFU — Full Modem Firmware Update: troca completa do firmware do modem (imagem de ~2 MB, flash externa).</a:t>
            </a:r>
          </a:p>
          <a:p>
            <a:r>
              <a:t>ECDSA — Assinatura por curva elíptica (P-256 no NSIB e no MCUboot do nRF91).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SMP — Simple Management Protocol: o protocolo do MCUmgr, por BLE, UART, USB ou shell.</a:t>
            </a:r>
          </a:p>
          <a:p>
            <a:r>
              <a:t>BLE — Bluetooth Low Energy: o rádio de 2,4 GHz do próprio nRF54LM20.</a:t>
            </a:r>
          </a:p>
          <a:p>
            <a:r>
              <a:t>UART — Universal Asynchronous Receiver/Transmitter: a serial do console.</a:t>
            </a:r>
          </a:p>
          <a:p>
            <a:r>
              <a:t>MCUmgr — O subsistema de gerenciamento do Zephyr que implementa o SMP (imagens, arquivos, OS).</a:t>
            </a:r>
          </a:p>
          <a:p>
            <a:r>
              <a:t>FOTA — Firmware Over The Air: DFU por rádio.</a:t>
            </a:r>
          </a:p>
          <a:p>
            <a:r>
              <a:t>HTTP — Hypertext Transfer Protocol: pedido/resposta; o cliente sempre inicia.</a:t>
            </a:r>
          </a:p>
          <a:p>
            <a:r>
              <a:t>LTE-M — A variante Cat-M1 do LTE para IoT.</a:t>
            </a:r>
          </a:p>
          <a:p>
            <a:r>
              <a:t>NB-IoT — Narrowband IoT: a variante Cat-NB1/NB2.</a:t>
            </a:r>
          </a:p>
          <a:p>
            <a:r>
              <a:t>fota_download — Biblioteca do NCS que baixa a imagem por HTTP(S) ou CoAP e a entrega ao dfu_target.</a:t>
            </a:r>
          </a:p>
          <a:p>
            <a:r>
              <a:t>dfu_target — Biblioteca do NCS que reconhece o tipo de imagem e a grava no lugar certo (slot1, modem delta, FMFU).</a:t>
            </a:r>
          </a:p>
          <a:p>
            <a:r>
              <a:t>MQTT — Message Queuing Telemetry Transport: publish/subscribe por meio de um broker.</a:t>
            </a:r>
          </a:p>
          <a:p>
            <a:r>
              <a:t>CoAP — Constrained Application Protocol: um HTTP leve sobre UDP, para dispositivos pequenos.</a:t>
            </a:r>
          </a:p>
          <a:p>
            <a:r>
              <a:t>REST — Representational State Transfer: API sobre HTTP com URLs e verbos (GET, POST).</a:t>
            </a:r>
          </a:p>
          <a:p>
            <a:r>
              <a:t>API — Application Programming Interface.</a:t>
            </a:r>
          </a:p>
          <a:p>
            <a:r>
              <a:t>LwM2M — Lightweight M2M: gerenciamento de dispositivos sobre CoAP.</a:t>
            </a:r>
          </a:p>
          <a:p>
            <a:r>
              <a:t>DTLS — TLS sobre UDP (CoAP, LwM2M).</a:t>
            </a:r>
          </a:p>
          <a:p>
            <a:r>
              <a:t>FMFU — Full Modem Firmware Update: troca completa do firmware do modem (imagem de ~2 MB, flash externa).</a:t>
            </a:r>
          </a:p>
          <a:p>
            <a:r>
              <a:t>DK — Development Kit: a placa de desenvolvimento (nRF54LM20-DK).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SMP — Simple Management Protocol: o protocolo do MCUmgr, por BLE, UART, USB ou shell.</a:t>
            </a:r>
          </a:p>
          <a:p>
            <a:r>
              <a:t>Kconfig — O sistema de configuração do Zephyr: as opções CONFIG_* do prj.conf.</a:t>
            </a:r>
          </a:p>
          <a:p>
            <a:r>
              <a:t>BLE — Bluetooth Low Energy: o rádio de 2,4 GHz do próprio nRF54LM20.</a:t>
            </a:r>
          </a:p>
          <a:p>
            <a:r>
              <a:t>MCUboot — O bootloader do Zephyr.</a:t>
            </a:r>
          </a:p>
          <a:p>
            <a:r>
              <a:t>MCUmgr — O subsistema de gerenciamento do Zephyr que implementa o SMP (imagens, arquivos, OS).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ED25519 — Assinatura EdDSA na curva 25519: padrão do MCUboot no nRF54L, verificada pelo CRACEN.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ECDSA — Assinatura por curva elíptica (P-256 no NSIB e no MCUboot do nRF91).</a:t>
            </a:r>
          </a:p>
          <a:p>
            <a:r>
              <a:t>CC310 — Arm CryptoCell 310: o acelerador dos nRF52840 e nRF91 (AES-128, SHA-256, RSA 2048, ECC até 521 bits).</a:t>
            </a:r>
          </a:p>
          <a:p>
            <a:r>
              <a:t>imgtool — A ferramenta do MCUboot que assina (e cifra) imagens.</a:t>
            </a:r>
          </a:p>
          <a:p>
            <a:r>
              <a:t>MCUboot — O bootloader do Zephyr.</a:t>
            </a:r>
          </a:p>
          <a:p>
            <a:r>
              <a:t>NCS — nRF Connect SDK.</a:t>
            </a:r>
          </a:p>
          <a:p>
            <a:r>
              <a:t>AES — Advanced Encryption Standard: a cifra simétrica por trás do CCMP.</a:t>
            </a:r>
          </a:p>
          <a:p>
            <a:r>
              <a:t>ECIES — Esquema de cifra híbrida com curva elíptica; o MCUboot usa ECIES-X25519 para a chave da imagem cifrada.</a:t>
            </a:r>
          </a:p>
          <a:p>
            <a:r>
              <a:t>direct-xip — Modo do MCUboot que executa a imagem no próprio slot, sem swap.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swap — Modo do MCUboot que troca as imagens dos dois slots e pode reverter se a nova não confirmar.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FOTA — Firmware Over The Air: DFU por rádio.</a:t>
            </a:r>
          </a:p>
          <a:p>
            <a:r>
              <a:t>MCUboot — O bootloader do Zephyr.</a:t>
            </a:r>
          </a:p>
          <a:p>
            <a:r>
              <a:t>TF-M — Trusted Firmware-M: o firmware seguro (TrustZone) dos alvos /ns.</a:t>
            </a:r>
          </a:p>
          <a:p>
            <a:r>
              <a:t>ECDSA — Assinatura por curva elíptica (P-256 no NSIB e no MCUboot do nRF91).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OTP — One-Time Programmable: memória gravada de fábrica; guarda o MAC do nRF7002.</a:t>
            </a:r>
          </a:p>
          <a:p>
            <a:r>
              <a:t>S0/S1 — Os dois slots do segundo estágio (MCUboot) que o NSIB escolhe pela versão.</a:t>
            </a:r>
          </a:p>
          <a:p>
            <a:r>
              <a:t>SMP — Simple Management Protocol: o protocolo do MCUmgr, por BLE, UART, USB ou shell.</a:t>
            </a:r>
          </a:p>
          <a:p>
            <a:r>
              <a:t>FMFU — Full Modem Firmware Update: troca completa do firmware do modem (imagem de ~2 MB, flash externa).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FOTA — Firmware Over The Air: DFU por rádio.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direct-xip — Modo do MCUboot que executa a imagem no próprio slot, sem swap.</a:t>
            </a:r>
          </a:p>
          <a:p>
            <a:r>
              <a:t>swap — Modo do MCUboot que troca as imagens dos dois slots e pode reverter se a nova não confirmar.</a:t>
            </a:r>
          </a:p>
          <a:p>
            <a:r>
              <a:t>hex — Arquivo Intel HEX: a imagem de firmware pronta para gravar.</a:t>
            </a:r>
          </a:p>
          <a:p>
            <a:r>
              <a:t>SMP — Simple Management Protocol: o protocolo do MCUmgr, por BLE, UART, USB ou shell.</a:t>
            </a:r>
          </a:p>
          <a:p>
            <a:r>
              <a:t>BLE — Bluetooth Low Energy: o rádio de 2,4 GHz do próprio nRF54LM20.</a:t>
            </a:r>
          </a:p>
          <a:p>
            <a:r>
              <a:t>fota_download — Biblioteca do NCS que baixa a imagem por HTTP(S) ou CoAP e a entrega ao dfu_target.</a:t>
            </a:r>
          </a:p>
          <a:p>
            <a:r>
              <a:t>dfu_target — Biblioteca do NCS que reconhece o tipo de imagem e a grava no lugar certo (slot1, modem delta, FMFU).</a:t>
            </a:r>
          </a:p>
          <a:p>
            <a:r>
              <a:t>KMU — Key Management Unit: slots de chave em NVM que só o acelerador lê; a aplicação usa a chave por referência.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NCS — nRF Connect SDK.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OTP — One-Time Programmable: memória gravada de fábrica; guarda o MAC do nRF7002.</a:t>
            </a:r>
          </a:p>
          <a:p>
            <a:r>
              <a:t>BLE — Bluetooth Low Energy: o rádio de 2,4 GHz do próprio nRF54LM20.</a:t>
            </a:r>
          </a:p>
          <a:p>
            <a:r>
              <a:t>SMP — Simple Management Protocol: o protocolo do MCUmgr, por BLE, UART, USB ou shell.</a:t>
            </a:r>
          </a:p>
          <a:p>
            <a:r>
              <a:t>MCUboot — O bootloader do Zephyr.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ECIES — Esquema de cifra híbrida com curva elíptica; o MCUboot usa ECIES-X25519 para a chave da imagem cifrada.</a:t>
            </a:r>
          </a:p>
          <a:p>
            <a:r>
              <a:t>FOTA — Firmware Over The Air: DFU por rádio.</a:t>
            </a:r>
          </a:p>
          <a:p>
            <a:r>
              <a:t>FMFU — Full Modem Firmware Update: troca completa do firmware do modem (imagem de ~2 MB, flash externa).</a:t>
            </a:r>
          </a:p>
          <a:p>
            <a:r>
              <a:t>HTTP — Hypertext Transfer Protocol: pedido/resposta; o cliente sempre inicia.</a:t>
            </a:r>
          </a:p>
          <a:p>
            <a:r>
              <a:t>UART — Universal Asynchronous Receiver/Transmitter: a serial do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Glossário deste slide:</a:t>
            </a:r>
          </a:p>
          <a:p>
            <a:r>
              <a:t>OTP — One-Time Programmable: memória gravada de fábrica; guarda o MAC do nRF7002.</a:t>
            </a:r>
          </a:p>
          <a:p>
            <a:r>
              <a:t>NSIB — nRF Secure Immutable Bootloader (B0): o bootloader imutável da Nordic; verifica ECDSA P-256 e guarda hashes de chave e contador em OTP ou flash travada.</a:t>
            </a:r>
          </a:p>
          <a:p>
            <a:r>
              <a:t>MCUboot — O bootloader do Zephyr.</a:t>
            </a:r>
          </a:p>
          <a:p>
            <a:r>
              <a:t>ECDSA — Assinatura por curva elíptica (P-256 no NSIB e no MCUboot do nRF91).</a:t>
            </a:r>
          </a:p>
          <a:p>
            <a:r>
              <a:t>ED25519 — Assinatura EdDSA na curva 25519: padrão do MCUboot no nRF54L, verificada pelo CRACEN.</a:t>
            </a:r>
          </a:p>
          <a:p>
            <a:r>
              <a:t>CRACEN — Crypto Accelerator Engine: o acelerador dos nRF54L, com mascaramento contra DPA e TRNG SP 800-90B.</a:t>
            </a:r>
          </a:p>
          <a:p>
            <a:r>
              <a:t>KMU — Key Management Unit: slots de chave em NVM que só o acelerador lê; a aplicação usa a chave por referência.</a:t>
            </a:r>
          </a:p>
          <a:p>
            <a:r>
              <a:t>FMFU — Full Modem Firmware Update: troca completa do firmware do modem (imagem de ~2 MB, flash externa).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1371600"/>
            <a:ext cx="107652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 spc="140">
                <a:solidFill>
                  <a:srgbClr val="22C3E6"/>
                </a:solidFill>
                <a:latin typeface="Segoe UI"/>
              </a:rPr>
              <a:t>MÓDULO 3 · BLOCO 01 · SEGURANÇA EMBARCADA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1783080"/>
            <a:ext cx="9692640" cy="1691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Root of Trust, Secure Boot</a:t>
            </a:r>
          </a:p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E8F1F8"/>
                </a:solidFill>
                <a:latin typeface="Segoe UI"/>
              </a:rPr>
              <a:t>e Secure Update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3703320"/>
            <a:ext cx="896112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que a plataforma Nordic tem para que um chip só execute firmware que o dono assinou, e só aceite atualização que passe pelo mesmo crivo: NSIB, MCUboot, KMU, APPROTECT e os caminhos de FOTA por BLE e por LTE.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4709160"/>
            <a:ext cx="915314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nRF9151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811426" y="4709160"/>
            <a:ext cx="1085392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nRF54LM20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79698" y="4709160"/>
            <a:ext cx="1170431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NCS v3.4.0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3009" y="4709160"/>
            <a:ext cx="1510588" cy="384048"/>
          </a:xfrm>
          <a:prstGeom prst="roundRect">
            <a:avLst>
              <a:gd name="adj" fmla="val 50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/>
          <a:lstStyle/>
          <a:p>
            <a:pPr algn="ctr"/>
            <a:r>
              <a:rPr sz="1200" b="1">
                <a:solidFill>
                  <a:srgbClr val="E8F1F8"/>
                </a:solidFill>
                <a:latin typeface="Segoe UI"/>
              </a:rPr>
              <a:t>NSIB · MCUboot</a:t>
            </a:r>
          </a:p>
        </p:txBody>
      </p:sp>
      <p:sp>
        <p:nvSpPr>
          <p:cNvPr id="10" name="Oval 9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Root of Trust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Toda verificação precisa de algo que não é verificado: o ponto fixo é hardware, ou firmware que o hardware impede de mudar.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ROOT OF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é uma raiz de confiança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Quatro perguntas organizam o bloco: quem é a raiz, quem verifica quem, onde ficam as chaves e o que acontece com uma imagem recusada.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Raiz de confiança</a:t>
            </a:r>
            <a:r>
              <a:rPr sz="1700" b="0">
                <a:solidFill>
                  <a:srgbClr val="0B1B2B"/>
                </a:solidFill>
                <a:latin typeface="Segoe UI"/>
              </a:rPr>
              <a:t>: o conjunto mínimo de hardware e firmware em que todo o resto confia; ninguém verifica a raiz, ela verifica os outros.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na terminologia PSA: </a:t>
            </a:r>
            <a:r>
              <a:rPr sz="1400" b="1">
                <a:solidFill>
                  <a:srgbClr val="566577"/>
                </a:solidFill>
                <a:latin typeface="Segoe UI"/>
              </a:rPr>
              <a:t>PRoT</a:t>
            </a:r>
            <a:r>
              <a:rPr sz="1400" b="0">
                <a:solidFill>
                  <a:srgbClr val="566577"/>
                </a:solidFill>
                <a:latin typeface="Segoe UI"/>
              </a:rPr>
              <a:t> (plataforma: boot imutável, chaves de hardware, serviços seguros) e </a:t>
            </a:r>
            <a:r>
              <a:rPr sz="1400" b="1">
                <a:solidFill>
                  <a:srgbClr val="566577"/>
                </a:solidFill>
                <a:latin typeface="Segoe UI"/>
              </a:rPr>
              <a:t>ARoT</a:t>
            </a:r>
            <a:r>
              <a:rPr sz="1400" b="0">
                <a:solidFill>
                  <a:srgbClr val="566577"/>
                </a:solidFill>
                <a:latin typeface="Segoe UI"/>
              </a:rPr>
              <a:t> (serviços da aplicação)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Cadeia de confiança</a:t>
            </a:r>
            <a:r>
              <a:rPr sz="1700" b="0">
                <a:solidFill>
                  <a:srgbClr val="0B1B2B"/>
                </a:solidFill>
                <a:latin typeface="Segoe UI"/>
              </a:rPr>
              <a:t>: cada estágio verifica assinatura e metadados do próximo antes de saltar; se falha, o boot para.</a:t>
            </a:r>
          </a:p>
          <a:p>
            <a:pPr lvl="1" marL="576072" indent="-256032">
              <a:lnSpc>
                <a:spcPct val="118000"/>
              </a:lnSpc>
              <a:spcAft>
                <a:spcPts val="400"/>
              </a:spcAft>
              <a:buClr>
                <a:srgbClr val="566577"/>
              </a:buClr>
              <a:buSzPct val="90000"/>
              <a:buFont typeface="Segoe UI"/>
              <a:buChar char="–"/>
            </a:pPr>
            <a:r>
              <a:rPr sz="1400" b="0">
                <a:solidFill>
                  <a:srgbClr val="566577"/>
                </a:solidFill>
                <a:latin typeface="Segoe UI"/>
              </a:rPr>
              <a:t>imutável → atualizável → aplicação; quanto mais estágios, mais superfície de ataque (a doc da Nordic pede um segundo estágio só se for preciso)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que o hardware garante</a:t>
            </a:r>
            <a:r>
              <a:rPr sz="1700" b="0">
                <a:solidFill>
                  <a:srgbClr val="0B1B2B"/>
                </a:solidFill>
                <a:latin typeface="Segoe UI"/>
              </a:rPr>
              <a:t>: região de boot travada (</a:t>
            </a:r>
            <a:r>
              <a:rPr sz="1700" b="0">
                <a:solidFill>
                  <a:srgbClr val="0B1B2B"/>
                </a:solidFill>
                <a:latin typeface="Consolas"/>
              </a:rPr>
              <a:t>fprotect</a:t>
            </a:r>
            <a:r>
              <a:rPr sz="1700" b="0">
                <a:solidFill>
                  <a:srgbClr val="0B1B2B"/>
                </a:solidFill>
                <a:latin typeface="Segoe UI"/>
              </a:rPr>
              <a:t>, </a:t>
            </a:r>
            <a:r>
              <a:rPr sz="1700" b="0">
                <a:solidFill>
                  <a:srgbClr val="0B1B2B"/>
                </a:solidFill>
                <a:latin typeface="Consolas"/>
              </a:rPr>
              <a:t>BOOTCONF</a:t>
            </a:r>
            <a:r>
              <a:rPr sz="1700" b="0">
                <a:solidFill>
                  <a:srgbClr val="0B1B2B"/>
                </a:solidFill>
                <a:latin typeface="Segoe UI"/>
              </a:rPr>
              <a:t>), chaves que o CPU não lê (KMU), dados de provisionamento em OTP, debug fechado (APPROTECT).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O que o firmware garante</a:t>
            </a:r>
            <a:r>
              <a:rPr sz="1700" b="0">
                <a:solidFill>
                  <a:srgbClr val="0B1B2B"/>
                </a:solidFill>
                <a:latin typeface="Segoe UI"/>
              </a:rPr>
              <a:t>: a verificação em si (ECDSA ou ED25519), a escolha do slot, o contador de versão.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ROOT OF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Recursos de segurança por família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tabela do whitepaper Nordic platform security (nwp_057). O nRF52 tem limitações por variante; o nRF54L é a única família com segurança física e o único alvo de Level 3.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7" cy="3904486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59"/>
                <a:gridCol w="1828799"/>
                <a:gridCol w="1828799"/>
                <a:gridCol w="2011679"/>
                <a:gridCol w="19869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Recurso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nRF52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nRF53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nRF91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nRF54L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TRNG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(SP 800-90B)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(SP 800-90B)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Acelerador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CryptoCell 310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CryptoCell 312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CryptoCell 310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CRACEN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Secure storage · key storage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· 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· 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· 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· 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Uso de chave sem exposição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Secure boot · secure update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· 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· 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· 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 · 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Atestação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Isolamento (TrustZone)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Proteção contra erase-all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Segurança física (tamper, glitch)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Debug autenticado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31754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PSA Certified (alvo)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Level 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Level 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Level 2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Level 3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713232" y="5897878"/>
            <a:ext cx="50800" cy="347472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5897878"/>
            <a:ext cx="10490911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0B1B2B"/>
                </a:solidFill>
                <a:latin typeface="Segoe UI"/>
              </a:rPr>
              <a:t>Os dois kits do curso estão nas duas colunas da direita: nRF9151 (CC310, Level 2) e nRF54LM20 (CRACEN; o LM20 ainda não consta na tabela de certificação).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01 · ROOT OF TRUST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Duas cadeias de confiança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No nRF9151, o bootloader imutável da Nordic verifica um MCUboot atualizável, que verifica a aplicação. No nRF54LM20, o MCUboot é o próprio primeiro estágio, travado por hardware.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5154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nRF9151 · dois estágios (NSIB Supported)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5154015" cy="74295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350008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hardware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624328"/>
            <a:ext cx="4824831" cy="377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reset → NSIB em flash travada (</a:t>
            </a:r>
            <a:r>
              <a:rPr sz="950" b="0" i="0">
                <a:solidFill>
                  <a:srgbClr val="93A6B8"/>
                </a:solidFill>
                <a:latin typeface="Consolas"/>
              </a:rPr>
              <a:t>fprotect</a:t>
            </a:r>
            <a:r>
              <a:rPr sz="950" b="0" i="0">
                <a:solidFill>
                  <a:srgbClr val="93A6B8"/>
                </a:solidFill>
                <a:latin typeface="Segoe UI"/>
              </a:rPr>
              <a:t>); hashes de chave pública e contador monotônico em </a:t>
            </a:r>
            <a:r>
              <a:rPr sz="950" b="1" i="0">
                <a:solidFill>
                  <a:srgbClr val="E8F1F8"/>
                </a:solidFill>
                <a:latin typeface="Segoe UI"/>
              </a:rPr>
              <a:t>OTP do UICR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290239" y="3038094"/>
            <a:ext cx="0" cy="237744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3399967" y="3065526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93D0"/>
                </a:solidFill>
                <a:latin typeface="Segoe UI"/>
              </a:rPr>
              <a:t>verifica e salta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294126"/>
            <a:ext cx="5154015" cy="74295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348990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NSIB (B0)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7824" y="3623310"/>
            <a:ext cx="4824831" cy="377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verifica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ECDSA P-256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do MCUboot (S0 ou S1, versão maior) no </a:t>
            </a:r>
            <a:r>
              <a:rPr sz="950" b="0" i="0">
                <a:solidFill>
                  <a:srgbClr val="566577"/>
                </a:solidFill>
                <a:latin typeface="Consolas"/>
              </a:rPr>
              <a:t>nrf_cc310_bl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; invalida chaves de índice menor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90239" y="4037076"/>
            <a:ext cx="0" cy="237744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399967" y="406450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93D0"/>
                </a:solidFill>
                <a:latin typeface="Segoe UI"/>
              </a:rPr>
              <a:t>verifica e salta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3232" y="4293108"/>
            <a:ext cx="5154015" cy="74295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347972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MCUboot (S0/S1)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" y="4622292"/>
            <a:ext cx="4824831" cy="377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verifica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ECDSA P-256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da app; chave pública embutida na própria imagem; swap ou direct-xip; anti-rollback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290239" y="5036058"/>
            <a:ext cx="0" cy="237744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99967" y="506349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93D0"/>
                </a:solidFill>
                <a:latin typeface="Segoe UI"/>
              </a:rPr>
              <a:t>verifica e salta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5292090"/>
            <a:ext cx="5154015" cy="74295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77824" y="5346954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TF-M + aplicação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" y="5621274"/>
            <a:ext cx="4824831" cy="377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uma imagem só para o bootloader; o TF-M sobe primeiro, configura o SPU e salta para o NSPE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447" y="1883664"/>
            <a:ext cx="51540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nRF54LM20 · um estágio (MCUboot imutável)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24447" y="2295144"/>
            <a:ext cx="5154015" cy="742950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9039" y="2350008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hardware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9039" y="2624328"/>
            <a:ext cx="4824831" cy="377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93A6B8"/>
                </a:solidFill>
                <a:latin typeface="Consolas"/>
              </a:rPr>
              <a:t>UICR.BOOTCONF</a:t>
            </a:r>
            <a:r>
              <a:rPr sz="950" b="0" i="0">
                <a:solidFill>
                  <a:srgbClr val="93A6B8"/>
                </a:solidFill>
                <a:latin typeface="Segoe UI"/>
              </a:rPr>
              <a:t> trava a região de boot </a:t>
            </a:r>
            <a:r>
              <a:rPr sz="950" b="1" i="0">
                <a:solidFill>
                  <a:srgbClr val="E8F1F8"/>
                </a:solidFill>
                <a:latin typeface="Segoe UI"/>
              </a:rPr>
              <a:t>antes de o CPU sair do reset</a:t>
            </a:r>
            <a:r>
              <a:rPr sz="950" b="0" i="0">
                <a:solidFill>
                  <a:srgbClr val="93A6B8"/>
                </a:solidFill>
                <a:latin typeface="Segoe UI"/>
              </a:rPr>
              <a:t>; </a:t>
            </a:r>
            <a:r>
              <a:rPr sz="950" b="0" i="0">
                <a:solidFill>
                  <a:srgbClr val="93A6B8"/>
                </a:solidFill>
                <a:latin typeface="Consolas"/>
              </a:rPr>
              <a:t>USER.ROT.PUBKEY[n]</a:t>
            </a:r>
            <a:r>
              <a:rPr sz="950" b="0" i="0">
                <a:solidFill>
                  <a:srgbClr val="93A6B8"/>
                </a:solidFill>
                <a:latin typeface="Segoe UI"/>
              </a:rPr>
              <a:t> com digest e revogação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901455" y="3038094"/>
            <a:ext cx="0" cy="237744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011183" y="3065526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93D0"/>
                </a:solidFill>
                <a:latin typeface="Segoe UI"/>
              </a:rPr>
              <a:t>verifica e salta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24447" y="3294126"/>
            <a:ext cx="5154015" cy="74295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9039" y="3348990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MCUboot (imutável)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89039" y="3623310"/>
            <a:ext cx="4824831" cy="377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verifica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ED25519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(ou PURE) da app no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CRACEN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; chave pública em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slot do KMU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, não na imagem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901455" y="4037076"/>
            <a:ext cx="0" cy="237744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9011183" y="4064508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93D0"/>
                </a:solidFill>
                <a:latin typeface="Segoe UI"/>
              </a:rPr>
              <a:t>verifica e salta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24447" y="4293108"/>
            <a:ext cx="5154015" cy="74295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89039" y="4347972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proteções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89039" y="4622292"/>
            <a:ext cx="4824831" cy="377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revogação de chave em runtime (3 gerações), contador de downgrade em hardware, imagem cifrada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ECIES-X25519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(Experimental)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901455" y="5036058"/>
            <a:ext cx="0" cy="237744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011183" y="5063490"/>
            <a:ext cx="1463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850" b="1" i="0">
                <a:solidFill>
                  <a:srgbClr val="0093D0"/>
                </a:solidFill>
                <a:latin typeface="Segoe UI"/>
              </a:rPr>
              <a:t>verifica e salta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324447" y="5292090"/>
            <a:ext cx="5154015" cy="74295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89039" y="5346954"/>
            <a:ext cx="4824831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TF-M + aplicação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89039" y="5621274"/>
            <a:ext cx="4824831" cy="37719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idem: o TF-M (Experimental no LM20) configura MPC, SAU e SPU e salta para o NSPE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13232" y="6007608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1">
                <a:solidFill>
                  <a:srgbClr val="566577"/>
                </a:solidFill>
                <a:latin typeface="Segoe UI"/>
              </a:rPr>
              <a:t>NSIB + MCUboot no nRF54LM20A: não suportado pela doc de DFU do NCS 3.4.0. NSIB sozinho: não suportado no nRF54L.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Secure Boot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O bootloader imutável faz sempre as mesmas quatro coisas. As famílias diferem em onde guardam a chave e em como travam a si mesmas.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SECURE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bootloader imutável, a cada reset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Conceito da doc Secure bootloader chain do NCS. Vale para o NSIB e para o MCUboot como primeiro estágio.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82031" cy="18059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1 · Trava a própria flash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4843119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fprotect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(ACL ou RRAMC) na região que contém o bootloader e a configuração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no nRF54L,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UICR.BOOTCONF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já travou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antes de o CPU sair do reset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desfazer exige apagar o chip inteiro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883664"/>
            <a:ext cx="5282031" cy="18059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2 · Escolhe o próximo slot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414016"/>
            <a:ext cx="4843119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próximo estágio pode ser outro bootloader (S0/S1) ou a aplicação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ganha o slot com 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versão maior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que valida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um slot inválido é marcado e não é re-testado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3890772"/>
            <a:ext cx="5282031" cy="18059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03707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3 · Verifica assinatura e metadados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421124"/>
            <a:ext cx="4843119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 chave pública da imagem é comparada com o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hash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provisionado (NSIB) ou com o slot do KMU (MCUboot no nRF54L)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metadados: versão, compatibilidade, contador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falhou: o boot para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3890772"/>
            <a:ext cx="5282031" cy="180594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403707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4 · Salta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4421124"/>
            <a:ext cx="4843119" cy="11658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periféricos usados são resetados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próximo estágio recebe o controle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no NSIB, parte da criptografia fica exposta ao próximo estágio por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EXT_API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13232" y="5788152"/>
            <a:ext cx="50800" cy="384048"/>
          </a:xfrm>
          <a:prstGeom prst="rect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5788152"/>
            <a:ext cx="10490911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Chaves de desenvolvimento nunca vão a produto: o build avisa, e a doc exige chaves próprias antes de gravar o bootloader imutável.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SECURE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dois bootloaders do NCS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Tabela de capacidades da doc Quick start guide dos bootloaders, NCS 3.4.0. O NSIB não faz DFU por SMP: quem precisa de FOTA por BLE usa MCUboot atrás dele ou MCUboot sozinho.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4023359"/>
                <a:gridCol w="436443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NSIB (B0)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MCUboot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Primeiro estágio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Segundo estágio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sim, só atrás do NSIB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Tipo de chave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ECDSA P-256 (hash da chave pública provisionado)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ECDSA P-256, ED25519, RSA (imgtool)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Revogação de chave pública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sim: chaves de índice menor que a usada são invalidadas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 nRF54L: até 3 gerações via slots do KMU (Experimental)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Atualização por SMP (pela app)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Proteção contra downgrade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contador monotônico em hardware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contador monotônico (HW) ou versão semântica (SW)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Métodos de atualização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dual-slot direct-xip (S0/S1)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swap com um slot primário; dual-slot direct-xip; single slot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Onde é Supported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nRF52, nRF53,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nRF91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nRF54L15/L10/L05 e LM20 (não com MCUboot no LM20A)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todas as famílias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SECURE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NSIB por dentro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que o sample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nrf/samples/bootloader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faz no nRF9151. No nRF91 a UICR só se apaga com o chip inteiro: gravar o NSIB duas vezes exige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--erase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Provisionamento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NSIB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não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compila com as chaves: guarda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hashes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de chave pública, escritos à parte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no nRF91 e nRF53 os dados vão para a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OTP do UICR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; nas outras famílias, para flash travada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OTP só aceita escrita em half-words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0xFFFF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um hash com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0xFFFF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dentro é recusado e a chave tem de ser regerada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Verificação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 imagem seguinte carrega a chave pública completa; o NSIB compara o hash com os provisionados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SHA-256 + ECDSA secp256r1 no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nrf_cc310_bl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(hardware) ou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nrf_oberon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(software)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ao casar o índice n, os hashes 0..n-1 são invalidados para sempre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Anti-rollback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contador monotônico opcional (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SB_CONFIG_SECURE_BOOT_MONOTONIC_COUNTER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cada incremento ocupa um slot da área Provision: o número de atualizações é finito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imagens abaixo do contador não bootam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SECURE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Onde cada peça mora na flash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 cadeia de confiança vira endereços. No nRF9151, quatro imagens e dois pares de slots; no nRF54LM20, um bootloader que não se atualiza e uma chave que não está na flash.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nRF9151 · flash de 1 MB · </a:t>
            </a:r>
            <a:r>
              <a:rPr sz="1250" b="1" i="0">
                <a:solidFill>
                  <a:srgbClr val="0B1B2B"/>
                </a:solidFill>
                <a:latin typeface="Consolas"/>
              </a:rPr>
              <a:t>nrf91_immutable_bootloader_partitions.dtsi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569464"/>
            <a:ext cx="502920" cy="640080"/>
          </a:xfrm>
          <a:prstGeom prst="roundRect">
            <a:avLst>
              <a:gd name="adj" fmla="val 8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69464"/>
            <a:ext cx="4297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b0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NSIB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216152" y="2569464"/>
            <a:ext cx="672826" cy="640080"/>
          </a:xfrm>
          <a:prstGeom prst="roundRect">
            <a:avLst>
              <a:gd name="adj" fmla="val 8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52728" y="2569464"/>
            <a:ext cx="59967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s0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MCUboot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88978" y="2569464"/>
            <a:ext cx="672826" cy="640080"/>
          </a:xfrm>
          <a:prstGeom prst="roundRect">
            <a:avLst>
              <a:gd name="adj" fmla="val 8000"/>
            </a:avLst>
          </a:prstGeom>
          <a:solidFill>
            <a:srgbClr val="E1F0FA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25554" y="2569464"/>
            <a:ext cx="599674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1B2B"/>
                </a:solidFill>
                <a:latin typeface="Segoe UI"/>
              </a:rPr>
              <a:t>s1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1B2B"/>
                </a:solidFill>
                <a:latin typeface="Segoe UI"/>
              </a:rPr>
              <a:t>MCUboot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1804" y="2569464"/>
            <a:ext cx="502920" cy="640080"/>
          </a:xfrm>
          <a:prstGeom prst="roundRect">
            <a:avLst>
              <a:gd name="adj" fmla="val 8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98380" y="2569464"/>
            <a:ext cx="4297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TF-M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(S)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4724" y="2569464"/>
            <a:ext cx="4036961" cy="640080"/>
          </a:xfrm>
          <a:prstGeom prst="roundRect">
            <a:avLst>
              <a:gd name="adj" fmla="val 8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1300" y="2569464"/>
            <a:ext cx="396380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slot0_ns · app (NS)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101685" y="2569464"/>
            <a:ext cx="502920" cy="640080"/>
          </a:xfrm>
          <a:prstGeom prst="roundRect">
            <a:avLst>
              <a:gd name="adj" fmla="val 8000"/>
            </a:avLst>
          </a:prstGeom>
          <a:solidFill>
            <a:srgbClr val="E1F0FA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8261" y="2569464"/>
            <a:ext cx="4297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1B2B"/>
                </a:solidFill>
                <a:latin typeface="Segoe UI"/>
              </a:rPr>
              <a:t>TF-M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04605" y="2569464"/>
            <a:ext cx="4036961" cy="640080"/>
          </a:xfrm>
          <a:prstGeom prst="roundRect">
            <a:avLst>
              <a:gd name="adj" fmla="val 8000"/>
            </a:avLst>
          </a:prstGeom>
          <a:solidFill>
            <a:srgbClr val="E1F0FA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41181" y="2569464"/>
            <a:ext cx="396380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1B2B"/>
                </a:solidFill>
                <a:latin typeface="Segoe UI"/>
              </a:rPr>
              <a:t>slot1 · atualização (NS)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641566" y="2569464"/>
            <a:ext cx="502920" cy="640080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678142" y="2569464"/>
            <a:ext cx="42976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1B2B"/>
                </a:solidFill>
                <a:latin typeface="Segoe UI"/>
              </a:rPr>
              <a:t>storage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1216152" y="2459736"/>
            <a:ext cx="1345652" cy="0"/>
          </a:xfrm>
          <a:prstGeom prst="line">
            <a:avLst/>
          </a:prstGeom>
          <a:ln w="15875">
            <a:solidFill>
              <a:srgbClr val="009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216152" y="2368296"/>
            <a:ext cx="0" cy="91440"/>
          </a:xfrm>
          <a:prstGeom prst="line">
            <a:avLst/>
          </a:prstGeom>
          <a:ln w="15875">
            <a:solidFill>
              <a:srgbClr val="009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561804" y="2368296"/>
            <a:ext cx="0" cy="91440"/>
          </a:xfrm>
          <a:prstGeom prst="line">
            <a:avLst/>
          </a:prstGeom>
          <a:ln w="15875">
            <a:solidFill>
              <a:srgbClr val="009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58952" y="2185416"/>
            <a:ext cx="226005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93D0"/>
                </a:solidFill>
                <a:latin typeface="Segoe UI"/>
              </a:rPr>
              <a:t>NSIB escolhe s0 ou s1 (versão maior) e verifica ECDSA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61804" y="3319272"/>
            <a:ext cx="9079762" cy="0"/>
          </a:xfrm>
          <a:prstGeom prst="line">
            <a:avLst/>
          </a:prstGeom>
          <a:ln w="15875">
            <a:solidFill>
              <a:srgbClr val="009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561804" y="3319272"/>
            <a:ext cx="0" cy="91440"/>
          </a:xfrm>
          <a:prstGeom prst="line">
            <a:avLst/>
          </a:prstGeom>
          <a:ln w="15875">
            <a:solidFill>
              <a:srgbClr val="009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1641566" y="3319272"/>
            <a:ext cx="0" cy="91440"/>
          </a:xfrm>
          <a:prstGeom prst="line">
            <a:avLst/>
          </a:prstGeom>
          <a:ln w="15875">
            <a:solidFill>
              <a:srgbClr val="009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104604" y="3355848"/>
            <a:ext cx="9994162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93D0"/>
                </a:solidFill>
                <a:latin typeface="Segoe UI"/>
              </a:rPr>
              <a:t>MCUboot verifica slot1 e troca com slot0 (swap); TF-M + app são uma imagem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366674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66577"/>
                </a:solidFill>
                <a:latin typeface="Segoe UI"/>
              </a:rPr>
              <a:t>32 · 64 · 64 · 416 (32 S + 384 NS) · 416 · 32 KB, proporções reais. Hashes de chave e contador do NSIB ficam na OTP do UICR, fora da flash; o s1 atualiza o MCUboot sem apagar o que roda.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416966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0B1B2B"/>
                </a:solidFill>
                <a:latin typeface="Segoe UI"/>
              </a:rPr>
              <a:t>nRF54LM20 · RRAM · um estágio (MCUboot imutável)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" y="4855464"/>
            <a:ext cx="1076523" cy="640080"/>
          </a:xfrm>
          <a:prstGeom prst="roundRect">
            <a:avLst>
              <a:gd name="adj" fmla="val 8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9808" y="4855464"/>
            <a:ext cx="1003371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MCUboot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789755" y="4855464"/>
            <a:ext cx="538261" cy="640080"/>
          </a:xfrm>
          <a:prstGeom prst="roundRect">
            <a:avLst>
              <a:gd name="adj" fmla="val 8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826331" y="4855464"/>
            <a:ext cx="465109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TF-M</a:t>
            </a:r>
          </a:p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(S)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328016" y="4855464"/>
            <a:ext cx="3660178" cy="640080"/>
          </a:xfrm>
          <a:prstGeom prst="roundRect">
            <a:avLst>
              <a:gd name="adj" fmla="val 8000"/>
            </a:avLst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64592" y="4855464"/>
            <a:ext cx="358702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FFFFFF"/>
                </a:solidFill>
                <a:latin typeface="Segoe UI"/>
              </a:rPr>
              <a:t>slot0_ns · app (NS)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988194" y="4855464"/>
            <a:ext cx="4198440" cy="640080"/>
          </a:xfrm>
          <a:prstGeom prst="roundRect">
            <a:avLst>
              <a:gd name="adj" fmla="val 8000"/>
            </a:avLst>
          </a:prstGeom>
          <a:solidFill>
            <a:srgbClr val="E1F0FA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24770" y="4855464"/>
            <a:ext cx="4125288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1B2B"/>
                </a:solidFill>
                <a:latin typeface="Segoe UI"/>
              </a:rPr>
              <a:t>slot1 · atualização (NS)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86634" y="4855464"/>
            <a:ext cx="861218" cy="640080"/>
          </a:xfrm>
          <a:prstGeom prst="roundRect">
            <a:avLst>
              <a:gd name="adj" fmla="val 8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223210" y="4855464"/>
            <a:ext cx="788066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B1B2B"/>
                </a:solidFill>
                <a:latin typeface="Segoe UI"/>
              </a:rPr>
              <a:t>storage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13232" y="4745736"/>
            <a:ext cx="1076523" cy="0"/>
          </a:xfrm>
          <a:prstGeom prst="line">
            <a:avLst/>
          </a:prstGeom>
          <a:ln w="15875">
            <a:solidFill>
              <a:srgbClr val="009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713232" y="4654296"/>
            <a:ext cx="0" cy="91440"/>
          </a:xfrm>
          <a:prstGeom prst="line">
            <a:avLst/>
          </a:prstGeom>
          <a:ln w="15875">
            <a:solidFill>
              <a:srgbClr val="009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1789755" y="4654296"/>
            <a:ext cx="0" cy="91440"/>
          </a:xfrm>
          <a:prstGeom prst="line">
            <a:avLst/>
          </a:prstGeom>
          <a:ln w="15875">
            <a:solidFill>
              <a:srgbClr val="009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56032" y="4471416"/>
            <a:ext cx="1990923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93D0"/>
                </a:solidFill>
                <a:latin typeface="Segoe UI"/>
              </a:rPr>
              <a:t>UICR.BOOTCONF trava; chave pública no KMU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789755" y="5605272"/>
            <a:ext cx="8396879" cy="0"/>
          </a:xfrm>
          <a:prstGeom prst="line">
            <a:avLst/>
          </a:prstGeom>
          <a:ln w="15875">
            <a:solidFill>
              <a:srgbClr val="009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1789755" y="5605272"/>
            <a:ext cx="0" cy="91440"/>
          </a:xfrm>
          <a:prstGeom prst="line">
            <a:avLst/>
          </a:prstGeom>
          <a:ln w="15875">
            <a:solidFill>
              <a:srgbClr val="009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10186634" y="5605272"/>
            <a:ext cx="0" cy="91440"/>
          </a:xfrm>
          <a:prstGeom prst="line">
            <a:avLst/>
          </a:prstGeom>
          <a:ln w="15875">
            <a:solidFill>
              <a:srgbClr val="0093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332555" y="5641848"/>
            <a:ext cx="9311279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1" i="0">
                <a:solidFill>
                  <a:srgbClr val="0093D0"/>
                </a:solidFill>
                <a:latin typeface="Segoe UI"/>
              </a:rPr>
              <a:t>swap ou direct-xip; contador de downgrade em hardware; revogação de chave no KMU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13232" y="5952744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1">
                <a:solidFill>
                  <a:srgbClr val="566577"/>
                </a:solidFill>
                <a:latin typeface="Segoe UI"/>
              </a:rPr>
              <a:t>Proporções livres. Sem s0/s1: o MCUboot não é atualizável, e por isso pode ser a raiz. A chave de verificação fica fora da flash, em slot do KMU.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SECURE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MCUboot por chip no NCS 3.4.0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Mesmo bootloader, duas plataformas: no nRF91 a chave viaja dentro do MCUboot; no nRF54L ela mora no KMU e pode ser trocada sem regravar o bootloader.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9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377439"/>
                <a:gridCol w="3840479"/>
                <a:gridCol w="45473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nRF9151 (e nRF52840)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nRF54LM20 (e nRF54L15)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Assinatura padrão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ECDSA P-256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Kconfig.mcuboot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ED25519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; opção PURE (assina a imagem, não o hash)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Quem verifica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nrf_cc310_bl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(CryptoCell)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CRACEN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Onde está a chave pública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embutida na imagem do MCUboot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slot do KMU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SB_CONFIG_MCUBOOT_SIGNATURE_USING_KMU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Provisionamento da chave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no build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west flash --erase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ou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--recover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grava o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keys.json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gerado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Revogação em runtime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CONFIG_BOOT_KEYS_REVOCATION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até 3 gerações; a última não se revoga (Experimental)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Downgrade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versão semântica ou contador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contador em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hardware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(desde o NCS 3.1)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Imagem cifrada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AES +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ECIES-X25519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só com ED25519, não em direct-xip (Experimental)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Primeiro estágio imutável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atrás do NSIB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sozinho, travado por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BOOTCONF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fprotect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SECURE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sysbuild.conf de um MCUboot no nRF54LM20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As opções de sysbuild que a doc Configuring DFU and MCUboot do nRF54L descreve.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keys.json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vai ao KMU pelo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nrfutil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na hora de gravar; sem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--erase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a chave antiga fica.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56232"/>
            <a:ext cx="10765231" cy="3563112"/>
          </a:xfrm>
          <a:prstGeom prst="roundRect">
            <a:avLst>
              <a:gd name="adj" fmla="val 4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057400"/>
            <a:ext cx="10125151" cy="316077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bootloader imutavel de primeiro estagio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SB_CONFIG_BOOTLOADER_MCUBOOT=y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SB_CONFIG_BOOT_SIGNATURE_TYPE_ED25519=y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SB_CONFIG_BOOT_SIGNATURE_TYPE_PURE=y       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assina a imagem, nao o hash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SB_CONFIG_BOOT_SIGNATURE_KEY_FILE=</a:t>
            </a:r>
            <a:r>
              <a:rPr sz="1400" b="0">
                <a:solidFill>
                  <a:srgbClr val="FFCF6B"/>
                </a:solidFill>
                <a:latin typeface="Consolas"/>
              </a:rPr>
              <a:t>"keys/mcuboot_priv.pem"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chave publica no KMU, nao na imagem do bootloader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SB_CONFIG_MCUBOOT_SIGNATURE_USING_KMU=y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SB_CONFIG_MCUBOOT_GENERATE_DEFAULT_KEY_FILE=y   </a:t>
            </a:r>
            <a:r>
              <a:rPr sz="1400" b="0">
                <a:solidFill>
                  <a:srgbClr val="7FB58E"/>
                </a:solidFill>
                <a:latin typeface="Consolas"/>
              </a:rPr>
              <a:t># gera keys.json p/ west flash --erase</a:t>
            </a:r>
          </a:p>
          <a:p>
            <a:pPr>
              <a:lnSpc>
                <a:spcPct val="112000"/>
              </a:lnSpc>
            </a:pP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revogacao de chave em runtime (Experimental): ligar no PRIMEIRO build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DCE8F2"/>
                </a:solidFill>
                <a:latin typeface="Consolas"/>
              </a:rPr>
              <a:t>SB_CONFIG_MCUBOOT_SIGNATURE_KMU_SLOTS=3</a:t>
            </a:r>
          </a:p>
          <a:p>
            <a:pPr>
              <a:lnSpc>
                <a:spcPct val="112000"/>
              </a:lnSpc>
            </a:pPr>
            <a:r>
              <a:rPr sz="1400" b="0">
                <a:solidFill>
                  <a:srgbClr val="7FB58E"/>
                </a:solidFill>
                <a:latin typeface="Consolas"/>
              </a:rPr>
              <a:t># na imagem do MCUboot: CONFIG_BOOT_KEYS_REVOCATION=y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5483352"/>
            <a:ext cx="107652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1">
                <a:solidFill>
                  <a:srgbClr val="566577"/>
                </a:solidFill>
                <a:latin typeface="Segoe UI"/>
              </a:rPr>
              <a:t>Chave de desenvolvimento gerada pelo build só serve para o laboratório: produto usa chave própria, fora do repositório.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SECURE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o nRF54L acrescenta ao boot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Do datasheet do nRF54LM20A/B, capítulo Security. Nada disso existe no nRF91, que compensa com o modem como segundo domínio (bloco 03).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Região de boot por hardware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UICR.BOOTCONF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define a região imutável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aplicada por uma máquina de estados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antes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de o Cortex-M33 executar a primeira instrução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o bootloader não precisa se travar: já nasce travado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8698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8154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Chaves de RoT no UICR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88154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USER.ROT.PUBKEY[n].DIGEST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SHA-512 das chaves públicas por geração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USER.ROT.PUBKEY[n].REVOKE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: bit que aposenta a geração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é o que o MCUboot usa quando a chave está no KMU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24164" y="2738628"/>
            <a:ext cx="3454298" cy="26517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3620" y="2884932"/>
            <a:ext cx="301538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Segurança física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3620" y="3268980"/>
            <a:ext cx="3015386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controlador de tamper: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active shield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, protetores de sinal, detectores de glitch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CRACEN com mascaramento contra SPA/DPA e proteção contra timing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é o que separa o Level 3 do Level 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02 · SECURE BOOT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Fechar o debug: APPROTECT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página Managing access port protection do NCS e do datasheet do nRF9151. Um chip com APPROTECT e ERASEPROTECT ligados não volta para a bancada.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2103119"/>
                <a:gridCol w="2651759"/>
                <a:gridCol w="3108959"/>
                <a:gridCol w="29013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/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nRF9160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nRF9151 (nRF91x1)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nRF54LM20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Controle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hardware (UICR)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hardware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software (Kconfig)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hardware e software (Kconfig)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Estado de fábrica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aberto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fechado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; religa a cada hard reset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fechado; religa a cada hard reset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Como o NCS abre no boot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não precisa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CONFIG_NRF_APPROTECT_USE_UICR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(padrão) escreve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SwUnprotected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idem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Fechar de vez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nrfutil device protection-set All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nrfutil device protection-set All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nrfutil device protection-set All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Só o mundo seguro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protection-set SecureRegions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protection-set SecureRegions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protection-set SecureRegions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Reabrir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nrfutil device recover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(ERASEALL)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nrfutil device recover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(ERASEALL)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nrfutil device recover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(ERASEALL)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ERASEPROTECT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sim: com APPROTECT junto, </a:t>
                      </a:r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sem recuperação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Debug autenticado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ADAC no silício; sem suporte no NCS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212848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 i="0">
                <a:solidFill>
                  <a:srgbClr val="22C3E6"/>
                </a:solidFill>
                <a:latin typeface="Consola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944368"/>
            <a:ext cx="96926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E8F1F8"/>
                </a:solidFill>
                <a:latin typeface="Segoe UI"/>
              </a:rPr>
              <a:t>Secure Update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3232" y="3931920"/>
            <a:ext cx="1005840" cy="50800"/>
          </a:xfrm>
          <a:prstGeom prst="rect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4224528"/>
            <a:ext cx="89611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0">
                <a:solidFill>
                  <a:srgbClr val="93A6B8"/>
                </a:solidFill>
                <a:latin typeface="Segoe UI"/>
              </a:rPr>
              <a:t>Atualizar é reentrar na cadeia de confiança pelo meio: a imagem nova tem de passar pelo mesmo verificador do boot, e o transporte tem de ser fechado a quem não é o dono.</a:t>
            </a:r>
          </a:p>
        </p:txBody>
      </p:sp>
      <p:sp>
        <p:nvSpPr>
          <p:cNvPr id="7" name="Oval 6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SECURE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Os dois caminhos de atualização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Por BLE, o MCUmgr recebe a imagem e o MCUboot decide no reset. Por LTE,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fota_download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baixa e 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dfu_target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despacha para o MCUboot, para o modem ou para a flash externa.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883664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nRF54LM20 · 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50592" y="2249424"/>
            <a:ext cx="1948357" cy="1595628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15184" y="2359152"/>
            <a:ext cx="16191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app do celular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5184" y="2688336"/>
            <a:ext cx="1619173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nRF Device Manager ou </a:t>
            </a:r>
            <a:r>
              <a:rPr sz="950" b="0" i="0">
                <a:solidFill>
                  <a:srgbClr val="566577"/>
                </a:solidFill>
                <a:latin typeface="Consolas"/>
              </a:rPr>
              <a:t>nrfutil mcu-manager ble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;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pareamento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exigido se </a:t>
            </a:r>
            <a:r>
              <a:rPr sz="950" b="0" i="0">
                <a:solidFill>
                  <a:srgbClr val="566577"/>
                </a:solidFill>
                <a:latin typeface="Consolas"/>
              </a:rPr>
              <a:t>PERM_RW_AUTHEN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35525" y="3047238"/>
            <a:ext cx="338328" cy="0"/>
          </a:xfrm>
          <a:prstGeom prst="line">
            <a:avLst/>
          </a:prstGeom>
          <a:ln w="25400">
            <a:solidFill>
              <a:srgbClr val="0022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10429" y="2249424"/>
            <a:ext cx="1948357" cy="1595628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75021" y="2359152"/>
            <a:ext cx="16191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SMP / MCUmgr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75021" y="2688336"/>
            <a:ext cx="1619173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grupo image: upload por blocos, reassembly, MTU 498; os: reset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95363" y="3047238"/>
            <a:ext cx="338328" cy="0"/>
          </a:xfrm>
          <a:prstGeom prst="line">
            <a:avLst/>
          </a:prstGeom>
          <a:ln w="25400">
            <a:solidFill>
              <a:srgbClr val="0022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170267" y="2249424"/>
            <a:ext cx="1948357" cy="1595628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34859" y="2359152"/>
            <a:ext cx="16191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slot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4859" y="2688336"/>
            <a:ext cx="1619173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Consolas"/>
              </a:rPr>
              <a:t>zephyr.signed.bin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gravado na partição secundária; marcado como test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155201" y="3047238"/>
            <a:ext cx="338328" cy="0"/>
          </a:xfrm>
          <a:prstGeom prst="line">
            <a:avLst/>
          </a:prstGeom>
          <a:ln w="25400">
            <a:solidFill>
              <a:srgbClr val="00224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30105" y="2249424"/>
            <a:ext cx="1948357" cy="1595628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94697" y="2359152"/>
            <a:ext cx="16191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MCUboot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4697" y="2688336"/>
            <a:ext cx="1619173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no reset: assinatura ED25519 no CRACEN, versão, swap; reverte se a app não confirmar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256532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 i="0">
                <a:solidFill>
                  <a:srgbClr val="0B1B2B"/>
                </a:solidFill>
                <a:latin typeface="Segoe UI"/>
              </a:rPr>
              <a:t>nRF9151 · LTE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450592" y="4622292"/>
            <a:ext cx="1948357" cy="1595628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15184" y="4732020"/>
            <a:ext cx="16191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servidor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15184" y="5061204"/>
            <a:ext cx="1619173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HTTP(S) próprio, nRF Cloud (MQTT/CoAP, </a:t>
            </a:r>
            <a:r>
              <a:rPr sz="950" b="0" i="0">
                <a:solidFill>
                  <a:srgbClr val="566577"/>
                </a:solidFill>
                <a:latin typeface="Consolas"/>
              </a:rPr>
              <a:t>fota_v2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) ou LwM2M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435525" y="5420106"/>
            <a:ext cx="338328" cy="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4810429" y="4622292"/>
            <a:ext cx="1948357" cy="1595628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75021" y="4732020"/>
            <a:ext cx="16191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fota_download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75021" y="5061204"/>
            <a:ext cx="1619173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baixa por </a:t>
            </a:r>
            <a:r>
              <a:rPr sz="950" b="0" i="0">
                <a:solidFill>
                  <a:srgbClr val="566577"/>
                </a:solidFill>
                <a:latin typeface="Consolas"/>
              </a:rPr>
              <a:t>downloader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, lê o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header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 e escolhe o alvo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795363" y="5420106"/>
            <a:ext cx="338328" cy="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7170267" y="4622292"/>
            <a:ext cx="1948357" cy="1595628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34859" y="4732020"/>
            <a:ext cx="16191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dfu_target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34859" y="5061204"/>
            <a:ext cx="1619173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566577"/>
                </a:solidFill>
                <a:latin typeface="Segoe UI"/>
              </a:rPr>
              <a:t>app → slot 1 (MCUboot); modem delta → </a:t>
            </a:r>
            <a:r>
              <a:rPr sz="950" b="1" i="0">
                <a:solidFill>
                  <a:srgbClr val="0B1B2B"/>
                </a:solidFill>
                <a:latin typeface="Segoe UI"/>
              </a:rPr>
              <a:t>modem</a:t>
            </a:r>
            <a:r>
              <a:rPr sz="950" b="0" i="0">
                <a:solidFill>
                  <a:srgbClr val="566577"/>
                </a:solidFill>
                <a:latin typeface="Segoe UI"/>
              </a:rPr>
              <a:t>; FMFU → flash externa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9155201" y="5420106"/>
            <a:ext cx="338328" cy="0"/>
          </a:xfrm>
          <a:prstGeom prst="line">
            <a:avLst/>
          </a:prstGeom>
          <a:ln w="25400">
            <a:solidFill>
              <a:srgbClr val="0093D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9530105" y="4622292"/>
            <a:ext cx="1948357" cy="1595628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94697" y="4732020"/>
            <a:ext cx="1619173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quem verifica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4697" y="5061204"/>
            <a:ext cx="1619173" cy="10927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93A6B8"/>
                </a:solidFill>
                <a:latin typeface="Segoe UI"/>
              </a:rPr>
              <a:t>app: MCUboot (ECDSA P-256); bootloader: NSIB; modem: </a:t>
            </a:r>
            <a:r>
              <a:rPr sz="950" b="1" i="0">
                <a:solidFill>
                  <a:srgbClr val="E8F1F8"/>
                </a:solidFill>
                <a:latin typeface="Segoe UI"/>
              </a:rPr>
              <a:t>o próprio modem</a:t>
            </a:r>
            <a:r>
              <a:rPr sz="950" b="0" i="0">
                <a:solidFill>
                  <a:srgbClr val="93A6B8"/>
                </a:solidFill>
                <a:latin typeface="Segoe UI"/>
              </a:rPr>
              <a:t> (assinado e cifrado pela Nordic)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SECURE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Transportes e bibliotecas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transporte não verifica nada: quem verifica é o bootloader (aplicação) ou o modem (firmware do modem). O transporte decide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quem pode enviar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7" cy="342900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737359"/>
                <a:gridCol w="2103119"/>
                <a:gridCol w="3108959"/>
                <a:gridCol w="2560319"/>
                <a:gridCol w="125547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Caminho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Transporte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Biblioteca no NCS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Quem inicia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Kits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SMP local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BLE, UART, USB, shell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MCUmgr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CONFIG_MCUMGR_TRANSPORT_BT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etc.)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app nRF Device Manager ou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nrfutil mcu-manager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LM20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FOTA por HTTP(S)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LTE-M/NB-IoT, Wi-Fi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fota_download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downloader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dfu_target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 própria aplicação, com uma URL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9151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nRF Cloud FOTA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MQTT ou CoAP sobre LTE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nrf_cloud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CONFIG_NRF_CLOUD_FOTA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fota_v2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no shadow)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job criado no portal ou pela REST API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9151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LwM2M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CoAP/DTLS sobre LTE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objeto 5 do cliente LwM2M do Zephyr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servidor LwM2M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9151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Modem delta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qualquer dos acima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dfu_target_modem_delta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→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nrf_modem_delta_dfu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idem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9151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FMFU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HTTP ou SMP por UART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dfu_target_full_modem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flash externa ≥ 4 MB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idem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9151 (DK comum)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SECURE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Sessão SMP: aberta ou autenticada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overlay-bt.conf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do sample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smp_svr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vem </a:t>
            </a:r>
            <a:r>
              <a:rPr sz="1400" b="1" i="0">
                <a:solidFill>
                  <a:srgbClr val="0B1B2B"/>
                </a:solidFill>
                <a:latin typeface="Segoe UI"/>
              </a:rPr>
              <a:t>sem autenticação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. Uma linha de Kconfig exige pareamento com MITM antes de a característica SMP aceitar escrita.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154015" cy="4288536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 w="12700">
            <a:solidFill>
              <a:srgbClr val="D3E0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41832" y="2020824"/>
            <a:ext cx="46968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B1B2B"/>
                </a:solidFill>
                <a:latin typeface="Segoe UI"/>
              </a:rPr>
              <a:t>sem autenticação (overlay-bt.conf de fábrica)</a:t>
            </a:r>
          </a:p>
        </p:txBody>
      </p:sp>
      <p:sp>
        <p:nvSpPr>
          <p:cNvPr id="11" name="Oval 10"/>
          <p:cNvSpPr/>
          <p:nvPr/>
        </p:nvSpPr>
        <p:spPr>
          <a:xfrm>
            <a:off x="987552" y="2523744"/>
            <a:ext cx="347472" cy="347472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87552" y="2560320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90472" y="2478024"/>
            <a:ext cx="4148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conexão 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90472" y="2752344"/>
            <a:ext cx="4148175" cy="6149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qualquer central conecta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3412998"/>
            <a:ext cx="347472" cy="347472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449574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3367278"/>
            <a:ext cx="4148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característica SMP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90472" y="3641598"/>
            <a:ext cx="4148175" cy="6149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66577"/>
                </a:solidFill>
                <a:latin typeface="Consolas"/>
              </a:rPr>
              <a:t>CONFIG_MCUMGR_TRANSPORT_BT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· permissão de escrita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aberta</a:t>
            </a:r>
          </a:p>
        </p:txBody>
      </p:sp>
      <p:sp>
        <p:nvSpPr>
          <p:cNvPr id="19" name="Oval 18"/>
          <p:cNvSpPr/>
          <p:nvPr/>
        </p:nvSpPr>
        <p:spPr>
          <a:xfrm>
            <a:off x="987552" y="4302252"/>
            <a:ext cx="347472" cy="347472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4338828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90472" y="4256532"/>
            <a:ext cx="4148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image upload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4530852"/>
            <a:ext cx="4148175" cy="6149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qualquer app grava no slot 1</a:t>
            </a:r>
          </a:p>
        </p:txBody>
      </p:sp>
      <p:sp>
        <p:nvSpPr>
          <p:cNvPr id="23" name="Oval 22"/>
          <p:cNvSpPr/>
          <p:nvPr/>
        </p:nvSpPr>
        <p:spPr>
          <a:xfrm>
            <a:off x="987552" y="5191506"/>
            <a:ext cx="347472" cy="347472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" y="5228082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90472" y="5145786"/>
            <a:ext cx="4148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MCUboot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90472" y="5420106"/>
            <a:ext cx="4148175" cy="6149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566577"/>
                </a:solidFill>
                <a:latin typeface="Segoe UI"/>
              </a:rPr>
              <a:t>recusa a imagem se a </a:t>
            </a:r>
            <a:r>
              <a:rPr sz="1050" b="1" i="0">
                <a:solidFill>
                  <a:srgbClr val="0B1B2B"/>
                </a:solidFill>
                <a:latin typeface="Segoe UI"/>
              </a:rPr>
              <a:t>assinatura</a:t>
            </a:r>
            <a:r>
              <a:rPr sz="1050" b="0" i="0">
                <a:solidFill>
                  <a:srgbClr val="566577"/>
                </a:solidFill>
                <a:latin typeface="Segoe UI"/>
              </a:rPr>
              <a:t> não bater — é a única barreira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24447" y="1883664"/>
            <a:ext cx="5154015" cy="4288536"/>
          </a:xfrm>
          <a:prstGeom prst="roundRect">
            <a:avLst>
              <a:gd name="adj" fmla="val 7000"/>
            </a:avLst>
          </a:prstGeom>
          <a:solidFill>
            <a:srgbClr val="0022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53047" y="2020824"/>
            <a:ext cx="46968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8F1F8"/>
                </a:solidFill>
                <a:latin typeface="Segoe UI"/>
              </a:rPr>
              <a:t>com </a:t>
            </a:r>
            <a:r>
              <a:rPr sz="1300" b="1" i="0">
                <a:solidFill>
                  <a:srgbClr val="E8F1F8"/>
                </a:solidFill>
                <a:latin typeface="Consolas"/>
              </a:rPr>
              <a:t>CONFIG_MCUMGR_TRANSPORT_BT_PERM_RW_AUTHEN=y</a:t>
            </a:r>
          </a:p>
        </p:txBody>
      </p:sp>
      <p:sp>
        <p:nvSpPr>
          <p:cNvPr id="29" name="Oval 28"/>
          <p:cNvSpPr/>
          <p:nvPr/>
        </p:nvSpPr>
        <p:spPr>
          <a:xfrm>
            <a:off x="6598767" y="2523744"/>
            <a:ext cx="347472" cy="347472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98767" y="2560320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1687" y="2478024"/>
            <a:ext cx="4148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conexão BLE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01687" y="2752344"/>
            <a:ext cx="4148175" cy="6149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conecta, mas a característica exige </a:t>
            </a:r>
            <a:r>
              <a:rPr sz="1050" b="1" i="0">
                <a:solidFill>
                  <a:srgbClr val="E8F1F8"/>
                </a:solidFill>
                <a:latin typeface="Segoe UI"/>
              </a:rPr>
              <a:t>encrypt + authenticate</a:t>
            </a:r>
          </a:p>
        </p:txBody>
      </p:sp>
      <p:sp>
        <p:nvSpPr>
          <p:cNvPr id="33" name="Oval 32"/>
          <p:cNvSpPr/>
          <p:nvPr/>
        </p:nvSpPr>
        <p:spPr>
          <a:xfrm>
            <a:off x="6598767" y="3412998"/>
            <a:ext cx="347472" cy="347472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98767" y="3449574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01687" y="3367278"/>
            <a:ext cx="4148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pareamento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01687" y="3641598"/>
            <a:ext cx="4148175" cy="6149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LE Secure Connections com MITM (passkey/numeric comparison); bond opcional</a:t>
            </a:r>
          </a:p>
        </p:txBody>
      </p:sp>
      <p:sp>
        <p:nvSpPr>
          <p:cNvPr id="37" name="Oval 36"/>
          <p:cNvSpPr/>
          <p:nvPr/>
        </p:nvSpPr>
        <p:spPr>
          <a:xfrm>
            <a:off x="6598767" y="4302252"/>
            <a:ext cx="347472" cy="347472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98767" y="4338828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01687" y="4256532"/>
            <a:ext cx="4148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image upload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1687" y="4530852"/>
            <a:ext cx="4148175" cy="6149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só a central pareada; </a:t>
            </a:r>
            <a:r>
              <a:rPr sz="1050" b="0" i="0">
                <a:solidFill>
                  <a:srgbClr val="93A6B8"/>
                </a:solidFill>
                <a:latin typeface="Consolas"/>
              </a:rPr>
              <a:t>nrfutil mcu-manager ble --pair --bond --secure-connection --mitm</a:t>
            </a:r>
          </a:p>
        </p:txBody>
      </p:sp>
      <p:sp>
        <p:nvSpPr>
          <p:cNvPr id="41" name="Oval 40"/>
          <p:cNvSpPr/>
          <p:nvPr/>
        </p:nvSpPr>
        <p:spPr>
          <a:xfrm>
            <a:off x="6598767" y="5191506"/>
            <a:ext cx="347472" cy="347472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98767" y="5228082"/>
            <a:ext cx="34747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 i="0">
                <a:solidFill>
                  <a:srgbClr val="0B1B2B"/>
                </a:solidFill>
                <a:latin typeface="Segoe U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01687" y="5145786"/>
            <a:ext cx="414817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8F1F8"/>
                </a:solidFill>
                <a:latin typeface="Segoe UI"/>
              </a:rPr>
              <a:t>MCUboot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01687" y="5420106"/>
            <a:ext cx="4148175" cy="6149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 i="0">
                <a:solidFill>
                  <a:srgbClr val="93A6B8"/>
                </a:solidFill>
                <a:latin typeface="Segoe UI"/>
              </a:rPr>
              <a:t>assinatura continua sendo verificada: duas barreiras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SECURE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 que protege a imagem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19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Quatro propriedades, quatro mecanismos distintos. A assinatura é obrigatória; as outras três são opções de build.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83664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Assinatura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414016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autenticidade e integridade: só o dono da chave privada gera uma imagem aceita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ED25519 no nRF54L (CRACEN), ECDSA P-256 no nRF91 (CC310)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imgtool sign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no build: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zephyr.signed.bin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883664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5887" y="2029968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Versão e contador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5887" y="2414016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versão semântica no header (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CONFIG_MCUBOOT_IMGTOOL_SIGN_VERSION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contador monotônico em hardware: uma versão menor não boota mesmo assinada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no nRF54L o contador é do MCUboot desde o NCS 3.1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3232" y="4165092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431139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Confidencialidade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695444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imagem cifrada com AES; a chave da imagem vai cifrada por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ECIES-X25519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protege o binário em trânsito e no slot secundário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nRF54L, só com ED25519, não em direct-xip; a chave privada ECIES não vai ao KMU (Experimental)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6431" y="4165092"/>
            <a:ext cx="5282031" cy="2080260"/>
          </a:xfrm>
          <a:prstGeom prst="roundRect">
            <a:avLst>
              <a:gd name="adj" fmla="val 7000"/>
            </a:avLst>
          </a:prstGeom>
          <a:solidFill>
            <a:srgbClr val="ED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5887" y="4311396"/>
            <a:ext cx="484311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0B1B2B"/>
                </a:solidFill>
                <a:latin typeface="Segoe UI"/>
              </a:rPr>
              <a:t>Confirmação e reversão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5887" y="4695444"/>
            <a:ext cx="4843119" cy="14401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a imagem nova sobe como test; a app chama 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boot_write_img_confirmed()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sem confirmação, o próximo reset </a:t>
            </a:r>
            <a:r>
              <a:rPr sz="1200" b="1" i="0">
                <a:solidFill>
                  <a:srgbClr val="0B1B2B"/>
                </a:solidFill>
                <a:latin typeface="Segoe UI"/>
              </a:rPr>
              <a:t>reverte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 (modo swap)</a:t>
            </a:r>
          </a:p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566577"/>
                </a:solidFill>
                <a:latin typeface="Segoe UI"/>
              </a:rPr>
              <a:t>▪ compressão LZMA opcional (</a:t>
            </a:r>
            <a:r>
              <a:rPr sz="1200" b="0" i="0">
                <a:solidFill>
                  <a:srgbClr val="566577"/>
                </a:solidFill>
                <a:latin typeface="Consolas"/>
              </a:rPr>
              <a:t>compressed_update</a:t>
            </a:r>
            <a:r>
              <a:rPr sz="1200" b="0" i="0">
                <a:solidFill>
                  <a:srgbClr val="566577"/>
                </a:solidFill>
                <a:latin typeface="Segoe UI"/>
              </a:rPr>
              <a:t>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SECURE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FOTA no nRF9151: cinco tipos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doc do nRF Cloud e do guia Configuring and building with nRF91. O delta do modem é o caso mais simples: não passa pelo MCUboot, não precisa de memória externa.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7" cy="292608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1371599"/>
                <a:gridCol w="2377439"/>
                <a:gridCol w="2377439"/>
                <a:gridCol w="2194559"/>
                <a:gridCol w="244419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Tipo (`fota_v2`)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troca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Quem verifica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Memória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Sample no 3.4.0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APP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aplicação + TF-M (uma imagem só)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MCUboot, ECDSA P-256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slot 1 na flash interna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http_update/application_update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nrf_cloud_mqtt_fota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nrf_cloud_coap_fota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BOOT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MCUboot (S0 ↔ S1)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NSIB, hashes em OTP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outro slot S0/S1; exige variantes pré-assinadas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os mesmos, com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SB_CONFIG_SECURE_BOOT_APPCORE=y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MODEM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delta do firmware do modem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0B1B2B"/>
                          </a:solidFill>
                          <a:latin typeface="Segoe UI"/>
                        </a:rPr>
                        <a:t>o modem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(assinado e cifrado pela Nordic)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área de scratch do modem; sem flash externa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http_update/modem_delta_update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MDM_FULL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firmware completo do modem (~2 MB)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modem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flash externa ≥ 4 MB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http_update/modem_full_update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,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fmfu_smp_svr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SMP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um dispositivo auxiliar por SMP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o bootloader do auxiliar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SECURE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FOTA do modem: verificação pelo modem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Da doc Delta firmware updates da biblioteca do modem. É uma cadeia de confiança paralela à do Cortex-M33, com raiz na Nordic.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1947672"/>
            <a:ext cx="10765231" cy="42245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Só firmware da Nordic entra</a:t>
            </a:r>
            <a:r>
              <a:rPr sz="1700" b="0">
                <a:solidFill>
                  <a:srgbClr val="0B1B2B"/>
                </a:solidFill>
                <a:latin typeface="Segoe UI"/>
              </a:rPr>
              <a:t>: os arquivos de delta e completos vêm </a:t>
            </a:r>
            <a:r>
              <a:rPr sz="1700" b="1">
                <a:solidFill>
                  <a:srgbClr val="0093D0"/>
                </a:solidFill>
                <a:latin typeface="Segoe UI"/>
              </a:rPr>
              <a:t>assinados e cifrados</a:t>
            </a:r>
            <a:r>
              <a:rPr sz="1700" b="0">
                <a:solidFill>
                  <a:srgbClr val="0B1B2B"/>
                </a:solidFill>
                <a:latin typeface="Segoe UI"/>
              </a:rPr>
              <a:t>; o modem verifica a assinatura e decifra.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Fail-safe</a:t>
            </a:r>
            <a:r>
              <a:rPr sz="1700" b="0">
                <a:solidFill>
                  <a:srgbClr val="0B1B2B"/>
                </a:solidFill>
                <a:latin typeface="Segoe UI"/>
              </a:rPr>
              <a:t>: firmware corrompido na transferência → aborta e segue com o atual; problema detectado no boot → volta ao anterior.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Queda de energia</a:t>
            </a:r>
            <a:r>
              <a:rPr sz="1700" b="0">
                <a:solidFill>
                  <a:srgbClr val="0B1B2B"/>
                </a:solidFill>
                <a:latin typeface="Segoe UI"/>
              </a:rPr>
              <a:t>: na transferência, a app retoma; na aplicação do delta, o modem retoma sozinho no próximo boot.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Rollback manual</a:t>
            </a:r>
            <a:r>
              <a:rPr sz="1700" b="0">
                <a:solidFill>
                  <a:srgbClr val="0B1B2B"/>
                </a:solidFill>
                <a:latin typeface="Segoe UI"/>
              </a:rPr>
              <a:t>: </a:t>
            </a:r>
            <a:r>
              <a:rPr sz="1700" b="0">
                <a:solidFill>
                  <a:srgbClr val="0B1B2B"/>
                </a:solidFill>
                <a:latin typeface="Consolas"/>
              </a:rPr>
              <a:t>nrf_modem_delta_dfu_rollback()</a:t>
            </a:r>
            <a:r>
              <a:rPr sz="1700" b="0">
                <a:solidFill>
                  <a:srgbClr val="0B1B2B"/>
                </a:solidFill>
                <a:latin typeface="Segoe UI"/>
              </a:rPr>
              <a:t> agenda a volta; o mesmo arquivo de delta serve para ir e voltar, </a:t>
            </a:r>
            <a:r>
              <a:rPr sz="1700" b="1">
                <a:solidFill>
                  <a:srgbClr val="0093D0"/>
                </a:solidFill>
                <a:latin typeface="Segoe UI"/>
              </a:rPr>
              <a:t>offline</a:t>
            </a:r>
            <a:r>
              <a:rPr sz="1700" b="0">
                <a:solidFill>
                  <a:srgbClr val="0B1B2B"/>
                </a:solidFill>
                <a:latin typeface="Segoe UI"/>
              </a:rPr>
              <a:t>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Pausa e retomada</a:t>
            </a:r>
            <a:r>
              <a:rPr sz="1700" b="0">
                <a:solidFill>
                  <a:srgbClr val="0B1B2B"/>
                </a:solidFill>
                <a:latin typeface="Segoe UI"/>
              </a:rPr>
              <a:t>: </a:t>
            </a:r>
            <a:r>
              <a:rPr sz="1700" b="0">
                <a:solidFill>
                  <a:srgbClr val="0B1B2B"/>
                </a:solidFill>
                <a:latin typeface="Consolas"/>
              </a:rPr>
              <a:t>write_init()</a:t>
            </a:r>
            <a:r>
              <a:rPr sz="1700" b="0">
                <a:solidFill>
                  <a:srgbClr val="0B1B2B"/>
                </a:solidFill>
                <a:latin typeface="Segoe UI"/>
              </a:rPr>
              <a:t> e </a:t>
            </a:r>
            <a:r>
              <a:rPr sz="1700" b="0">
                <a:solidFill>
                  <a:srgbClr val="0B1B2B"/>
                </a:solidFill>
                <a:latin typeface="Consolas"/>
              </a:rPr>
              <a:t>write_done()</a:t>
            </a:r>
            <a:r>
              <a:rPr sz="1700" b="0">
                <a:solidFill>
                  <a:srgbClr val="0B1B2B"/>
                </a:solidFill>
                <a:latin typeface="Segoe UI"/>
              </a:rPr>
              <a:t> deixam a app baixar quando convém.</a:t>
            </a:r>
          </a:p>
          <a:p>
            <a:pPr marL="256032" indent="-256032">
              <a:lnSpc>
                <a:spcPct val="118000"/>
              </a:lnSpc>
              <a:spcAft>
                <a:spcPts val="900"/>
              </a:spcAft>
              <a:buClr>
                <a:srgbClr val="0093D0"/>
              </a:buClr>
              <a:buSzPct val="90000"/>
              <a:buFont typeface="Segoe UI"/>
              <a:buChar char="▪"/>
            </a:pPr>
            <a:r>
              <a:rPr sz="1700" b="1">
                <a:solidFill>
                  <a:srgbClr val="0093D0"/>
                </a:solidFill>
                <a:latin typeface="Segoe UI"/>
              </a:rPr>
              <a:t>Custo</a:t>
            </a:r>
            <a:r>
              <a:rPr sz="1700" b="0">
                <a:solidFill>
                  <a:srgbClr val="0B1B2B"/>
                </a:solidFill>
                <a:latin typeface="Segoe UI"/>
              </a:rPr>
              <a:t>: delta pequeno, sem memória externa; imagem completa de ~2 MB exige flash externa de 4 MB e tráfego LTE proporcional.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SECURE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Uma atualização assinada, passo a passo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O mesmo roteiro nos dois kits; mudam o transporte e o algoritmo. Em direct-xip não há swap: a imagem executa no slot em que chegou.</a:t>
            </a:r>
          </a:p>
        </p:txBody>
      </p:sp>
      <p:sp>
        <p:nvSpPr>
          <p:cNvPr id="9" name="Rectangle 8"/>
          <p:cNvSpPr/>
          <p:nvPr/>
        </p:nvSpPr>
        <p:spPr>
          <a:xfrm>
            <a:off x="1261872" y="2359155"/>
            <a:ext cx="25400" cy="30567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78992" y="1929387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1975107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64792" y="1901955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Build assina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64792" y="2212851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west build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com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SB_CONFIG_BOOTLOADER_MCUBOOT=y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gera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zephyr.signed.bin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(e o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.hex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para gravar por cabo)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1872" y="2984865"/>
            <a:ext cx="25400" cy="30567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78992" y="2555097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78992" y="2600817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64792" y="2527665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Transporte entrega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792" y="2838561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SMP por BLE (LM20) ou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fota_download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por LTE (9151); no BLE, pareamento se </a:t>
            </a:r>
            <a:r>
              <a:rPr sz="1250" b="0" i="0">
                <a:solidFill>
                  <a:srgbClr val="566577"/>
                </a:solidFill>
                <a:latin typeface="Consolas"/>
              </a:rPr>
              <a:t>PERM_RW_AUTHEN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61872" y="3610575"/>
            <a:ext cx="25400" cy="30567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78992" y="3180807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226527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792" y="3153375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Slot secundário recebe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64792" y="3464271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dfu_target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 grava e marca a imagem como pending; nada foi executado ainda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261872" y="4236285"/>
            <a:ext cx="25400" cy="30567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78992" y="3806517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78992" y="3852237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64792" y="3779085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Reset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64792" y="4089981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 app pede reboot; o bootloader roda antes de qualquer código atualizável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261872" y="4861995"/>
            <a:ext cx="25400" cy="30567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78992" y="4432227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78992" y="4477947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64792" y="4404795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Verificação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64792" y="4715691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assinatura contra a chave (KMU ou embutida); versão contra o contador; falhou → a imagem antiga continua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61872" y="5487705"/>
            <a:ext cx="25400" cy="305670"/>
          </a:xfrm>
          <a:prstGeom prst="rect">
            <a:avLst/>
          </a:prstGeom>
          <a:solidFill>
            <a:srgbClr val="D3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078992" y="5057937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78992" y="5103657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64792" y="5030505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Swap e teste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64792" y="5341401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Segoe UI"/>
              </a:rPr>
              <a:t>as imagens trocam de slot; a nova sobe como test e tem uma chance de confirmar</a:t>
            </a:r>
          </a:p>
        </p:txBody>
      </p:sp>
      <p:sp>
        <p:nvSpPr>
          <p:cNvPr id="39" name="Oval 38"/>
          <p:cNvSpPr/>
          <p:nvPr/>
        </p:nvSpPr>
        <p:spPr>
          <a:xfrm>
            <a:off x="1078992" y="5683647"/>
            <a:ext cx="402336" cy="402336"/>
          </a:xfrm>
          <a:prstGeom prst="ellipse">
            <a:avLst/>
          </a:prstGeom>
          <a:solidFill>
            <a:srgbClr val="0093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78992" y="5729367"/>
            <a:ext cx="402336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FFFFFF"/>
                </a:solidFill>
                <a:latin typeface="Segoe UI"/>
              </a:rPr>
              <a:t>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64792" y="5656215"/>
            <a:ext cx="8936431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0B1B2B"/>
                </a:solidFill>
                <a:latin typeface="Segoe UI"/>
              </a:rPr>
              <a:t>Confirmação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64792" y="5967111"/>
            <a:ext cx="8936431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i="0">
                <a:solidFill>
                  <a:srgbClr val="566577"/>
                </a:solidFill>
                <a:latin typeface="Consolas"/>
              </a:rPr>
              <a:t>boot_write_img_confirmed()</a:t>
            </a:r>
            <a:r>
              <a:rPr sz="1250" b="0" i="0">
                <a:solidFill>
                  <a:srgbClr val="566577"/>
                </a:solidFill>
                <a:latin typeface="Segoe UI"/>
              </a:rPr>
              <a:t>; sem ela, o próximo reset reverte para a anterior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0093D0"/>
                </a:solidFill>
                <a:latin typeface="Segoe UI"/>
              </a:rPr>
              <a:t>03 · SECURE UPDATE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0B1B2B"/>
                </a:solidFill>
                <a:latin typeface="Segoe UI"/>
              </a:rPr>
              <a:t>Onde está no NCS 3.4.0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0B1B2B"/>
                </a:solidFill>
                <a:latin typeface="Segoe UI"/>
              </a:rPr>
              <a:t>M3</a:t>
            </a:r>
            <a:r>
              <a:rPr sz="1000" b="0" i="0">
                <a:solidFill>
                  <a:srgbClr val="566577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566577"/>
                </a:solidFill>
                <a:latin typeface="Segoe UI"/>
              </a:rPr>
              <a:t>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225296"/>
            <a:ext cx="10765231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566577"/>
                </a:solidFill>
                <a:latin typeface="Segoe UI"/>
              </a:rPr>
              <a:t>Todos os alvos conferidos nos </a:t>
            </a:r>
            <a:r>
              <a:rPr sz="1400" b="0" i="0">
                <a:solidFill>
                  <a:srgbClr val="566577"/>
                </a:solidFill>
                <a:latin typeface="Consolas"/>
              </a:rPr>
              <a:t>sample.yaml</a:t>
            </a:r>
            <a:r>
              <a:rPr sz="1400" b="0" i="0">
                <a:solidFill>
                  <a:srgbClr val="566577"/>
                </a:solidFill>
                <a:latin typeface="Segoe UI"/>
              </a:rPr>
              <a:t> da árvore instalada. Nenhum foi compilado para este material.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713232" y="1883664"/>
          <a:ext cx="10765228" cy="4361688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4297679"/>
                <a:gridCol w="1188719"/>
                <a:gridCol w="1188719"/>
                <a:gridCol w="4090111"/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Sample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nRF54LM20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nRF9151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Segoe UI"/>
                        </a:rPr>
                        <a:t>O que mostra</a:t>
                      </a:r>
                    </a:p>
                  </a:txBody>
                  <a:tcPr anchor="ctr" marT="50800" marB="50800">
                    <a:solidFill>
                      <a:srgbClr val="00224E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samples/bootloader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NSIB com hashes em OTP, contador, revogação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samples/dfu/smp_svr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overlay-bt.conf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 (sem BLE)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SMP por BLE, MCUboot, KMU; a autenticação é uma linha a mais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samples/dfu/mcuboot_with_encryption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imagem cifrada ECIES-X25519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samples/dfu/compressed_update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imagem comprimida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samples/bluetooth/peripheral_lbs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 + </a:t>
                      </a:r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CONFIG_NCS_SAMPLE_MCUMGR_BT_OTA_DFU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FOTA por BLE em cima de um app comum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samples/cellular/http_update/*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app, delta do modem e FMFU por HTTP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samples/cellular/nrf_cloud_{mqtt,coap}_fota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jobs de FOTA pelo nRF Cloud</a:t>
                      </a:r>
                    </a:p>
                  </a:txBody>
                  <a:tcPr anchor="ctr" marT="38100" marB="38100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Consolas"/>
                        </a:rPr>
                        <a:t>samples/cellular/fmfu_smp_svr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sim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0B1B2B"/>
                          </a:solidFill>
                          <a:latin typeface="Segoe UI"/>
                        </a:rPr>
                        <a:t>FMFU por SMP na UART</a:t>
                      </a:r>
                    </a:p>
                  </a:txBody>
                  <a:tcPr anchor="ctr" marT="38100" marB="38100"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61527"/>
              </a:gs>
              <a:gs pos="100000">
                <a:srgbClr val="10314F"/>
              </a:gs>
            </a:gsLst>
            <a:lin scaled="0" ang="195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13232" y="27432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 spc="140">
                <a:solidFill>
                  <a:srgbClr val="22C3E6"/>
                </a:solidFill>
                <a:latin typeface="Segoe UI"/>
              </a:rPr>
              <a:t>RESUMO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5216"/>
            <a:ext cx="10765231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8F1F8"/>
                </a:solidFill>
                <a:latin typeface="Segoe UI"/>
              </a:rPr>
              <a:t>Resumo do bloco 01</a:t>
            </a:r>
          </a:p>
        </p:txBody>
      </p:sp>
      <p:sp>
        <p:nvSpPr>
          <p:cNvPr id="5" name="Oval 4"/>
          <p:cNvSpPr/>
          <p:nvPr/>
        </p:nvSpPr>
        <p:spPr>
          <a:xfrm>
            <a:off x="713232" y="6492240"/>
            <a:ext cx="82296" cy="82296"/>
          </a:xfrm>
          <a:prstGeom prst="ellipse">
            <a:avLst/>
          </a:prstGeom>
          <a:solidFill>
            <a:srgbClr val="22C3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640080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8F1F8"/>
                </a:solidFill>
                <a:latin typeface="Segoe UI"/>
              </a:rPr>
              <a:t>M3</a:t>
            </a:r>
            <a:r>
              <a:rPr sz="1000" b="0" i="0">
                <a:solidFill>
                  <a:srgbClr val="93A6B8"/>
                </a:solidFill>
                <a:latin typeface="Segoe UI"/>
              </a:rPr>
              <a:t> · IA EMBARCADA &amp; CONECTIVIDADE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00800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93A6B8"/>
                </a:solidFill>
                <a:latin typeface="Segoe UI"/>
              </a:rP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1572768"/>
            <a:ext cx="10765231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 raiz é hardware: flash travada, chave que o CPU não lê, OTP, debug fechado. O firmware só verifica.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nRF9151: NSIB + MCUboot, ECDSA P-256, hashes em OTP. nRF54LM20: MCUboot imutável, ED25519 no CRACEN, chave no </a:t>
            </a:r>
            <a:r>
              <a:rPr sz="1500" b="1">
                <a:solidFill>
                  <a:srgbClr val="E8F1F8"/>
                </a:solidFill>
                <a:latin typeface="Segoe UI"/>
              </a:rPr>
              <a:t>KMU</a:t>
            </a:r>
            <a:r>
              <a:rPr sz="1500" b="0">
                <a:solidFill>
                  <a:srgbClr val="93A6B8"/>
                </a:solidFill>
                <a:latin typeface="Segoe UI"/>
              </a:rPr>
              <a:t>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Atualizar é reentrar na cadeia: a imagem passa pelo mesmo verificador; o transporte decide quem pode enviar.</a:t>
            </a:r>
          </a:p>
          <a:p>
            <a:pPr marL="256032" indent="-256032">
              <a:spcAft>
                <a:spcPts val="600"/>
              </a:spcAft>
              <a:buClr>
                <a:srgbClr val="22C3E6"/>
              </a:buClr>
              <a:buSzPct val="90000"/>
              <a:buFont typeface="Segoe UI"/>
              <a:buChar char="▪"/>
            </a:pPr>
            <a:r>
              <a:rPr sz="1500" b="0">
                <a:solidFill>
                  <a:srgbClr val="93A6B8"/>
                </a:solidFill>
                <a:latin typeface="Segoe UI"/>
              </a:rPr>
              <a:t>O modem do nRF91 é uma cadeia paralela: só aceita firmware assinado e cifrado pela Nordic, e reverte sozinho.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P-256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ECDSA no NSIB e no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MCUboot do nRF91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61689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1689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 i="0">
                <a:solidFill>
                  <a:srgbClr val="22C3E6"/>
                </a:solidFill>
                <a:latin typeface="Consolas"/>
              </a:rPr>
              <a:t>ED25519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8849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MCUboot no nRF54L,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verificado pelo CRACEN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47307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gerações de chave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revogáveis no KMU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8605" y="3291840"/>
            <a:ext cx="2519857" cy="1828800"/>
          </a:xfrm>
          <a:prstGeom prst="roundRect">
            <a:avLst>
              <a:gd name="adj" fmla="val 7000"/>
            </a:avLst>
          </a:prstGeom>
          <a:solidFill>
            <a:srgbClr val="0D2138"/>
          </a:solidFill>
          <a:ln w="12700">
            <a:solidFill>
              <a:srgbClr val="1C3A5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58605" y="3547872"/>
            <a:ext cx="2519857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800" b="1" i="0">
                <a:solidFill>
                  <a:srgbClr val="22C3E6"/>
                </a:solidFill>
                <a:latin typeface="Consolas"/>
              </a:rPr>
              <a:t>4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5765" y="4526280"/>
            <a:ext cx="2245537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flash externa para</a:t>
            </a:r>
          </a:p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93A6B8"/>
                </a:solidFill>
                <a:latin typeface="Segoe UI"/>
              </a:rPr>
              <a:t>FMFU; delta não precisa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532120"/>
            <a:ext cx="10765231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1">
                <a:solidFill>
                  <a:srgbClr val="22C3E6"/>
                </a:solidFill>
                <a:latin typeface="Segoe UI"/>
              </a:rPr>
              <a:t>Sem região de boot travada e chave fora do alcance do CPU, a verificação de assinatura pode ser contornada reescrevendo o verificador.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