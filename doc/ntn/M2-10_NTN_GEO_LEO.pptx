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NB-IoT — Narrowband IoT: a variante Cat-NB1/NB2.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R17 — 3GPP Release 17: a versão que trouxe IoT NTN (NB-IoT e LTE-M por satélite).</a:t>
            </a:r>
          </a:p>
          <a:p>
            <a:r>
              <a:t>SIM — Subscriber Identity Module.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R17 — 3GPP Release 17: a versão que trouxe IoT NTN (NB-IoT e LTE-M por satélite).</a:t>
            </a:r>
          </a:p>
          <a:p>
            <a:r>
              <a:t>Kconfig — O sistema de configuração do Zephyr: as opções CONFIG_* do prj.conf.</a:t>
            </a:r>
          </a:p>
          <a:p>
            <a:r>
              <a:t>GSO — Geosynchronous Orbit: o termo do 3GPP para as órbitas de período igual ao da Terra; o GEO é o caso de inclinação zero.</a:t>
            </a:r>
          </a:p>
          <a:p>
            <a:r>
              <a:t>NGSO — Non-Geosynchronous Orbit: LEO e MEO, na terminologia do 3GPP.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R19 — 3GPP Release 19: acrescenta store-and-forward e cobertura descontínua ao IoT NTN.</a:t>
            </a:r>
          </a:p>
          <a:p>
            <a:r>
              <a:t>UE — User Equipment: o dispositivo, na nomenclatura 3GPP.</a:t>
            </a:r>
          </a:p>
          <a:p>
            <a:r>
              <a:t>TA — Timing Advance: adiantamento da transmissão de subida para compensar o atraso de ida e volta; em NTN o UE calcula a parte do enlace de serviço a partir da efeméride e da própria posição.</a:t>
            </a:r>
          </a:p>
          <a:p>
            <a:r>
              <a:t>Doppler — Desvio de frequência pelo movimento relativo; em LEO chega a dezenas de kHz na portadora de 2 GHz e cruza zero no pico da passagem; em GEO é ~0.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UE — User Equipment: o dispositivo, na nomenclatura 3GPP.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NGSO — Non-Geosynchronous Orbit: LEO e MEO, na terminologia do 3GPP.</a:t>
            </a:r>
          </a:p>
          <a:p>
            <a:r>
              <a:t>GSO — Geosynchronous Orbit: o termo do 3GPP para as órbitas de período igual ao da Terra; o GEO é o caso de inclinação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UE — User Equipment: o dispositivo, na nomenclatura 3GPP.</a:t>
            </a:r>
          </a:p>
          <a:p>
            <a:r>
              <a:t>GSO — Geosynchronous Orbit: o termo do 3GPP para as órbitas de período igual ao da Terra; o GEO é o caso de inclinação zero.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NGSO — Non-Geosynchronous Orbit: LEO e MEO, na terminologia do 3GPP.</a:t>
            </a:r>
          </a:p>
          <a:p>
            <a:r>
              <a:t>R17 — 3GPP Release 17: a versão que trouxe IoT NTN (NB-IoT e LTE-M por satélite).</a:t>
            </a:r>
          </a:p>
          <a:p>
            <a:r>
              <a:t>R19 — 3GPP Release 19: acrescenta store-and-forward e cobertura descontínua ao IoT NTN.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eNB — Evolved Node B: a estação-base LTE; em GEO fica no chão, em LEO S&amp;F é o próprio satélite.</a:t>
            </a:r>
          </a:p>
          <a:p>
            <a:r>
              <a:t>SIM — Subscriber Identity Module.</a:t>
            </a:r>
          </a:p>
          <a:p>
            <a:r>
              <a:t>UDP — User Datagram Protocol: datagramas sem conexão nem garantia de entrega.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R19 — 3GPP Release 19: acrescenta store-and-forward e cobertura descontínua ao IoT NTN.</a:t>
            </a:r>
          </a:p>
          <a:p>
            <a:r>
              <a:t>UE — User Equipment: o dispositivo, na nomenclatura 3GPP.</a:t>
            </a:r>
          </a:p>
          <a:p>
            <a:r>
              <a:t>NB-IoT — Narrowband IoT: a variante Cat-NB1/NB2.</a:t>
            </a:r>
          </a:p>
          <a:p>
            <a:r>
              <a:t>R17 — 3GPP Release 17: a versão que trouxe IoT NTN (NB-IoT e LTE-M por satélite).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SNR — Signal-to-Noise Ratio: relação sinal/ruído em dB; 0 a 1 dB nos traces LEO.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GEO — Satélite geoestacionário: o que transmite as correções de um SBAS.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NB-IoT — Narrowband IoT: a variante Cat-NB1/NB2.</a:t>
            </a:r>
          </a:p>
          <a:p>
            <a:r>
              <a:t>UL — Uplink: sentido UE → rede.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CE level — Coverage Enhancement level (0, 1, 2): quantas repetições o UE usa no acesso; 2 é o nível de pior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S&amp;F — Store-and-forward: o satélite LEO é o eNB, guarda o dado e o entrega quando vê uma estação terrena; cobertura descontínua (R19).</a:t>
            </a:r>
          </a:p>
          <a:p>
            <a:r>
              <a:t>eNB — Evolved Node B: a estação-base LTE; em GEO fica no chão, em LEO S&amp;F é o próprio satélite.</a:t>
            </a:r>
          </a:p>
          <a:p>
            <a:r>
              <a:t>UE — User Equipment: o dispositivo, na nomenclatura 3GPP.</a:t>
            </a:r>
          </a:p>
          <a:p>
            <a:r>
              <a:t>R19 — 3GPP Release 19: acrescenta store-and-forward e cobertura descontínua ao IoT NTN.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PPK2 — Power Profiler Kit II: o medidor de corrente da Nordic (200 nA a 1 A, 100 kSa/s).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MSS — Mobile Satellite Service: as bandas de satélite (L a 1,5/1,6 GHz, S a 2 GHz) onde o IoT NTN opera; distintas das bandas terrestres.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DL — Downlink: sentido rede → UE.</a:t>
            </a:r>
          </a:p>
          <a:p>
            <a:r>
              <a:t>UL — Uplink: sentido UE → rede.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  <a:p>
            <a:r>
              <a:t>N_Offs-DL — Offset do EARFCN de descida de cada banda na tabela do TS 36.102 (banda 255: 228 736; banda 256: 229 076).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  <a:p>
            <a:r>
              <a:t>UL — Uplink: sentido UE → rede.</a:t>
            </a:r>
          </a:p>
          <a:p>
            <a:r>
              <a:t>DL — Downlink: sentido rede → UE.</a:t>
            </a:r>
          </a:p>
          <a:p>
            <a:r>
              <a:t>N_Offs-DL — Offset do EARFCN de descida de cada banda na tabela do TS 36.102 (banda 255: 228 736; banda 256: 229 076).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SIM — Subscriber Identity Module.</a:t>
            </a:r>
          </a:p>
          <a:p>
            <a:r>
              <a:t>PLMN — Public Land Mobile Network: código MCC+MNC da operadora; SatelIoT é 90197.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  <a:p>
            <a:r>
              <a:t>DL — Downlink: sentido rede → UE.</a:t>
            </a:r>
          </a:p>
          <a:p>
            <a:r>
              <a:t>GEO — Satélite geoestacionário: o que transmite as correções de um SBAS.</a:t>
            </a:r>
          </a:p>
          <a:p>
            <a:r>
              <a:t>APN — Access Point Name: a rede de dados da operadora; em APN privada o timer RRC pode ser negociado.</a:t>
            </a:r>
          </a:p>
          <a:p>
            <a:r>
              <a:t>LEO — Low Earth Orbit: 500 a 2000 km; ~90 min de órbita, minutos de visibilidade por passagem. SatelIoT opera a ~600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UE — User Equipment: o dispositivo, na nomenclatura 3GPP.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S&amp;F — Store-and-forward: o satélite LEO é o eNB, guarda o dado e o entrega quando vê uma estação terrena; cobertura descontínua (R19).</a:t>
            </a:r>
          </a:p>
          <a:p>
            <a:r>
              <a:t>SIM — Subscriber Identity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SGP4 — Simplified General Perturbations 4: o propagador orbital que usa TLE; erro de segundos para dias, minutos para semanas.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LEO — Low Earth Orbit: 500 a 2000 km; ~90 min de órbita, minutos de visibilidade por passagem. SatelIoT opera a ~600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SGP4 — Simplified General Perturbations 4: o propagador orbital que usa TLE; erro de segundos para dias, minutos para semanas.</a:t>
            </a:r>
          </a:p>
          <a:p>
            <a:r>
              <a:t>TLE — Two-Line Element set: os elementos orbitais publicados (CelesTrak) que o SGP4 propaga para prever passagens.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RLF — Radio Link Failure: perda do enlace declarada quando o T310 expira depois de N310 indicações de falta de sincronismo.</a:t>
            </a:r>
          </a:p>
          <a:p>
            <a:r>
              <a:t>T310 — Temporizador do RRC iniciado em out-of-sync; ao expirar, RLF. Em LEO é o satélite descendo abaixo do horizonte.</a:t>
            </a:r>
          </a:p>
          <a:p>
            <a:r>
              <a:t>SGP4 — Simplified General Perturbations 4: o propagador orbital que usa TLE; erro de segundos para dias, minutos para semanas.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SNR — Signal-to-Noise Ratio: relação sinal/ruído em dB; 0 a 1 dB nos traces LEO.</a:t>
            </a:r>
          </a:p>
          <a:p>
            <a:r>
              <a:t>S&amp;F — Store-and-forward: o satélite LEO é o eNB, guarda o dado e o entrega quando vê uma estação terrena; cobertura descontínua (R19).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UDP — User Datagram Protocol: datagramas sem conexão nem garantia de entrega.</a:t>
            </a:r>
          </a:p>
          <a:p>
            <a:r>
              <a:t>MIB-NB — MasterInformationBlock-NB: o bloco no NPBCH, a cada 640 ms, com o número de frame e o agendamento do SIB1-NB.</a:t>
            </a:r>
          </a:p>
          <a:p>
            <a:r>
              <a:t>SIB1-NB — SystemInformationBlockType1-NB: PLMN, TAC, identidade da célula e o agendamento dos outros SI; em NTN aponta o SIB31.</a:t>
            </a:r>
          </a:p>
          <a:p>
            <a:r>
              <a:t>CE level — Coverage Enhancement level (0, 1, 2): quantas repetições o UE usa no acesso; 2 é o nível de pior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UE — User Equipment: o dispositivo, na nomenclatura 3GPP.</a:t>
            </a:r>
          </a:p>
          <a:p>
            <a:r>
              <a:t>TA — Timing Advance: adiantamento da transmissão de subida para compensar o atraso de ida e volta; em NTN o UE calcula a parte do enlace de serviço a partir da efeméride e da própria posição.</a:t>
            </a:r>
          </a:p>
          <a:p>
            <a:r>
              <a:t>Doppler — Desvio de frequência pelo movimento relativo; em LEO chega a dezenas de kHz na portadora de 2 GHz e cruza zero no pico da passagem; em GEO é ~0.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GEO — Satélite geoestacionário: o que transmite as correções de um SBAS.</a:t>
            </a:r>
          </a:p>
          <a:p>
            <a:r>
              <a:t>NCS — nRF Connect SDK.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GEO — Satélite geoestacionário: o que transmite as correções de um SBAS.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NB-IoT — Narrowband IoT: a variante Cat-NB1/NB2.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  <a:p>
            <a:r>
              <a:t>AcT — Access Technology no +CEREG/+COPS: 7 = LTE-M, 9 = NB-IoT, 14 = NTN NB-IoT.</a:t>
            </a:r>
          </a:p>
          <a:p>
            <a:r>
              <a:t>SIB32 — SIB32-NB: assistência para cobertura descontínua (lista de satélites, t-Service, cobertura); é o que %SIBCONFIG e %SIBREQ entregam ao app.</a:t>
            </a:r>
          </a:p>
          <a:p>
            <a:r>
              <a:t>SIB31 — SIB31-NB: efeméride do satélite servidor, TA comum, K_offset e época — o que o UE usa para pré-compensar. Não sai por AT.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RF — Radiofrequência; chave de RF é o switch de antena entre BLE e Wi-Fi (ausente na EB II desta placa).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SIB1-NB — SystemInformationBlockType1-NB: PLMN, TAC, identidade da célula e o agendamento dos outros SI; em NTN aponta o SIB31.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GEO — Satélite geoestacionário: o que transmite as correções de um SBAS.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PCI — Physical Cell ID: identidade física da célula, derivada das sequências de sincronização (NPSS/NSSS).</a:t>
            </a:r>
          </a:p>
          <a:p>
            <a:r>
              <a:t>MIB-NB — MasterInformationBlock-NB: o bloco no NPBCH, a cada 640 ms, com o número de frame e o agendamento do SIB1-NB.</a:t>
            </a:r>
          </a:p>
          <a:p>
            <a:r>
              <a:t>hex — Arquivo Intel HEX: a imagem de firmware pronta para gravar.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PLMN — Public Land Mobile Network: código MCC+MNC da operadora; SatelIoT é 90197.</a:t>
            </a:r>
          </a:p>
          <a:p>
            <a:r>
              <a:t>TAC — Tracking Area Code: código da área de rastreamento, no +CEREG.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SIB31 — SIB31-NB: efeméride do satélite servidor, TA comum, K_offset e época — o que o UE usa para pré-compensar. Não sai por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SIB31 — SIB31-NB: efeméride do satélite servidor, TA comum, K_offset e época — o que o UE usa para pré-compensar. Não sai por AT.</a:t>
            </a:r>
          </a:p>
          <a:p>
            <a:r>
              <a:t>SIB32 — SIB32-NB: assistência para cobertura descontínua (lista de satélites, t-Service, cobertura); é o que %SIBCONFIG e %SIBREQ entregam ao app.</a:t>
            </a:r>
          </a:p>
          <a:p>
            <a:r>
              <a:t>TA — Timing Advance: adiantamento da transmissão de subida para compensar o atraso de ida e volta; em NTN o UE calcula a parte do enlace de serviço a partir da efeméride e da própria posição.</a:t>
            </a:r>
          </a:p>
          <a:p>
            <a:r>
              <a:t>K_offset — Deslocamento de agendamento em subframes que o NTN acrescenta entre DL e UL para cobrir o atraso de propagação.</a:t>
            </a:r>
          </a:p>
          <a:p>
            <a:r>
              <a:t>UE — User Equipment: o dispositivo, na nomenclatura 3GPP.</a:t>
            </a:r>
          </a:p>
          <a:p>
            <a:r>
              <a:t>Doppler — Desvio de frequência pelo movimento relativo; em LEO chega a dezenas de kHz na portadora de 2 GHz e cruza zero no pico da passagem; em GEO é ~0.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S&amp;F — Store-and-forward: o satélite LEO é o eNB, guarda o dado e o entrega quando vê uma estação terrena; cobertura descontínua (R19).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URC — Unsolicited Result Code: notificação assíncrona do modem no terminal AT (+CEREG, +CSCON, %LOCATION, #XSENDNTF...).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Doppler — Desvio de frequência pelo movimento relativo; em LEO chega a dezenas de kHz na portadora de 2 GHz e cruza zero no pico da passagem; em GEO é ~0.</a:t>
            </a:r>
          </a:p>
          <a:p>
            <a:r>
              <a:t>SGP4 — Simplified General Perturbations 4: o propagador orbital que usa TLE; erro de segundos para dias, minutos para semanas.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GEO — Satélite geoestacionário: o que transmite as correções de um SBAS.</a:t>
            </a:r>
          </a:p>
          <a:p>
            <a:r>
              <a:t>TA — Timing Advance: adiantamento da transmissão de subida para compensar o atraso de ida e volta; em NTN o UE calcula a parte do enlace de serviço a partir da efeméride e da própria posição.</a:t>
            </a:r>
          </a:p>
          <a:p>
            <a:r>
              <a:t>K_offset — Deslocamento de agendamento em subframes que o NTN acrescenta entre DL e UL para cobrir o atraso de propagação.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TA — Timing Advance: adiantamento da transmissão de subida para compensar o atraso de ida e volta; em NTN o UE calcula a parte do enlace de serviço a partir da efeméride e da própria posição.</a:t>
            </a:r>
          </a:p>
          <a:p>
            <a:r>
              <a:t>Doppler — Desvio de frequência pelo movimento relativo; em LEO chega a dezenas de kHz na portadora de 2 GHz e cruza zero no pico da passagem; em GEO é ~0.</a:t>
            </a:r>
          </a:p>
          <a:p>
            <a:r>
              <a:t>UE — User Equipment: o dispositivo, na nomenclatura 3GPP.</a:t>
            </a:r>
          </a:p>
          <a:p>
            <a:r>
              <a:t>SIB31 — SIB31-NB: efeméride do satélite servidor, TA comum, K_offset e época — o que o UE usa para pré-compensar. Não sai por AT.</a:t>
            </a:r>
          </a:p>
          <a:p>
            <a:r>
              <a:t>CE level — Coverage Enhancement level (0, 1, 2): quantas repetições o UE usa no acesso; 2 é o nível de pior cobertura.</a:t>
            </a:r>
          </a:p>
          <a:p>
            <a:r>
              <a:t>UL — Uplink: sentido UE → rede.</a:t>
            </a:r>
          </a:p>
          <a:p>
            <a:r>
              <a:t>NPUSCH — Narrowband Physical Uplink Shared Channel: o canal de subida de dados (formato 1) e de HARQ-ACK (formato 2); NB-IoT não tem PUCCH.</a:t>
            </a:r>
          </a:p>
          <a:p>
            <a:r>
              <a:t>K_offset — Deslocamento de agendamento em subframes que o NTN acrescenta entre DL e UL para cobrir o atraso de propagação.</a:t>
            </a:r>
          </a:p>
          <a:p>
            <a:r>
              <a:t>DL — Downlink: sentido rede → UE.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MIB-NB — MasterInformationBlock-NB: o bloco no NPBCH, a cada 640 ms, com o número de frame e o agendamento do SIB1-NB.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SIB1-NB — SystemInformationBlockType1-NB: PLMN, TAC, identidade da célula e o agendamento dos outros SI; em NTN aponta o SIB31.</a:t>
            </a:r>
          </a:p>
          <a:p>
            <a:r>
              <a:t>PLMN — Public Land Mobile Network: código MCC+MNC da operadora; SatelIoT é 90197.</a:t>
            </a:r>
          </a:p>
          <a:p>
            <a:r>
              <a:t>TAC — Tracking Area Code: código da área de rastreamento, no +CEREG.</a:t>
            </a:r>
          </a:p>
          <a:p>
            <a:r>
              <a:t>NAS — Non-Access Stratum: sinalização entre o UE e o core (Attach, Service Request, PDN).</a:t>
            </a:r>
          </a:p>
          <a:p>
            <a:r>
              <a:t>PDN — Packet Data Network: a conexão de dados (contexto) que o attach ativa; +CGDCONT define o APN e o tipo (ip ou non-ip).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NPUSCH — Narrowband Physical Uplink Shared Channel: o canal de subida de dados (formato 1) e de HARQ-ACK (formato 2); NB-IoT não tem PUCCH.</a:t>
            </a:r>
          </a:p>
          <a:p>
            <a:r>
              <a:t>AcT — Access Technology no +CEREG/+COPS: 7 = LTE-M, 9 = NB-IoT, 14 = NTN NB-IoT.</a:t>
            </a:r>
          </a:p>
          <a:p>
            <a:r>
              <a:t>UDP — User Datagram Protocol: datagramas sem conexão nem garantia de entrega.</a:t>
            </a:r>
          </a:p>
          <a:p>
            <a:r>
              <a:t>UL — Uplink: sentido UE → rede.</a:t>
            </a:r>
          </a:p>
          <a:p>
            <a:r>
              <a:t>UE — User Equipment: o dispositivo, na nomenclatura 3GPP.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EMM — EPS Mobility Management: a parte do NAS que faz attach e registro; causa #8 = EPS services and non-EPS services not allowed.</a:t>
            </a:r>
          </a:p>
          <a:p>
            <a:r>
              <a:t>NAS — Non-Access Stratum: sinalização entre o UE e o core (Attach, Service Request, PDN).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PLMN — Public Land Mobile Network: código MCC+MNC da operadora; SatelIoT é 90197.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NIDD — Non-IP Data Delivery: dados sem cabeçalho IP, pelo plano de controle; alternativa ao UDP/IP em NB-IoT.</a:t>
            </a:r>
          </a:p>
          <a:p>
            <a:r>
              <a:t>CP CIoT — Control Plane CIoT optimisation: dado de usuário dentro de mensagem NAS (Control Plane Service Request com PDU ESM), sem plano de usuário.</a:t>
            </a:r>
          </a:p>
          <a:p>
            <a:r>
              <a:t>NAS — Non-Access Stratum: sinalização entre o UE e o core (Attach, Service Request, PDN).</a:t>
            </a:r>
          </a:p>
          <a:p>
            <a:r>
              <a:t>ESM — EPS Session Management: a parte do NAS que ativa o bearer (PDN).</a:t>
            </a:r>
          </a:p>
          <a:p>
            <a:r>
              <a:t>APN — Access Point Name: a rede de dados da operadora; em APN privada o timer RRC pode ser negociado.</a:t>
            </a:r>
          </a:p>
          <a:p>
            <a:r>
              <a:t>GEO — Satélite geoestacionário: o que transmite as correções de um SBAS.</a:t>
            </a:r>
          </a:p>
          <a:p>
            <a:r>
              <a:t>IP — Internet Protocol: o endereçamento e o roteamento entre redes.</a:t>
            </a:r>
          </a:p>
          <a:p>
            <a:r>
              <a:t>UDP — User Datagram Protocol: datagramas sem conexão nem garantia de entrega.</a:t>
            </a:r>
          </a:p>
          <a:p>
            <a:r>
              <a:t>RAI — Release Assistance Indication: a UE avisa que terminou e pede a liberação antes do timer de inatividade.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S&amp;F — Store-and-forward: o satélite LEO é o eNB, guarda o dado e o entrega quando vê uma estação terrena; cobertura descontínua (R19).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HARQ — Hybrid ARQ: retransmissão com combinação; em NB-IoT o ACK/NACK do UE vai no NPUSCH formato 2.</a:t>
            </a:r>
          </a:p>
          <a:p>
            <a:r>
              <a:t>UE — User Equipment: o dispositivo, na nomenclatura 3GPP.</a:t>
            </a:r>
          </a:p>
          <a:p>
            <a:r>
              <a:t>NPUSCH — Narrowband Physical Uplink Shared Channel: o canal de subida de dados (formato 1) e de HARQ-ACK (formato 2); NB-IoT não tem PUCCH.</a:t>
            </a:r>
          </a:p>
          <a:p>
            <a:r>
              <a:t>NB-IoT — Narrowband IoT: a variante Cat-NB1/NB2.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S&amp;F — Store-and-forward: o satélite LEO é o eNB, guarda o dado e o entrega quando vê uma estação terrena; cobertura descontínua (R19).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RAI — Release Assistance Indication: a UE avisa que terminou e pede a liberação antes do timer de inatividade.</a:t>
            </a:r>
          </a:p>
          <a:p>
            <a:r>
              <a:t>SIB32 — SIB32-NB: assistência para cobertura descontínua (lista de satélites, t-Service, cobertura); é o que %SIBCONFIG e %SIBREQ entregam ao app.</a:t>
            </a:r>
          </a:p>
          <a:p>
            <a:r>
              <a:t>URC — Unsolicited Result Code: notificação assíncrona do modem no terminal AT (+CEREG, +CSCON, %LOCATION, #XSENDNTF...).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RLF — Radio Link Failure: perda do enlace declarada quando o T310 expira depois de N310 indicações de falta de sincronismo.</a:t>
            </a:r>
          </a:p>
          <a:p>
            <a:r>
              <a:t>T310 — Temporizador do RRC iniciado em out-of-sync; ao expirar, RLF. Em LEO é o satélite descendo abaixo do horizonte.</a:t>
            </a:r>
          </a:p>
          <a:p>
            <a:r>
              <a:t>CE level — Coverage Enhancement level (0, 1, 2): quantas repetições o UE usa no acesso; 2 é o nível de pior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GEO — Satélite geoestacionário: o que transmite as correções de um SBAS.</a:t>
            </a:r>
          </a:p>
          <a:p>
            <a:r>
              <a:t>API — Application Programming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NB-IoT — Narrowband IoT: a variante Cat-NB1/NB2.</a:t>
            </a:r>
          </a:p>
          <a:p>
            <a:r>
              <a:t>R17 — 3GPP Release 17: a versão que trouxe IoT NTN (NB-IoT e LTE-M por satélite).</a:t>
            </a:r>
          </a:p>
          <a:p>
            <a:r>
              <a:t>GEO — Satélite geoestacionário: o que transmite as correções de um SBAS.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UE — User Equipment: o dispositivo, na nomenclatura 3GPP.</a:t>
            </a:r>
          </a:p>
          <a:p>
            <a:r>
              <a:t>TA — Timing Advance: adiantamento da transmissão de subida para compensar o atraso de ida e volta; em NTN o UE calcula a parte do enlace de serviço a partir da efeméride e da própria posição.</a:t>
            </a:r>
          </a:p>
          <a:p>
            <a:r>
              <a:t>Doppler — Desvio de frequência pelo movimento relativo; em LEO chega a dezenas de kHz na portadora de 2 GHz e cruza zero no pico da passagem; em GEO é ~0.</a:t>
            </a:r>
          </a:p>
          <a:p>
            <a:r>
              <a:t>SIB31 — SIB31-NB: efeméride do satélite servidor, TA comum, K_offset e época — o que o UE usa para pré-compensar. Não sai por AT.</a:t>
            </a:r>
          </a:p>
          <a:p>
            <a:r>
              <a:t>CE level — Coverage Enhancement level (0, 1, 2): quantas repetições o UE usa no acesso; 2 é o nível de pior cobertura.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  <a:p>
            <a:r>
              <a:t>DL — Downlink: sentido rede → UE.</a:t>
            </a:r>
          </a:p>
          <a:p>
            <a:r>
              <a:t>RSRP — Reference Signal Received Power: potência do sinal de referência, em dBm; −131 dBm nos traces LEO.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10 · NTN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NB-IoT NTN no nRF9151: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GEO e 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Mesmo NB-IoT R17, mesma pilha de modem, mesma SIM: duas topologias de satélite com parâmetros diferentes.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A Parte A compara por parâmetro; a Parte B percorre o procedimento de acesso, com a evidência de trace de cada passo.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nRF9151 SMA-DK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6700" y="4709160"/>
            <a:ext cx="2105863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mfw_nrf9151-ntn 1.0.1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5443" y="4709160"/>
            <a:ext cx="193578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Serial Modem v1.0.0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4107" y="4709160"/>
            <a:ext cx="1085392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Skylo GEO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379" y="4709160"/>
            <a:ext cx="134051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SatelIoT LEO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modem suporta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Fontes: Product Specification do nRF9151 (capítulo NTN), a página “Evaluate NTN” da SMA-DK, o guia “Skylo NTN operation v1.0” e a referência de comandos AT do pacote de avaliação.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IoT NTN Cat-NB1/NB2 </a:t>
            </a:r>
            <a:r>
              <a:rPr sz="1700" b="1">
                <a:solidFill>
                  <a:srgbClr val="0093D0"/>
                </a:solidFill>
                <a:latin typeface="Segoe UI"/>
              </a:rPr>
              <a:t>3GPP R17</a:t>
            </a:r>
            <a:r>
              <a:rPr sz="1700" b="0">
                <a:solidFill>
                  <a:srgbClr val="0B1B2B"/>
                </a:solidFill>
                <a:latin typeface="Segoe UI"/>
              </a:rPr>
              <a:t>, em firmware de modem separado (</a:t>
            </a:r>
            <a:r>
              <a:rPr sz="1700" b="0">
                <a:solidFill>
                  <a:srgbClr val="0B1B2B"/>
                </a:solidFill>
                <a:latin typeface="Consolas"/>
              </a:rPr>
              <a:t>mfw_nrf9151-ntn</a:t>
            </a:r>
            <a:r>
              <a:rPr sz="1700" b="0">
                <a:solidFill>
                  <a:srgbClr val="0B1B2B"/>
                </a:solidFill>
                <a:latin typeface="Segoe UI"/>
              </a:rPr>
              <a:t>, hoje 1.0.1): é troca de firmware de modem, não Kconfig, e só na variante LACA A1A.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GSO</a:t>
            </a:r>
            <a:r>
              <a:rPr sz="1700" b="0">
                <a:solidFill>
                  <a:srgbClr val="0B1B2B"/>
                </a:solidFill>
                <a:latin typeface="Segoe UI"/>
              </a:rPr>
              <a:t>: R17 mais as otimizações da Skylo. </a:t>
            </a:r>
            <a:r>
              <a:rPr sz="1700" b="1">
                <a:solidFill>
                  <a:srgbClr val="0093D0"/>
                </a:solidFill>
                <a:latin typeface="Segoe UI"/>
              </a:rPr>
              <a:t>NGSO</a:t>
            </a:r>
            <a:r>
              <a:rPr sz="1700" b="0">
                <a:solidFill>
                  <a:srgbClr val="0B1B2B"/>
                </a:solidFill>
                <a:latin typeface="Segoe UI"/>
              </a:rPr>
              <a:t>: R17 para LEO/MEO e R19 para LEO em TDD.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Bandas B23/252 (S, EUA), B249 (TDD), </a:t>
            </a:r>
            <a:r>
              <a:rPr sz="1700" b="1">
                <a:solidFill>
                  <a:srgbClr val="0093D0"/>
                </a:solidFill>
                <a:latin typeface="Segoe UI"/>
              </a:rPr>
              <a:t>B255</a:t>
            </a:r>
            <a:r>
              <a:rPr sz="1700" b="0">
                <a:solidFill>
                  <a:srgbClr val="0B1B2B"/>
                </a:solidFill>
                <a:latin typeface="Segoe UI"/>
              </a:rPr>
              <a:t> (L, global) e </a:t>
            </a:r>
            <a:r>
              <a:rPr sz="1700" b="1">
                <a:solidFill>
                  <a:srgbClr val="0093D0"/>
                </a:solidFill>
                <a:latin typeface="Segoe UI"/>
              </a:rPr>
              <a:t>B256</a:t>
            </a:r>
            <a:r>
              <a:rPr sz="1700" b="0">
                <a:solidFill>
                  <a:srgbClr val="0B1B2B"/>
                </a:solidFill>
                <a:latin typeface="Segoe UI"/>
              </a:rPr>
              <a:t> (S, Europa), em canais de 200 kHz.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UE </a:t>
            </a:r>
            <a:r>
              <a:rPr sz="1700" b="1">
                <a:solidFill>
                  <a:srgbClr val="0093D0"/>
                </a:solidFill>
                <a:latin typeface="Segoe UI"/>
              </a:rPr>
              <a:t>pré-compensa TA e Doppler</a:t>
            </a:r>
            <a:r>
              <a:rPr sz="1700" b="0">
                <a:solidFill>
                  <a:srgbClr val="0B1B2B"/>
                </a:solidFill>
                <a:latin typeface="Segoe UI"/>
              </a:rPr>
              <a:t> a partir da efeméride transmitida pela rede e da sua própria posição; a posição entra por </a:t>
            </a:r>
            <a:r>
              <a:rPr sz="1700" b="0">
                <a:solidFill>
                  <a:srgbClr val="0B1B2B"/>
                </a:solidFill>
                <a:latin typeface="Consolas"/>
              </a:rPr>
              <a:t>%LOCATION</a:t>
            </a:r>
            <a:r>
              <a:rPr sz="1700" b="0">
                <a:solidFill>
                  <a:srgbClr val="0B1B2B"/>
                </a:solidFill>
                <a:latin typeface="Segoe UI"/>
              </a:rPr>
              <a:t>, de fora da pilha NTN.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GNSS interno e o NTN não rodam ao mesmo tempo</a:t>
            </a:r>
            <a:r>
              <a:rPr sz="1700" b="0">
                <a:solidFill>
                  <a:srgbClr val="0B1B2B"/>
                </a:solidFill>
                <a:latin typeface="Segoe UI"/>
              </a:rPr>
              <a:t>: GNSS-only e </a:t>
            </a:r>
            <a:r>
              <a:rPr sz="1700" b="0">
                <a:solidFill>
                  <a:srgbClr val="0B1B2B"/>
                </a:solidFill>
                <a:latin typeface="Consolas"/>
              </a:rPr>
              <a:t>+CFUN=31</a:t>
            </a:r>
            <a:r>
              <a:rPr sz="1700" b="0">
                <a:solidFill>
                  <a:srgbClr val="0B1B2B"/>
                </a:solidFill>
                <a:latin typeface="Segoe UI"/>
              </a:rPr>
              <a:t>, fix, depois NTN-only (</a:t>
            </a:r>
            <a:r>
              <a:rPr sz="1700" b="0">
                <a:solidFill>
                  <a:srgbClr val="0B1B2B"/>
                </a:solidFill>
                <a:latin typeface="Consolas"/>
              </a:rPr>
              <a:t>%XSYSTEMMODE=0,0,0,0,1</a:t>
            </a:r>
            <a:r>
              <a:rPr sz="1700" b="0">
                <a:solidFill>
                  <a:srgbClr val="0B1B2B"/>
                </a:solidFill>
                <a:latin typeface="Segoe UI"/>
              </a:rPr>
              <a:t>) e </a:t>
            </a:r>
            <a:r>
              <a:rPr sz="1700" b="0">
                <a:solidFill>
                  <a:srgbClr val="0B1B2B"/>
                </a:solidFill>
                <a:latin typeface="Consolas"/>
              </a:rPr>
              <a:t>+CFUN=1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Com o firmware NTN o modem alterna entre acesso terrestre e não terrestre preservando o contexto (</a:t>
            </a:r>
            <a:r>
              <a:rPr sz="1700" b="0">
                <a:solidFill>
                  <a:srgbClr val="0B1B2B"/>
                </a:solidFill>
                <a:latin typeface="Consolas"/>
              </a:rPr>
              <a:t>%CELLULARPRFL</a:t>
            </a:r>
            <a:r>
              <a:rPr sz="1700" b="0">
                <a:solidFill>
                  <a:srgbClr val="0B1B2B"/>
                </a:solidFill>
                <a:latin typeface="Segoe UI"/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Parte A: GEO × LEO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Uma lâmina por parâmetro, com o número e a fonte: órbita, arquitetura, taxa, latência, energia, banda e canal, visada e caso de uso.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GEOMETRIA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duas órbitas em escala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Distância oblíqua e atraso de um trecho UE ↔ satélite. GEO: 35 786 km no zênite,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119 ms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41 679 km no horizonte, 139 ms. LEO a 700 km: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2,3 ms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no zênite e 7,2 ms a 10° de elevação.</a:t>
            </a:r>
          </a:p>
        </p:txBody>
      </p:sp>
      <p:pic>
        <p:nvPicPr>
          <p:cNvPr id="9" name="Picture 8" descr="ntn_orbita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4717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GEOMETRIA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Órbita, geometria e tipo de célula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GEO · fixo no céu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altitude 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35 786 km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sobre o equador: o período é o da Terra e o satélite não sai do lugar no céu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um satélite cobre cerca 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um terço do globo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célula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earth-fixed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a área de cobertura não se move no solo (TS 36.300)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elevação vista do solo depende da longitude do satélite e da posição do UE, e não muda com o tempo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GSO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é o termo do 3GPP para a órbita de período igual ao da Terra; o GEO é o caso de inclinação zero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LEO · minutos por passagem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altitude 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500 a 2000 km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; a Nordic cita 600 a 800 km e a SatelIoT opera perto de 600 km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~90 min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 órbita a 700 km: cada passagem dá minutos de visibilidade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célula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quasi-earth-fixed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ou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earth-moving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a cobertura varre o solo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as janelas são previsíveis por TLE, mas exigem hora e posição no dispositivo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NGSO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é o termo do 3GPP para LEO e MEO; o modem traz R17 para LEO/MEO e R19 para LEO em TDD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Altitudes e períodos: Product Specification do nRF9151 e a comparação GEO × LEO publicada pela Nordic.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Transparente × store-and-forward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GEO · carga transparente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satélite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repete o sinal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não decodifica e não termina protocolo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eNB e o core ficam no chão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; a entrega ao servidor é em tempo real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resposta do servidor volta dentro da mesma conexão de rádio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cobertura contínua enquanto houver visada do satélite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a topologia da demo do módulo: SIM Skylo, bandas 255 e 256, servidor UDP na Internet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LEO · store-and-forward (R19)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satélite é o eNB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aceita o attach e guarda o dado a bordo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entrega sai quando o satélite vê uma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estação terrena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cobertura descontínua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até a constelação fechar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que o UE vê na janela é a confirmação do satélite, não a resposta do servidor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a topologia dos traces do módulo: a parte de rádio de cada passada dura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15 a 30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Nos dois casos o UE fala NB-IoT R17: o que muda é onde o eNB está e quando o dado chega ao servidor.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ENLACE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Link budget e taxa de bits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As taxas são as publicadas pela Nordic para as duas topologias.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RSRP e SNR são medidos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nos traces LEO de Porto Alegre — no GEO, os valores da demo são medidos em sala pelo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%XMONITOR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1–2 kbps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GEO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taxa 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com classe de potência 3 (23 dBm) e antena de 0 dBi; a Nordic descreve como equivalente à borda de cobertura do NB-IoT terrestre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20–40 kbps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LEO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taxa 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mesma classe de potência e mesma antena; a mensagem fica bem menos tempo no ar, e a janela é curta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−131 dBm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RSRP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célula servidora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de −131 a −126 dBm nos treze traces LEO, com potência de UL sempre em 23 dBm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0 a 1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SNR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sinal/ruído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PRACH sempre em CE level 2 nos traces: o acesso usa o número máximo de repetições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LATÊNCIA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Latência: onde a mensagem espera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GEO: dois trechos de 119 ms na ida e dois na volta — ida e volta na casa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0,5 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LEO S&amp;F: o trecho de rádio custa 2 a 7 ms, mas a entrega espera o satélite ver uma estação terrena.</a:t>
            </a:r>
          </a:p>
        </p:txBody>
      </p:sp>
      <p:pic>
        <p:nvPicPr>
          <p:cNvPr id="9" name="Picture 8" descr="ntn_latenci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33" y="1810512"/>
            <a:ext cx="104116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Energia e disponibilidade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GEO paga tempo no ar a taxa baixa; o LEO paga o fix de GNSS e a espera da passada.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comparação de energia é qualitativa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não há medida de corrente em NTN neste material.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5999"/>
                <a:gridCol w="3931919"/>
                <a:gridCol w="45473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Parâmetro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GEO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LEO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Tempo conectado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longo, a 1–2 kbps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curto, a 20–40 kbps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Custo fora do rádio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posição informada uma vez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fix GNSS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por passada e a espera da janela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Disponibilidade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contínua, enquanto houver visada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janelas previsíveis por TLE; exigem hora e posição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Latência fim-a-fim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segundos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minutos a horas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Uso típico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alarme e mensagem crítica, poucos bytes/dia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telemetria tolerante a atraso, muitos dispositivos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Sem captura de PPK2 em NTN: a comparação de energia fica qualitativa.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BANDAS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Bandas MSS e o canal dos traces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As quatro bandas de NTN do nRF9151 no eixo de frequência. O canal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229232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o da SatelIoT no Brasil: 2185,6 MHz no DL e 1995,6 MHz no UL, banda 256. O canal do Skylo é medido em sala.</a:t>
            </a:r>
          </a:p>
        </p:txBody>
      </p:sp>
      <p:pic>
        <p:nvPicPr>
          <p:cNvPr id="9" name="Picture 8" descr="ntn_banda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3889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BANDAS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Bandas de NTN e EARFCN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Faixas de UL e DL da Product Specification do nRF9151; N_Offs-DL e as faixas de EARFCN da ETSI TS 136 102 V18 (3GPP TS 36.102), tabela 5.4A.2-1, conferidas em 13/09/2026.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6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39"/>
                <a:gridCol w="2651759"/>
                <a:gridCol w="2011679"/>
                <a:gridCol w="2011679"/>
                <a:gridCol w="1463039"/>
                <a:gridCol w="16212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Banda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Nome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UL (MHz)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DL (MHz)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N_Offs-DL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EARFCN DL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255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L-band NTN (global)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1626,5–1660,5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1525–1559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228 736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228 736–229 075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S-band NTN (Europa)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1980–2010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2170–2200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229 076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229 076–229 375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23/252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S-band NTN (EUA)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2000–2020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2180–2200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7 500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7 500–7 699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TDD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1616–1626,5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1616–1626,5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F_DL = F_DL_low + 0,1 · (N_DL − N_Offs-DL). Para N_DL = 229232 na banda 256: 2170 + 0,1 · (229232 − 229076) =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2185,6 MHz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no DL, e 1995,6 MHz no 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BANDAS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Operadores, SIM e canal por país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SIM vem com o operador e com a topologia: não são intercambiáveis. Os canais da SatelIoT saem dos overlays do Asset Tracker Template; o do Skylo no Brasil não está medido.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1188719"/>
                <a:gridCol w="3291839"/>
                <a:gridCol w="31757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Operador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Banda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SIM e PLMN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Canal (EARFCN → DL)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Skylo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GEO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255 e 256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eminify, Monogoto ou Soracom; APN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medido em sala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%XMONITOR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SatelIoT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LEO, Brasil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PLMN 90197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229232 → 2185,6 MHz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SatelIoT · Noruega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PLMN 90197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229236 → 2186,0 MHz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SatelIoT · Finlândia e Espanha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PLMN 90197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229312 → 2193,6 MHz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SatelIoT · Austrália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PLMN 90197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229336 → 2196,0 MHz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Consolas"/>
              </a:rPr>
              <a:t>overlay-ntn-sateliot.conf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fixa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CONFIG_APP_NTN_CHANNEL_SELECT=229232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para o Brasil e traz os outros três EARFCN comentados.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VISADA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Visada e antena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GEO · uma direção fixa no céu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elevação depende da longitude do satélite e da posição do UE, e não muda com o tempo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em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Manaus, a 3° 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um satélite geoestacionário fica alto no céu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em latitudes altas é a obstrução na direção do equador que decide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apontar uma vez resolve: não há janela a perder por causa da mira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demo do módulo depende disso: sem visada na direção do satélite não há attach, e não há plano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LEO · a obstrução recorta a janela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passagem cruza o céu: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qualquer azimute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pode ser o que importa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passada de referência de 07/09 tem pico 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60,7°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sobre Porto Alegre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os dois traces gêmeos de 07/09, com antenas diferentes, dão resultados opostos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cobertura de serviço não segue a geometria: o operador pode não atender a região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passada de 07/09 dá ~13 min de visibilidade geométrica e 20 s de rádio no trace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 SMA-DK não tem antena de bordo: o enlace NTN sai por conector SMA, com antena externa e visada de céu.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SELEÇÃO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Critérios de seleção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perguntas decidem a topologia antes de qualquer detalhe de firmware.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Latência exigida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GEO entrega em segundos: alarme, mensagem crítica, comando com resposta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LEO S&amp;F entrega em minutos a horas: telemetria que tolera atraso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no LEO a resposta do servidor não chega dentro da mesma janela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Volume diário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GEO, 1–2 kbps: poucos bytes por dia, com tempo longo no ar por mensagem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LEO, 20–40 kbps: mais bytes por passada, menos tempo conectado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a conta que decide é bytes por dia, não a taxa de pico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Mobilidade e visada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GEO: uma direção fixa; obstrução naquela direção derruba o enlace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LEO: qualquer azimute, mas cada passada é uma janela de minutos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o LEO exige hora e posição a bordo para prever a passada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O operador e a SIM vêm junto com a escolha: Skylo em GEO, SatelIoT em LEO.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VISADA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Passadas da semana sobre o SIDIA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SGP4 sobre o TLE do CelesTrak de 13/09: 28 passadas do SATELIOT_1 sobre o SIDIA, uma a 50° e as demais até 46°.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Visibilidade geométrica não é janela de serviço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a SatelIoT informou o SATELIOT_1 indisponível em Manaus na semana do curso.</a:t>
            </a:r>
          </a:p>
        </p:txBody>
      </p:sp>
      <p:pic>
        <p:nvPicPr>
          <p:cNvPr id="9" name="Picture 8" descr="mapa_semana_mana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810512"/>
            <a:ext cx="10241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Parte B: o acesso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que é medido (traces reais de Porto Alegre), o que é calculado (SGP4 sobre o TLE) e o que é composto (a passada sintética, feita de trechos de traces reais).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PASSADA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passada inteira, do nascer ao pôr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Passada sintética: trechos de traces reais colocados na geometria da passada de 07/09 — nascer 02:22:37, pico 60,7° às 02:28:53, pôr 02:35:05 UTC.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Nenhum trace real cobre a passada inteira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o firmware liga o rádio no pico.</a:t>
            </a:r>
          </a:p>
        </p:txBody>
      </p:sp>
      <p:pic>
        <p:nvPicPr>
          <p:cNvPr id="9" name="Picture 8" descr="combined_passada_sintetica_SI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88" y="1810512"/>
            <a:ext cx="1018971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 PASSADA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25 s da sequência de acesso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Recorte a partir da primeira medida de RSRP, que é o MIB: MIB → SIB1 → SI → Attach Request → PRACH/RAR → grants → Attach Accept/Complete →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+CEREG: 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→ UDP.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Do MIB ao Attach Accept: 10,7 s.</a:t>
            </a:r>
          </a:p>
        </p:txBody>
      </p:sp>
      <p:pic>
        <p:nvPicPr>
          <p:cNvPr id="9" name="Picture 8" descr="combined_passada_sintetica_SIOT1_acesso25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88" y="1810512"/>
            <a:ext cx="1018971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POSIÇÃO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Posição e hora antes do rádio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UE pré-compensa TA e Doppler com a efeméride da rede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 a própria posição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sem posição válida com acurácia suficiente, não há acesso NTN.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8117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3820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277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545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Posição permanente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6654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%LOCATION=2,"lat","lon","alt",&lt;acc&gt;,0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— validade 0 é permanente; é o que a demo GEO usa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68046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2506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2964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2232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O modem pede quando precisa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5341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%LOCATION=1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assina o pedido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%LOCATION: &lt;acc&gt;[,&lt;next_acc&gt;,&lt;t&gt;]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; a lib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ntn.h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do NCS trata essa URC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5491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GNSS e NTN não convivem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GNSS-only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+CFUN=31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fix → NTN-only (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%XSYSTEMMODE=0,0,0,0,1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)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%LOCATION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+CFUN=1</a:t>
            </a:r>
          </a:p>
        </p:txBody>
      </p:sp>
      <p:sp>
        <p:nvSpPr>
          <p:cNvPr id="24" name="Oval 23"/>
          <p:cNvSpPr/>
          <p:nvPr/>
        </p:nvSpPr>
        <p:spPr>
          <a:xfrm>
            <a:off x="1078992" y="49880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337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9606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Quando atualizar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52715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cerca de 400 m de deslocamento já pedem posição nova; a acurácia pedida vem no próprio evento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CÉLULA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Seleção de banda e canal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 firmware LEO tenta o </a:t>
            </a:r>
            <a:r>
              <a:rPr sz="1500" b="0">
                <a:solidFill>
                  <a:srgbClr val="0B1B2B"/>
                </a:solidFill>
                <a:latin typeface="Consolas"/>
              </a:rPr>
              <a:t>%CHSELECT</a:t>
            </a:r>
            <a:r>
              <a:rPr sz="1500" b="0">
                <a:solidFill>
                  <a:srgbClr val="0B1B2B"/>
                </a:solidFill>
                <a:latin typeface="Segoe UI"/>
              </a:rPr>
              <a:t> e </a:t>
            </a:r>
            <a:r>
              <a:rPr sz="1500" b="1">
                <a:solidFill>
                  <a:srgbClr val="0093D0"/>
                </a:solidFill>
                <a:latin typeface="Segoe UI"/>
              </a:rPr>
              <a:t>cai para</a:t>
            </a:r>
            <a:r>
              <a:rPr sz="1500" b="0">
                <a:solidFill>
                  <a:srgbClr val="0B1B2B"/>
                </a:solidFill>
                <a:latin typeface="Segoe UI"/>
              </a:rPr>
              <a:t> o </a:t>
            </a:r>
            <a:r>
              <a:rPr sz="1500" b="0">
                <a:solidFill>
                  <a:srgbClr val="0B1B2B"/>
                </a:solidFill>
                <a:latin typeface="Consolas"/>
              </a:rPr>
              <a:t>%FREQRANGES</a:t>
            </a:r>
            <a:r>
              <a:rPr sz="1500" b="0">
                <a:solidFill>
                  <a:srgbClr val="0B1B2B"/>
                </a:solidFill>
                <a:latin typeface="Segoe UI"/>
              </a:rPr>
              <a:t> quando o modem responde erro: o </a:t>
            </a:r>
            <a:r>
              <a:rPr sz="1500" b="0">
                <a:solidFill>
                  <a:srgbClr val="0B1B2B"/>
                </a:solidFill>
                <a:latin typeface="Consolas"/>
              </a:rPr>
              <a:t>%CHSELECT</a:t>
            </a:r>
            <a:r>
              <a:rPr sz="1500" b="0">
                <a:solidFill>
                  <a:srgbClr val="0B1B2B"/>
                </a:solidFill>
                <a:latin typeface="Segoe UI"/>
              </a:rPr>
              <a:t> só está documentado no v0.6 do pacote de avaliação.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Varrer a banda inteira não cabe numa janela de minutos. No GEO, sem satélite à vista, o modem devolve “no suitable cell” em ~30 s e retenta a cada 2 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NTN-only, banda travada e canal fixo: sem isso o modem varre a banda inteira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AT%XSYSTEMMODE=0,0,0,0,1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5o parametro = NTN NB-IoT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AT%XBANDLOCK=2,,</a:t>
            </a:r>
            <a:r>
              <a:rPr sz="1400" b="0">
                <a:solidFill>
                  <a:srgbClr val="FFCF6B"/>
                </a:solidFill>
                <a:latin typeface="Consolas"/>
              </a:rPr>
              <a:t>"255,256"</a:t>
            </a:r>
            <a:r>
              <a:rPr sz="1400" b="0">
                <a:solidFill>
                  <a:srgbClr val="DCE8F2"/>
                </a:solidFill>
                <a:latin typeface="Consolas"/>
              </a:rPr>
              <a:t>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Skylo trava 255 e 256; a SatelIoT usa so a 256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AT%FREQRANGES=1,6,,1,</a:t>
            </a:r>
            <a:r>
              <a:rPr sz="1400" b="0">
                <a:solidFill>
                  <a:srgbClr val="FFCF6B"/>
                </a:solidFill>
                <a:latin typeface="Consolas"/>
              </a:rPr>
              <a:t>"229232"</a:t>
            </a:r>
            <a:r>
              <a:rPr sz="1400" b="0">
                <a:solidFill>
                  <a:srgbClr val="DCE8F2"/>
                </a:solidFill>
                <a:latin typeface="Consolas"/>
              </a:rPr>
              <a:t>,</a:t>
            </a:r>
            <a:r>
              <a:rPr sz="1400" b="0">
                <a:solidFill>
                  <a:srgbClr val="FFCF6B"/>
                </a:solidFill>
                <a:latin typeface="Consolas"/>
              </a:rPr>
              <a:t>""</a:t>
            </a:r>
            <a:r>
              <a:rPr sz="1400" b="0">
                <a:solidFill>
                  <a:srgbClr val="DCE8F2"/>
                </a:solidFill>
                <a:latin typeface="Consolas"/>
              </a:rPr>
              <a:t>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tipo 6 = NTN NB-IoT; "allowed" so aceita EARFCN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AT%CHSELECT=2,14,229232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AcT 14; so no v0.6 do pacote de avaliacao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AT%XBANDLOCK?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confere: %XBANDLOCK: 2,,"255,256"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AT%SIBCONFIG=32,1,31,0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o firmware LEO pede SIB32 e SIB31 antes de entrar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AT+CFUN=21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liga o RF; a demo GEO usa AT+CFUN=1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CÉLULA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Da busca ao SIB1-NB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Os três passos que o LEO precisa completar dentro da janela da passada. No GEO o tempo é ilimitado: a célula está sempre no céu.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Busca e célula encontrada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o modem varre o canal atrás de NPSS/NSSS; no trace,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RRC State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alternando 0/1 a cada 2 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ao sincronizar lê o PCI e mede a célula: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earfcn 229232, pci 22, rsrp −131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+CEREG: 4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enquanto não há célula; no LEO esse é o estado normal até o satélite subir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MIB-NB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no NPBCH a cada 640 ms: número de frame, modo de operação e o agendamento do SIB1-NB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no trace,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L1_DCI_DEC_NBIOT_MIB_DECODE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o PDU em hex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7 a 8 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+CFUN=21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até o MIB, nos traces de 07 e 09/09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SIB1-NB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PLMN, TAC, identidade da célula e o agendamento dos demais SI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em NTN traz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ntn-Config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que aponta para o SIB31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cerca de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2 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depois do MIB em 07/09: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ERRC_PDU_TYPE_BCCH_SIB1_NB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Nos traces de setembro não há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ERRC_CNTRL_RRC_NO_CELL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: a busca aparece como o ciclo de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RRC State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0/1.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SIB31-NB × SIB32-NB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SIB31-NB · pré-compensação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efeméride do satélite servidor, parâmetros 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TA comum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K_offset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 época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o que o UE usa para pré-compensar TA e Doppler antes do preâmbulo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obrigatório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para acampar, e não é entregue por AT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GEO: efeméride quase constante. LEO: efeméride nova a cada passada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SIB32-NB · assistência S&amp;F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lista de satélites (S&amp;F monitoring list), t-Service, elevações limite, ponto e raio de cobertura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o que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%SIBCONFIG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%SIBREQ=32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entregam ao app, para prever a próxima janela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%SIBREQ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só com o modem ativado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antes do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+CFUN=1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responde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+CME ERROR: 517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%SIBCONFIG=32,0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tornaria o SIB32 obrigatório: numa célula GEO sem SIB32, o modem não acamparia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Nenhum trace traz a URC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%SIBCONFIG: 32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; em 02/09 o pedido terminou em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%SIBREQ: 0,1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— célula perdida.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PRÉ-COMPENSAÇÃO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Doppler e atraso ao longo da passada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SGP4 sobre o TLE local, portadora de 2185,6 MHz: o Doppler vai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+50,7 a −50,7 kHz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cruza zero no pico; a ida e volta do enlace de serviço cai de 18,8 ms para 4,4 ms.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No GEO: 239 ms no zênite e Doppler ≈ 0.</a:t>
            </a:r>
          </a:p>
        </p:txBody>
      </p:sp>
      <p:pic>
        <p:nvPicPr>
          <p:cNvPr id="9" name="Picture 8" descr="ntn_doppler_t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33" y="1810512"/>
            <a:ext cx="104116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PRACH e RAR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preâmbulo sai com TA e Doppler já pré-compensados pelo UE; o RAR traz o grant que leva o Msg3 ao 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Preâmbulo (Msg1)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NPRACH com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TA e Doppler já compensados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pelo UE, a partir do SIB31 e da própria posição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CE level 2 em todos os traces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o nível de pior cobertura, com o máximo de repetições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potência de UL em 23 dBm; no trace,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PRACH_REPORT ce_level: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RAR (Msg2)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a resposta ao preâmbulo, com 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grant de NPUSCH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para o Msg3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no trace,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RAR_UL_GRANT_CONTENT_NPUSCH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~1,6 s depois do Attach Request em 07/09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sem RAR o acesso não anda: é o que acontece no trace gêmeo com a outra antena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K_offset e timers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K_offset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do SIB31 desloca o agendamento entre DL e UL para cobrir o atraso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os timers do acesso são estendidos nos dois casos, GEO e LEO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GEO: TA do enlace de serviço de ~240 ms de ida e volta. LEO: TA bem menor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ATTACH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Attach: as horas do trace de 07/09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Trace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20260907_0228_SIOT1_BRA_KY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a referência de attach do módulo, com hora UTC absoluta ancorada pelo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nrf_trace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 parte de rádio inteira dura 20 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39"/>
                <a:gridCol w="3108959"/>
                <a:gridCol w="61932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Hora UTC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Evento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significa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02:28:43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MIB-NB decodificado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sincronizado com a célula, 8 s depois do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+CFUN=21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02:28:45,1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SIB1-NB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PLMN, TAC, identidade da célula e 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ntn-Config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02:28:45,5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Attach Request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PDU NAS com o PDN Connectivity Request;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+CEREG: 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02:28:47,1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PRACH CE 2 e RAR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preâmbulo respondido, com grant de NPUSCH para o Msg3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02:28:47,8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+CSCON: 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conexão de sinalização ativa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02:28:53,8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Attach Accept/Complete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bearer default ativado, 10,7 s depois do MIB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02:28:54,8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+CEREG: 5,...,14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registrado em roaming, AcT 14; primeiro UDP na fila de UL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Attach Request aparece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antes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do RAR: o PDU NAS é montado quando o UE decide anexar, antes de o Msg3 sair pelo rádio.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Quando a rede recusa o attach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Attach Request às 02:26:22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Attach Reject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07 44 08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às 02:26:25: causa EMM #8, “EPS services and non-EPS services not allowed”. É recusa de assinatura ou provisionamento,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não de rádio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a rede respondeu.</a:t>
            </a:r>
          </a:p>
        </p:txBody>
      </p:sp>
      <p:pic>
        <p:nvPicPr>
          <p:cNvPr id="9" name="Picture 8" descr="combined_20260906_0226_SIOT1_BRA_Y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33" y="1810512"/>
            <a:ext cx="100548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Transferência de dados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Plano de controle · NIDD e CP CIoT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dado viaja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dentro da mensagem NAS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Control Plane Service Request com PDU ESM de dados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o que o trace de 09/09 mostra: Service Request 02:33:37 → Service Accept 02:33:40,2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sem plano de usuário: menos sinalização para levar poucos bytes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+CGDCONT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define o APN e o tipo do contexto —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ip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no caso da demo GEO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Plano de usuário · IP/UDP no Serial Modem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#XSOCKET=1,2,0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devolve o handle, que vai em todos os comandos seguintes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#XSEND=&lt;handle&gt;,&lt;mode&gt;,&lt;flags&gt;,&lt;data&gt;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a flag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512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bloqueia até a rede confirmar e 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8192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emite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#XSENDNTF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RAI avisa que não há mais dado e a rede libera a conexão sem esperar o timer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resposta do servidor é lida com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#XRECVFROM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que devolve o datagrama ou erro no 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GEO: a resposta do servidor volta na mesma conexão. LEO S&amp;F: o que chega na janela é a confirmação do satélite.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CONFIRMAÇÃO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Confirmação de rede no trace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linha “Net ACK” das figuras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plot_snr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uma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regra de inferência do script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um marco decodificado do padrão. O material a apresenta como 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trace-db externo </a:t>
            </a:r>
            <a:r>
              <a:rPr sz="1700" b="1">
                <a:solidFill>
                  <a:srgbClr val="0093D0"/>
                </a:solidFill>
                <a:latin typeface="Segoe UI"/>
              </a:rPr>
              <a:t>não decodifica RLC STATUS</a:t>
            </a:r>
            <a:r>
              <a:rPr sz="1700" b="0">
                <a:solidFill>
                  <a:srgbClr val="0B1B2B"/>
                </a:solidFill>
                <a:latin typeface="Segoe UI"/>
              </a:rPr>
              <a:t>: não há um marco 3GPP de “entregue” para ler direto no trace.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</a:t>
            </a:r>
            <a:r>
              <a:rPr sz="1700" b="0">
                <a:solidFill>
                  <a:srgbClr val="0B1B2B"/>
                </a:solidFill>
                <a:latin typeface="Consolas"/>
              </a:rPr>
              <a:t>plot_snr</a:t>
            </a:r>
            <a:r>
              <a:rPr sz="1700" b="0">
                <a:solidFill>
                  <a:srgbClr val="0B1B2B"/>
                </a:solidFill>
                <a:latin typeface="Segoe UI"/>
              </a:rPr>
              <a:t> infere: depois de cada envio, o primeiro bloco de </a:t>
            </a:r>
            <a:r>
              <a:rPr sz="1700" b="1">
                <a:solidFill>
                  <a:srgbClr val="0093D0"/>
                </a:solidFill>
                <a:latin typeface="Segoe UI"/>
              </a:rPr>
              <a:t>DCI N1 que não é RAR</a:t>
            </a:r>
            <a:r>
              <a:rPr sz="1700" b="0">
                <a:solidFill>
                  <a:srgbClr val="0B1B2B"/>
                </a:solidFill>
                <a:latin typeface="Segoe UI"/>
              </a:rPr>
              <a:t>, confirmado por HARQ-ACK do UE e sem PDU de camada 3, numa janela de 300 ms.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HARQ-ACK do UE vai no </a:t>
            </a:r>
            <a:r>
              <a:rPr sz="1700" b="1">
                <a:solidFill>
                  <a:srgbClr val="0093D0"/>
                </a:solidFill>
                <a:latin typeface="Segoe UI"/>
              </a:rPr>
              <a:t>NPUSCH formato 2</a:t>
            </a:r>
            <a:r>
              <a:rPr sz="1700" b="0">
                <a:solidFill>
                  <a:srgbClr val="0B1B2B"/>
                </a:solidFill>
                <a:latin typeface="Segoe UI"/>
              </a:rPr>
              <a:t> — NB-IoT não tem PUCCH; </a:t>
            </a:r>
            <a:r>
              <a:rPr sz="1700" b="0">
                <a:solidFill>
                  <a:srgbClr val="0B1B2B"/>
                </a:solidFill>
                <a:latin typeface="Consolas"/>
              </a:rPr>
              <a:t>L1_DEFAULT_INFO_PUCCH_POWER_CONTROL</a:t>
            </a:r>
            <a:r>
              <a:rPr sz="1700" b="0">
                <a:solidFill>
                  <a:srgbClr val="0B1B2B"/>
                </a:solidFill>
                <a:latin typeface="Segoe UI"/>
              </a:rPr>
              <a:t> é rótulo interno do modem.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No aplicativo, a confirmação visível é a URC </a:t>
            </a:r>
            <a:r>
              <a:rPr sz="1700" b="0">
                <a:solidFill>
                  <a:srgbClr val="0B1B2B"/>
                </a:solidFill>
                <a:latin typeface="Consolas"/>
              </a:rPr>
              <a:t>#XSENDNTF: &lt;handle&gt;,&lt;status&gt;,&lt;size&gt;</a:t>
            </a:r>
            <a:r>
              <a:rPr sz="1700" b="0">
                <a:solidFill>
                  <a:srgbClr val="0B1B2B"/>
                </a:solidFill>
                <a:latin typeface="Segoe UI"/>
              </a:rPr>
              <a:t>, emitida quando o envio usa a flag 8192.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GEO: quem confirma é a rede, e a resposta do servidor vem na mesma conexão. LEO S&amp;F: quem confirma é o satélite, que ainda não entregou nada ao servidor.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Release e re-acesso no mesmo minuto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RRCConnectionRelease-NB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+CSCON: 0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depois do envio; o re-acesso sai por Service Request ainda dentro do minuto. Neste trace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%SIBREQ=32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termina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%SIBREQ: 0,1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célula perdida, sem entregar dados.</a:t>
            </a:r>
          </a:p>
        </p:txBody>
      </p:sp>
      <p:pic>
        <p:nvPicPr>
          <p:cNvPr id="9" name="Picture 8" descr="combined_20260902_0216_SIOT1_B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30" y="1810512"/>
            <a:ext cx="101350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ANTENA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mesma passada, outra antena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Gêmeo do trace de referência: o MIB só aparece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19 s depois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às 02:29:02; há PRACH em CE 2 às 02:29:05 e 02:29:18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sem RAR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e às 02:29:50 o modem volta à busca. Mesma geometria, antena diferente.</a:t>
            </a:r>
          </a:p>
        </p:txBody>
      </p:sp>
      <p:pic>
        <p:nvPicPr>
          <p:cNvPr id="9" name="Picture 8" descr="combined_20260907_0228_SIOT1_BRA_Y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33" y="1810512"/>
            <a:ext cx="100548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NCS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TN/NTN e o que o NCS 3.4.0 traz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firmware de modem NTN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substitui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mfw_nrf91x1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usado no módulo de GNSS: é preciso regravar o kit para voltar ao GNSS com assistência.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Consolas"/>
              </a:rPr>
              <a:t>%CELLULARPRFL</a:t>
            </a:r>
            <a:r>
              <a:rPr sz="1700" b="0">
                <a:solidFill>
                  <a:srgbClr val="0B1B2B"/>
                </a:solidFill>
                <a:latin typeface="Segoe UI"/>
              </a:rPr>
              <a:t> guarda os perfis: com o firmware NTN o modem alterna entre acesso terrestre e não terrestre </a:t>
            </a:r>
            <a:r>
              <a:rPr sz="1700" b="1">
                <a:solidFill>
                  <a:srgbClr val="0093D0"/>
                </a:solidFill>
                <a:latin typeface="Segoe UI"/>
              </a:rPr>
              <a:t>preservando o contexto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Consolas"/>
              </a:rPr>
              <a:t>+CFUN=45</a:t>
            </a:r>
            <a:r>
              <a:rPr sz="1700" b="0">
                <a:solidFill>
                  <a:srgbClr val="0B1B2B"/>
                </a:solidFill>
                <a:latin typeface="Segoe UI"/>
              </a:rPr>
              <a:t> é o modo avião que preserva o contexto, mas </a:t>
            </a:r>
            <a:r>
              <a:rPr sz="1700" b="1">
                <a:solidFill>
                  <a:srgbClr val="0093D0"/>
                </a:solidFill>
                <a:latin typeface="Segoe UI"/>
              </a:rPr>
              <a:t>exige dois perfis configurados</a:t>
            </a:r>
            <a:r>
              <a:rPr sz="1700" b="0">
                <a:solidFill>
                  <a:srgbClr val="0B1B2B"/>
                </a:solidFill>
                <a:latin typeface="Segoe UI"/>
              </a:rPr>
              <a:t>; a demo GEO encerra com </a:t>
            </a:r>
            <a:r>
              <a:rPr sz="1700" b="0">
                <a:solidFill>
                  <a:srgbClr val="0B1B2B"/>
                </a:solidFill>
                <a:latin typeface="Consolas"/>
              </a:rPr>
              <a:t>+CFUN=4</a:t>
            </a:r>
            <a:r>
              <a:rPr sz="1700" b="0">
                <a:solidFill>
                  <a:srgbClr val="0B1B2B"/>
                </a:solidFill>
                <a:latin typeface="Segoe UI"/>
              </a:rPr>
              <a:t> e </a:t>
            </a:r>
            <a:r>
              <a:rPr sz="1700" b="0">
                <a:solidFill>
                  <a:srgbClr val="0B1B2B"/>
                </a:solidFill>
                <a:latin typeface="Consolas"/>
              </a:rPr>
              <a:t>+CFUN=0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NCS v3.4.0 traz a biblioteca </a:t>
            </a:r>
            <a:r>
              <a:rPr sz="1700" b="0">
                <a:solidFill>
                  <a:srgbClr val="0B1B2B"/>
                </a:solidFill>
                <a:latin typeface="Consolas"/>
              </a:rPr>
              <a:t>CONFIG_NTN</a:t>
            </a:r>
            <a:r>
              <a:rPr sz="1700" b="0">
                <a:solidFill>
                  <a:srgbClr val="0B1B2B"/>
                </a:solidFill>
                <a:latin typeface="Segoe UI"/>
              </a:rPr>
              <a:t> (</a:t>
            </a:r>
            <a:r>
              <a:rPr sz="1700" b="0">
                <a:solidFill>
                  <a:srgbClr val="0B1B2B"/>
                </a:solidFill>
                <a:latin typeface="Consolas"/>
              </a:rPr>
              <a:t>ntn.h</a:t>
            </a:r>
            <a:r>
              <a:rPr sz="1700" b="0">
                <a:solidFill>
                  <a:srgbClr val="0B1B2B"/>
                </a:solidFill>
                <a:latin typeface="Segoe UI"/>
              </a:rPr>
              <a:t>): a API cobre só a posição — </a:t>
            </a:r>
            <a:r>
              <a:rPr sz="1700" b="0">
                <a:solidFill>
                  <a:srgbClr val="0B1B2B"/>
                </a:solidFill>
                <a:latin typeface="Consolas"/>
              </a:rPr>
              <a:t>ntn_location_set()</a:t>
            </a:r>
            <a:r>
              <a:rPr sz="1700" b="0">
                <a:solidFill>
                  <a:srgbClr val="0B1B2B"/>
                </a:solidFill>
                <a:latin typeface="Segoe UI"/>
              </a:rPr>
              <a:t> e o evento </a:t>
            </a:r>
            <a:r>
              <a:rPr sz="1700" b="0">
                <a:solidFill>
                  <a:srgbClr val="0B1B2B"/>
                </a:solidFill>
                <a:latin typeface="Consolas"/>
              </a:rPr>
              <a:t>NTN_EVT_LOCATION_REQUEST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</a:t>
            </a:r>
            <a:r>
              <a:rPr sz="1700" b="0">
                <a:solidFill>
                  <a:srgbClr val="0B1B2B"/>
                </a:solidFill>
                <a:latin typeface="Consolas"/>
              </a:rPr>
              <a:t>modem_shell</a:t>
            </a:r>
            <a:r>
              <a:rPr sz="1700" b="0">
                <a:solidFill>
                  <a:srgbClr val="0B1B2B"/>
                </a:solidFill>
                <a:latin typeface="Segoe UI"/>
              </a:rPr>
              <a:t> ganhou o comando </a:t>
            </a:r>
            <a:r>
              <a:rPr sz="1700" b="0">
                <a:solidFill>
                  <a:srgbClr val="0B1B2B"/>
                </a:solidFill>
                <a:latin typeface="Consolas"/>
              </a:rPr>
              <a:t>ntn location</a:t>
            </a:r>
            <a:r>
              <a:rPr sz="1700" b="0">
                <a:solidFill>
                  <a:srgbClr val="0B1B2B"/>
                </a:solidFill>
                <a:latin typeface="Segoe UI"/>
              </a:rPr>
              <a:t> (</a:t>
            </a:r>
            <a:r>
              <a:rPr sz="1700" b="0">
                <a:solidFill>
                  <a:srgbClr val="0B1B2B"/>
                </a:solidFill>
                <a:latin typeface="Consolas"/>
              </a:rPr>
              <a:t>enable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disable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set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invalidate</a:t>
            </a:r>
            <a:r>
              <a:rPr sz="1700" b="0">
                <a:solidFill>
                  <a:srgbClr val="0B1B2B"/>
                </a:solidFill>
                <a:latin typeface="Segoe UI"/>
              </a:rPr>
              <a:t>); o resto do NTN é AT direto.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Demo e captura: </a:t>
            </a:r>
            <a:r>
              <a:rPr sz="1700" b="1">
                <a:solidFill>
                  <a:srgbClr val="0093D0"/>
                </a:solidFill>
                <a:latin typeface="Segoe UI"/>
              </a:rPr>
              <a:t>Serial Modem add-on v1.0.0</a:t>
            </a:r>
            <a:r>
              <a:rPr sz="1700" b="0">
                <a:solidFill>
                  <a:srgbClr val="0B1B2B"/>
                </a:solidFill>
                <a:latin typeface="Segoe UI"/>
              </a:rPr>
              <a:t> para os comandos </a:t>
            </a:r>
            <a:r>
              <a:rPr sz="1700" b="0">
                <a:solidFill>
                  <a:srgbClr val="0B1B2B"/>
                </a:solidFill>
                <a:latin typeface="Consolas"/>
              </a:rPr>
              <a:t>#X</a:t>
            </a:r>
            <a:r>
              <a:rPr sz="1700" b="0">
                <a:solidFill>
                  <a:srgbClr val="0B1B2B"/>
                </a:solidFill>
                <a:latin typeface="Segoe UI"/>
              </a:rPr>
              <a:t> de socket, e </a:t>
            </a:r>
            <a:r>
              <a:rPr sz="1700" b="0">
                <a:solidFill>
                  <a:srgbClr val="0B1B2B"/>
                </a:solidFill>
                <a:latin typeface="Consolas"/>
              </a:rPr>
              <a:t>nrfutil install trace</a:t>
            </a:r>
            <a:r>
              <a:rPr sz="1700" b="0">
                <a:solidFill>
                  <a:srgbClr val="0B1B2B"/>
                </a:solidFill>
                <a:latin typeface="Segoe UI"/>
              </a:rPr>
              <a:t> (≥ 5.4.0) para gravar trace do modem.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10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Mesma pilha NB-IoT R17: o que muda entre GEO e LEO é órbita, arquitetura, taxa e quando o dado chega.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GEO entrega em segundos a 1–2 kbps; LEO store-and-forward entrega em minutos a horas, a 20–40 kbps.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UE </a:t>
            </a:r>
            <a:r>
              <a:rPr sz="1500" b="1">
                <a:solidFill>
                  <a:srgbClr val="E8F1F8"/>
                </a:solidFill>
                <a:latin typeface="Segoe UI"/>
              </a:rPr>
              <a:t>pré-compensa TA e Doppler</a:t>
            </a:r>
            <a:r>
              <a:rPr sz="1500" b="0">
                <a:solidFill>
                  <a:srgbClr val="93A6B8"/>
                </a:solidFill>
                <a:latin typeface="Segoe UI"/>
              </a:rPr>
              <a:t> com o SIB31 e a própria posição: sem </a:t>
            </a:r>
            <a:r>
              <a:rPr sz="1500" b="0">
                <a:solidFill>
                  <a:srgbClr val="93A6B8"/>
                </a:solidFill>
                <a:latin typeface="Consolas"/>
              </a:rPr>
              <a:t>%LOCATION</a:t>
            </a:r>
            <a:r>
              <a:rPr sz="1500" b="0">
                <a:solidFill>
                  <a:srgbClr val="93A6B8"/>
                </a:solidFill>
                <a:latin typeface="Segoe UI"/>
              </a:rPr>
              <a:t> não há acesso.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Nos traces LEO o acesso é sempre em CE level 2, a −131 dBm: do MIB ao Attach Accept, 10,7 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1–2 kbps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taxa PHY no GEO, contra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20–40 kbps no LEO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2185,6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EARFCN 229232 no DL,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banda 256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10,7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 MIB ao Attach Accept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em 07/09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−131 dBm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RSRP da célula servidora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nos traces LEO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A escolha entre GEO e LEO sai de três dados: latência exigida, bytes por dia e visada disponível.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