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ATT — Asset Tracker Template: a aplicação de referência da Nordic de que os firmwares GEO e LEO derivam.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RRC — Radio Resource Control: a camada que decide se a UE está conectada ou em idle; o timer de inatividade é da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RSRP — Reference Signal Received Power: potência do sinal de referência, em dBm; −131 dBm nos traces LEO.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UL — Uplink: sentido UE → rede.</a:t>
            </a:r>
          </a:p>
          <a:p>
            <a:r>
              <a:t>DL — Downlink: sentido rede → UE.</a:t>
            </a:r>
          </a:p>
          <a:p>
            <a:r>
              <a:t>EMM — EPS Mobility Management: a parte do NAS que faz attach e registro; causa #8 = EPS services and non-EPS services not allowed.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T310 — Temporizador do RRC iniciado em out-of-sync; ao expirar, RLF. Em LEO é o satélite descendo abaixo do horizonte.</a:t>
            </a:r>
          </a:p>
          <a:p>
            <a:r>
              <a:t>RRC — Radio Resource Control: a camada que decide se a UE está conectada ou em idle; o timer de inatividade é da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UL — Uplink: sentido UE → rede.</a:t>
            </a:r>
          </a:p>
          <a:p>
            <a:r>
              <a:t>SIB1-NB — SystemInformationBlockType1-NB: PLMN, TAC, identidade da célula e o agendamento dos outros SI; em NTN aponta o SIB31.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MIB-NB — MasterInformationBlock-NB: o bloco no NPBCH, a cada 640 ms, com o número de frame e o agendamento do SIB1-NB.</a:t>
            </a:r>
          </a:p>
          <a:p>
            <a:r>
              <a:t>SIB31 — SIB31-NB: efeméride do satélite servidor, TA comum, K_offset e época — o que o UE usa para pré-compensar. Não sai por AT.</a:t>
            </a:r>
          </a:p>
          <a:p>
            <a:r>
              <a:t>CE level — Coverage Enhancement level (0, 1, 2): quantas repetições o UE usa no acesso; 2 é o nível de pior cobertura.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SNR — Signal-to-Noise Ratio: relação sinal/ruído em dB; 0 a 1 dB nos traces LEO.</a:t>
            </a:r>
          </a:p>
          <a:p>
            <a:r>
              <a:t>AcT — Access Technology no +CEREG/+COPS: 7 = LTE-M, 9 = NB-IoT, 14 = NTN NB-IoT.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NAS — Non-Access Stratum: sinalização entre o UE e o core (Attach, Service Request, PDN).</a:t>
            </a:r>
          </a:p>
          <a:p>
            <a:r>
              <a:t>ESM — EPS Session Management: a parte do NAS que ativa o bearer (PDN).</a:t>
            </a:r>
          </a:p>
          <a:p>
            <a:r>
              <a:t>DL — Downlink: sentido rede → UE.</a:t>
            </a:r>
          </a:p>
          <a:p>
            <a:r>
              <a:t>UL — Uplink: sentido UE → rede.</a:t>
            </a:r>
          </a:p>
          <a:p>
            <a:r>
              <a:t>ICMP — Internet Control Message Protocol: mensagens de controle; o ping usa ICMP.</a:t>
            </a:r>
          </a:p>
          <a:p>
            <a:r>
              <a:t>CP CIoT — Control Plane CIoT optimisation: dado de usuário dentro de mensagem NAS (Control Plane Service Request com PDU ESM), sem plano de usuário.</a:t>
            </a:r>
          </a:p>
          <a:p>
            <a:r>
              <a:t>NIDD — Non-IP Data Delivery: dados sem cabeçalho IP, pelo plano de controle; alternativa ao UDP/IP em NB-IoT.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EMM — EPS Mobility Management: a parte do NAS que faz attach e registro; causa #8 = EPS services and non-EPS services not allowed.</a:t>
            </a:r>
          </a:p>
          <a:p>
            <a:r>
              <a:t>NAS — Non-Access Stratum: sinalização entre o UE e o core (Attach, Service Request, PDN).</a:t>
            </a:r>
          </a:p>
          <a:p>
            <a:r>
              <a:t>PLMN — Public Land Mobile Network: código MCC+MNC da operadora; SatelIoT é 90197.</a:t>
            </a:r>
          </a:p>
          <a:p>
            <a:r>
              <a:t>UE — User Equipment: o dispositivo, na nomenclatura 3GPP.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CE level — Coverage Enhancement level (0, 1, 2): quantas repetições o UE usa no acesso; 2 é o nível de pior cobertura.</a:t>
            </a:r>
          </a:p>
          <a:p>
            <a:r>
              <a:t>MIB-NB — MasterInformationBlock-NB: o bloco no NPBCH, a cada 640 ms, com o número de frame e o agendamento do SIB1-NB.</a:t>
            </a:r>
          </a:p>
          <a:p>
            <a:r>
              <a:t>URC — Unsolicited Result Code: notificação assíncrona do modem no terminal AT (+CEREG, +CSCON, %LOCATION, #XSENDNTF...).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SIB32 — SIB32-NB: assistência para cobertura descontínua (lista de satélites, t-Service, cobertura); é o que %SIBCONFIG e %SIBREQ entregam ao app.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RLF — Radio Link Failure: perda do enlace declarada quando o T310 expira depois de N310 indicações de falta de sincronismo.</a:t>
            </a:r>
          </a:p>
          <a:p>
            <a:r>
              <a:t>URC — Unsolicited Result Code: notificação assíncrona do modem no terminal AT (+CEREG, +CSCON, %LOCATION, #XSENDNTF...).</a:t>
            </a:r>
          </a:p>
          <a:p>
            <a:r>
              <a:t>PDN — Packet Data Network: a conexão de dados (contexto) que o attach ativa; +CGDCONT define o APN e o tipo (ip ou non-ip).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SNR — Signal-to-Noise Ratio: relação sinal/ruído em dB; 0 a 1 dB nos traces LEO.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NAS — Non-Access Stratum: sinalização entre o UE e o core (Attach, Service Request, PDN).</a:t>
            </a:r>
          </a:p>
          <a:p>
            <a:r>
              <a:t>UDP — User Datagram Protocol: datagramas sem conexão nem garantia de entrega.</a:t>
            </a:r>
          </a:p>
          <a:p>
            <a:r>
              <a:t>T310 — Temporizador do RRC iniciado em out-of-sync; ao expirar, RLF. Em LEO é o satélite descendo abaixo do horizonte.</a:t>
            </a:r>
          </a:p>
          <a:p>
            <a:r>
              <a:t>SGP4 — Simplified General Perturbations 4: o propagador orbital que usa TLE; erro de segundos para dias, minutos para semanas.</a:t>
            </a:r>
          </a:p>
          <a:p>
            <a:r>
              <a:t>RLF — Radio Link Failure: perda do enlace declarada quando o T310 expira depois de N310 indicações de falta de sincronismo.</a:t>
            </a:r>
          </a:p>
          <a:p>
            <a:r>
              <a:t>HARQ — Hybrid ARQ: retransmissão com combinação; em NB-IoT o ACK/NACK do UE vai no NPUSCH formato 2.</a:t>
            </a:r>
          </a:p>
          <a:p>
            <a:r>
              <a:t>UE — User Equipment: o dispositivo, na nomenclatura 3GPP.</a:t>
            </a:r>
          </a:p>
          <a:p>
            <a:r>
              <a:t>NPUSCH — Narrowband Physical Uplink Shared Channel: o canal de subida de dados (formato 1) e de HARQ-ACK (formato 2); NB-IoT não tem PUCCH.</a:t>
            </a:r>
          </a:p>
          <a:p>
            <a:r>
              <a:t>NB-IoT — Narrowband IoT: a variante Cat-NB1/NB2.</a:t>
            </a:r>
          </a:p>
          <a:p>
            <a:r>
              <a:t>L3 — Camada 3 (rede): IPv4/IPv6.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CFUN — +CFUN: modo funcional do modem — 0 desligado, 1 normal, 4 modo avião, 21 só LTE, 31 só GNSS, 45 avião preservando o contexto.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UL — Uplink: sentido UE → rede.</a:t>
            </a:r>
          </a:p>
          <a:p>
            <a:r>
              <a:t>DL — Downlink: sentido rede → UE.</a:t>
            </a:r>
          </a:p>
          <a:p>
            <a:r>
              <a:t>T310 — Temporizador do RRC iniciado em out-of-sync; ao expirar, RLF. Em LEO é o satélite descendo abaixo do horizonte.</a:t>
            </a:r>
          </a:p>
          <a:p>
            <a:r>
              <a:t>SGP4 — Simplified General Perturbations 4: o propagador orbital que usa TLE; erro de segundos para dias, minutos para semanas.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DL — Downlink: sentido rede → UE.</a:t>
            </a:r>
          </a:p>
          <a:p>
            <a:r>
              <a:t>UE — User Equipment: o dispositivo, na nomenclatura 3GPP.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RLF — Radio Link Failure: perda do enlace declarada quando o T310 expira depois de N310 indicações de falta de sincronismo.</a:t>
            </a:r>
          </a:p>
          <a:p>
            <a:r>
              <a:t>SGP4 — Simplified General Perturbations 4: o propagador orbital que usa TLE; erro de segundos para dias, minutos para semanas.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T310 — Temporizador do RRC iniciado em out-of-sync; ao expirar, RLF. Em LEO é o satélite descendo abaixo do horizonte.</a:t>
            </a:r>
          </a:p>
          <a:p>
            <a:r>
              <a:t>SNR — Signal-to-Noise Ratio: relação sinal/ruído em dB; 0 a 1 dB nos traces LEO.</a:t>
            </a:r>
          </a:p>
          <a:p>
            <a:r>
              <a:t>LEO — Low Earth Orbit: 500 a 2000 km; ~90 min de órbita, minutos de visibilidade por passagem. SatelIoT opera a ~600 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RSRP — Reference Signal Received Power: potência do sinal de referência, em dBm; −131 dBm nos traces LEO.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NAS — Non-Access Stratum: sinalização entre o UE e o core (Attach, Service Request, PDN).</a:t>
            </a:r>
          </a:p>
          <a:p>
            <a:r>
              <a:t>MIB-NB — MasterInformationBlock-NB: o bloco no NPBCH, a cada 640 ms, com o número de frame e o agendamento do SIB1-NB.</a:t>
            </a:r>
          </a:p>
          <a:p>
            <a:r>
              <a:t>SIB1-NB — SystemInformationBlockType1-NB: PLMN, TAC, identidade da célula e o agendamento dos outros SI; em NTN aponta o SIB31.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K_offset — Deslocamento de agendamento em subframes que o NTN acrescenta entre DL e UL para cobrir o atraso de propagação.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SGP4 — Simplified General Perturbations 4: o propagador orbital que usa TLE; erro de segundos para dias, minutos para semanas.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NGSO — Non-Geosynchronous Orbit: LEO e MEO, na terminologia do 3GPP.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ATT — Asset Tracker Template: a aplicação de referência da Nordic de que os firmwares GEO e LEO derivam.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SGP4 — Simplified General Perturbations 4: o propagador orbital que usa TLE; erro de segundos para dias, minutos para semanas.</a:t>
            </a:r>
          </a:p>
          <a:p>
            <a:r>
              <a:t>TLE — Two-Line Element set: os elementos orbitais publicados (CelesTrak) que o SGP4 propaga para prever passagens.</a:t>
            </a:r>
          </a:p>
          <a:p>
            <a:r>
              <a:t>Kconfig — O sistema de configuração do Zephyr: as opções CONFIG_* do prj.conf.</a:t>
            </a:r>
          </a:p>
          <a:p>
            <a:r>
              <a:t>SIB32 — SIB32-NB: assistência para cobertura descontínua (lista de satélites, t-Service, cobertura); é o que %SIBCONFIG e %SIBREQ entregam ao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LEO — Low Earth Orbit: 500 a 2000 km; ~90 min de órbita, minutos de visibilidade por passagem. SatelIoT opera a ~600 km.</a:t>
            </a:r>
          </a:p>
          <a:p>
            <a:r>
              <a:t>NTN — Non-Terrestrial Network: acesso celular 3GPP por satélite. No nRF9151, NB-IoT R17 com firmware de modem próprio (mfw_nrf9151-ntn).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  <a:p>
            <a:r>
              <a:t>SIB32 — SIB32-NB: assistência para cobertura descontínua (lista de satélites, t-Service, cobertura); é o que %SIBCONFIG e %SIBREQ entregam ao app.</a:t>
            </a:r>
          </a:p>
          <a:p>
            <a:r>
              <a:t>SIB31 — SIB31-NB: efeméride do satélite servidor, TA comum, K_offset e época — o que o UE usa para pré-compensar. Não sai por AT.</a:t>
            </a:r>
          </a:p>
          <a:p>
            <a:r>
              <a:t>UDP — User Datagram Protocol: datagramas sem conexão nem garantia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UL — Uplink: sentido UE → rede.</a:t>
            </a:r>
          </a:p>
          <a:p>
            <a:r>
              <a:t>PRACH — Physical Random Access Channel (NPRACH em NB-IoT): o preâmbulo com que o UE inicia o acesso.</a:t>
            </a:r>
          </a:p>
          <a:p>
            <a:r>
              <a:t>RAR — Random Access Response: a resposta ao preâmbulo, com o grant de subida (NPUSCH) para o Msg3.</a:t>
            </a:r>
          </a:p>
          <a:p>
            <a:r>
              <a:t>EARFCN — E-UTRA Absolute Radio Frequency Channel Number: o número do canal; F = F_low + 0,1·(N − N_Offs) MHz. 229232 = 2185,6 MHz DL, banda 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12 · NTN LEO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NTN LEO na prática: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traces e passada sintética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Como se captura, converte e lê um trace de modem numa passagem SatelIoT, e como uma passada inteira é composta de trechos reais.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Não há demo ao vivo: a SatelIoT informou o SATELIOT_1 indisponível em Manaus na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000353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SatelIoT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6465" y="4709160"/>
            <a:ext cx="142554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EARFCN 229232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4894" y="4709160"/>
            <a:ext cx="1425549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nrfutil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3323" y="4709160"/>
            <a:ext cx="125547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plot_snr.py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51674" y="4709160"/>
            <a:ext cx="134051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firmware/leo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modem à figura: a cadeia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Nada disto roda em sala. Os traces vêm de passadas do SATELIOT_1 sobre Porto Alegre, gravadas com o firmware LEO do Asset Tracker Template; o material do bloco é o que saiu dessa cadeia.</a:t>
            </a:r>
          </a:p>
        </p:txBody>
      </p:sp>
      <p:sp>
        <p:nvSpPr>
          <p:cNvPr id="9" name="Pentagon 8"/>
          <p:cNvSpPr/>
          <p:nvPr/>
        </p:nvSpPr>
        <p:spPr>
          <a:xfrm>
            <a:off x="713232" y="3387852"/>
            <a:ext cx="2606588" cy="1417320"/>
          </a:xfrm>
          <a:prstGeom prst="homePlat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2752892" y="3387852"/>
            <a:ext cx="2606588" cy="1417320"/>
          </a:xfrm>
          <a:prstGeom prst="chevron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792553" y="3387852"/>
            <a:ext cx="2606588" cy="1417320"/>
          </a:xfrm>
          <a:prstGeom prst="chevron">
            <a:avLst/>
          </a:prstGeom>
          <a:solidFill>
            <a:srgbClr val="00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6832213" y="3387852"/>
            <a:ext cx="2606588" cy="1417320"/>
          </a:xfrm>
          <a:prstGeom prst="chevron">
            <a:avLst/>
          </a:prstGeom>
          <a:solidFill>
            <a:srgbClr val="0076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871874" y="3387852"/>
            <a:ext cx="2606588" cy="1417320"/>
          </a:xfrm>
          <a:prstGeom prst="chevron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43884"/>
            <a:ext cx="19939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firmware LEO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09644"/>
            <a:ext cx="19939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ATT no nRF9151: liga o rádio no pico da passada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548" y="36438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trace .bin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548" y="40096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nrfutil trace lte grava o dump binário do modem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209" y="36438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nrf_trace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9209" y="40096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converte em .txt com hora UTC absoluta por linha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8869" y="36438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plot_snr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8869" y="40096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sinal, eventos, elevação e carta polar num 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8530" y="36438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compoe_passada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8530" y="40096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junta trechos reais do nascer ao pôr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três erros de tempo do trace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nrf_trace.py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chama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nrfutil trace lte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por baixo e ancora a hora no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+CCLK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que segue o fix de GNSS, ou na época do cabeçalho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.bin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As três alternativas óbvias erram o horário ou perdem mensagens.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nrfutil cru: uptime em dobro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soma o contador de uptime do modem à época do cabeçalho, que já é absoluta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20260830_0209: cabeçalho 01:58:08, cabeçalho + uptime 15:10:31, nome do arquivo 02:09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desvio varia com o uptime acumulado; o módulo ancora no cabeçalho e descarta o absoluto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interface: timebase fora de escala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campo Timebase vem da data de modificação do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.bin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em hora local, apesar do sufixo Z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valor é somado em segundos dentro de um campo contado em microssegundos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soma 1788,687729 s, uns 30 minutos, em vez de 56 anos; confere ao microssegundo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decoderhost: perde 14 % das linhas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perde 124 de 874 linhas úteis: 56 timers 3GPP do RRC, 29 de medição de GNSS, 22 de estado RRC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é um executável de 32 bits, com uma cópia própria e mais antiga da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libtracedb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nenhuma flag fecha a diferença: testados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--bin_log_level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0 a 5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--writer_threads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1 e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O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.txt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sai como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YYYY-MM-DD HH:MM:SS.ffffff RÓTULO texto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, em UTC — o que o plot_snr e o compoe_passada leem.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FERRAMENTAS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comandos da cadeia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--tle-file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--out-dir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são as duas opções que o curso acrescentou ao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plot_snr.py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sem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--tle-file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ele baixa o TLE do CelesTrak.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--duration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corta a partir da primeira medida de RSRP, que é o MIB.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426720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386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converter um .bin novo (os .txt de data/ ja estao convertidos)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nrfutil</a:t>
            </a:r>
            <a:r>
              <a:rPr sz="1400" b="0">
                <a:solidFill>
                  <a:srgbClr val="DCE8F2"/>
                </a:solidFill>
                <a:latin typeface="Consolas"/>
              </a:rPr>
              <a:t> install trace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precisa da versao 5.4.0 ou maior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-c </a:t>
            </a:r>
            <a:r>
              <a:rPr sz="1400" b="0">
                <a:solidFill>
                  <a:srgbClr val="FFCF6B"/>
                </a:solidFill>
                <a:latin typeface="Consolas"/>
              </a:rPr>
              <a:t>"import nrf_trace; nrf_trace.convert(bin_path, db_path)"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plotar um trace real: sinal, eventos, elevacao e carta polar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cd ntn/02_leo_passada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../tools/plot_snr.py data/20260907_0228_SIOT1_BRA_KY.txt -s SATELIOT_1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--tle-file tle/sateliot_1_20260913.tle --no-open --out-dir plots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compor a passada sintetica e recortar a sequencia de acesso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compoe_passada.py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../tools/plot_snr.py passada_sintetica_SIOT1.txt -s SATELIOT_1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--tle-file tle/sateliot_1_20260913.tle --no-open --out-dir plots --duration 25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prever as passadas da semana sobre um ponto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python</a:t>
            </a:r>
            <a:r>
              <a:rPr sz="1400" b="0">
                <a:solidFill>
                  <a:srgbClr val="DCE8F2"/>
                </a:solidFill>
                <a:latin typeface="Consolas"/>
              </a:rPr>
              <a:t> ../../tools/LEO_next_passes.py --lat -3.0930 --lon -60.0207 --days 7 -e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Seis traces, seis situações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Passadas do SATELIOT_1 sobre Porto Alegre entre 02 e 09/09/2026, mais uma do SATELIOT_3 em 12/04. A parte de rádio de cada passada dura 15 a 30 s; o resto do trace é GNSS e espera.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OS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seis traces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Seis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.txt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ntn/02_leo_passada/data/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convertidos pelo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nrf_trace.py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com hora UTC absoluta em cada linha. Cinco são do SATELIOT_1 sobre Porto Alegre; o de abril é do SATELIOT_3.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90020"/>
                <a:gridCol w="5282937"/>
                <a:gridCol w="2392273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Trace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mostra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Janela UTC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20260907_0228_SIOT1_BRA_KY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Attach completo até o primeiro pacote UL — referência principal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02:28:35 → 02:28:55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20260909_0233_SIOT1_BRA_KY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Contexto já existente, CP Service Request, DL do servidor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02:33:37 → 02:33:41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20260906_0226_SIOT1_BRA_YG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Attach Reject, causa EMM #8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02:26:22 → 02:26:25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20260907_0228_SIOT1_BRA_YG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Célula 19 s depois do KY, PRACH sem RAR, volta à busca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02:28:32 → 02:31:34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20260902_0216_SIOT1_BRA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Envio,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+CSCON: 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 re-acesso por Service Request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02:16:12 → 02:16:58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20260412_1349_SIOT3_BRA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Perda de célula em conexão: T310 (SATELIOT_3)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14:53:59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Nos traces de setembro a busca é o ciclo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RRC State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0/1 a cada 2 s, sem o nome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ERRC_CNTRL_RRC_NO_CELL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OS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Attach completo até o primeiro UL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07/09, antena KY. MIB 02:28:43 → SIB1-NB 45,1 → SI-NB 45,4 e 45,5 → Attach Request 45,5 → PRACH/RAR 47,1 →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+CSCON: 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47,8 → Attach Accept 53,8 →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+CEREG: 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primeiro UL 54,8.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Do MIB ao Attach Accept: 10,7 s.</a:t>
            </a:r>
          </a:p>
        </p:txBody>
      </p:sp>
      <p:pic>
        <p:nvPicPr>
          <p:cNvPr id="9" name="Picture 8" descr="combined_20260907_0228_SIOT1_BRA_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30" y="1810512"/>
            <a:ext cx="101350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OS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Contexto existente: dado em NAS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09/09, antena KY: o contexto já existe. Control Plane Service Request com PDU ESM de dados 02:33:37 → Service Accept 40,2 → DL 40,45 e 40,59, cada um seguido de UL ICMP.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Dado em NAS, sem plano de usuário.</a:t>
            </a:r>
          </a:p>
        </p:txBody>
      </p:sp>
      <p:pic>
        <p:nvPicPr>
          <p:cNvPr id="9" name="Picture 8" descr="combined_20260909_0233_SIOT1_BRA_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88" y="1810512"/>
            <a:ext cx="1018971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OS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Attach Reject: causa EMM #8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06/09, antena YG: Attach Request 02:26:22 → Attach Reject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07 44 08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02:26:25, causa EMM #8 — EPS services and non-EPS services not allowed.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Recusa de assinatura da rede de teste, não falha de rádio.</a:t>
            </a:r>
          </a:p>
        </p:txBody>
      </p:sp>
      <p:pic>
        <p:nvPicPr>
          <p:cNvPr id="9" name="Picture 8" descr="combined_20260906_0226_SIOT1_BRA_Y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33" y="1810512"/>
            <a:ext cx="100548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OS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outra antena, no mesmo minuto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07/09, antena YG, gêmeo do KY: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+CFUN=21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02:28:32 e MIB só às 02:29:02 —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19 s depois do KY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PRACH CE2 em 02:29:05 e 02:29:18 sem RAR,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+CEREG: 4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02:29:50 (volta à busca), o app encerra com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+CFUN=45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02:31:34.</a:t>
            </a:r>
          </a:p>
        </p:txBody>
      </p:sp>
      <p:pic>
        <p:nvPicPr>
          <p:cNvPr id="9" name="Picture 8" descr="combined_20260907_0228_SIOT1_BRA_Y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33" y="1810512"/>
            <a:ext cx="100548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OS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Release e re-acesso no mesmo minuto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02/09: attach, envio,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+CSCON: 0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re-acesso por Service Request entre 02:16:12 e 02:16:58.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%SIBREQ=32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termina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%SIBREQ: 0,1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status 1 = célula perdida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sem entregar dados.</a:t>
            </a:r>
          </a:p>
        </p:txBody>
      </p:sp>
      <p:pic>
        <p:nvPicPr>
          <p:cNvPr id="9" name="Picture 8" descr="combined_20260902_0216_SIOT1_B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30" y="1810512"/>
            <a:ext cx="101350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OS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ler o combinado do plot_snr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Cada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combined_*.png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tem quatro painéis: sinal, eventos do procedimento, elevação do satélite e carta polar da passada. Os eventos vêm dos rótulos do trace; a geometria vem do TLE.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Sinal</a:t>
            </a:r>
            <a:r>
              <a:rPr sz="1700" b="0">
                <a:solidFill>
                  <a:srgbClr val="0B1B2B"/>
                </a:solidFill>
                <a:latin typeface="Segoe UI"/>
              </a:rPr>
              <a:t>: RSRP e SNR da célula servidora no tempo — nos traces LEO, −131 a −126 dBm e SNR de 0 a 1 dB.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Eventos</a:t>
            </a:r>
            <a:r>
              <a:rPr sz="1700" b="0">
                <a:solidFill>
                  <a:srgbClr val="0B1B2B"/>
                </a:solidFill>
                <a:latin typeface="Segoe UI"/>
              </a:rPr>
              <a:t>: 22 categorias em faixas (MIB, SIB, PRACH/RAR, NAS, </a:t>
            </a:r>
            <a:r>
              <a:rPr sz="1700" b="0">
                <a:solidFill>
                  <a:srgbClr val="0B1B2B"/>
                </a:solidFill>
                <a:latin typeface="Consolas"/>
              </a:rPr>
              <a:t>+CSCON</a:t>
            </a:r>
            <a:r>
              <a:rPr sz="1700" b="0">
                <a:solidFill>
                  <a:srgbClr val="0B1B2B"/>
                </a:solidFill>
                <a:latin typeface="Segoe UI"/>
              </a:rPr>
              <a:t>, UDP, T310), cada uma na hora da linha do trace.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Elevação e carta polar</a:t>
            </a:r>
            <a:r>
              <a:rPr sz="1700" b="0">
                <a:solidFill>
                  <a:srgbClr val="0B1B2B"/>
                </a:solidFill>
                <a:latin typeface="Segoe UI"/>
              </a:rPr>
              <a:t>: geometria por SGP4 sobre o TLE local — calculada, não medida.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RELEASE, RLF e NO_CONNECTION</a:t>
            </a:r>
            <a:r>
              <a:rPr sz="1700" b="0">
                <a:solidFill>
                  <a:srgbClr val="0B1B2B"/>
                </a:solidFill>
                <a:latin typeface="Segoe UI"/>
              </a:rPr>
              <a:t> são as marcas de fim: release da rede, T310 expirado, ausência de célula.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“Net ACK” é inferência</a:t>
            </a:r>
            <a:r>
              <a:rPr sz="1700" b="0">
                <a:solidFill>
                  <a:srgbClr val="0B1B2B"/>
                </a:solidFill>
                <a:latin typeface="Segoe UI"/>
              </a:rPr>
              <a:t>: o primeiro DCI N1 após o envio que não é RAR, confirmado por HARQ-ACK do UE (NPUSCH formato 2 — NB-IoT não tem PUCCH) e sem PDU L3.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A </a:t>
            </a:r>
            <a:r>
              <a:rPr sz="1700" b="1">
                <a:solidFill>
                  <a:srgbClr val="0093D0"/>
                </a:solidFill>
                <a:latin typeface="Segoe UI"/>
              </a:rPr>
              <a:t>busca de célula</a:t>
            </a:r>
            <a:r>
              <a:rPr sz="1700" b="0">
                <a:solidFill>
                  <a:srgbClr val="0B1B2B"/>
                </a:solidFill>
                <a:latin typeface="Segoe UI"/>
              </a:rPr>
              <a:t> só é desenhada quando a linha traz </a:t>
            </a:r>
            <a:r>
              <a:rPr sz="1700" b="0">
                <a:solidFill>
                  <a:srgbClr val="0B1B2B"/>
                </a:solidFill>
                <a:latin typeface="Consolas"/>
              </a:rPr>
              <a:t>ERRC_CNTRL_RRC_NO_CELL</a:t>
            </a:r>
            <a:r>
              <a:rPr sz="1700" b="0">
                <a:solidFill>
                  <a:srgbClr val="0B1B2B"/>
                </a:solidFill>
                <a:latin typeface="Segoe UI"/>
              </a:rPr>
              <a:t> — nos traces de setembro, não traz.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 passada sintética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Nenhum trace real cobre a passada inteira: o firmware liga o rádio no pico e a parte de rádio dura 15 a 30 s. A sintética junta trechos reais na geometria real da passada de 07/09.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PASSADA SINTÉTICA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a passada é composta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geometria é a da passada de 07/09 sobre Porto Alegre: nascer 02:22:37, pico 60,7° às 02:28:53, pôr 02:35:05 UTC. O TLE de 22/08 do firmware dá a mesma passada com 4 a 5 s de diferença.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26461"/>
                <a:gridCol w="2919384"/>
                <a:gridCol w="2919384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Fase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Origem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Posição na passada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AT+CFUN=21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 8 s de busca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07/09 KY, real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20 s após o nascer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Busca de célula até o MIB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gerada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com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[sintetico]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na linha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entre os dois trechos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MIB → SIB1 → SI → Attach Request → PRACH/RAR →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+CSCON: 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→ Attach Accept →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+CEREG: 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07/09 KY, real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elevação 35° subindo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Envio UL e resposta DL do servidor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09/09 KY, real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 s depois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Perda da célula: T310,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+CSCON: 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NO_CELL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12/04 SIOT3, real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elevação 8° descendo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Cada trecho mantém os intervalos internos; só a posição vem da elevação (SGP4, TLE de 13/09).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PASSADA SINTÉTICA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passada inteira, do nascer ao pôr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nascer 02:22:37 ao pôr 02:35:05, pico 60,7°. Entre o DL e a perda da célula não há linhas: o UE fica conectado sem tráfego e o RSRP para onde param as medidas reais.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RLF a 8°, na descida.</a:t>
            </a:r>
          </a:p>
        </p:txBody>
      </p:sp>
      <p:pic>
        <p:nvPicPr>
          <p:cNvPr id="9" name="Picture 8" descr="combined_passada_sintetica_SI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88" y="1810512"/>
            <a:ext cx="1018971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PASSADA SINTÉTICA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25 s da sequência de acesso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--duration 25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corta a partir da primeira medida de RSRP, que é o MIB. A ordem que o trace impõe: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 Attach Request aparece antes do RAR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(o PDU NAS é montado antes do Msg3) 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+CSCON: 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antes do Attach Accept.</a:t>
            </a:r>
          </a:p>
        </p:txBody>
      </p:sp>
      <p:pic>
        <p:nvPicPr>
          <p:cNvPr id="9" name="Picture 8" descr="combined_passada_sintetica_SIOT1_acesso25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88" y="1810512"/>
            <a:ext cx="1018971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PASSADA SINTÉTICA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Passadas do SATELIOT_1 sobre o SIDIA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28 passadas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em 13–20/09 sobre o SIDIA (−3,0930, −60,0207; SGP4, TLE de 13/09), quatro por dia. Só uma chega a 50°, no sábado 12/09 às 22:51 em hora local, antes do curso. A SatelIoT informou o SATELIOT_1 indisponível em Manaus na semana.</a:t>
            </a:r>
          </a:p>
        </p:txBody>
      </p:sp>
      <p:pic>
        <p:nvPicPr>
          <p:cNvPr id="9" name="Picture 8" descr="mapa_semana_mana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810512"/>
            <a:ext cx="102412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Firmware de referência LEO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Snapshot do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app/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do Asset Tracker Template, branch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leo_ntn_status_leds_v2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, commit </a:t>
            </a:r>
            <a:r>
              <a:rPr sz="1600" b="0" i="0">
                <a:solidFill>
                  <a:srgbClr val="93A6B8"/>
                </a:solidFill>
                <a:latin typeface="Consolas"/>
              </a:rPr>
              <a:t>2ec6cf80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 Foi este firmware que gerou os traces; não compila fora do west workspace do ATT.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FIRMWARE LEO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máquina de estados do módulo NTN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ntn.c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define os estados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enum ntn_module_state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app faz o fix GNSS cerca de 4 min antes do pico previsto, espera, e só então liga o rádio NTN — a parte de rádio dura 15 a 30 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RUNNING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estado pai; arma a transição inicial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GNSS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busca o fix de posição e hora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SGP4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prevê a próxima passada e arma o timer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NTN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ativa o modem, seleciona o canal, anexa e envia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repousa até a próxima passada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701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064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passada prevista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427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no horário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790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envio concluído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TLE por Kconfig (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APP_NTN_TLE_FROM_KCONFIG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) ou por SIB32; o TLE de 22/08 dá a mesma passada com 4 a 5 s de diferença.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FIRMWARE LEO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firmware faz no rádio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Antes de entrar em NTN o firmware fixa o canal e pede os SIB de satélite; o envio só é dado por bom quando o modem confirma a entrega.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Consolas"/>
              </a:rPr>
              <a:t>%CHSELECT</a:t>
            </a:r>
            <a:r>
              <a:rPr sz="1500" b="0">
                <a:solidFill>
                  <a:srgbClr val="0B1B2B"/>
                </a:solidFill>
                <a:latin typeface="Segoe UI"/>
              </a:rPr>
              <a:t> só existe no pacote de avaliação; a referência pública traz </a:t>
            </a:r>
            <a:r>
              <a:rPr sz="1500" b="0">
                <a:solidFill>
                  <a:srgbClr val="0B1B2B"/>
                </a:solidFill>
                <a:latin typeface="Consolas"/>
              </a:rPr>
              <a:t>%FREQRANGES</a:t>
            </a:r>
            <a:r>
              <a:rPr sz="1500" b="0">
                <a:solidFill>
                  <a:srgbClr val="0B1B2B"/>
                </a:solidFill>
                <a:latin typeface="Segoe UI"/>
              </a:rPr>
              <a:t> — daí o fallback.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EARFCN 229232 = 2185,6 MHz, o canal SatelIoT no Brasil; o overlay traz os outros comentados.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329184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889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app/src/modules/ntn/ntn.c, state_ntn_entry() -- selecao de canal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AT%CHSELECT=2,14,229232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primeira tentativa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AT%FREQRANGES=1,6,,1,</a:t>
            </a:r>
            <a:r>
              <a:rPr sz="1400" b="0">
                <a:solidFill>
                  <a:srgbClr val="FFCF6B"/>
                </a:solidFill>
                <a:latin typeface="Consolas"/>
              </a:rPr>
              <a:t>"229232"</a:t>
            </a:r>
            <a:r>
              <a:rPr sz="1400" b="0">
                <a:solidFill>
                  <a:srgbClr val="DCE8F2"/>
                </a:solidFill>
                <a:latin typeface="Consolas"/>
              </a:rPr>
              <a:t>,</a:t>
            </a:r>
            <a:r>
              <a:rPr sz="1400" b="0">
                <a:solidFill>
                  <a:srgbClr val="FFCF6B"/>
                </a:solidFill>
                <a:latin typeface="Consolas"/>
              </a:rPr>
              <a:t>""</a:t>
            </a:r>
            <a:r>
              <a:rPr sz="1400" b="0">
                <a:solidFill>
                  <a:srgbClr val="DCE8F2"/>
                </a:solidFill>
                <a:latin typeface="Consolas"/>
              </a:rPr>
              <a:t>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fallback, se o %CHSELECT falhar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AT%SIBCONFIG=32,1,31,0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pede o SIB32 (assistencia) e o SIB31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app/overlay-ntn-sateliot.conf -- o EARFCN e por territorio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CONFIG_APP_NTN_CHANNEL_SELECT_ENABLE</a:t>
            </a:r>
            <a:r>
              <a:rPr sz="1400" b="0">
                <a:solidFill>
                  <a:srgbClr val="DCE8F2"/>
                </a:solidFill>
                <a:latin typeface="Consolas"/>
              </a:rPr>
              <a:t>=y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CONFIG_APP_NTN_CHANNEL_SELECT</a:t>
            </a:r>
            <a:r>
              <a:rPr sz="1400" b="0">
                <a:solidFill>
                  <a:srgbClr val="DCE8F2"/>
                </a:solidFill>
                <a:latin typeface="Consolas"/>
              </a:rPr>
              <a:t>=229232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Brasil; 229236 NO, 229312 FI/ES, 229336 AU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confirmacao de envio: callback do socket UDP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setsockopt(sock_fd, SOL_SOCKET, SO_SENDCB, &amp;pcb, sizeof(pcb));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CONFIG_APP_NTN_SEND_ACK_TIMEOUT_SECONDS</a:t>
            </a:r>
            <a:r>
              <a:rPr sz="1400" b="0">
                <a:solidFill>
                  <a:srgbClr val="DCE8F2"/>
                </a:solidFill>
                <a:latin typeface="Consolas"/>
              </a:rPr>
              <a:t>=60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NTN_SEND_ACK ou NTN_SEND_FAILED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12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parte de rádio de uma passada dura </a:t>
            </a:r>
            <a:r>
              <a:rPr sz="1500" b="1">
                <a:solidFill>
                  <a:srgbClr val="E8F1F8"/>
                </a:solidFill>
                <a:latin typeface="Segoe UI"/>
              </a:rPr>
              <a:t>15 a 30 s</a:t>
            </a:r>
            <a:r>
              <a:rPr sz="1500" b="0">
                <a:solidFill>
                  <a:srgbClr val="93A6B8"/>
                </a:solidFill>
                <a:latin typeface="Segoe UI"/>
              </a:rPr>
              <a:t>: busca, attach e envio cabem nessa janela.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Do MIB ao Attach Accept, </a:t>
            </a:r>
            <a:r>
              <a:rPr sz="1500" b="1">
                <a:solidFill>
                  <a:srgbClr val="E8F1F8"/>
                </a:solidFill>
                <a:latin typeface="Segoe UI"/>
              </a:rPr>
              <a:t>10,7 s</a:t>
            </a:r>
            <a:r>
              <a:rPr sz="1500" b="0">
                <a:solidFill>
                  <a:srgbClr val="93A6B8"/>
                </a:solidFill>
                <a:latin typeface="Segoe UI"/>
              </a:rPr>
              <a:t> no trace de 07/09; o primeiro UL sai 1 s após o </a:t>
            </a:r>
            <a:r>
              <a:rPr sz="1500" b="0">
                <a:solidFill>
                  <a:srgbClr val="93A6B8"/>
                </a:solidFill>
                <a:latin typeface="Consolas"/>
              </a:rPr>
              <a:t>+CEREG: 5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antena muda o resultado: o gêmeo YG achou a célula </a:t>
            </a:r>
            <a:r>
              <a:rPr sz="1500" b="1">
                <a:solidFill>
                  <a:srgbClr val="E8F1F8"/>
                </a:solidFill>
                <a:latin typeface="Segoe UI"/>
              </a:rPr>
              <a:t>19 s depois</a:t>
            </a:r>
            <a:r>
              <a:rPr sz="1500" b="0">
                <a:solidFill>
                  <a:srgbClr val="93A6B8"/>
                </a:solidFill>
                <a:latin typeface="Segoe UI"/>
              </a:rPr>
              <a:t> e o PRACH ficou sem RAR.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Sem passada útil sobre Manaus na semana: 28 passadas e o SATELIOT_1 indisponível, informou a SatelIoT.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15–30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rádio ligado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em cada passada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10,7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 MIB ao Attach Accept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no trace de 07/09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229232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EARFCN SatelIoT no Brasil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2185,6 MHz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passadas sobre o SIDIA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em 13–20/09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As figuras saem de traces reais; a passada inteira é montagem declarada, não simulação.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