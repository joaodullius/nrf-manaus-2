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GEO — Satélite geoestacionário: o que transmite as correções de um SBAS.</a:t>
            </a:r>
          </a:p>
          <a:p>
            <a:r>
              <a:t>SIM — Subscriber Identity Module.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SIM — Subscriber Identity Module.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APN — Access Point Name: a rede de dados da operadora; em APN privada o timer RRC pode ser negociado.</a:t>
            </a:r>
          </a:p>
          <a:p>
            <a:r>
              <a:t>PC — Personal Computer.</a:t>
            </a:r>
          </a:p>
          <a:p>
            <a:r>
              <a:t>UDP — User Datagram Protocol: datagramas sem conexão nem garantia de entrega.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NAT — Network Address Translation: o roteador esconde a rede interna atrás de um IP; por isso o servidor não abre conexão para o kit.</a:t>
            </a:r>
          </a:p>
          <a:p>
            <a:r>
              <a:t>GEO — Satélite geoestacionário: o que transmite as correções de um SBAS.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hex — Arquivo Intel HEX: a imagem de firmware pronta para gravar.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URC — Unsolicited Result Code: notificação assíncrona do modem no terminal AT (+CEREG, +CSCON, %LOCATION, #XSENDNTF...).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RF — Radiofrequência; chave de RF é o switch de antena entre BLE e Wi-Fi (ausente na EB II desta placa).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NB-IoT — Narrowband IoT: a variante Cat-NB1/NB2.</a:t>
            </a:r>
          </a:p>
          <a:p>
            <a:r>
              <a:t>SLM — Serial LTE Modem / Serial Modem add-on: firmware do núcleo de aplicação que expõe AT do modem e comandos #X de socket pela UART.</a:t>
            </a:r>
          </a:p>
          <a:p>
            <a:r>
              <a:t>LTE-M — A variante Cat-M1 do LTE para IoT.</a:t>
            </a:r>
          </a:p>
          <a:p>
            <a:r>
              <a:t>GNSS — Global Navigation Satellite System: o termo genérico; GPS, Galileo, GLONASS e BeiDou são constelações GNSS.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APN — Access Point Name: a rede de dados da operadora; em APN privada o timer RRC pode ser negociado.</a:t>
            </a:r>
          </a:p>
          <a:p>
            <a:r>
              <a:t>UE — User Equipment: o dispositivo, na nomenclatura 3GPP.</a:t>
            </a:r>
          </a:p>
          <a:p>
            <a:r>
              <a:t>TA — Timing Advance: adiantamento da transmissão de subida para compensar o atraso de ida e volta; em NTN o UE calcula a parte do enlace de serviço a partir da efeméride e da própria posição.</a:t>
            </a:r>
          </a:p>
          <a:p>
            <a:r>
              <a:t>SIB31 — SIB31-NB: efeméride do satélite servidor, TA comum, K_offset e época — o que o UE usa para pré-compensar. Não sai por AT.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PDN — Packet Data Network: a conexão de dados (contexto) que o attach ativa; +CGDCONT define o APN e o tipo (ip ou non-ip).</a:t>
            </a:r>
          </a:p>
          <a:p>
            <a:r>
              <a:t>IPv4 — Internet Protocol versão 4: endereços de 32 bits (192.168.x.x).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RF — Radiofrequência; chave de RF é o switch de antena entre BLE e Wi-Fi (ausente na EB II desta placa).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TAC — Tracking Area Code: código da área de rastreamento, no +CEREG.</a:t>
            </a:r>
          </a:p>
          <a:p>
            <a:r>
              <a:t>AcT — Access Technology no +CEREG/+COPS: 7 = LTE-M, 9 = NB-IoT, 14 = NTN NB-IoT.</a:t>
            </a:r>
          </a:p>
          <a:p>
            <a:r>
              <a:t>EMM — EPS Mobility Management: a parte do NAS que faz attach e registro; causa #8 = EPS services and non-EPS services not allowed.</a:t>
            </a:r>
          </a:p>
          <a:p>
            <a:r>
              <a:t>ESM — EPS Session Management: a parte do NAS que ativa o bearer (PDN).</a:t>
            </a:r>
          </a:p>
          <a:p>
            <a:r>
              <a:t>CI — Continuous Integration: os testes automáticos que a Nordic roda no SDK.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NB-IoT — Narrowband IoT: a variante Cat-NB1/NB2.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TAC — Tracking Area Code: código da área de rastreamento, no +CEREG.</a:t>
            </a:r>
          </a:p>
          <a:p>
            <a:r>
              <a:t>CI — Continuous Integration: os testes automáticos que a Nordic roda no SDK.</a:t>
            </a:r>
          </a:p>
          <a:p>
            <a:r>
              <a:t>AcT — Access Technology no +CEREG/+COPS: 7 = LTE-M, 9 = NB-IoT, 14 = NTN NB-IoT.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NB-IoT — Narrowband IoT: a variante Cat-NB1/NB2.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NAS — Non-Access Stratum: sinalização entre o UE e o core (Attach, Service Request, PDN).</a:t>
            </a:r>
          </a:p>
          <a:p>
            <a:r>
              <a:t>EMM — EPS Mobility Management: a parte do NAS que faz attach e registro; causa #8 = EPS services and non-EPS services not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SIB32 — SIB32-NB: assistência para cobertura descontínua (lista de satélites, t-Service, cobertura); é o que %SIBCONFIG e %SIBREQ entregam ao app.</a:t>
            </a:r>
          </a:p>
          <a:p>
            <a:r>
              <a:t>GEO — Satélite geoestacionário: o que transmite as correções de um SBAS.</a:t>
            </a:r>
          </a:p>
          <a:p>
            <a:r>
              <a:t>PCI — Physical Cell ID: identidade física da célula, derivada das sequências de sincronização (NPSS/NSSS).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PLMN — Public Land Mobile Network: código MCC+MNC da operadora; SatelIoT é 90197.</a:t>
            </a:r>
          </a:p>
          <a:p>
            <a:r>
              <a:t>TAC — Tracking Area Code: código da área de rastreamento, no +CEREG.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SNR — Signal-to-Noise Ratio: relação sinal/ruído em dB; 0 a 1 dB nos traces LEO.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  <a:p>
            <a:r>
              <a:t>PCI — Physical Cell ID: identidade física da célula, derivada das sequências de sincronização (NPSS/NSSS).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SNR — Signal-to-Noise Ratio: relação sinal/ruído em dB; 0 a 1 dB nos traces LEO.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GEO — Satélite geoestacionário: o que transmite as correções de um SBAS.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UDP — User Datagram Protocol: datagramas sem conexão nem garantia de entrega.</a:t>
            </a:r>
          </a:p>
          <a:p>
            <a:r>
              <a:t>IPv4 — Internet Protocol versão 4: endereços de 32 bits (192.168.x.x).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RF — Radiofrequência; chave de RF é o switch de antena entre BLE e Wi-Fi (ausente na EB II desta placa).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SIM — Subscriber Identity Module.</a:t>
            </a:r>
          </a:p>
          <a:p>
            <a:r>
              <a:t>PDN — Packet Data Network: a conexão de dados (contexto) que o attach ativa; +CGDCONT define o APN e o tipo (ip ou non-ip).</a:t>
            </a:r>
          </a:p>
          <a:p>
            <a:r>
              <a:t>GEO — Satélite geoestacionário: o que transmite as correções de um SBAS.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LED — Light-Emitting Diode.</a:t>
            </a:r>
          </a:p>
          <a:p>
            <a:r>
              <a:t>GNSS — Global Navigation Satellite System: o termo genérico; GPS, Galileo, GLONASS e BeiDou são constelações GNSS.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SIM — Subscriber Identity Module.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NCS — nRF Connect SDK.</a:t>
            </a:r>
          </a:p>
          <a:p>
            <a:r>
              <a:t>LED — Light-Emitting Diode.</a:t>
            </a:r>
          </a:p>
          <a:p>
            <a:r>
              <a:t>ATT — Asset Tracker Template: a aplicação de referência da Nordic de que os firmwares GEO e LEO derivam.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AcT — Access Technology no +CEREG/+COPS: 7 = LTE-M, 9 = NB-IoT, 14 = NTN NB-IoT.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NB-IoT — Narrowband IoT: a variante Cat-NB1/NB2.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11 · NTN 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NTN GEO na prática: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demo Skylo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 kit com a única SIM NTN do curso, o Serial Modem add-on no núcleo de aplicação e o terminal AT projetado. A sequência em cinco blocos, o que cada resposta significa, e o firmware de referência operado por botões.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Todo comando sai do roteiro AT do repositório.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nRF9151 SMA-DK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6700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SIM Skylo eminify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5286" y="4709160"/>
            <a:ext cx="2105863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mfw_nrf9151-ntn 1.0.1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029" y="4709160"/>
            <a:ext cx="193578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serial_modem v1.0.0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62693" y="4709160"/>
            <a:ext cx="1850745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64.181.168.22:5005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Kit, firmware e servidor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demo é do instrutor. Nenhum kit de aluno tem SIM NTN: há uma SIM Skylo, num kit, e o que se projeta é o terminal AT desse kit.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kit: nRF9151-SMA-DK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SIM Skylo eminify, APN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em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; antena NTN externa, com visada de céu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app core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serial_modem_v1.0.0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modem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mfw_nrf9151-ntn_1.0.1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serial 115200 8N1; a porta COM sai do Gerenciador de Dispositivos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PC do instrutor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Python com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pyserial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pip install -r ../tools/requirements.txt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skylo_test.py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roda a sequência, decodifica as URCs e abre um shell interativo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--lat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--lon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são obrigatórios: a posição é o fix do dia, no local da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servidor UDP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64.181.168.22:5005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o padrão de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--server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e o mesmo do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prj.conf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do LEO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udp_server.py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em primeiro plano numa sessão nesse servidor mostra o datagrama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um laptop atrás do NAT da sala não recebe: o kit chega pela Internet pública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Sem plano B: se o satélite Skylo não estiver visível na janela da aula, a demo GEO não roda ao vivo.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Gravar os dois firmwares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.zip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firmware de modem não está no repositório (licença Nordic): fica o link,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ntn/hex/README.md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hex do Serial Modem está versionado.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 firmware NTN </a:t>
            </a:r>
            <a:r>
              <a:rPr sz="1500" b="1">
                <a:solidFill>
                  <a:srgbClr val="0093D0"/>
                </a:solidFill>
                <a:latin typeface="Segoe UI"/>
              </a:rPr>
              <a:t>substitui</a:t>
            </a:r>
            <a:r>
              <a:rPr sz="1500" b="0">
                <a:solidFill>
                  <a:srgbClr val="0B1B2B"/>
                </a:solidFill>
                <a:latin typeface="Segoe UI"/>
              </a:rPr>
              <a:t> o </a:t>
            </a:r>
            <a:r>
              <a:rPr sz="1500" b="0">
                <a:solidFill>
                  <a:srgbClr val="0B1B2B"/>
                </a:solidFill>
                <a:latin typeface="Consolas"/>
              </a:rPr>
              <a:t>mfw_nrf91x1_2.0.x</a:t>
            </a:r>
            <a:r>
              <a:rPr sz="1500" b="0">
                <a:solidFill>
                  <a:srgbClr val="0B1B2B"/>
                </a:solidFill>
                <a:latin typeface="Segoe UI"/>
              </a:rPr>
              <a:t> usado no módulo de GNSS; para voltar ao GNSS com assistência, regravar o </a:t>
            </a:r>
            <a:r>
              <a:rPr sz="1500" b="0">
                <a:solidFill>
                  <a:srgbClr val="0B1B2B"/>
                </a:solidFill>
                <a:latin typeface="Consolas"/>
              </a:rPr>
              <a:t>mfw_nrf91x1</a:t>
            </a:r>
            <a:r>
              <a:rPr sz="1500" b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309372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691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1. firmware de modem: nRF Connect for Desktop &gt; Programmer &gt; Add file &gt; Write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   mfw_nrf9151-ntn_1.0.1.zip -- baixar em nordicsemi.com &gt; nRF9151 SMA DK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2. app core: Serial Modem add-on v1.0.0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nrfutil device program --firmware serial_modem_v1.0.0_nrf9151dk_normal.hex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--options chip_erase_mode=ERASE_ALL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3. conferir na porta "nRF91 Serial Modem", 115200 8N1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AT+CGMR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mfw_nrf9151-ntn_1.0.1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AT#XSMVER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#XSMVER: 1,0,0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linha de comando da demo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--lat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--lon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não têm padrão: a coordenada é o fix do dia, medido no lab de GNSS. NTN e GNSS são exclusivos no modem, e um fix a frio leva minutos que a demo não 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 </a:t>
            </a:r>
            <a:r>
              <a:rPr sz="1500" b="0">
                <a:solidFill>
                  <a:srgbClr val="0B1B2B"/>
                </a:solidFill>
                <a:latin typeface="Consolas"/>
              </a:rPr>
              <a:t>--gnss</a:t>
            </a:r>
            <a:r>
              <a:rPr sz="1500" b="0">
                <a:solidFill>
                  <a:srgbClr val="0B1B2B"/>
                </a:solidFill>
                <a:latin typeface="Segoe UI"/>
              </a:rPr>
              <a:t> do script continua lá, mas a demo </a:t>
            </a:r>
            <a:r>
              <a:rPr sz="1500" b="1">
                <a:solidFill>
                  <a:srgbClr val="0093D0"/>
                </a:solidFill>
                <a:latin typeface="Segoe UI"/>
              </a:rPr>
              <a:t>não</a:t>
            </a:r>
            <a:r>
              <a:rPr sz="1500" b="0">
                <a:solidFill>
                  <a:srgbClr val="0B1B2B"/>
                </a:solidFill>
                <a:latin typeface="Segoe UI"/>
              </a:rPr>
              <a:t> o usa.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A URC </a:t>
            </a:r>
            <a:r>
              <a:rPr sz="1500" b="0">
                <a:solidFill>
                  <a:srgbClr val="0B1B2B"/>
                </a:solidFill>
                <a:latin typeface="Consolas"/>
              </a:rPr>
              <a:t>#XSENDNTF</a:t>
            </a:r>
            <a:r>
              <a:rPr sz="1500" b="0">
                <a:solidFill>
                  <a:srgbClr val="0B1B2B"/>
                </a:solidFill>
                <a:latin typeface="Segoe UI"/>
              </a:rPr>
              <a:t> prova a entrega mesmo sem a sessão aberta no servidor.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85902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456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a partir de ntn/01_geo_live/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pip install -r ../tools/requirements.txt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python skylo_test.py --port COM26 --lat &lt;LAT&gt; --lon &lt;LON&gt;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padroes: --alt 50   --apn em   --server 64.181.168.22:5005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--server malformado (sem porta) e rejeitado antes de abrir a porta serial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referencia do predio (Sidia Amazon Tower, OpenStreetMap):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  -3,0930  -60,0207   -- ordem de grandeza, nao e padrao do 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 sequência, em cinco blocos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Consolas"/>
              </a:rPr>
              <a:t>skylo_test.py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envia os comandos na ordem de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build_config_commands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;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skylo_at_commands.txt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é a mesma sequência em AT puro, para ler fora do script.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cinco blocos da sequência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Os blocos 1 a 3 o script roda sozinho; os blocos 4 e 5 são os atalhos numéricos do shell interativo. O bloco 3 espera o registro por até 180 s antes de seguir.</a:t>
            </a:r>
          </a:p>
        </p:txBody>
      </p:sp>
      <p:sp>
        <p:nvSpPr>
          <p:cNvPr id="9" name="Pentagon 8"/>
          <p:cNvSpPr/>
          <p:nvPr/>
        </p:nvSpPr>
        <p:spPr>
          <a:xfrm>
            <a:off x="713232" y="3387852"/>
            <a:ext cx="2606588" cy="1417320"/>
          </a:xfrm>
          <a:prstGeom prst="homePlat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2752892" y="3387852"/>
            <a:ext cx="2606588" cy="1417320"/>
          </a:xfrm>
          <a:prstGeom prst="chevron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792553" y="3387852"/>
            <a:ext cx="2606588" cy="1417320"/>
          </a:xfrm>
          <a:prstGeom prst="chevron">
            <a:avLst/>
          </a:prstGeom>
          <a:solidFill>
            <a:srgbClr val="00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6832213" y="3387852"/>
            <a:ext cx="2606588" cy="1417320"/>
          </a:xfrm>
          <a:prstGeom prst="chevron">
            <a:avLst/>
          </a:prstGeom>
          <a:solidFill>
            <a:srgbClr val="0076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871874" y="3387852"/>
            <a:ext cx="2606588" cy="1417320"/>
          </a:xfrm>
          <a:prstGeom prst="chevron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43884"/>
            <a:ext cx="19939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 · Modo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09644"/>
            <a:ext cx="19939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identificação, +CFUN=4, %XSYSTEMMODE, %XBANDLOCK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548" y="36438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 · Posição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548" y="40096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%LOCATION=2, %LOCATION=1 e +CGDCONT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209" y="36438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 · Ativação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9209" y="40096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URCs, +CFUN=1; depois %SIBREQ=32, +COPS?, %XMONITOR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8869" y="36438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 · Dado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8869" y="40096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#XSOCKET, #XCONNECT, #XSEND 8192, #XRECVFROM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8530" y="36438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 · Fecho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8530" y="40096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#XCLOSE, +CFUN=4, +CFUN=0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Bloco 1: identificação e modo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Tudo com o RF desligado: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+CFUN=4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primeiro, depois o modo de sistema e o bandlock. O quinto parâmetro de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%XSYSTEMMODE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o NTN NB-IoT; a Skylo trava as duas bandas de satélite.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 guia Skylo traz a sintaxe antiga do SLM; a que vale é a do </a:t>
            </a:r>
            <a:r>
              <a:rPr sz="1500" b="1">
                <a:solidFill>
                  <a:srgbClr val="0093D0"/>
                </a:solidFill>
                <a:latin typeface="Segoe UI"/>
              </a:rPr>
              <a:t>Serial Modem v1.0.0</a:t>
            </a:r>
            <a:r>
              <a:rPr sz="1500" b="0">
                <a:solidFill>
                  <a:srgbClr val="0B1B2B"/>
                </a:solidFill>
                <a:latin typeface="Segoe UI"/>
              </a:rPr>
              <a:t>, conferida em </a:t>
            </a:r>
            <a:r>
              <a:rPr sz="1500" b="0">
                <a:solidFill>
                  <a:srgbClr val="0B1B2B"/>
                </a:solidFill>
                <a:latin typeface="Consolas"/>
              </a:rPr>
              <a:t>doc/app/at_socket.rst</a:t>
            </a:r>
            <a:r>
              <a:rPr sz="1500" b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AT#XSMVER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#XSMVER: 1,0,0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AT+CGMM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nRF9151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AT%HWVERSION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%HWVERSION: nRF9151-LACA-AB0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AT+CGMR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mfw_nrf9151-ntn_1.0.1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AT+CFUN=4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modo aviao antes de configurar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AT%XSYSTEMMODE=0,0,0,0,1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LTE-M 0, NB-IoT 0, GNSS 0, pref 0, NTN 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AT%XBANDLOCK=2,,</a:t>
            </a:r>
            <a:r>
              <a:rPr sz="1400" b="0">
                <a:solidFill>
                  <a:srgbClr val="FFCF6B"/>
                </a:solidFill>
                <a:latin typeface="Consolas"/>
              </a:rPr>
              <a:t>"255,256"</a:t>
            </a:r>
            <a:r>
              <a:rPr sz="1400" b="0">
                <a:solidFill>
                  <a:srgbClr val="DCE8F2"/>
                </a:solidFill>
                <a:latin typeface="Consolas"/>
              </a:rPr>
              <a:t>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-- 255 = L-band, 256 = S-band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AT%XBANDLOCK?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%XBANDLOCK: 2,,"255,256"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Bloco 2: posição e APN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UE calcula a parte do TA do enlace de serviço a partir da efeméride do SIB31 e da própria posição.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AT+CGDCONT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vem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depois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par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%LOCATION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é a ordem real de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build_config_commands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Validade </a:t>
            </a:r>
            <a:r>
              <a:rPr sz="1500" b="0">
                <a:solidFill>
                  <a:srgbClr val="0B1B2B"/>
                </a:solidFill>
                <a:latin typeface="Consolas"/>
              </a:rPr>
              <a:t>0</a:t>
            </a:r>
            <a:r>
              <a:rPr sz="1500" b="0">
                <a:solidFill>
                  <a:srgbClr val="0B1B2B"/>
                </a:solidFill>
                <a:latin typeface="Segoe UI"/>
              </a:rPr>
              <a:t> = permanente: a posição informada fica até ser trocada.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Consolas"/>
              </a:rPr>
              <a:t>AT%LOCATION=1</a:t>
            </a:r>
            <a:r>
              <a:rPr sz="1500" b="0">
                <a:solidFill>
                  <a:srgbClr val="0B1B2B"/>
                </a:solidFill>
                <a:latin typeface="Segoe UI"/>
              </a:rPr>
              <a:t> assina a URC com que o modem pede posição quando precisa.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15493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posicao do kit: graus decimais, como string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AT%LOCATION=2,</a:t>
            </a:r>
            <a:r>
              <a:rPr sz="1400" b="0">
                <a:solidFill>
                  <a:srgbClr val="FFCF6B"/>
                </a:solidFill>
                <a:latin typeface="Consolas"/>
              </a:rPr>
              <a:t>"&lt;LAT&gt;"</a:t>
            </a:r>
            <a:r>
              <a:rPr sz="1400" b="0">
                <a:solidFill>
                  <a:srgbClr val="DCE8F2"/>
                </a:solidFill>
                <a:latin typeface="Consolas"/>
              </a:rPr>
              <a:t>,</a:t>
            </a:r>
            <a:r>
              <a:rPr sz="1400" b="0">
                <a:solidFill>
                  <a:srgbClr val="FFCF6B"/>
                </a:solidFill>
                <a:latin typeface="Consolas"/>
              </a:rPr>
              <a:t>"&lt;LON&gt;"</a:t>
            </a:r>
            <a:r>
              <a:rPr sz="1400" b="0">
                <a:solidFill>
                  <a:srgbClr val="DCE8F2"/>
                </a:solidFill>
                <a:latin typeface="Consolas"/>
              </a:rPr>
              <a:t>,</a:t>
            </a:r>
            <a:r>
              <a:rPr sz="1400" b="0">
                <a:solidFill>
                  <a:srgbClr val="FFCF6B"/>
                </a:solidFill>
                <a:latin typeface="Consolas"/>
              </a:rPr>
              <a:t>"&lt;ALT&gt;"</a:t>
            </a:r>
            <a:r>
              <a:rPr sz="1400" b="0">
                <a:solidFill>
                  <a:srgbClr val="DCE8F2"/>
                </a:solidFill>
                <a:latin typeface="Consolas"/>
              </a:rPr>
              <a:t>,0,0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acc 0, validade 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AT%LOCATION=1   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assina os pedidos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AT+CGDCONT=0,</a:t>
            </a:r>
            <a:r>
              <a:rPr sz="1400" b="0">
                <a:solidFill>
                  <a:srgbClr val="FFCF6B"/>
                </a:solidFill>
                <a:latin typeface="Consolas"/>
              </a:rPr>
              <a:t>"ip"</a:t>
            </a:r>
            <a:r>
              <a:rPr sz="1400" b="0">
                <a:solidFill>
                  <a:srgbClr val="DCE8F2"/>
                </a:solidFill>
                <a:latin typeface="Consolas"/>
              </a:rPr>
              <a:t>,</a:t>
            </a:r>
            <a:r>
              <a:rPr sz="1400" b="0">
                <a:solidFill>
                  <a:srgbClr val="FFCF6B"/>
                </a:solidFill>
                <a:latin typeface="Consolas"/>
              </a:rPr>
              <a:t>"em"</a:t>
            </a:r>
            <a:r>
              <a:rPr sz="1400" b="0">
                <a:solidFill>
                  <a:srgbClr val="DCE8F2"/>
                </a:solidFill>
                <a:latin typeface="Consolas"/>
              </a:rPr>
              <a:t>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PDN IPv4 no attach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a URC de pedido, quando o modem precisa de posicao: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  %LOCATION: &lt;acc&gt;[,&lt;next_acc&gt;,&lt;t&gt;]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Bloco 3: URCs e ativação do RF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Todas as notificações são ligadas antes do rádio, para que nada se perca.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+CFUN=1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o único comando que espera: 30 s pelo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OK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até 180 s pelo registro.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Ordem esperada: </a:t>
            </a:r>
            <a:r>
              <a:rPr sz="1500" b="0">
                <a:solidFill>
                  <a:srgbClr val="0B1B2B"/>
                </a:solidFill>
                <a:latin typeface="Consolas"/>
              </a:rPr>
              <a:t>+CEREG: 2</a:t>
            </a:r>
            <a:r>
              <a:rPr sz="15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500" b="0">
                <a:solidFill>
                  <a:srgbClr val="0B1B2B"/>
                </a:solidFill>
                <a:latin typeface="Consolas"/>
              </a:rPr>
              <a:t>+CSCON: 1</a:t>
            </a:r>
            <a:r>
              <a:rPr sz="15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500" b="0">
                <a:solidFill>
                  <a:srgbClr val="0B1B2B"/>
                </a:solidFill>
                <a:latin typeface="Consolas"/>
              </a:rPr>
              <a:t>+CEREG: 5,...,14</a:t>
            </a:r>
            <a:r>
              <a:rPr sz="15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Sem satélite à vista, </a:t>
            </a:r>
            <a:r>
              <a:rPr sz="1500" b="0">
                <a:solidFill>
                  <a:srgbClr val="0B1B2B"/>
                </a:solidFill>
                <a:latin typeface="Consolas"/>
              </a:rPr>
              <a:t>+CEREG: 4</a:t>
            </a:r>
            <a:r>
              <a:rPr sz="1500" b="0">
                <a:solidFill>
                  <a:srgbClr val="0B1B2B"/>
                </a:solidFill>
                <a:latin typeface="Segoe UI"/>
              </a:rPr>
              <a:t> ou </a:t>
            </a:r>
            <a:r>
              <a:rPr sz="1500" b="0">
                <a:solidFill>
                  <a:srgbClr val="0B1B2B"/>
                </a:solidFill>
                <a:latin typeface="Consolas"/>
              </a:rPr>
              <a:t>91</a:t>
            </a:r>
            <a:r>
              <a:rPr sz="1500" b="0">
                <a:solidFill>
                  <a:srgbClr val="0B1B2B"/>
                </a:solidFill>
                <a:latin typeface="Segoe UI"/>
              </a:rPr>
              <a:t> em até ~30 s; o modem retenta a cada 2 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329184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889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AT%CESQ=1    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qualidade de sinal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AT%MDMEV=2   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eventos do modem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AT+CEER      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+CEER: 0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AT+CEREG=5   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URC de registro estendida, com TAC / Cell ID / AcT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AT+CGEREP=1  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eventos de dominio de pacote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AT+CIND=1,1,1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indicadores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AT+CNEC=24   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codigos de erro de rede (EMM e ESM)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AT+CSCON=3   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conexao de sinalizacao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DCE8F2"/>
                </a:solidFill>
                <a:latin typeface="Consolas"/>
              </a:rPr>
              <a:t>AT+CFUN=1        </a:t>
            </a:r>
            <a:r>
              <a:rPr sz="1300" b="0">
                <a:solidFill>
                  <a:srgbClr val="7FB58E"/>
                </a:solidFill>
                <a:latin typeface="Consolas"/>
              </a:rPr>
              <a:t>// liga o RF -- a partir daqui chegam as URCs abaixo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7FB58E"/>
                </a:solidFill>
                <a:latin typeface="Consolas"/>
              </a:rPr>
              <a:t>// +CEREG: 2                        buscando / anexando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7FB58E"/>
                </a:solidFill>
                <a:latin typeface="Consolas"/>
              </a:rPr>
              <a:t>// +CSCON: 1                        conexao de sinalizacao ativa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7FB58E"/>
                </a:solidFill>
                <a:latin typeface="Consolas"/>
              </a:rPr>
              <a:t>// +CEREG: 5,"&lt;TAC&gt;","&lt;CI&gt;",14      registrado, AcT 14 = NTN NB-IoT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URCs na tela e o que significam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script decodifica cada URC na tela, em texto. Esta é a tradução do que vai aparecer projetado durante a demo — e a lista do que se espera ver, em ordem.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599"/>
                <a:gridCol w="2743199"/>
                <a:gridCol w="6650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URC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Leitura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registrado, buscando ou anexando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5,"TAC","CI",14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registrado (roaming);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AcT 14 = NTN NB-IoT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4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/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91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fora de cobertura / no suitable cell for configured system mode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+CSCON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/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conexão de sinalização ativa / liberada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%CESQ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&lt;rsrp&gt;,&lt;thr&gt;,&lt;rsrq&gt;,&lt;thr&gt;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script converte: RSRP em dBm = rsrp − 141; RSRQ em dB = (rsrq − 40)/2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+CNEC_EMM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&lt;causa&gt;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erro de NAS do EMM; a causa exata é o que se reporta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#XSENDNTF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&lt;h&gt;,&lt;status&gt;,&lt;size&gt;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rede confirmou o datagrama; o script imprime o tempo desde 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#XSEND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Sem satélite à vista 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+CEREG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volta a 4 ou 91 em até ~30 s e o modem tenta de novo a cada 2 s; o script desiste do registro depois de 180 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Bloco 3b: leitura pós-registro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%SIBREQ=32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um pedido único do SIB32, a informação de assistência. Nunca usar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%SIBCONFIG=32,0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tornaria o SIB32 obrigatório para acampar e pode travar o attach numa célula GEO.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Campos do </a:t>
            </a:r>
            <a:r>
              <a:rPr sz="1500" b="0">
                <a:solidFill>
                  <a:srgbClr val="0B1B2B"/>
                </a:solidFill>
                <a:latin typeface="Consolas"/>
              </a:rPr>
              <a:t>%XMONITOR</a:t>
            </a:r>
            <a:r>
              <a:rPr sz="1500" b="0">
                <a:solidFill>
                  <a:srgbClr val="0B1B2B"/>
                </a:solidFill>
                <a:latin typeface="Segoe UI"/>
              </a:rPr>
              <a:t> na ordem do modem: o </a:t>
            </a:r>
            <a:r>
              <a:rPr sz="1500" b="1">
                <a:solidFill>
                  <a:srgbClr val="0093D0"/>
                </a:solidFill>
                <a:latin typeface="Segoe UI"/>
              </a:rPr>
              <a:t>PCI vem antes do EARFCN</a:t>
            </a:r>
            <a:r>
              <a:rPr sz="1500" b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192024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1517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so com o modem ativado: antes do AT+CFUN=1 responde +CME ERROR: 517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AT%SIBREQ=32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%SIBREQ: 32,"&lt;CELLID&gt;",...  se o SIB32 for transmitido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%SIBREQ: 0,&lt;status&gt;  0 concluido, 1 celula perdida, 2 abortado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AT+COPS?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+COPS: 0,0,"&lt;OPERADORA&gt;",14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AT%XMONITOR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%XMONITOR: 1,"&lt;OPER&gt;","&lt;OPER&gt;","&lt;PLMN&gt;","&lt;TAC&gt;",14,&lt;BAND&gt;,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           "&lt;CELLID&gt;",&lt;PCI&gt;,&lt;EARFCN&gt;,&lt;RSRP&gt;,&lt;SNR&gt;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Números medidos em sala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tabela do README da demo, com as células por preencher. O valor de doc fica ao lado só para dar ordem de grandeza; o número que vale é o da tela.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2011679"/>
                <a:gridCol w="3840479"/>
                <a:gridCol w="21698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Medida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 onde vem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Valor de doc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Medido em sala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Banda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%XMONITOR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255 (L-band) ou 256 (S-band)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___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EARFCN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%XMONITOR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228736–229075 (255); 229076–229375 (256)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___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PCI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%XMONITOR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valor de doc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___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RSRP / SNR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%XMONITOR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valor de doc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___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+CFUN=1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→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+CEREG: 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cronômetro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script espera até 180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___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#XSEND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→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#XSENDNTF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script mede e imprime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taxa PHY GEO de 1–2 kbps (Nordic)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___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#XSEND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→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udp_server.py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cronômetro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valor de doc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___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Estes sete números não têm valor de pré-teste: saem da demo ao vivo e voltam para o README de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ntn/01_geo_live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Bloco 4: socket, envio e recepção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Atalhos do shell interativo: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abre o socket e conecta,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envia com contador automático,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3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recebe,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4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fecha. Usar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antes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só rende um aviso do 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 handle volta na resposta do </a:t>
            </a:r>
            <a:r>
              <a:rPr sz="1500" b="0">
                <a:solidFill>
                  <a:srgbClr val="0B1B2B"/>
                </a:solidFill>
                <a:latin typeface="Consolas"/>
              </a:rPr>
              <a:t>#XSOCKET</a:t>
            </a:r>
            <a:r>
              <a:rPr sz="1500" b="0">
                <a:solidFill>
                  <a:srgbClr val="0B1B2B"/>
                </a:solidFill>
                <a:latin typeface="Segoe UI"/>
              </a:rPr>
              <a:t> e entra em todo comando seguinte.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A flag </a:t>
            </a:r>
            <a:r>
              <a:rPr sz="1500" b="0">
                <a:solidFill>
                  <a:srgbClr val="0B1B2B"/>
                </a:solidFill>
                <a:latin typeface="Consolas"/>
              </a:rPr>
              <a:t>8192</a:t>
            </a:r>
            <a:r>
              <a:rPr sz="1500" b="0">
                <a:solidFill>
                  <a:srgbClr val="0B1B2B"/>
                </a:solidFill>
                <a:latin typeface="Segoe UI"/>
              </a:rPr>
              <a:t> pede a URC </a:t>
            </a:r>
            <a:r>
              <a:rPr sz="1500" b="0">
                <a:solidFill>
                  <a:srgbClr val="0B1B2B"/>
                </a:solidFill>
                <a:latin typeface="Consolas"/>
              </a:rPr>
              <a:t>#XSENDNTF</a:t>
            </a:r>
            <a:r>
              <a:rPr sz="1500" b="0">
                <a:solidFill>
                  <a:srgbClr val="0B1B2B"/>
                </a:solidFill>
                <a:latin typeface="Segoe UI"/>
              </a:rPr>
              <a:t>; </a:t>
            </a:r>
            <a:r>
              <a:rPr sz="1500" b="0">
                <a:solidFill>
                  <a:srgbClr val="0B1B2B"/>
                </a:solidFill>
                <a:latin typeface="Consolas"/>
              </a:rPr>
              <a:t>512</a:t>
            </a:r>
            <a:r>
              <a:rPr sz="1500" b="0">
                <a:solidFill>
                  <a:srgbClr val="0B1B2B"/>
                </a:solidFill>
                <a:latin typeface="Segoe UI"/>
              </a:rPr>
              <a:t> bloquearia até a rede confirmar.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15493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AT#XSOCKET=1,2,0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#XSOCKET: &lt;h&gt;,2,17  UDP, IPv4, 17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AT#XCONNECT=&lt;h&gt;,</a:t>
            </a:r>
            <a:r>
              <a:rPr sz="1400" b="0">
                <a:solidFill>
                  <a:srgbClr val="FFCF6B"/>
                </a:solidFill>
                <a:latin typeface="Consolas"/>
              </a:rPr>
              <a:t>"64.181.168.22"</a:t>
            </a:r>
            <a:r>
              <a:rPr sz="1400" b="0">
                <a:solidFill>
                  <a:srgbClr val="DCE8F2"/>
                </a:solidFill>
                <a:latin typeface="Consolas"/>
              </a:rPr>
              <a:t>,5005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#XCONNECT: &lt;h&gt;,1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AT#XSEND=&lt;h&gt;,0,8192,</a:t>
            </a:r>
            <a:r>
              <a:rPr sz="1400" b="0">
                <a:solidFill>
                  <a:srgbClr val="FFCF6B"/>
                </a:solidFill>
                <a:latin typeface="Consolas"/>
              </a:rPr>
              <a:t>"Hello Skylo NTN #1"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#XSEND: &lt;h&gt;,1,18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#XSENDNTF: &lt;h&gt;,&lt;status&gt;,18   (URC)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AT#XRECVFROM=&lt;h&gt;,0,0,10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#XRECVFROM: &lt;h&gt;,0,&lt;size&gt;,"&lt;ip&gt;",&lt;port&gt;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timeout de 10 s; ERROR se nao vier dado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Bloco 5: encerramento controlado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socket primeiro, depois o rádio, depois o modem. A ordem importa: não se desliga a placa no meio de uma conexão de sinalização.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Nunca </a:t>
            </a:r>
            <a:r>
              <a:rPr sz="1500" b="0">
                <a:solidFill>
                  <a:srgbClr val="0B1B2B"/>
                </a:solidFill>
                <a:latin typeface="Consolas"/>
              </a:rPr>
              <a:t>AT+CFUN=45</a:t>
            </a:r>
            <a:r>
              <a:rPr sz="1500" b="0">
                <a:solidFill>
                  <a:srgbClr val="0B1B2B"/>
                </a:solidFill>
                <a:latin typeface="Segoe UI"/>
              </a:rPr>
              <a:t>: o modo avião que preserva o contexto exige dois perfis </a:t>
            </a:r>
            <a:r>
              <a:rPr sz="1500" b="0">
                <a:solidFill>
                  <a:srgbClr val="0B1B2B"/>
                </a:solidFill>
                <a:latin typeface="Consolas"/>
              </a:rPr>
              <a:t>%CELLULARPRFL</a:t>
            </a:r>
            <a:r>
              <a:rPr sz="1500" b="0">
                <a:solidFill>
                  <a:srgbClr val="0B1B2B"/>
                </a:solidFill>
                <a:latin typeface="Segoe UI"/>
              </a:rPr>
              <a:t> configurados.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168554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1283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AT#XCLOSE=&lt;h&gt;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fecha o socket (atalho 4 do shell)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AT+CFUN=4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desliga o RF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AT+CFUN=0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OK -- desliga o modem por completo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os dois AT+CFUN nao tem atalho: sao digitados como comando cru no shell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SEQUÊNCIA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Falhas: sintoma, causa e 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tabela de diagnóstico do README da demo. As quatro primeiras linhas são as documentadas; as duas últimas vêm do comportamento do script e do significado da URC.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3291839"/>
                <a:gridCol w="4364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Sintoma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Causa provável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fazer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+CEREG: 4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por mais de 60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visada de céu, ou canal/banda errados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checar a antena e a linha de visada; conferir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AT%XBANDLOCK?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(deve ser 255,256)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+CNEC_EMM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 causa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landing rights na região, ou assinatura do 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reportar a causa exata; não há como contornar em campo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AT#XSOCKET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retorna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ERROR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PDN não está ativo: o registro ainda não completou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esperar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+CEREG: 5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antes de abrir o socket; conferir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AT+CGDCONT?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AT%LOCATION=2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retorna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ERROR 513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posição não aceita pelo modem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conferir o formato de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--lat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/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--lon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(graus decimais, como string) e a faixa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aviso "socket nao aberto" no envio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opção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foi usada antes da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ou 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falhou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rodar a opção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o script avisa em vez de mandar handle vazio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#XSENDNTF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não chega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rede não confirmou o datagrama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#XSEND: &lt;h&gt;,1,18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só diz que o modem aceitou o dado; registrar e reenviar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Não há plano B: se o satélite Skylo não estiver visível na janela da aula, a demo GEO não roda ao vivo e fica a explicação.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Firmware de referência GEO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mesmo caso de uso sem terminal e sem comando AT: um snapshot do Asset Tracker Template operado por quatro botões e quatro LEDs, em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ntn/firmware/geo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FIRMWARE 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Botões e LEDs do firmware GEO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LED 1 conta a história inteira do progresso; os outros três guardam um significado cada. Nada expira: o kit busca até anexar ou até o botão 3 parar.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Botão 1 · tentar agora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inicia o anexo ao satélite; se o kit não tem fix, busca um primeiro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ignorado enquanto uma tentativa corre ou o link já está de pé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LED 1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conta o progresso: apagado, heartbeat, lento, rápido, fixo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Botão 2 · enviar um pacote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só com o link conectado; o log avisa quando não está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LED 3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apagado = nada enviado; aceso fixo = um pacote foi enviado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LED 3 cai por um instante a cada pacote e limpa a cada nova tentativa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Botão 3 · parar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encerra o que estiver rodando, busca de fix ou anexo, e derruba o link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kit volta a esperar o botão 1, com o LED 1 apagado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LED 2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piscando rápido: nenhuma célula encontrada, ou a tentativa falhou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Botão 4 · novo fix de GNSS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pressionar depois de mover o kit; encerra um anexo em curso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LED 4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é reservado para a resposta do servidor: esta versão não lê o downlink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heartbeat: um flash a cada três segundos — vivo, com fix, esperando o botão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FIRMWARE 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Builds, opções e origem do snapshot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Duas builds do mesmo código: a de campo, com a SIM Skylo, e a de validação Cat-M1, que exercita a mesma máquina de estados em bancada, sem esperar satélite.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Build de campo</a:t>
            </a:r>
            <a:r>
              <a:rPr sz="1700" b="0">
                <a:solidFill>
                  <a:srgbClr val="0B1B2B"/>
                </a:solidFill>
                <a:latin typeface="Segoe UI"/>
              </a:rPr>
              <a:t> (NTN, Skylo, SIM eminify): </a:t>
            </a:r>
            <a:r>
              <a:rPr sz="1700" b="0">
                <a:solidFill>
                  <a:srgbClr val="0B1B2B"/>
                </a:solidFill>
                <a:latin typeface="Consolas"/>
              </a:rPr>
              <a:t>-DEXTRA_CONF_FILE=overlay-ntn-skylo-eminify.conf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alvo </a:t>
            </a:r>
            <a:r>
              <a:rPr sz="1400" b="0">
                <a:solidFill>
                  <a:srgbClr val="566577"/>
                </a:solidFill>
                <a:latin typeface="Consolas"/>
              </a:rPr>
              <a:t>nrf9151dk/nrf9151/ns</a:t>
            </a:r>
            <a:r>
              <a:rPr sz="1400" b="0">
                <a:solidFill>
                  <a:srgbClr val="566577"/>
                </a:solidFill>
                <a:latin typeface="Segoe UI"/>
              </a:rPr>
              <a:t>, pelo gerenciador de toolchain que fixa o NCS v3.4.0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Build de validação</a:t>
            </a:r>
            <a:r>
              <a:rPr sz="1700" b="0">
                <a:solidFill>
                  <a:srgbClr val="0B1B2B"/>
                </a:solidFill>
                <a:latin typeface="Segoe UI"/>
              </a:rPr>
              <a:t> (TN, Cat-M1, SIM comum): </a:t>
            </a:r>
            <a:r>
              <a:rPr sz="1700" b="0">
                <a:solidFill>
                  <a:srgbClr val="0B1B2B"/>
                </a:solidFill>
                <a:latin typeface="Consolas"/>
              </a:rPr>
              <a:t>-DEXTRA_CONF_FILE=overlay-tn-catm1.conf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mesma máquina de estados, botões, LEDs e socket, em bancada, sem esperar satélite; só ela liga o shell </a:t>
            </a:r>
            <a:r>
              <a:rPr sz="1400" b="0">
                <a:solidFill>
                  <a:srgbClr val="566577"/>
                </a:solidFill>
                <a:latin typeface="Consolas"/>
              </a:rPr>
              <a:t>att_ntn btn &lt;1-4&gt;</a:t>
            </a:r>
            <a:r>
              <a:rPr sz="1400" b="0">
                <a:solidFill>
                  <a:srgbClr val="566577"/>
                </a:solidFill>
                <a:latin typeface="Segoe UI"/>
              </a:rPr>
              <a:t> e o log a cada mudança de LED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Opções</a:t>
            </a:r>
            <a:r>
              <a:rPr sz="1700" b="0">
                <a:solidFill>
                  <a:srgbClr val="0B1B2B"/>
                </a:solidFill>
                <a:latin typeface="Segoe UI"/>
              </a:rPr>
              <a:t> que mudam o comportamento: </a:t>
            </a:r>
            <a:r>
              <a:rPr sz="1700" b="0">
                <a:solidFill>
                  <a:srgbClr val="0B1B2B"/>
                </a:solidFill>
                <a:latin typeface="Consolas"/>
              </a:rPr>
              <a:t>APP_NTN_NATIVE_SEARCH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APP_NTN_LINGER_SECONDS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APP_NTN_BANDLOCK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busca nativa ligada (o modem segue procurando), linger de 300 s, bandlock 255 na Skylo; </a:t>
            </a:r>
            <a:r>
              <a:rPr sz="1400" b="0">
                <a:solidFill>
                  <a:srgbClr val="566577"/>
                </a:solidFill>
                <a:latin typeface="Consolas"/>
              </a:rPr>
              <a:t>APP_NTN_AUTO_CONNECT</a:t>
            </a:r>
            <a:r>
              <a:rPr sz="1400" b="0">
                <a:solidFill>
                  <a:srgbClr val="566577"/>
                </a:solidFill>
                <a:latin typeface="Segoe UI"/>
              </a:rPr>
              <a:t> fica desligado: anexar sozinho é de tracker, não de demo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Snapshot, não workspace</a:t>
            </a:r>
            <a:r>
              <a:rPr sz="1700" b="0">
                <a:solidFill>
                  <a:srgbClr val="0B1B2B"/>
                </a:solidFill>
                <a:latin typeface="Segoe UI"/>
              </a:rPr>
              <a:t>: </a:t>
            </a:r>
            <a:r>
              <a:rPr sz="1700" b="0">
                <a:solidFill>
                  <a:srgbClr val="0B1B2B"/>
                </a:solidFill>
                <a:latin typeface="Consolas"/>
              </a:rPr>
              <a:t>app/</a:t>
            </a:r>
            <a:r>
              <a:rPr sz="1700" b="0">
                <a:solidFill>
                  <a:srgbClr val="0B1B2B"/>
                </a:solidFill>
                <a:latin typeface="Segoe UI"/>
              </a:rPr>
              <a:t> do branch </a:t>
            </a:r>
            <a:r>
              <a:rPr sz="1700" b="0">
                <a:solidFill>
                  <a:srgbClr val="0B1B2B"/>
                </a:solidFill>
                <a:latin typeface="Consolas"/>
              </a:rPr>
              <a:t>geo_skylo_buttons</a:t>
            </a:r>
            <a:r>
              <a:rPr sz="1700" b="0">
                <a:solidFill>
                  <a:srgbClr val="0B1B2B"/>
                </a:solidFill>
                <a:latin typeface="Segoe UI"/>
              </a:rPr>
              <a:t>, commit </a:t>
            </a:r>
            <a:r>
              <a:rPr sz="1700" b="0">
                <a:solidFill>
                  <a:srgbClr val="0B1B2B"/>
                </a:solidFill>
                <a:latin typeface="Consolas"/>
              </a:rPr>
              <a:t>baf1e93e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não compila fora do west workspace do ATT; reconstruir com </a:t>
            </a:r>
            <a:r>
              <a:rPr sz="1400" b="0">
                <a:solidFill>
                  <a:srgbClr val="566577"/>
                </a:solidFill>
                <a:latin typeface="Consolas"/>
              </a:rPr>
              <a:t>west init</a:t>
            </a:r>
            <a:r>
              <a:rPr sz="1400" b="0">
                <a:solidFill>
                  <a:srgbClr val="566577"/>
                </a:solidFill>
                <a:latin typeface="Segoe UI"/>
              </a:rPr>
              <a:t> + </a:t>
            </a:r>
            <a:r>
              <a:rPr sz="1400" b="0">
                <a:solidFill>
                  <a:srgbClr val="566577"/>
                </a:solidFill>
                <a:latin typeface="Consolas"/>
              </a:rPr>
              <a:t>west update</a:t>
            </a:r>
            <a:r>
              <a:rPr sz="1400" b="0">
                <a:solidFill>
                  <a:srgbClr val="566577"/>
                </a:solidFill>
                <a:latin typeface="Segoe UI"/>
              </a:rPr>
              <a:t> e trocar o </a:t>
            </a:r>
            <a:r>
              <a:rPr sz="1400" b="0">
                <a:solidFill>
                  <a:srgbClr val="566577"/>
                </a:solidFill>
                <a:latin typeface="Consolas"/>
              </a:rPr>
              <a:t>app/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11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AcT </a:t>
            </a:r>
            <a:r>
              <a:rPr sz="1500" b="1">
                <a:solidFill>
                  <a:srgbClr val="E8F1F8"/>
                </a:solidFill>
                <a:latin typeface="Segoe UI"/>
              </a:rPr>
              <a:t>14</a:t>
            </a:r>
            <a:r>
              <a:rPr sz="1500" b="0">
                <a:solidFill>
                  <a:srgbClr val="93A6B8"/>
                </a:solidFill>
                <a:latin typeface="Segoe UI"/>
              </a:rPr>
              <a:t> no </a:t>
            </a:r>
            <a:r>
              <a:rPr sz="1500" b="0">
                <a:solidFill>
                  <a:srgbClr val="93A6B8"/>
                </a:solidFill>
                <a:latin typeface="Consolas"/>
              </a:rPr>
              <a:t>+CEREG</a:t>
            </a:r>
            <a:r>
              <a:rPr sz="1500" b="0">
                <a:solidFill>
                  <a:srgbClr val="93A6B8"/>
                </a:solidFill>
                <a:latin typeface="Segoe UI"/>
              </a:rPr>
              <a:t> e no </a:t>
            </a:r>
            <a:r>
              <a:rPr sz="1500" b="0">
                <a:solidFill>
                  <a:srgbClr val="93A6B8"/>
                </a:solidFill>
                <a:latin typeface="Consolas"/>
              </a:rPr>
              <a:t>+COPS?</a:t>
            </a:r>
            <a:r>
              <a:rPr sz="1500" b="0">
                <a:solidFill>
                  <a:srgbClr val="93A6B8"/>
                </a:solidFill>
                <a:latin typeface="Segoe UI"/>
              </a:rPr>
              <a:t> é a confirmação de que o registro é NTN NB-IoT.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flag </a:t>
            </a:r>
            <a:r>
              <a:rPr sz="1500" b="1">
                <a:solidFill>
                  <a:srgbClr val="E8F1F8"/>
                </a:solidFill>
                <a:latin typeface="Segoe UI"/>
              </a:rPr>
              <a:t>8192</a:t>
            </a:r>
            <a:r>
              <a:rPr sz="1500" b="0">
                <a:solidFill>
                  <a:srgbClr val="93A6B8"/>
                </a:solidFill>
                <a:latin typeface="Segoe UI"/>
              </a:rPr>
              <a:t> do </a:t>
            </a:r>
            <a:r>
              <a:rPr sz="1500" b="0">
                <a:solidFill>
                  <a:srgbClr val="93A6B8"/>
                </a:solidFill>
                <a:latin typeface="Consolas"/>
              </a:rPr>
              <a:t>#XSEND</a:t>
            </a:r>
            <a:r>
              <a:rPr sz="1500" b="0">
                <a:solidFill>
                  <a:srgbClr val="93A6B8"/>
                </a:solidFill>
                <a:latin typeface="Segoe UI"/>
              </a:rPr>
              <a:t> pede a URC </a:t>
            </a:r>
            <a:r>
              <a:rPr sz="1500" b="0">
                <a:solidFill>
                  <a:srgbClr val="93A6B8"/>
                </a:solidFill>
                <a:latin typeface="Consolas"/>
              </a:rPr>
              <a:t>#XSENDNTF</a:t>
            </a:r>
            <a:r>
              <a:rPr sz="1500" b="0">
                <a:solidFill>
                  <a:srgbClr val="93A6B8"/>
                </a:solidFill>
                <a:latin typeface="Segoe UI"/>
              </a:rPr>
              <a:t>: é ela que prova a entrega.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Sem satélite à vista o modem retenta sozinho a cada </a:t>
            </a:r>
            <a:r>
              <a:rPr sz="1500" b="1">
                <a:solidFill>
                  <a:srgbClr val="E8F1F8"/>
                </a:solidFill>
                <a:latin typeface="Segoe UI"/>
              </a:rPr>
              <a:t>2 s</a:t>
            </a:r>
            <a:r>
              <a:rPr sz="1500" b="0">
                <a:solidFill>
                  <a:srgbClr val="93A6B8"/>
                </a:solidFill>
                <a:latin typeface="Segoe UI"/>
              </a:rPr>
              <a:t>; nada expira, nada trava.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Encerrar com </a:t>
            </a:r>
            <a:r>
              <a:rPr sz="1500" b="0">
                <a:solidFill>
                  <a:srgbClr val="93A6B8"/>
                </a:solidFill>
                <a:latin typeface="Consolas"/>
              </a:rPr>
              <a:t>+CFUN=4</a:t>
            </a:r>
            <a:r>
              <a:rPr sz="1500" b="0">
                <a:solidFill>
                  <a:srgbClr val="93A6B8"/>
                </a:solidFill>
                <a:latin typeface="Segoe UI"/>
              </a:rPr>
              <a:t> e </a:t>
            </a:r>
            <a:r>
              <a:rPr sz="1500" b="0">
                <a:solidFill>
                  <a:srgbClr val="93A6B8"/>
                </a:solidFill>
                <a:latin typeface="Consolas"/>
              </a:rPr>
              <a:t>+CFUN=0</a:t>
            </a:r>
            <a:r>
              <a:rPr sz="1500" b="0">
                <a:solidFill>
                  <a:srgbClr val="93A6B8"/>
                </a:solidFill>
                <a:latin typeface="Segoe UI"/>
              </a:rPr>
              <a:t> — nunca </a:t>
            </a:r>
            <a:r>
              <a:rPr sz="1500" b="0">
                <a:solidFill>
                  <a:srgbClr val="93A6B8"/>
                </a:solidFill>
                <a:latin typeface="Consolas"/>
              </a:rPr>
              <a:t>+CFUN=45</a:t>
            </a:r>
            <a:r>
              <a:rPr sz="1500" b="0">
                <a:solidFill>
                  <a:srgbClr val="93A6B8"/>
                </a:solidFill>
                <a:latin typeface="Segoe UI"/>
              </a:rPr>
              <a:t> sem dois perfis </a:t>
            </a:r>
            <a:r>
              <a:rPr sz="1500" b="0">
                <a:solidFill>
                  <a:srgbClr val="93A6B8"/>
                </a:solidFill>
                <a:latin typeface="Consolas"/>
              </a:rPr>
              <a:t>%CELLULARPRFL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AcT de NTN NB-IoT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no +CEREG e no +COPS?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8192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 flag do #XSEND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que pede o #XSENDNTF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entre buscas de célula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depois de “no suitable cell”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5005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porta do udp_server.py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em 64.181.168.22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Todo comando da demo sai do roteiro AT do repositório; os números saem da tela, em sala.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