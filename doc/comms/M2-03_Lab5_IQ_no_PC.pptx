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SDK — Software Development Kit.</a:t>
            </a:r>
          </a:p>
          <a:p>
            <a:r>
              <a:t>MUSIC — MUltiple SIgnal Classification: estimador de super-resolução por subespaços (Schmidt, 1986).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SDK — Software Development Kit.</a:t>
            </a:r>
          </a:p>
          <a:p>
            <a:r>
              <a:t>rtt — coluna do log: estimativa pelo Round-Trip Time, média dos steps de mode 1 da procedure.</a:t>
            </a:r>
          </a:p>
          <a:p>
            <a:r>
              <a:t>phase_slope — coluna do log: estimativa pela inclinação da fase contra a frequência (média das diferenças de fase entre canais vizinhos).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DK — Development Kit: a placa de desenvolvimento (nRF54LM20-DK).</a:t>
            </a:r>
          </a:p>
          <a:p>
            <a:r>
              <a:t>CS — Channel Sounding: medição de distância do Bluetooth Core 6.0, por tempo de voo (RTT) e fase (PBR).</a:t>
            </a:r>
          </a:p>
          <a:p>
            <a:r>
              <a:t>rtt — coluna do log: estimativa pelo Round-Trip Time, média dos steps de mode 1 da procedure.</a:t>
            </a:r>
          </a:p>
          <a:p>
            <a:r>
              <a:t>phase_slope — coluna do log: estimativa pela inclinação da fase contra a frequência (média das diferenças de fase entre canais vizinhos).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DK — Development Kit: a placa de desenvolvimento (nRF54LM20-DK).</a:t>
            </a:r>
          </a:p>
          <a:p>
            <a:r>
              <a:t>hex — Arquivo Intel HEX: a imagem de firmware pronta para gravar.</a:t>
            </a:r>
          </a:p>
          <a:p>
            <a:r>
              <a:t>CS — Channel Sounding: medição de distância do Bluetooth Core 6.0, por tempo de voo (RTT) e fase (PBR).</a:t>
            </a:r>
          </a:p>
          <a:p>
            <a:r>
              <a:t>MUSIC — MUltiple SIgnal Classification: estimador de super-resolução por subespaços (Schmidt, 1986).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  <a:p>
            <a:r>
              <a:t>phase_slope — coluna do log: estimativa pela inclinação da fase contra a frequência (média das diferenças de fase entre canais vizinhos).</a:t>
            </a:r>
          </a:p>
          <a:p>
            <a:r>
              <a:t>rtt — coluna do log: estimativa pelo Round-Trip Time, média dos steps de mode 1 da procedure.</a:t>
            </a:r>
          </a:p>
          <a:p>
            <a:r>
              <a:t>MUSIC — MUltiple SIgnal Classification: estimador de super-resolução por subespaços (Schmidt, 1986).</a:t>
            </a:r>
          </a:p>
          <a:p>
            <a:r>
              <a:t>MAD — Median Absolute Deviation: dispersão em torno da mediana, robusta a outliers.</a:t>
            </a:r>
          </a:p>
          <a:p>
            <a:r>
              <a:t>DK — Development Kit: a placa de desenvolvimento (nRF54LM20-DK).</a:t>
            </a:r>
          </a:p>
          <a:p>
            <a:r>
              <a:t>hex — Arquivo Intel HEX: a imagem de firmware pronta para gravar.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DK — Development Kit: a placa de desenvolvimento (nRF54LM20-DK).</a:t>
            </a:r>
          </a:p>
          <a:p>
            <a:r>
              <a:t>hex — Arquivo Intel HEX: a imagem de firmware pronta para gravar.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IFFT — Inverse Fast Fourier Transform: converte a fase por canal num perfil de atraso; o pico é o caminho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IFFT — Inverse Fast Fourier Transform: converte a fase por canal num perfil de atraso; o pico é o caminho direto.</a:t>
            </a:r>
          </a:p>
          <a:p>
            <a:r>
              <a:t>NCS — nRF Connect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MUSIC — MUltiple SIgnal Classification: estimador de super-resolução por subespaços (Schmidt, 1986).</a:t>
            </a:r>
          </a:p>
          <a:p>
            <a:r>
              <a:t>ToA — Time of Arrival: carimbo de tempo de recepção de um pacote de RTT.</a:t>
            </a:r>
          </a:p>
          <a:p>
            <a:r>
              <a:t>CS — Channel Sounding: medição de distância do Bluetooth Core 6.0, por tempo de voo (RTT) e fase (PBR).</a:t>
            </a:r>
          </a:p>
          <a:p>
            <a:r>
              <a:t>IFFT — Inverse Fast Fourier Transform: converte a fase por canal num perfil de atraso; o pico é o caminho direto.</a:t>
            </a:r>
          </a:p>
          <a:p>
            <a:r>
              <a:t>DK — Development Kit: a placa de desenvolvimento (nRF54LM20-DK).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MUSIC — MUltiple SIgnal Classification: estimador de super-resolução por subespaços (Schmidt, 1986).</a:t>
            </a:r>
          </a:p>
          <a:p>
            <a:r>
              <a:t>IFFT — Inverse Fast Fourier Transform: converte a fase por canal num perfil de atraso; o pico é o caminho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IFFT — Inverse Fast Fourier Transform: converte a fase por canal num perfil de atraso; o pico é o caminho direto.</a:t>
            </a:r>
          </a:p>
          <a:p>
            <a:r>
              <a:t>MUSIC — MUltiple SIgnal Classification: estimador de super-resolução por subespaços (Schmidt, 1986).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RF — Radiofrequência; chave de RF é o switch de antena entre BLE e Wi-Fi (ausente na EB II desta placa).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  <a:p>
            <a:r>
              <a:t>MUSIC — MUltiple SIgnal Classification: estimador de super-resolução por subespaços (Schmidt, 1986).</a:t>
            </a:r>
          </a:p>
          <a:p>
            <a:r>
              <a:t>MAD — Median Absolute Deviation: dispersão em torno da mediana, robusta a outliers.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DK — Development Kit: a placa de desenvolvimento (nRF54LM20-DK).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  <a:p>
            <a:r>
              <a:t>phase_slope — coluna do log: estimativa pela inclinação da fase contra a frequência (média das diferenças de fase entre canais vizinhos).</a:t>
            </a:r>
          </a:p>
          <a:p>
            <a:r>
              <a:t>rtt — coluna do log: estimativa pelo Round-Trip Time, média dos steps de mode 1 da procedure.</a:t>
            </a:r>
          </a:p>
          <a:p>
            <a:r>
              <a:t>MUSIC — MUltiple SIgnal Classification: estimador de super-resolução por subespaços (Schmidt, 1986).</a:t>
            </a:r>
          </a:p>
          <a:p>
            <a:r>
              <a:t>DK — Development Kit: a placa de desenvolvimento (nRF54LM20-DK).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  <a:p>
            <a:r>
              <a:t>phase_slope — coluna do log: estimativa pela inclinação da fase contra a frequência (média das diferenças de fase entre canais vizinhos).</a:t>
            </a:r>
          </a:p>
          <a:p>
            <a:r>
              <a:t>rtt — coluna do log: estimativa pelo Round-Trip Time, média dos steps de mode 1 da procedure.</a:t>
            </a:r>
          </a:p>
          <a:p>
            <a:r>
              <a:t>MUSIC — MUltiple SIgnal Classification: estimador de super-resolução por subespaços (Schmidt, 1986).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  <a:p>
            <a:r>
              <a:t>phase_slope — coluna do log: estimativa pela inclinação da fase contra a frequência (média das diferenças de fase entre canais vizinhos).</a:t>
            </a:r>
          </a:p>
          <a:p>
            <a:r>
              <a:t>rtt — coluna do log: estimativa pelo Round-Trip Time, média dos steps de mode 1 da procedure.</a:t>
            </a:r>
          </a:p>
          <a:p>
            <a:r>
              <a:t>MUSIC — MUltiple SIgnal Classification: estimador de super-resolução por subespaços (Schmidt, 1986).</a:t>
            </a:r>
          </a:p>
          <a:p>
            <a:r>
              <a:t>MAD — Median Absolute Deviation: dispersão em torno da mediana, robusta a outliers.</a:t>
            </a:r>
          </a:p>
          <a:p>
            <a:r>
              <a:t>DK — Development Kit: a placa de desenvolvimento (nRF54LM20-DK).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  <a:p>
            <a:r>
              <a:t>phase_slope — coluna do log: estimativa pela inclinação da fase contra a frequência (média das diferenças de fase entre canais vizinhos).</a:t>
            </a:r>
          </a:p>
          <a:p>
            <a:r>
              <a:t>rtt — coluna do log: estimativa pelo Round-Trip Time, média dos steps de mode 1 da procedure.</a:t>
            </a:r>
          </a:p>
          <a:p>
            <a:r>
              <a:t>MUSIC — MUltiple SIgnal Classification: estimador de super-resolução por subespaços (Schmidt, 1986).</a:t>
            </a:r>
          </a:p>
          <a:p>
            <a:r>
              <a:t>DK — Development Kit: a placa de desenvolvimento (nRF54LM20-DK).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MUSIC — MUltiple SIgnal Classification: estimador de super-resolução por subespaços (Schmidt, 1986).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 — Personal Computer.</a:t>
            </a:r>
          </a:p>
          <a:p>
            <a:r>
              <a:t>MUSIC — MUltiple SIgnal Classification: estimador de super-resolução por subespaços (Schmidt, 1986).</a:t>
            </a:r>
          </a:p>
          <a:p>
            <a:r>
              <a:t>DK — Development Kit: a placa de desenvolvimento (nRF54LM20-DK).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  <a:p>
            <a:r>
              <a:t>MUSIC — MUltiple SIgnal Classification: estimador de super-resolução por subespaços (Schmidt, 1986).</a:t>
            </a:r>
          </a:p>
          <a:p>
            <a:r>
              <a:t>IQ — Componentes em fase (I) e em quadratura (Q) do tom recebido: amplitude e fase por canal.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2 · BLOCO 03 · LAB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O IQ no PC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Reproduzir o chip e ir além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IQ que o rádio mede sai pela serial e vai para o PC. Lá o aluno reproduz o algoritmo do SDK, roda outro sobre o mesmo dado e compara com a trena. A tese do bloco: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o firmware fornece os dados; a distância é decisão do algoritmo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51058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05_cs_iq_music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6700" y="4709160"/>
            <a:ext cx="159562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cs_de.c → NumPy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85208" y="4709160"/>
            <a:ext cx="2360980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MUSIC · skig/waves (MIT)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9068" y="4709160"/>
            <a:ext cx="2956255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dataset_referencia · 2026-09-05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ideia do lab, em quatro passos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Mesmo padrão 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05_data_forwarder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Edge AI: o firmware vira fonte de dados e o processamento roda no PC.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8117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3820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4277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3545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O algoritmo do SDK é de referência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6654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 Nordic o marca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[EXPERIMENTAL]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 recomenda parceiros para precisão de produto. Os números do lab 2 são o que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esse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algoritmo tira dos dados.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68046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32506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2964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32232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Mas ele vem em fonte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5341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cs_de.c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328 linhas, três funções (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rtt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phase_slope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ifft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), licença que permite modificar. Dá para ler e reproduzir.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5491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41193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1650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0919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E o IQ cru está na aplicação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44028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ras_initiator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monta o IQ de cada canal, local e remoto, antes de chamar o algoritmo. Vinte linhas de C o despejam na serial como CSV.</a:t>
            </a:r>
          </a:p>
        </p:txBody>
      </p:sp>
      <p:sp>
        <p:nvSpPr>
          <p:cNvPr id="24" name="Oval 23"/>
          <p:cNvSpPr/>
          <p:nvPr/>
        </p:nvSpPr>
        <p:spPr>
          <a:xfrm>
            <a:off x="1078992" y="49880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0337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9606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Então o lab leva o IQ ao 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52715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reproduz 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cs_de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em NumPy (prova: mesmo resultado do firmware), roda outro algoritmo sobre o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mesmo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IQ e compara os dois com a trena.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firmware: o lab 2 mais um despejo em CSV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csv_dump_report()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roda logo depois de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cs_de_calc()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escreve por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printk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na serial USB. O log do sample vai para o RTT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LOG_MODE_DEFERRED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LOG_BACKEND_UART=n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), para não misturar.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2,7 kB por procedure a 115200 8N1 dá um teto de ~4 procedures/s. O lab roda a </a:t>
            </a:r>
            <a:r>
              <a:rPr sz="1500" b="1">
                <a:solidFill>
                  <a:srgbClr val="0093D0"/>
                </a:solidFill>
                <a:latin typeface="Segoe UI"/>
              </a:rPr>
              <a:t>1/s</a:t>
            </a:r>
            <a:r>
              <a:rPr sz="1500" b="0">
                <a:solidFill>
                  <a:srgbClr val="0B1B2B"/>
                </a:solidFill>
                <a:latin typeface="Segoe UI"/>
              </a:rPr>
              <a:t> (</a:t>
            </a:r>
            <a:r>
              <a:rPr sz="1500" b="0">
                <a:solidFill>
                  <a:srgbClr val="0B1B2B"/>
                </a:solidFill>
                <a:latin typeface="Consolas"/>
              </a:rPr>
              <a:t>CONFIG_LAB_PROCEDURE_INTERVAL=50</a:t>
            </a:r>
            <a:r>
              <a:rPr sz="1500" b="0">
                <a:solidFill>
                  <a:srgbClr val="0B1B2B"/>
                </a:solidFill>
                <a:latin typeface="Segoe UI"/>
              </a:rPr>
              <a:t>), com folga.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Consolas"/>
              </a:rPr>
              <a:t>python cs_capture.py --seconds 30 --out ../capturas/1m.csv</a:t>
            </a:r>
            <a:r>
              <a:rPr sz="1500" b="0">
                <a:solidFill>
                  <a:srgbClr val="0B1B2B"/>
                </a:solidFill>
                <a:latin typeface="Segoe UI"/>
              </a:rPr>
              <a:t> acha a porta sozinho e liga o DTR (sem DTR a DK não fala).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3291840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2889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IQ,42,0,2,-812.0,455.0,301.0,-903.0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IQ,42,0,3,-799.0,480.0,318.0,-897.0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...                                        (75 linhas: canais 2..76)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CS,42,0,1,1.023,1.087,1.349,12,180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|  | |   |     |     |    |  +- rtt acumulado (meias-ns), como o cs_de recebe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|  | |   |     |     |    +---- quantos steps de RTT entraram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|  | |   |     |     +--------- rtt (m)          \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|  | |   |     +--------------- phase_slope (m)   &gt; o que o FIRMWARE calculou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|  | |   +--------------------- ifft (m)         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|  | +------------------------- tone quality (1 = OK)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|  +--------------------------- antenna path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+------------------------------ ranging counter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cs_capture.py e cs_compare.py: chamadas e parâmetros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Os dois rodam 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tools/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depois de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pip install -r requirements.txt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 endereço do TAG é digitado num terminal serial, que é fechado antes de rodar o script: a porta aceita um leitor por vez.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56232"/>
            <a:ext cx="10765231" cy="403250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057400"/>
            <a:ext cx="10125151" cy="3630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0. antes: terminal serial na COM da DK, digitar o endereco do TAG, Enter, FECHAR o terminal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1. gravar  (DK com 05_cs_iq_music_lm20.hex, 1 procedure/s)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cs_capture.py --seconds 30 --out ../capturas/3m.csv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cs_capture.py --port COM22 --seconds 60 --out ../capturas/5m.csv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  --out ARQ      obrigatorio: o CSV desta distancia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  --seconds N    duracao da captura (default 30; ~30 procedures a 1/s)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  --port COMx    sem ele, acha a porta que esta emitindo IQ,/CS,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2. comparar  (sem hardware; roda sobre qualquer CSV do passo 1)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cs_compare.py ../capturas/3m.csv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cs_compare.py ../dataset_referencia/ref_5m.csv --csv saida_5m.csv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  --csv ARQ      grava tambem a tabela por procedure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  --nfft N       512 (default) | 1024 | 2048: igual ao NFFT do firmware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  --music-grid   desliga a interpolacao do pico do MUSIC, para comparar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952744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cs_capture avisa quando chegam os primeiros dados (DK conectada ao TAG), mostra um status por segundo e, no fim, procedures completas e taxa. cs_compare: uma linha por procedure e o resumo com média, desvio e 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cs_dash.py: chamadas e parâmetros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Nove barras, uma por estimador: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ifft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em cada caminho,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ifft_min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ifft_pot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phase_slope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rtt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MUSIC em cada caminho e combinado. Cada barra é a mediana da janela, com a MAD ao lado.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56232"/>
            <a:ext cx="10765231" cy="3328416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057400"/>
            <a:ext cx="10125151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3. demonstrar  (DK com 05_cs_iq_music_demo_lm20.hex, ~2 procedures/s)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cs_dash.py --trena 5.0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cs_dash.py --port COM22 --trena 3.0 --janela 12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cs_dash.py --trena 5.0 --rapido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cs_dash.py --texto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  --trena M      distancia de referencia, a linha tracejada (default 3.0)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  --janela N     procedures na mediana de cada barra (default 8)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  --rapido       sem MUSIC: mais leve, atualiza mais rapido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  --texto        sem janela grafica, so o terminal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  --port COMx    como no cs_capture; o endereco do TAG ja foi digitado no terminal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na janela:  +  -  movem a trena em 10 cm     z  zera o historico     q  sai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248656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Com o hex do lab (1/s) também funciona, só mais lento. Com 1 caminho de antena, as barras de ap 1 e as combinadas somem sozinhas.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Roteiro do lab: da DK ao resumo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Sem hardware, os passos 4 e 5 rodam sobre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dataset_referencia/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as capturas da bancada do curso, prontas para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cs_compare.py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3774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9476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9202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Gravar a 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2311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05_cs_iq_music_lm20.hex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(1 procedure/s). O TAG é o reflector do lab 1, na bateria, sem regravar.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24612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28163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8620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27889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Responder o prompt num 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0998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abrir a COM da DK num terminal serial, digitar o endereço do seu TAG (não colar), Enter, e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fechar o terminal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A DK passa a procurar o TAG.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11480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368503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73075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365760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Capturar 30 s por ponto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396849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1, 3 e 5 m com trena,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--out ../capturas/&lt;d&gt;m.csv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Conferir no fim o número de procedures completas (esperado ~30).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1872" y="49834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8992" y="45537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5994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45262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Comparar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48371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cs_compare.py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em cada CSV. Primeiro resultado: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d_ifft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≈ 0, o port reproduz o chip. Depois, cada estimador contra a trena.</a:t>
            </a:r>
          </a:p>
        </p:txBody>
      </p:sp>
      <p:sp>
        <p:nvSpPr>
          <p:cNvPr id="29" name="Oval 28"/>
          <p:cNvSpPr/>
          <p:nvPr/>
        </p:nvSpPr>
        <p:spPr>
          <a:xfrm>
            <a:off x="1078992" y="54223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4681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3949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Demonstração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792" y="57058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trocar para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05_cs_iq_music_demo_lm20.hex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(~2/s) 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cs_dash.py --trena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Girar o TAG, sentar no caminho, andar com ele.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cs_de.c × cs_de_numpy.py, lado a lado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Reimplementação função a função, em float64 em vez de float32. O critério de sucesso é um número: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d_ifft = NumPy − firmware ≈ 0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em toda procedure.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599"/>
                <a:gridCol w="2377439"/>
                <a:gridCol w="47301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 (cs_de.c)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Python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faz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cs_de_combined_iq_calculate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combine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produto complexo local × remoto: soma as fases da ida e da volta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cs_de_rtt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rtt_m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média das meias-ns acumuladas; metade é o voo; × c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cs_de_phase_slope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phase_slope_m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fase entre canais adjacentes → inclinação → distância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calculate_ifft_mag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ifft_mag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IFFT via FFT do conjugado, 512 pontos com zero-padding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find_ifft_peak_index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_find_peak_index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acha o maior pico; depois procura um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mais curto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com ≥ 40 % dele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calculate_left_null_compensation_of_peak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_left_null_compensation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nulo à esquerda longe demais = pico alargado por multipath → recua o índice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calculate_ifft_peak_index_to_distance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_peak_to_distance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interpolação parabólica do pico; NaN nas bordas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9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9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Medido na bancada: d_ifft = 0,000 ± 0,000 em 30 procedures. O port reproduz o chip, e 7 testes com IQ sintético o protegem.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busca do pico: as duas heurísticas do cs_de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pico mais alto da IFFT nem sempre é o caminho direto: numa reflexão forte, o eco pode ser maior.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cs_de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aceita um pico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mais curto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se ele tiver ≥ 40 % do máximo.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Depois vem a compensação pelo </a:t>
            </a:r>
            <a:r>
              <a:rPr sz="1500" b="1">
                <a:solidFill>
                  <a:srgbClr val="0093D0"/>
                </a:solidFill>
                <a:latin typeface="Segoe UI"/>
              </a:rPr>
              <a:t>nulo à esquerda</a:t>
            </a:r>
            <a:r>
              <a:rPr sz="1500" b="0">
                <a:solidFill>
                  <a:srgbClr val="0B1B2B"/>
                </a:solidFill>
                <a:latin typeface="Segoe UI"/>
              </a:rPr>
              <a:t>: se o nulo está a mais de </a:t>
            </a:r>
            <a:r>
              <a:rPr sz="1500" b="0">
                <a:solidFill>
                  <a:srgbClr val="0B1B2B"/>
                </a:solidFill>
                <a:latin typeface="Consolas"/>
              </a:rPr>
              <a:t>(512 + 74) / 75 = 7</a:t>
            </a:r>
            <a:r>
              <a:rPr sz="1500" b="0">
                <a:solidFill>
                  <a:srgbClr val="0B1B2B"/>
                </a:solidFill>
                <a:latin typeface="Segoe UI"/>
              </a:rPr>
              <a:t> bins do pico, o pico foi alargado por multipath e o índice recua.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Duas heurísticas, duas perguntas para a turma: o que acontece numa reflexão forte? O que o multipath faz com a largura do pico?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290779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2505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044" b="0">
                <a:solidFill>
                  <a:srgbClr val="7FB58E"/>
                </a:solidFill>
                <a:latin typeface="Consolas"/>
              </a:rPr>
              <a:t>/* find_ifft_peak_index(): depois do maximo, procura um pico MAIS CURTO */</a:t>
            </a:r>
          </a:p>
          <a:p>
            <a:pPr>
              <a:lnSpc>
                <a:spcPct val="112000"/>
              </a:lnSpc>
            </a:pPr>
            <a:r>
              <a:rPr sz="1044" b="1">
                <a:solidFill>
                  <a:srgbClr val="4FC3E8"/>
                </a:solidFill>
                <a:latin typeface="Consolas"/>
              </a:rPr>
              <a:t>while</a:t>
            </a:r>
            <a:r>
              <a:rPr sz="1044" b="0">
                <a:solidFill>
                  <a:srgbClr val="DCE8F2"/>
                </a:solidFill>
                <a:latin typeface="Consolas"/>
              </a:rPr>
              <a:t> (nw != max_search_index &amp;&amp; !short_path_found) {</a:t>
            </a:r>
          </a:p>
          <a:p>
            <a:pPr>
              <a:lnSpc>
                <a:spcPct val="112000"/>
              </a:lnSpc>
            </a:pPr>
            <a:r>
              <a:rPr sz="1044" b="0">
                <a:solidFill>
                  <a:srgbClr val="DCE8F2"/>
                </a:solidFill>
                <a:latin typeface="Consolas"/>
              </a:rPr>
              <a:t>	</a:t>
            </a:r>
            <a:r>
              <a:rPr sz="1044" b="1">
                <a:solidFill>
                  <a:srgbClr val="4FC3E8"/>
                </a:solidFill>
                <a:latin typeface="Consolas"/>
              </a:rPr>
              <a:t>if</a:t>
            </a:r>
            <a:r>
              <a:rPr sz="1044" b="0">
                <a:solidFill>
                  <a:srgbClr val="DCE8F2"/>
                </a:solidFill>
                <a:latin typeface="Consolas"/>
              </a:rPr>
              <a:t> (ifft_mag[nw_next] &lt; ifft_mag[nw]) {</a:t>
            </a:r>
          </a:p>
          <a:p>
            <a:pPr>
              <a:lnSpc>
                <a:spcPct val="112000"/>
              </a:lnSpc>
            </a:pPr>
            <a:r>
              <a:rPr sz="1044" b="0">
                <a:solidFill>
                  <a:srgbClr val="DCE8F2"/>
                </a:solidFill>
                <a:latin typeface="Consolas"/>
              </a:rPr>
              <a:t>		</a:t>
            </a:r>
            <a:r>
              <a:rPr sz="1044" b="0">
                <a:solidFill>
                  <a:srgbClr val="7FB58E"/>
                </a:solidFill>
                <a:latin typeface="Consolas"/>
              </a:rPr>
              <a:t>/* Peak found */</a:t>
            </a:r>
          </a:p>
          <a:p>
            <a:pPr>
              <a:lnSpc>
                <a:spcPct val="112000"/>
              </a:lnSpc>
            </a:pPr>
            <a:r>
              <a:rPr sz="1044" b="0">
                <a:solidFill>
                  <a:srgbClr val="DCE8F2"/>
                </a:solidFill>
                <a:latin typeface="Consolas"/>
              </a:rPr>
              <a:t>		</a:t>
            </a:r>
            <a:r>
              <a:rPr sz="1044" b="1">
                <a:solidFill>
                  <a:srgbClr val="4FC3E8"/>
                </a:solidFill>
                <a:latin typeface="Consolas"/>
              </a:rPr>
              <a:t>if</a:t>
            </a:r>
            <a:r>
              <a:rPr sz="1044" b="0">
                <a:solidFill>
                  <a:srgbClr val="DCE8F2"/>
                </a:solidFill>
                <a:latin typeface="Consolas"/>
              </a:rPr>
              <a:t> (2.5f * ifft_mag[nw] &gt; ifft_mag_max &amp;&amp; first_rise_found) {</a:t>
            </a:r>
          </a:p>
          <a:p>
            <a:pPr>
              <a:lnSpc>
                <a:spcPct val="112000"/>
              </a:lnSpc>
            </a:pPr>
            <a:r>
              <a:rPr sz="1044" b="0">
                <a:solidFill>
                  <a:srgbClr val="DCE8F2"/>
                </a:solidFill>
                <a:latin typeface="Consolas"/>
              </a:rPr>
              <a:t>			shortest_path_idx = nw;</a:t>
            </a:r>
          </a:p>
          <a:p>
            <a:pPr>
              <a:lnSpc>
                <a:spcPct val="112000"/>
              </a:lnSpc>
            </a:pPr>
            <a:r>
              <a:rPr sz="1044" b="0">
                <a:solidFill>
                  <a:srgbClr val="DCE8F2"/>
                </a:solidFill>
                <a:latin typeface="Consolas"/>
              </a:rPr>
              <a:t>			short_path_found = </a:t>
            </a:r>
            <a:r>
              <a:rPr sz="1044" b="1">
                <a:solidFill>
                  <a:srgbClr val="4FC3E8"/>
                </a:solidFill>
                <a:latin typeface="Consolas"/>
              </a:rPr>
              <a:t>true</a:t>
            </a:r>
            <a:r>
              <a:rPr sz="1044" b="0">
                <a:solidFill>
                  <a:srgbClr val="DCE8F2"/>
                </a:solidFill>
                <a:latin typeface="Consolas"/>
              </a:rPr>
              <a:t>;</a:t>
            </a:r>
          </a:p>
          <a:p>
            <a:pPr>
              <a:lnSpc>
                <a:spcPct val="112000"/>
              </a:lnSpc>
            </a:pPr>
            <a:r>
              <a:rPr sz="1044" b="0">
                <a:solidFill>
                  <a:srgbClr val="DCE8F2"/>
                </a:solidFill>
                <a:latin typeface="Consolas"/>
              </a:rPr>
              <a:t>		}</a:t>
            </a:r>
          </a:p>
          <a:p>
            <a:pPr>
              <a:lnSpc>
                <a:spcPct val="112000"/>
              </a:lnSpc>
            </a:pPr>
            <a:r>
              <a:rPr sz="1044" b="0">
                <a:solidFill>
                  <a:srgbClr val="DCE8F2"/>
                </a:solidFill>
                <a:latin typeface="Consolas"/>
              </a:rPr>
              <a:t>	} </a:t>
            </a:r>
            <a:r>
              <a:rPr sz="1044" b="1">
                <a:solidFill>
                  <a:srgbClr val="4FC3E8"/>
                </a:solidFill>
                <a:latin typeface="Consolas"/>
              </a:rPr>
              <a:t>else</a:t>
            </a:r>
            <a:r>
              <a:rPr sz="1044" b="0">
                <a:solidFill>
                  <a:srgbClr val="DCE8F2"/>
                </a:solidFill>
                <a:latin typeface="Consolas"/>
              </a:rPr>
              <a:t> {</a:t>
            </a:r>
          </a:p>
          <a:p>
            <a:pPr>
              <a:lnSpc>
                <a:spcPct val="112000"/>
              </a:lnSpc>
            </a:pPr>
            <a:r>
              <a:rPr sz="1044" b="0">
                <a:solidFill>
                  <a:srgbClr val="DCE8F2"/>
                </a:solidFill>
                <a:latin typeface="Consolas"/>
              </a:rPr>
              <a:t>		first_rise_found = </a:t>
            </a:r>
            <a:r>
              <a:rPr sz="1044" b="1">
                <a:solidFill>
                  <a:srgbClr val="4FC3E8"/>
                </a:solidFill>
                <a:latin typeface="Consolas"/>
              </a:rPr>
              <a:t>true</a:t>
            </a:r>
            <a:r>
              <a:rPr sz="1044" b="0">
                <a:solidFill>
                  <a:srgbClr val="DCE8F2"/>
                </a:solidFill>
                <a:latin typeface="Consolas"/>
              </a:rPr>
              <a:t>;</a:t>
            </a:r>
          </a:p>
          <a:p>
            <a:pPr>
              <a:lnSpc>
                <a:spcPct val="112000"/>
              </a:lnSpc>
            </a:pPr>
            <a:r>
              <a:rPr sz="1044" b="0">
                <a:solidFill>
                  <a:srgbClr val="DCE8F2"/>
                </a:solidFill>
                <a:latin typeface="Consolas"/>
              </a:rPr>
              <a:t>	}</a:t>
            </a:r>
          </a:p>
          <a:p>
            <a:pPr>
              <a:lnSpc>
                <a:spcPct val="112000"/>
              </a:lnSpc>
            </a:pPr>
            <a:r>
              <a:rPr sz="1044" b="0">
                <a:solidFill>
                  <a:srgbClr val="DCE8F2"/>
                </a:solidFill>
                <a:latin typeface="Consolas"/>
              </a:rPr>
              <a:t>	nw = nw_next;</a:t>
            </a:r>
          </a:p>
          <a:p>
            <a:pPr>
              <a:lnSpc>
                <a:spcPct val="112000"/>
              </a:lnSpc>
            </a:pPr>
            <a:r>
              <a:rPr sz="1044" b="0">
                <a:solidFill>
                  <a:srgbClr val="DCE8F2"/>
                </a:solidFill>
                <a:latin typeface="Consolas"/>
              </a:rPr>
              <a:t>	nw_next = (nw_next + 1) % CONFIG_BT_CS_DE_NFFT_SIZE;</a:t>
            </a:r>
          </a:p>
          <a:p>
            <a:pPr>
              <a:lnSpc>
                <a:spcPct val="112000"/>
              </a:lnSpc>
            </a:pPr>
            <a:r>
              <a:rPr sz="1044" b="0">
                <a:solidFill>
                  <a:srgbClr val="DCE8F2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016752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cs_de.c, NCS v3.4.0. O aluno lê o C e o Python lado a lado; cada função Python cita no docstring a função C que reproduz.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MUSIC: de onde vem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Não é um algoritmo novo nem exclusivo de Bluetooth. É o método clássico de super-resolução, com quarenta anos de uso.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3774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9476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9202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1979 / 1986 · Ralph Schmidt, radar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2311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“Multiple Emitter Location and Signal Parameter Estimation”, IEEE Trans. Antennas and Propagation. Criado para achar a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direção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de várias fontes com um arranjo de antenas.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24612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28163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8620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27889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A ideia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0998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 covariância das medidas se separa em dois subespaços: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sinal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(as fontes) e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ruído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Varre-se o parâmetro procurado; onde o vetor de teste é ortogonal ao ruído, há uma fonte. O pico é muito mais estreito que o de uma transformada.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11480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368503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73075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365760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Da direção ao atraso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396849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trocar antenas por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frequências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um caminho com atraso τ aparece nos 75 tons como uma senoide complexa em f. Li e Pahlavan (2004) aplicaram MUSIC assim a ToA em ambientes internos. É o que Wi-Fi CSI e UWB usam.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1872" y="49834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8992" y="45537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5994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45262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Por que interessa ao 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48371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 IFFT tem resolução fixa de ~2 m (1 / 75 MHz). O MUSIC separa caminhos mais próximos que isso, limitado pelo ruído, não pela banda. O preço: assume o número de caminhos e precisa de spatial smoothing.</a:t>
            </a:r>
          </a:p>
        </p:txBody>
      </p:sp>
      <p:sp>
        <p:nvSpPr>
          <p:cNvPr id="29" name="Oval 28"/>
          <p:cNvSpPr/>
          <p:nvPr/>
        </p:nvSpPr>
        <p:spPr>
          <a:xfrm>
            <a:off x="1078992" y="54223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4681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3949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A implementação usada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792" y="57058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skig/waves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(MIT), toolset aberto de análise de CS para o nRF54L15-DK.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cs_music.py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70 linhas de NumPy, vendorizado com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LICENSE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ORIGEM.md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(commit e data). Só 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import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mudou.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MUSIC: o que foi preciso ajustar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Um algoritmo aberto, em fonte, sobre o mesmo IQ, e os ajustes necessários para aplicá-lo ao IQ real do nRF54L.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estava errado no encaixe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waves indexa os canais pela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posição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no vetor e assume 1 MHz entre vizinhos. Os canais reservados 23 a 25 chegam zerados: um buraco de 3 canais virava um salto de fase e o pico se deslocava.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adaptador do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Preenche os canais reservados interpolando a fase desenrolada e a amplitude entre os vizinhos. Exato para um caminho, aproximação em multipath, válido até ~18 m. Fixado por teste sintético.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Convenções fixadas pelo teste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IQ combinado é ida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volta: distância = atraso · c / 2. O sinal da fase é o mesmo do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cs_de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Sintético a 1 / 3 / 7,5 m dá 1,03 / 2,93 / 7,48 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ele assume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_N_SIGNALS = 1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um caminho dominante. Em multipath forte o pico pode cair no caminho refletido.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8154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ele não faz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8154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Calibração de fase entre initiator e reflector.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cs_de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também não faz.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4164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620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 grade quantiza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620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waves pega o pico do pseudo-espectro pelo argmax cru: 512 atrasos em 500 ns,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14,7 cm por bin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O curso interpola o pico como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cs_de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faz na IFFT.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mesmo IQ, dois algoritmos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Procedure real a 3,0 m de trena. À esquerda, o perfil da IFFT com o pico que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cs_de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escolhe (4,39 m). À direita, o pseudo-espectro do MUSIC (4,75 m). Os dois leem longe demais: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viés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está no dado, não no algoritmo.</a:t>
            </a:r>
          </a:p>
        </p:txBody>
      </p:sp>
      <p:pic>
        <p:nvPicPr>
          <p:cNvPr id="9" name="Picture 8" descr="cs_ifft_music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47" y="1810512"/>
            <a:ext cx="99568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Quatro estimadores contra a trena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0,78 / 1 / 3 / 5 m, 30 procedures por ponto (69 a 0,78 m). Todos leem longe demais. Os slides seguintes mostram que esse viés é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orientação da antena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não o algoritmo: girar o TAG a 5 m levou o erro 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ifft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de 2,46 m para 0,27 m.</a:t>
            </a:r>
          </a:p>
        </p:txBody>
      </p:sp>
      <p:pic>
        <p:nvPicPr>
          <p:cNvPr id="9" name="Picture 8" descr="cs_vie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47" y="1810512"/>
            <a:ext cx="99568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Duas antenas no TAG: a chave de RF e quem a comanda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Uma chave SKY13348 comandada por P1.09/P1.10, entregue ao SoftDevice Controller pelo overlay do sample.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initiator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escolhe a configuração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A1_B1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ou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A1_B2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); o controller do TAG comuta a chave entre os slots de tom. A aplicação do TAG não participa.</a:t>
            </a:r>
          </a:p>
        </p:txBody>
      </p:sp>
      <p:pic>
        <p:nvPicPr>
          <p:cNvPr id="9" name="Picture 8" descr="cs_antenas_hw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907" y="1810512"/>
            <a:ext cx="97078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Qual caminho de antena é o bom? Depende, e muda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TAG na bateria, 1 / 3 / 5 m e 5 m com o TAG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girado no lugar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Em cada ponto, as duas configurações medidas na mesma posição. Erro mediano contra a trena;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CONFIG_LAB_ANTENNA_PATHS=2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o default do lab.</a:t>
            </a:r>
          </a:p>
        </p:txBody>
      </p:sp>
      <p:pic>
        <p:nvPicPr>
          <p:cNvPr id="9" name="Picture 8" descr="cs_antena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97" y="1810512"/>
            <a:ext cx="104013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a varredura diz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Duas antenas ajudam, mas só se o algoritmo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escolher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entre elas. Combinar às cegas apenas empata com o melhor caminho.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caminho bom muda com a geometria.</a:t>
            </a:r>
            <a:r>
              <a:rPr sz="1700" b="0">
                <a:solidFill>
                  <a:srgbClr val="0B1B2B"/>
                </a:solidFill>
                <a:latin typeface="Segoe UI"/>
              </a:rPr>
              <a:t> A 5 m o </a:t>
            </a:r>
            <a:r>
              <a:rPr sz="1700" b="0">
                <a:solidFill>
                  <a:srgbClr val="0B1B2B"/>
                </a:solidFill>
                <a:latin typeface="Consolas"/>
              </a:rPr>
              <a:t>ap 0</a:t>
            </a:r>
            <a:r>
              <a:rPr sz="1700" b="0">
                <a:solidFill>
                  <a:srgbClr val="0B1B2B"/>
                </a:solidFill>
                <a:latin typeface="Segoe UI"/>
              </a:rPr>
              <a:t> erra 2,44 m e o </a:t>
            </a:r>
            <a:r>
              <a:rPr sz="1700" b="0">
                <a:solidFill>
                  <a:srgbClr val="0B1B2B"/>
                </a:solidFill>
                <a:latin typeface="Consolas"/>
              </a:rPr>
              <a:t>ap 1</a:t>
            </a:r>
            <a:r>
              <a:rPr sz="1700" b="0">
                <a:solidFill>
                  <a:srgbClr val="0B1B2B"/>
                </a:solidFill>
                <a:latin typeface="Segoe UI"/>
              </a:rPr>
              <a:t> 0,56 m. Girar o TAG </a:t>
            </a:r>
            <a:r>
              <a:rPr sz="1700" b="1">
                <a:solidFill>
                  <a:srgbClr val="0093D0"/>
                </a:solidFill>
                <a:latin typeface="Segoe UI"/>
              </a:rPr>
              <a:t>inverte</a:t>
            </a:r>
            <a:r>
              <a:rPr sz="1700" b="0">
                <a:solidFill>
                  <a:srgbClr val="0B1B2B"/>
                </a:solidFill>
                <a:latin typeface="Segoe UI"/>
              </a:rPr>
              <a:t>. Com um caminho só, o pior caso é 2,46 m.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Escolher o menor limita o erro.</a:t>
            </a:r>
            <a:r>
              <a:rPr sz="1700" b="0">
                <a:solidFill>
                  <a:srgbClr val="0B1B2B"/>
                </a:solidFill>
                <a:latin typeface="Segoe UI"/>
              </a:rPr>
              <a:t> </a:t>
            </a:r>
            <a:r>
              <a:rPr sz="1700" b="0">
                <a:solidFill>
                  <a:srgbClr val="0B1B2B"/>
                </a:solidFill>
                <a:latin typeface="Consolas"/>
              </a:rPr>
              <a:t>ifft_min</a:t>
            </a:r>
            <a:r>
              <a:rPr sz="1700" b="0">
                <a:solidFill>
                  <a:srgbClr val="0B1B2B"/>
                </a:solidFill>
                <a:latin typeface="Segoe UI"/>
              </a:rPr>
              <a:t> acompanhou o melhor caminho nos quatro pontos: erro médio </a:t>
            </a:r>
            <a:r>
              <a:rPr sz="1700" b="1">
                <a:solidFill>
                  <a:srgbClr val="0093D0"/>
                </a:solidFill>
                <a:latin typeface="Segoe UI"/>
              </a:rPr>
              <a:t>0,85 m</a:t>
            </a:r>
            <a:r>
              <a:rPr sz="1700" b="0">
                <a:solidFill>
                  <a:srgbClr val="0B1B2B"/>
                </a:solidFill>
                <a:latin typeface="Segoe UI"/>
              </a:rPr>
              <a:t>, pior caso </a:t>
            </a:r>
            <a:r>
              <a:rPr sz="1700" b="1">
                <a:solidFill>
                  <a:srgbClr val="0093D0"/>
                </a:solidFill>
                <a:latin typeface="Segoe UI"/>
              </a:rPr>
              <a:t>1,17 m</a:t>
            </a:r>
            <a:r>
              <a:rPr sz="1700" b="0">
                <a:solidFill>
                  <a:srgbClr val="0B1B2B"/>
                </a:solidFill>
                <a:latin typeface="Segoe UI"/>
              </a:rPr>
              <a:t>, contra 1,25 e 2,46 do caminho único.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regra definida antes de olhar o gabarito: multipath só acrescenta percurso, então a leitura mais curta é a que menos refletiu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viés é da antena, não do algoritmo.</a:t>
            </a:r>
            <a:r>
              <a:rPr sz="1700" b="0">
                <a:solidFill>
                  <a:srgbClr val="0B1B2B"/>
                </a:solidFill>
                <a:latin typeface="Segoe UI"/>
              </a:rPr>
              <a:t> Mesmo firmware: 7,32 m a 5 m, e 5,27 m depois de girar o TAG.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ifft da Nordic continua o melhor estimador.</a:t>
            </a:r>
            <a:r>
              <a:rPr sz="1700" b="0">
                <a:solidFill>
                  <a:srgbClr val="0B1B2B"/>
                </a:solidFill>
                <a:latin typeface="Segoe UI"/>
              </a:rPr>
              <a:t> Com um caminho já vence o MUSIC combinado em três dos quatro pontos.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custo de dois caminhos:</a:t>
            </a:r>
            <a:r>
              <a:rPr sz="1700" b="0">
                <a:solidFill>
                  <a:srgbClr val="0B1B2B"/>
                </a:solidFill>
                <a:latin typeface="Segoe UI"/>
              </a:rPr>
              <a:t> o procedure divide o tempo e a dispersão por caminho piora (MAD do </a:t>
            </a:r>
            <a:r>
              <a:rPr sz="1700" b="0">
                <a:solidFill>
                  <a:srgbClr val="0B1B2B"/>
                </a:solidFill>
                <a:latin typeface="Consolas"/>
              </a:rPr>
              <a:t>ifft</a:t>
            </a:r>
            <a:r>
              <a:rPr sz="1700" b="0">
                <a:solidFill>
                  <a:srgbClr val="0B1B2B"/>
                </a:solidFill>
                <a:latin typeface="Segoe UI"/>
              </a:rPr>
              <a:t> a 5 m: 0,43 → 0,57 m).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E com alguém no caminho?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TAG a 3,00 m; a única mudança é uma pessoa sentada entre a DK e o TAG, a ~40 cm da DK. Para isolar o efeito do corpo, a captura obstruída foi cercada por capturas livres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antes e depois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e as duas livres batem entre si.</a:t>
            </a:r>
          </a:p>
        </p:txBody>
      </p:sp>
      <p:pic>
        <p:nvPicPr>
          <p:cNvPr id="9" name="Picture 8" descr="cs_obstrucao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47" y="1810512"/>
            <a:ext cx="99568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a obstrução ensina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condição que separa as duas regras de escolha de caminho de antena.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ifft é o mais robusto</a:t>
            </a:r>
            <a:r>
              <a:rPr sz="1700" b="0">
                <a:solidFill>
                  <a:srgbClr val="0B1B2B"/>
                </a:solidFill>
                <a:latin typeface="Segoe UI"/>
              </a:rPr>
              <a:t>: anda 0,6 m, enquanto </a:t>
            </a:r>
            <a:r>
              <a:rPr sz="1700" b="0">
                <a:solidFill>
                  <a:srgbClr val="0B1B2B"/>
                </a:solidFill>
                <a:latin typeface="Consolas"/>
              </a:rPr>
              <a:t>phase_slope</a:t>
            </a:r>
            <a:r>
              <a:rPr sz="1700" b="0">
                <a:solidFill>
                  <a:srgbClr val="0B1B2B"/>
                </a:solidFill>
                <a:latin typeface="Segoe UI"/>
              </a:rPr>
              <a:t>, </a:t>
            </a:r>
            <a:r>
              <a:rPr sz="1700" b="0">
                <a:solidFill>
                  <a:srgbClr val="0B1B2B"/>
                </a:solidFill>
                <a:latin typeface="Consolas"/>
              </a:rPr>
              <a:t>rtt</a:t>
            </a:r>
            <a:r>
              <a:rPr sz="1700" b="0">
                <a:solidFill>
                  <a:srgbClr val="0B1B2B"/>
                </a:solidFill>
                <a:latin typeface="Segoe UI"/>
              </a:rPr>
              <a:t> e MUSIC ganham 3 a 4 m de erro.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são as duas heurísticas do </a:t>
            </a:r>
            <a:r>
              <a:rPr sz="1400" b="0">
                <a:solidFill>
                  <a:srgbClr val="566577"/>
                </a:solidFill>
                <a:latin typeface="Consolas"/>
              </a:rPr>
              <a:t>cs_de.c</a:t>
            </a:r>
            <a:r>
              <a:rPr sz="1400" b="0">
                <a:solidFill>
                  <a:srgbClr val="566577"/>
                </a:solidFill>
                <a:latin typeface="Segoe UI"/>
              </a:rPr>
              <a:t>: pico </a:t>
            </a:r>
            <a:r>
              <a:rPr sz="1400" b="1">
                <a:solidFill>
                  <a:srgbClr val="566577"/>
                </a:solidFill>
                <a:latin typeface="Segoe UI"/>
              </a:rPr>
              <a:t>mais curto</a:t>
            </a:r>
            <a:r>
              <a:rPr sz="1400" b="0">
                <a:solidFill>
                  <a:srgbClr val="566577"/>
                </a:solidFill>
                <a:latin typeface="Segoe UI"/>
              </a:rPr>
              <a:t> com ≥ 40 % do máximo e compensação pelo nulo, feitas para quando o caminho direto não é o mais forte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rtt só erra para mais.</a:t>
            </a:r>
            <a:r>
              <a:rPr sz="1700" b="0">
                <a:solidFill>
                  <a:srgbClr val="0B1B2B"/>
                </a:solidFill>
                <a:latin typeface="Segoe UI"/>
              </a:rPr>
              <a:t> Em visada é o menos enviesado (0,66 m a 3 m); com o corpo vai a +3,4 m, porque o sinal contornou. É a mesma propriedade que barra o relay attack.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corpo vira refletor.</a:t>
            </a:r>
            <a:r>
              <a:rPr sz="1700" b="0">
                <a:solidFill>
                  <a:srgbClr val="0B1B2B"/>
                </a:solidFill>
                <a:latin typeface="Segoe UI"/>
              </a:rPr>
              <a:t> O </a:t>
            </a:r>
            <a:r>
              <a:rPr sz="1700" b="0">
                <a:solidFill>
                  <a:srgbClr val="0B1B2B"/>
                </a:solidFill>
                <a:latin typeface="Consolas"/>
              </a:rPr>
              <a:t>ifft</a:t>
            </a:r>
            <a:r>
              <a:rPr sz="1700" b="0">
                <a:solidFill>
                  <a:srgbClr val="0B1B2B"/>
                </a:solidFill>
                <a:latin typeface="Segoe UI"/>
              </a:rPr>
              <a:t> do </a:t>
            </a:r>
            <a:r>
              <a:rPr sz="1700" b="0">
                <a:solidFill>
                  <a:srgbClr val="0B1B2B"/>
                </a:solidFill>
                <a:latin typeface="Consolas"/>
              </a:rPr>
              <a:t>ap 1</a:t>
            </a:r>
            <a:r>
              <a:rPr sz="1700" b="0">
                <a:solidFill>
                  <a:srgbClr val="0B1B2B"/>
                </a:solidFill>
                <a:latin typeface="Segoe UI"/>
              </a:rPr>
              <a:t> lê </a:t>
            </a:r>
            <a:r>
              <a:rPr sz="1700" b="1">
                <a:solidFill>
                  <a:srgbClr val="0093D0"/>
                </a:solidFill>
                <a:latin typeface="Segoe UI"/>
              </a:rPr>
              <a:t>2,34 m</a:t>
            </a:r>
            <a:r>
              <a:rPr sz="1700" b="0">
                <a:solidFill>
                  <a:srgbClr val="0B1B2B"/>
                </a:solidFill>
                <a:latin typeface="Segoe UI"/>
              </a:rPr>
              <a:t>, mais perto que a trena: travou no eco do corpo a 40 cm da DK.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E aí o ifft_min falha.</a:t>
            </a:r>
            <a:r>
              <a:rPr sz="1700" b="0">
                <a:solidFill>
                  <a:srgbClr val="0B1B2B"/>
                </a:solidFill>
                <a:latin typeface="Segoe UI"/>
              </a:rPr>
              <a:t> Um refletor entre as antenas faz um caminho ler mais curto que o alvo, e a regra do menor escolhe esse: 2,12 m. O </a:t>
            </a:r>
            <a:r>
              <a:rPr sz="1700" b="0">
                <a:solidFill>
                  <a:srgbClr val="0B1B2B"/>
                </a:solidFill>
                <a:latin typeface="Consolas"/>
              </a:rPr>
              <a:t>ifft_pot</a:t>
            </a:r>
            <a:r>
              <a:rPr sz="1700" b="0">
                <a:solidFill>
                  <a:srgbClr val="0B1B2B"/>
                </a:solidFill>
                <a:latin typeface="Segoe UI"/>
              </a:rPr>
              <a:t>, que escolhe pela potência, dá 1,98 m.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Qual regra?</a:t>
            </a:r>
            <a:r>
              <a:rPr sz="1700" b="0">
                <a:solidFill>
                  <a:srgbClr val="0B1B2B"/>
                </a:solidFill>
                <a:latin typeface="Segoe UI"/>
              </a:rPr>
              <a:t> </a:t>
            </a:r>
            <a:r>
              <a:rPr sz="1700" b="0">
                <a:solidFill>
                  <a:srgbClr val="0B1B2B"/>
                </a:solidFill>
                <a:latin typeface="Consolas"/>
              </a:rPr>
              <a:t>ifft_min</a:t>
            </a:r>
            <a:r>
              <a:rPr sz="1700" b="0">
                <a:solidFill>
                  <a:srgbClr val="0B1B2B"/>
                </a:solidFill>
                <a:latin typeface="Segoe UI"/>
              </a:rPr>
              <a:t> tem o melhor erro médio (0,85 m em visada); </a:t>
            </a:r>
            <a:r>
              <a:rPr sz="1700" b="0">
                <a:solidFill>
                  <a:srgbClr val="0B1B2B"/>
                </a:solidFill>
                <a:latin typeface="Consolas"/>
              </a:rPr>
              <a:t>ifft_pot</a:t>
            </a:r>
            <a:r>
              <a:rPr sz="1700" b="0">
                <a:solidFill>
                  <a:srgbClr val="0B1B2B"/>
                </a:solidFill>
                <a:latin typeface="Segoe UI"/>
              </a:rPr>
              <a:t> o melhor pior caso (1,98 m com o corpo). Não há dominância: é decisão de produto.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mesmo IQ, o mesmo firmware, a 5 m de trena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Uma procedure, dois caminhos de antena, 150 tons de IQ. Sete respostas entre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5,6 e 10,7 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Nada disso mudou no rádio.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390448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59"/>
                <a:gridCol w="1554479"/>
                <a:gridCol w="1280159"/>
                <a:gridCol w="48216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Estimador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Lê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Erro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Quem decidiu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ifft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caminho único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7,32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2,46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algoritmo do chip, na antena que calhou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ifft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ap 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5,56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0,56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mesmo algoritmo, na outra antena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ifft_min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5,56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0,56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uma regra de 6 linhas no PC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phase_slope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10,17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5,17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chip, outro algoritmo, mesma fase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rtt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10,68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5,68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chip, o tempo de voo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MUSIC · caminho único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10,72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5,72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super-resolução no PC, antena errada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MUSIC · combinado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6,20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1,20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super-resolução no PC, as duas antenas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9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9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 firmware fornece os dados. A distância é decisão do algoritmo, e o algoritmo é da aplicação, não do chip.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demonstração: os nove estimadores ao vivo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painel mostra os nove estimadores reagindo em tempo real a uma pessoa no caminho e à rotação do TAG.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Consolas"/>
              </a:rPr>
              <a:t>python cs_dash.py --trena 5.0</a:t>
            </a:r>
            <a:r>
              <a:rPr sz="1700" b="0">
                <a:solidFill>
                  <a:srgbClr val="0B1B2B"/>
                </a:solidFill>
                <a:latin typeface="Segoe UI"/>
              </a:rPr>
              <a:t> lê a serial, monta cada procedure e roda </a:t>
            </a:r>
            <a:r>
              <a:rPr sz="1700" b="1">
                <a:solidFill>
                  <a:srgbClr val="0093D0"/>
                </a:solidFill>
                <a:latin typeface="Segoe UI"/>
              </a:rPr>
              <a:t>os nove estimadores</a:t>
            </a:r>
            <a:r>
              <a:rPr sz="1700" b="0">
                <a:solidFill>
                  <a:srgbClr val="0B1B2B"/>
                </a:solidFill>
                <a:latin typeface="Segoe UI"/>
              </a:rPr>
              <a:t> sobre o mesmo IQ, atualizando ~2× por segundo.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Nove barras lado a lado (</a:t>
            </a:r>
            <a:r>
              <a:rPr sz="1700" b="0">
                <a:solidFill>
                  <a:srgbClr val="0B1B2B"/>
                </a:solidFill>
                <a:latin typeface="Consolas"/>
              </a:rPr>
              <a:t>ifft</a:t>
            </a:r>
            <a:r>
              <a:rPr sz="1700" b="0">
                <a:solidFill>
                  <a:srgbClr val="0B1B2B"/>
                </a:solidFill>
                <a:latin typeface="Segoe UI"/>
              </a:rPr>
              <a:t> em cada caminho, </a:t>
            </a:r>
            <a:r>
              <a:rPr sz="1700" b="0">
                <a:solidFill>
                  <a:srgbClr val="0B1B2B"/>
                </a:solidFill>
                <a:latin typeface="Consolas"/>
              </a:rPr>
              <a:t>ifft_min</a:t>
            </a:r>
            <a:r>
              <a:rPr sz="1700" b="0">
                <a:solidFill>
                  <a:srgbClr val="0B1B2B"/>
                </a:solidFill>
                <a:latin typeface="Segoe UI"/>
              </a:rPr>
              <a:t>, </a:t>
            </a:r>
            <a:r>
              <a:rPr sz="1700" b="0">
                <a:solidFill>
                  <a:srgbClr val="0B1B2B"/>
                </a:solidFill>
                <a:latin typeface="Consolas"/>
              </a:rPr>
              <a:t>ifft_pot</a:t>
            </a:r>
            <a:r>
              <a:rPr sz="1700" b="0">
                <a:solidFill>
                  <a:srgbClr val="0B1B2B"/>
                </a:solidFill>
                <a:latin typeface="Segoe UI"/>
              </a:rPr>
              <a:t>, </a:t>
            </a:r>
            <a:r>
              <a:rPr sz="1700" b="0">
                <a:solidFill>
                  <a:srgbClr val="0B1B2B"/>
                </a:solidFill>
                <a:latin typeface="Consolas"/>
              </a:rPr>
              <a:t>phase_slope</a:t>
            </a:r>
            <a:r>
              <a:rPr sz="1700" b="0">
                <a:solidFill>
                  <a:srgbClr val="0B1B2B"/>
                </a:solidFill>
                <a:latin typeface="Segoe UI"/>
              </a:rPr>
              <a:t>, </a:t>
            </a:r>
            <a:r>
              <a:rPr sz="1700" b="0">
                <a:solidFill>
                  <a:srgbClr val="0B1B2B"/>
                </a:solidFill>
                <a:latin typeface="Consolas"/>
              </a:rPr>
              <a:t>rtt</a:t>
            </a:r>
            <a:r>
              <a:rPr sz="1700" b="0">
                <a:solidFill>
                  <a:srgbClr val="0B1B2B"/>
                </a:solidFill>
                <a:latin typeface="Segoe UI"/>
              </a:rPr>
              <a:t>, MUSIC em cada caminho e combinado), com a mediana das últimas 8 procedures e a MAD, mais o histórico das últimas 60.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Roteiro:</a:t>
            </a:r>
            <a:r>
              <a:rPr sz="1700" b="0">
                <a:solidFill>
                  <a:srgbClr val="0B1B2B"/>
                </a:solidFill>
                <a:latin typeface="Segoe UI"/>
              </a:rPr>
              <a:t> TAG a 5 m; girar o TAG no lugar e ver </a:t>
            </a:r>
            <a:r>
              <a:rPr sz="1700" b="0">
                <a:solidFill>
                  <a:srgbClr val="0B1B2B"/>
                </a:solidFill>
                <a:latin typeface="Consolas"/>
              </a:rPr>
              <a:t>ap 0</a:t>
            </a:r>
            <a:r>
              <a:rPr sz="1700" b="0">
                <a:solidFill>
                  <a:srgbClr val="0B1B2B"/>
                </a:solidFill>
                <a:latin typeface="Segoe UI"/>
              </a:rPr>
              <a:t> e </a:t>
            </a:r>
            <a:r>
              <a:rPr sz="1700" b="0">
                <a:solidFill>
                  <a:srgbClr val="0B1B2B"/>
                </a:solidFill>
                <a:latin typeface="Consolas"/>
              </a:rPr>
              <a:t>ap 1</a:t>
            </a:r>
            <a:r>
              <a:rPr sz="1700" b="0">
                <a:solidFill>
                  <a:srgbClr val="0B1B2B"/>
                </a:solidFill>
                <a:latin typeface="Segoe UI"/>
              </a:rPr>
              <a:t> trocarem de posição; sentar entre a DK e o TAG e ver </a:t>
            </a:r>
            <a:r>
              <a:rPr sz="1700" b="0">
                <a:solidFill>
                  <a:srgbClr val="0B1B2B"/>
                </a:solidFill>
                <a:latin typeface="Consolas"/>
              </a:rPr>
              <a:t>phase_slope</a:t>
            </a:r>
            <a:r>
              <a:rPr sz="1700" b="0">
                <a:solidFill>
                  <a:srgbClr val="0B1B2B"/>
                </a:solidFill>
                <a:latin typeface="Segoe UI"/>
              </a:rPr>
              <a:t> e MUSIC saltarem 3 m enquanto o </a:t>
            </a:r>
            <a:r>
              <a:rPr sz="1700" b="0">
                <a:solidFill>
                  <a:srgbClr val="0B1B2B"/>
                </a:solidFill>
                <a:latin typeface="Consolas"/>
              </a:rPr>
              <a:t>ifft</a:t>
            </a:r>
            <a:r>
              <a:rPr sz="1700" b="0">
                <a:solidFill>
                  <a:srgbClr val="0B1B2B"/>
                </a:solidFill>
                <a:latin typeface="Segoe UI"/>
              </a:rPr>
              <a:t> fica; andar com o TAG e ver o </a:t>
            </a:r>
            <a:r>
              <a:rPr sz="1700" b="0">
                <a:solidFill>
                  <a:srgbClr val="0B1B2B"/>
                </a:solidFill>
                <a:latin typeface="Consolas"/>
              </a:rPr>
              <a:t>ifft_min</a:t>
            </a:r>
            <a:r>
              <a:rPr sz="1700" b="0">
                <a:solidFill>
                  <a:srgbClr val="0B1B2B"/>
                </a:solidFill>
                <a:latin typeface="Segoe UI"/>
              </a:rPr>
              <a:t> acompanhar o melhor caminho.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teclas: + e − movem a linha da trena, z zera o histórico, q sai; </a:t>
            </a:r>
            <a:r>
              <a:rPr sz="1400" b="0">
                <a:solidFill>
                  <a:srgbClr val="566577"/>
                </a:solidFill>
                <a:latin typeface="Consolas"/>
              </a:rPr>
              <a:t>--texto</a:t>
            </a:r>
            <a:r>
              <a:rPr sz="1400" b="0">
                <a:solidFill>
                  <a:srgbClr val="566577"/>
                </a:solidFill>
                <a:latin typeface="Segoe UI"/>
              </a:rPr>
              <a:t> no terminal, </a:t>
            </a:r>
            <a:r>
              <a:rPr sz="1400" b="0">
                <a:solidFill>
                  <a:srgbClr val="566577"/>
                </a:solidFill>
                <a:latin typeface="Consolas"/>
              </a:rPr>
              <a:t>--rapido</a:t>
            </a:r>
            <a:r>
              <a:rPr sz="1400" b="0">
                <a:solidFill>
                  <a:srgbClr val="566577"/>
                </a:solidFill>
                <a:latin typeface="Segoe UI"/>
              </a:rPr>
              <a:t> sem MUSIC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A DK vai com </a:t>
            </a:r>
            <a:r>
              <a:rPr sz="1700" b="0">
                <a:solidFill>
                  <a:srgbClr val="0B1B2B"/>
                </a:solidFill>
                <a:latin typeface="Consolas"/>
              </a:rPr>
              <a:t>demo.conf</a:t>
            </a:r>
            <a:r>
              <a:rPr sz="1700" b="0">
                <a:solidFill>
                  <a:srgbClr val="0B1B2B"/>
                </a:solidFill>
                <a:latin typeface="Segoe UI"/>
              </a:rPr>
              <a:t>: ~2 procedures/s, que é o teto da serial com dois caminhos (5,4 kB por procedure a 115200). O lab fica em 1/s porque 30 s já bastam.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IQ é o mesmo para as nove barras; a diferença entre elas é só o algoritmo.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leitura dos números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Média ± desvio de 30 procedures por ponto, todos os estimadores sobre o mesmo IQ, um caminho de antena.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7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2103119"/>
                <a:gridCol w="2103119"/>
                <a:gridCol w="2103119"/>
                <a:gridCol w="20784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Trena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ifft (chip)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phase_slope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rtt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MUSIC (PC)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0,78 m (TAG na DK)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1,92 ± 0,09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2,16 ± 0,16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1,39 ± 0,70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1,94 ± 0,07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1,0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2,05 ± 0,23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2,70 ± 0,16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1,89 ± 0,61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2,17 ± 0,16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3,0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4,46 ± 0,48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5,84 ± 0,72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4,42 ± 0,96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4,99 ± 0,96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5,0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5,86 ± 0,84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6,75 ± 0,38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6,14 ± 1,02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6,21 ± 0,29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41655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1655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Todos leem longe demais (+0,9 a +1,5 m no ifft) e o viés não é constante: não é um offset para subtrair. O espalhamento do ifft cresce com a distância. O MUSIC reduz o espalhamento (0,29 contra 0,84 m a 5 m), não o viés.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isso ensina sobre “algoritmo melhor”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1872" y="2647188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2217420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26314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189988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Repetibilidade não é exatidão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500884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 MUSIC aperta o desvio a 5 m em quase 3×, mas a média fica igualmente deslocada. O algoritmo age no espalhamento; o viés vem de outro lugar.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1872" y="3515868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" y="3086100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13182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58668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De onde vem o viés, então?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3369564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medido: em grande parte da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orientação da antena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Girar o TAG a 5 m levou 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ifft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de 2,46 m de erro para 0,27 m. O resto (sala, calibração) não se resolve só no PC.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1872" y="4384548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" y="3954780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00050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927348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Por isso a Nordic fala em parceiros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238244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calibração por dispositivo, multi-antena, filtragem temporal. É engenharia de produto, não uma função de 70 linhas.</a:t>
            </a:r>
          </a:p>
        </p:txBody>
      </p:sp>
      <p:sp>
        <p:nvSpPr>
          <p:cNvPr id="23" name="Oval 22"/>
          <p:cNvSpPr/>
          <p:nvPr/>
        </p:nvSpPr>
        <p:spPr>
          <a:xfrm>
            <a:off x="1078992" y="4823460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86918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796028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E por isso o lab existe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106924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 aluno viu o IQ, reproduziu o chip com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d_ifft = 0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rodou outro algoritmo e mediu. A partir daqui, sabe o que perguntar a um parceiro.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5 · IQ NO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Onde ir a partir daqui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Quatro experimentos que cabem no mesmo código, e a fronteira onde o curso para.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Consolas"/>
              </a:rPr>
              <a:t>--nfft 1024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não melhora 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resolução, só 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interpolação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709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6686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402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Consolas"/>
              </a:rPr>
              <a:t>_N_SIGNALS =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02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dois caminhos no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MUSIC: o que muda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na obstrução?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072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049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5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4 caminhos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65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2 antenas dos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DOIS lados: a DK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so tem uma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435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412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128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calibração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128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medir o offset 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distância conhecida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 subtrair: vale?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798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775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491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parceiros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491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Metirionic etc.: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 caminho de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produto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Uma regra que combine ifft_min e ifft_pot (potência para detectar o refletor, menor caminho no resto) é o experimento mais barato que sobrou. O degrau seguinte é 2 antenas dos dois lados, fora do alcance deste kit.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O lab 5 em uma tela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E8F1F8"/>
                </a:solidFill>
                <a:latin typeface="Segoe UI"/>
              </a:rPr>
              <a:t>d_ifft = 0</a:t>
            </a:r>
            <a:r>
              <a:rPr sz="1500" b="0">
                <a:solidFill>
                  <a:srgbClr val="93A6B8"/>
                </a:solidFill>
                <a:latin typeface="Segoe UI"/>
              </a:rPr>
              <a:t>: o port em NumPy reproduz o chip. O aluno entende o </a:t>
            </a:r>
            <a:r>
              <a:rPr sz="1500" b="0">
                <a:solidFill>
                  <a:srgbClr val="93A6B8"/>
                </a:solidFill>
                <a:latin typeface="Consolas"/>
              </a:rPr>
              <a:t>cs_de</a:t>
            </a:r>
            <a:r>
              <a:rPr sz="1500" b="0">
                <a:solidFill>
                  <a:srgbClr val="93A6B8"/>
                </a:solidFill>
                <a:latin typeface="Segoe UI"/>
              </a:rPr>
              <a:t> porque o refez.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Qual antena é a boa </a:t>
            </a:r>
            <a:r>
              <a:rPr sz="1500" b="1">
                <a:solidFill>
                  <a:srgbClr val="E8F1F8"/>
                </a:solidFill>
                <a:latin typeface="Segoe UI"/>
              </a:rPr>
              <a:t>muda com a geometria</a:t>
            </a:r>
            <a:r>
              <a:rPr sz="1500" b="0">
                <a:solidFill>
                  <a:srgbClr val="93A6B8"/>
                </a:solidFill>
                <a:latin typeface="Segoe UI"/>
              </a:rPr>
              <a:t>: girar o TAG inverte. Escolher com critério (</a:t>
            </a:r>
            <a:r>
              <a:rPr sz="1500" b="0">
                <a:solidFill>
                  <a:srgbClr val="93A6B8"/>
                </a:solidFill>
                <a:latin typeface="Consolas"/>
              </a:rPr>
              <a:t>ifft_min</a:t>
            </a:r>
            <a:r>
              <a:rPr sz="1500" b="0">
                <a:solidFill>
                  <a:srgbClr val="93A6B8"/>
                </a:solidFill>
                <a:latin typeface="Segoe UI"/>
              </a:rPr>
              <a:t>) cortou o pior caso de 2,46 para 1,17 m.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Com um corpo no caminho o </a:t>
            </a:r>
            <a:r>
              <a:rPr sz="1500" b="1">
                <a:solidFill>
                  <a:srgbClr val="E8F1F8"/>
                </a:solidFill>
                <a:latin typeface="Segoe UI"/>
              </a:rPr>
              <a:t>ifft anda 0,6 m</a:t>
            </a:r>
            <a:r>
              <a:rPr sz="1500" b="0">
                <a:solidFill>
                  <a:srgbClr val="93A6B8"/>
                </a:solidFill>
                <a:latin typeface="Segoe UI"/>
              </a:rPr>
              <a:t>, os outros ganham 3 a 4 m; o </a:t>
            </a:r>
            <a:r>
              <a:rPr sz="1500" b="0">
                <a:solidFill>
                  <a:srgbClr val="93A6B8"/>
                </a:solidFill>
                <a:latin typeface="Consolas"/>
              </a:rPr>
              <a:t>ifft_min</a:t>
            </a:r>
            <a:r>
              <a:rPr sz="1500" b="0">
                <a:solidFill>
                  <a:srgbClr val="93A6B8"/>
                </a:solidFill>
                <a:latin typeface="Segoe UI"/>
              </a:rPr>
              <a:t> falha onde o docstring previu. Decisão de produto.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Tudo reproduzível do repo: </a:t>
            </a:r>
            <a:r>
              <a:rPr sz="1500" b="0">
                <a:solidFill>
                  <a:srgbClr val="93A6B8"/>
                </a:solidFill>
                <a:latin typeface="Consolas"/>
              </a:rPr>
              <a:t>dataset_referencia/</a:t>
            </a:r>
            <a:r>
              <a:rPr sz="1500" b="0">
                <a:solidFill>
                  <a:srgbClr val="93A6B8"/>
                </a:solidFill>
                <a:latin typeface="Segoe UI"/>
              </a:rPr>
              <a:t> + </a:t>
            </a:r>
            <a:r>
              <a:rPr sz="1500" b="0">
                <a:solidFill>
                  <a:srgbClr val="93A6B8"/>
                </a:solidFill>
                <a:latin typeface="Consolas"/>
              </a:rPr>
              <a:t>cs_compare.py</a:t>
            </a:r>
            <a:r>
              <a:rPr sz="1500" b="0">
                <a:solidFill>
                  <a:srgbClr val="93A6B8"/>
                </a:solidFill>
                <a:latin typeface="Segoe UI"/>
              </a:rPr>
              <a:t>, sem hardware; e ao vivo com </a:t>
            </a:r>
            <a:r>
              <a:rPr sz="1500" b="0">
                <a:solidFill>
                  <a:srgbClr val="93A6B8"/>
                </a:solidFill>
                <a:latin typeface="Consolas"/>
              </a:rPr>
              <a:t>cs_dash.py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328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linhas do cs_de.c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em fonte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d_ifft: NumPy −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firmware, 30 proc.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0,29 / 0,84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desvio a 5 m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MUSIC / ifft (m)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5,6 → 10,7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o mesmo IQ a 5 m (m)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conforme o algoritmo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O controller entrega o IQ. A distância é o algoritmo, e o algoritmo é código de aplicação.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