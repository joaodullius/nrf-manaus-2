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SDK — Software Development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DRBG — Deterministic Random Bit Generator: gerador pseudoaleatório semeado por CS_IV, CS_IN e CS_PV; sorteia canais e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NCS — nRF Connect SDK.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GATT — Generic Attribute Profile: o modelo de serviços e características do BLE.</a:t>
            </a:r>
          </a:p>
          <a:p>
            <a:r>
              <a:t>SDK — Software Development Kit.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PBR — Phase-Based Ranging (CS, mode 2): distância pela fase de um tom medida em 75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ACL — Asynchronous Connection-Less: o enlace de conexão BLE sobre o qual o CS roda.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DRBG — Deterministic Random Bit Generator: gerador pseudoaleatório semeado por CS_IV, CS_IN e CS_PV; sorteia canais e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ACL — Asynchronous Connection-Less: o enlace de conexão BLE sobre o qual o CS roda.</a:t>
            </a:r>
          </a:p>
          <a:p>
            <a:r>
              <a:t>ToD — Time of Departure: carimbo de tempo de transmissão de um pacote de RTT.</a:t>
            </a:r>
          </a:p>
          <a:p>
            <a:r>
              <a:t>ToA — Time of Arrival: carimbo de tempo de recepção de um pacote de RTT.</a:t>
            </a:r>
          </a:p>
          <a:p>
            <a:r>
              <a:t>T_IP1 — Intervalo entre o pacote do initiator e a resposta do reflector num step de RTT (mode 1); o SDC aceita 30 µs ou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T_IP1 — Intervalo entre o pacote do initiator e a resposta do reflector num step de RTT (mode 1); o SDC aceita 30 µs ou mais.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DRBG — Deterministic Random Bit Generator: gerador pseudoaleatório semeado por CS_IV, CS_IN e CS_PV; sorteia canais e payloads.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SDC — SoftDevice Controller: o controlador Bluetooth da Nordic.</a:t>
            </a:r>
          </a:p>
          <a:p>
            <a:r>
              <a:t>T_IP1 — Intervalo entre o pacote do initiator e a resposta do reflector num step de RTT (mode 1); o SDC aceita 30 µs ou mais.</a:t>
            </a:r>
          </a:p>
          <a:p>
            <a:r>
              <a:t>ToD — Time of Departure: carimbo de tempo de transmissão de um pacote de RTT.</a:t>
            </a:r>
          </a:p>
          <a:p>
            <a:r>
              <a:t>ToA — Time of Arrival: carimbo de tempo de recepção de um pacote de RTT.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PCT — Phase Correction Term: o IQ do tom, 3 B por caminho de antena no Ranging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GATT — Generic Attribute Profile: o modelo de serviços e características do BLE.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ToD — Time of Departure: carimbo de tempo de transmissão de um pacote de RTT.</a:t>
            </a:r>
          </a:p>
          <a:p>
            <a:r>
              <a:t>ToA — Time of Arrival: carimbo de tempo de recepção de um pacote de RTT.</a:t>
            </a:r>
          </a:p>
          <a:p>
            <a:r>
              <a:t>T_IP1 — Intervalo entre o pacote do initiator e a resposta do reflector num step de RTT (mode 1); o SDC aceita 30 µs ou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IFFT — Inverse Fast Fourier Transform: converte a fase por canal num perfil de atraso; o pico é o caminho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GATT — Generic Attribute Profile: o modelo de serviços e características do BLE.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ToD — Time of Departure: carimbo de tempo de transmissão de um pacote de RTT.</a:t>
            </a:r>
          </a:p>
          <a:p>
            <a:r>
              <a:t>ToA — Time of Arrival: carimbo de tempo de recepção de um pacote de RTT.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GATT — Generic Attribute Profile: o modelo de serviços e características do BLE.</a:t>
            </a:r>
          </a:p>
          <a:p>
            <a:r>
              <a:t>NUS — Nordic UART Service: serviço GATT customizado da Nordic, usado nos dias 1 e 2.</a:t>
            </a:r>
          </a:p>
          <a:p>
            <a:r>
              <a:t>UUID — Universally Unique Identifier: identificador de 128 bits de serviços e características.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MTU — Maximum Transmission Unit: o maior pacote que a interface envia (1492 B no wlan0).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GATT — Generic Attribute Profile: o modelo de serviços e características do BLE.</a:t>
            </a:r>
          </a:p>
          <a:p>
            <a:r>
              <a:t>NUS — Nordic UART Service: serviço GATT customizado da Nordic, usado nos dias 1 e 2.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PCT — Phase Correction Term: o IQ do tom, 3 B por caminho de antena no Ranging Data.</a:t>
            </a:r>
          </a:p>
          <a:p>
            <a:r>
              <a:t>ToD — Time of Departure: carimbo de tempo de transmissão de um pacote de RTT.</a:t>
            </a:r>
          </a:p>
          <a:p>
            <a:r>
              <a:t>ToA — Time of Arrival: carimbo de tempo de recepção de um pacote de RTT.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DLE — Data Length Extension: PDU de até 251 B em vez de 27.</a:t>
            </a:r>
          </a:p>
          <a:p>
            <a:r>
              <a:t>PBR — Phase-Based Ranging (CS, mode 2): distância pela fase de um tom medida em 75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GATT — Generic Attribute Profile: o modelo de serviços e características do 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GATT — Generic Attribute Profile: o modelo de serviços e características do BLE.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RAM — Random Access Memory: a memória de trabalho (511 KB no nRF54LM20).</a:t>
            </a:r>
          </a:p>
          <a:p>
            <a:r>
              <a:t>ifft — coluna do log: estimativa pela Inverse Fast Fourier Transform (transformada inversa de Fourier) da fase por canal; o pico do perfil de atraso é o caminho direto.</a:t>
            </a:r>
          </a:p>
          <a:p>
            <a:r>
              <a:t>phase_slope — coluna do log: estimativa pela inclinação da fase contra a frequência (média das diferenças de fase entre canais vizinhos).</a:t>
            </a:r>
          </a:p>
          <a:p>
            <a:r>
              <a:t>rtt — coluna do log: estimativa pelo Round-Trip Time, média dos steps de mode 1 da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ACL — Asynchronous Connection-Less: o enlace de conexão BLE sobre o qual o CS roda.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DLE — Data Length Extension: PDU de até 251 B em vez de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ACL — Asynchronous Connection-Less: o enlace de conexão BLE sobre o qual o CS roda.</a:t>
            </a:r>
          </a:p>
          <a:p>
            <a:r>
              <a:t>DRBG — Deterministic Random Bit Generator: gerador pseudoaleatório semeado por CS_IV, CS_IN e CS_PV; sorteia canais e payloads.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SDC — SoftDevice Controller: o controlador Bluetooth da Nordic.</a:t>
            </a:r>
          </a:p>
          <a:p>
            <a:r>
              <a:t>PBR — Phase-Based Ranging (CS, mode 2): distância pela fase de um tom medida em 75 canais.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IQ — Componentes em fase (I) e em quadratura (Q) do tom recebido: amplitude e fase por canal.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PC — Personal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SDC — SoftDevice Controller: o controlador Bluetooth da Nordic.</a:t>
            </a:r>
          </a:p>
          <a:p>
            <a:r>
              <a:t>SDK — Software Development Kit.</a:t>
            </a:r>
          </a:p>
          <a:p>
            <a:r>
              <a:t>MUSIC — MUltiple SIgnal Classification: estimador de super-resolução por subespaços (Schmidt, 1986).</a:t>
            </a:r>
          </a:p>
          <a:p>
            <a:r>
              <a:t>RAS — Ranging Service: serviço GATT do Bluetooth SIG (0x185B) que transfere o Ranging Data do reflector para o initiator.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RTT — Round-Trip Time (CS, mode 1): tempo de ida e volta do pacote, de onde sai a distância. No TAG, também SEGGER Real-Time Transfer: o log pelo debugger.</a:t>
            </a:r>
          </a:p>
          <a:p>
            <a:r>
              <a:t>PBR — Phase-Based Ranging (CS, mode 2): distância pela fase de um tom medida em 75 canais.</a:t>
            </a:r>
          </a:p>
          <a:p>
            <a:r>
              <a:t>ACL — Asynchronous Connection-Less: o enlace de conexão BLE sobre o qual o CS roda.</a:t>
            </a:r>
          </a:p>
          <a:p>
            <a:r>
              <a:t>CS — Channel Sounding: medição de distância do Bluetooth Core 6.0, por tempo de voo (RTT) e fase (PBR).</a:t>
            </a:r>
          </a:p>
          <a:p>
            <a:r>
              <a:t>RAS — Ranging Service: serviço GATT do Bluetooth SIG (0x185B) que transfere o Ranging Data do reflector para o initiator.</a:t>
            </a:r>
          </a:p>
          <a:p>
            <a:r>
              <a:t>GATT — Generic Attribute Profile: o modelo de serviços e características do BLE.</a:t>
            </a:r>
          </a:p>
          <a:p>
            <a:r>
              <a:t>IPT — Inline Phase Correction Term Transfer: o reflector devolve o tom com a fase corrigida; o initiator calcula sem GATT. Só PBR.</a:t>
            </a:r>
          </a:p>
          <a:p>
            <a:r>
              <a:t>IQ — Componentes em fase (I) e em quadratura (Q) do tom recebido: amplitude e fase por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Distância pelo rádio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Como o Bluetooth 6.0 mede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Dois princípios físicos, tempo de voo e fase. Um procedimento negociado entre dois rádios. E um algoritmo que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não está no controller: é código de aplicação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Este bloco é a teoria que os labs 1 a 5 levam para a bancada.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53105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BLE 6.0 · Channel Sounding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7171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 Series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5600" y="470916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SoftDevice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24343" y="4709160"/>
            <a:ext cx="219090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 Connect SDK v3.4.0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RSSI não mede distância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RSSI é potência recebida, e a distância é só uma das variáveis que a afetam. Channel Sounding mede duas grandezas que dependem do percurso do sinal.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RSSI: potência recebida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potência cai com a distância, mas também com paredes, corpos e a orientação da antena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±6 dB de variação é normal em ambiente interno. Em distância, isso é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metade ou o dobro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relay attack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dois rádios repetindo o sinal fazem um dispositivo distante parecer próximo. É o ataque clássico contra chave de carro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segurança: quem escuta o canal mede a mesma potência que o receptor legítimo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Channel Sounding: tempo e fase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RTT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tempo de ida e volta do pacote. Um repetidor só acrescenta atraso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PBR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fase de um tom em 75 canais. A variação da fase com a frequência dá a distância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ordem dos canais e payloads de RTT sorteados por um DRBG semeado pelo enlace cifrado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interoperável por spec: qualquer initiator Bluetooth 6.0 fala com qualquer reflector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Channel Sounding mede tempo de voo e fase, não potência. É por isso que resiste ao relay attack.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Bluetooth 6.0 traz, e onde o nRF54L entra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Channel Sounding na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Core v6.0 define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como medir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procedures, steps, modes, segurança. Não define como transformar a medida em metros. Isso fica com a aplicação.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Rádio da série nRF54L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Toda a série nRF54L suporta CS. O SoftDevice Controller faz initiator e reflector, modes 0 a 3, até 4 caminhos de antena. Na DN (qualificação) desde o NCS 3.0.1.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55448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170078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Ranging Service (RAS)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208483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Serviço GATT padronizado para transferir o Ranging Data entre os dois lados. É o que o smartphone fala, e o que os labs 1 e 2 usam.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Telefones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Android 16 trouxe 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RangingManager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Pixel 9 e 10 são os primeiros com o hardware. O reflector do nRF54L funciona com eles como veio do SDK.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IPT (NCS 3.3.1+)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Inline Phase Correction Term Transfer: o reflector devolve o tom com a fase corrigida e o initiator calcula sozinho. Mais rápido, só PBR. É o lab 3.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4164" y="4000500"/>
            <a:ext cx="3454298" cy="22448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3620" y="4146804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fica com a aplicação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4530852"/>
            <a:ext cx="3015386" cy="16047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algoritmo de distância. A Nordic entrega um de referência em fonte,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Precisão de produto vem de parceiros, ou do seu próprio código. É o lab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Initiator, reflector, e o setup antes da medida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initiator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dispara e calcula.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reflector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só responde. Os dois precisam estar conectados e pareados: CS não roda em advertising.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774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476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202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Conexão ACL cifrada e pareada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311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bt_conn_set_security(L2)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 CS exige enlace cifrado; os segredos do passo 4 são trocados por ele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24612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8163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8620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7889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Troca de capacidades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0998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CS capability exchange completed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modes, antenas e tempos que cada lado aceita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11480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68503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73075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65760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Criação da configuração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96849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main mode e sub mode, canais, tipo de RTT, PHY. E a flag de IPT, se for o caso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9834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5537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5262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CS Security Enable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8371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CS security enabled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os dois lados trocam CS_IV, CS_IN e CS_PV e semeiam o DRBG que sorteia canais e payloads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4223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4681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3949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Parâmetros de procedure e enable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57058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intervalo entre procedures, duração do subevent, antenas. Termina em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CS procedures enabled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Anatomia de um procedure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procedure se ancora num evento ACL e contém subevents. Cada subevent é uma sequência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steps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cada um num canal diferente: mode 0 calibra,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mode 1 mede tempo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mode 2 mede fase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cs_procedur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64" y="1810512"/>
            <a:ext cx="977576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é um step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step é a unidade mínima de medição: uma troca entre initiator e reflector, num único canal, em dezenas de microssegundos. O que acontece nele depende do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Mode 0, calibração:</a:t>
            </a:r>
            <a:r>
              <a:rPr sz="1700" b="0">
                <a:solidFill>
                  <a:srgbClr val="0B1B2B"/>
                </a:solidFill>
                <a:latin typeface="Segoe UI"/>
              </a:rPr>
              <a:t> os dois lados trocam um pacote e medem o desvio de frequência entre os relógios. Não mede distância. Três por subevent.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Mode 1, RTT:</a:t>
            </a:r>
            <a:r>
              <a:rPr sz="1700" b="0">
                <a:solidFill>
                  <a:srgbClr val="0B1B2B"/>
                </a:solidFill>
                <a:latin typeface="Segoe UI"/>
              </a:rPr>
              <a:t> o initiator manda um pacote curto (CS_SYNC), o reflector responde após T_IP1. Cada lado carimba transmissão e recepção: quatro carimbos, um tempo de ida e volta.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Mode 2, PBR:</a:t>
            </a:r>
            <a:r>
              <a:rPr sz="1700" b="0">
                <a:solidFill>
                  <a:srgbClr val="0B1B2B"/>
                </a:solidFill>
                <a:latin typeface="Segoe UI"/>
              </a:rPr>
              <a:t> o initiator transmite um tom puro, o reflector transmite o mesmo tom em seguida. Cada lado mede a fase recebida, gravada como IQ. Um step, um canal, um par de fases.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Mode 3:</a:t>
            </a:r>
            <a:r>
              <a:rPr sz="1700" b="0">
                <a:solidFill>
                  <a:srgbClr val="0B1B2B"/>
                </a:solidFill>
                <a:latin typeface="Segoe UI"/>
              </a:rPr>
              <a:t> um step de mode 1 e um de mode 2 encadeados na mesma passagem pelo canal.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Cada step vai num canal diferente</a:t>
            </a:r>
            <a:r>
              <a:rPr sz="1700" b="0">
                <a:solidFill>
                  <a:srgbClr val="0B1B2B"/>
                </a:solidFill>
                <a:latin typeface="Segoe UI"/>
              </a:rPr>
              <a:t>, na ordem sorteada pelo DRBG. Um procedure percorre os 75 canais: são os 75 pontos de fase que o </a:t>
            </a:r>
            <a:r>
              <a:rPr sz="1700" b="0">
                <a:solidFill>
                  <a:srgbClr val="0B1B2B"/>
                </a:solidFill>
                <a:latin typeface="Consolas"/>
              </a:rPr>
              <a:t>cs_de</a:t>
            </a:r>
            <a:r>
              <a:rPr sz="1700" b="0">
                <a:solidFill>
                  <a:srgbClr val="0B1B2B"/>
                </a:solidFill>
                <a:latin typeface="Segoe UI"/>
              </a:rPr>
              <a:t> transforma em distância.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Main mode 2 + sub mode 1</a:t>
            </a:r>
            <a:r>
              <a:rPr sz="1700" b="0">
                <a:solidFill>
                  <a:srgbClr val="0B1B2B"/>
                </a:solidFill>
                <a:latin typeface="Segoe UI"/>
              </a:rPr>
              <a:t> (default do </a:t>
            </a:r>
            <a:r>
              <a:rPr sz="1700" b="0">
                <a:solidFill>
                  <a:srgbClr val="0B1B2B"/>
                </a:solidFill>
                <a:latin typeface="Consolas"/>
              </a:rPr>
              <a:t>ras_initiator</a:t>
            </a:r>
            <a:r>
              <a:rPr sz="1700" b="0">
                <a:solidFill>
                  <a:srgbClr val="0B1B2B"/>
                </a:solidFill>
                <a:latin typeface="Segoe UI"/>
              </a:rPr>
              <a:t>): a maioria dos steps é PBR e, a cada tantos, entra um de RTT. No lab 2: 75 steps de mode 2, ~12 de mode 1, 3 de mode 0. O IPT roda só mode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RTT: distância é tempo de voo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RTT é a defesa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física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contra o relay attack: um repetidor pode amplificar o sinal, mas não entregá-lo antes do tempo de propagação. Ele só soma atraso.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= 30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 régua do RTT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 luz percorre 30 cm por nanossegundo; na ida e volta, cada metro vale 6,7 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150 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classe de precisão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capability do SDC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10 ns ou 150 ns na spec; o SDC declara 150 ns. É garantia de conformidade, não erro medido: a média de ~12 steps espalha ~1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32–128 bits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payload aleatório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relay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bits imprevisíveis no pacote de RTT: o atacante não pode responder antes de recebê-los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mode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step de RTT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quatro carimbos de tempo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initiator manda, o reflector responde após T_IP1; ToD e ToA dos dois lados viram um RTT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é IQ, e por que multiplicar local × remoto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tom recebido tem amplitude e fase; o rádio o guarda como o par I = A·cos φ, Q = A·sin φ. Cada lado mede o tom do outro com uma fase inicial aleatória. O produto local × remoto soma as duas medidas e cancela essas fases: sobra o termo com a distância.</a:t>
            </a:r>
          </a:p>
        </p:txBody>
      </p:sp>
      <p:pic>
        <p:nvPicPr>
          <p:cNvPr id="9" name="Picture 8" descr="cs_iq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4717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PBR: distância é fase, canal a canal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RTT tem resolução de ~1 m e é robusto a multipath. O PBR tem resolução de decímetros e é sensível a multipath. O sample usa os dois na mesma procedure.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Num step de </a:t>
            </a:r>
            <a:r>
              <a:rPr sz="1700" b="1">
                <a:solidFill>
                  <a:srgbClr val="0093D0"/>
                </a:solidFill>
                <a:latin typeface="Segoe UI"/>
              </a:rPr>
              <a:t>mode 2</a:t>
            </a:r>
            <a:r>
              <a:rPr sz="1700" b="0">
                <a:solidFill>
                  <a:srgbClr val="0B1B2B"/>
                </a:solidFill>
                <a:latin typeface="Segoe UI"/>
              </a:rPr>
              <a:t>, os dois lados transmitem um tom puro na mesma frequência, um depois do outro, e cada um mede a </a:t>
            </a:r>
            <a:r>
              <a:rPr sz="1700" b="1">
                <a:solidFill>
                  <a:srgbClr val="0093D0"/>
                </a:solidFill>
                <a:latin typeface="Segoe UI"/>
              </a:rPr>
              <a:t>fase</a:t>
            </a:r>
            <a:r>
              <a:rPr sz="1700" b="0">
                <a:solidFill>
                  <a:srgbClr val="0B1B2B"/>
                </a:solidFill>
                <a:latin typeface="Segoe UI"/>
              </a:rPr>
              <a:t> que chegou.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Isso se repete em </a:t>
            </a:r>
            <a:r>
              <a:rPr sz="1700" b="1">
                <a:solidFill>
                  <a:srgbClr val="0093D0"/>
                </a:solidFill>
                <a:latin typeface="Segoe UI"/>
              </a:rPr>
              <a:t>75 canais de 1 MHz</a:t>
            </a:r>
            <a:r>
              <a:rPr sz="1700" b="0">
                <a:solidFill>
                  <a:srgbClr val="0B1B2B"/>
                </a:solidFill>
                <a:latin typeface="Segoe UI"/>
              </a:rPr>
              <a:t> (2404 a 2479 MHz; 23 a 25 são reservados). Quanto mais longe, mais a fase avança de um canal para o próximo.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produto IQ local × IQ remoto soma a fase da ida com a da volta e cancela o desvio entre os dois relógios. É por isso que o initiator precisa do IQ do reflector.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no RAS esse IQ chega por GATT; no IPT o reflector já devolve o tom com a fase corrigida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A fase é </a:t>
            </a:r>
            <a:r>
              <a:rPr sz="1700" b="1">
                <a:solidFill>
                  <a:srgbClr val="0093D0"/>
                </a:solidFill>
                <a:latin typeface="Segoe UI"/>
              </a:rPr>
              <a:t>periódica</a:t>
            </a:r>
            <a:r>
              <a:rPr sz="1700" b="0">
                <a:solidFill>
                  <a:srgbClr val="0B1B2B"/>
                </a:solidFill>
                <a:latin typeface="Segoe UI"/>
              </a:rPr>
              <a:t>: sozinha, é ambígua. E um caminho refletido soma a sua fase à do caminho direto (multipath).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Dois jeitos de tirar distância dessa fase: pela </a:t>
            </a:r>
            <a:r>
              <a:rPr sz="1700" b="1">
                <a:solidFill>
                  <a:srgbClr val="0093D0"/>
                </a:solidFill>
                <a:latin typeface="Segoe UI"/>
              </a:rPr>
              <a:t>inclinação</a:t>
            </a:r>
            <a:r>
              <a:rPr sz="1700" b="0">
                <a:solidFill>
                  <a:srgbClr val="0B1B2B"/>
                </a:solidFill>
                <a:latin typeface="Segoe UI"/>
              </a:rPr>
              <a:t> (phase_slope) ou pelo </a:t>
            </a:r>
            <a:r>
              <a:rPr sz="1700" b="1">
                <a:solidFill>
                  <a:srgbClr val="0093D0"/>
                </a:solidFill>
                <a:latin typeface="Segoe UI"/>
              </a:rPr>
              <a:t>perfil de atraso</a:t>
            </a:r>
            <a:r>
              <a:rPr sz="1700" b="0">
                <a:solidFill>
                  <a:srgbClr val="0B1B2B"/>
                </a:solidFill>
                <a:latin typeface="Segoe UI"/>
              </a:rPr>
              <a:t> (ifft: Inverse Fast Fourier Transform, a transformada inversa de Fourier da fase por canal).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três estimadores na mesma procedure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Procedure real a 3,0 m de trena (ref_3m.csv, lab 5).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rtt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média dos steps de mode 1.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phase_slope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a rampa da fase contra a frequência.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ifft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o perfil de atraso dos mesmos 75 tons. Os três leem longe demais; o lab 5 mostra por quê.</a:t>
            </a:r>
          </a:p>
        </p:txBody>
      </p:sp>
      <p:pic>
        <p:nvPicPr>
          <p:cNvPr id="9" name="Picture 8" descr="cs_estimadore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4717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três estimativas que o log imprime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números por procedure no lab 2. Duas grandezas físicas, três algoritmos. Todos os três são código de aplicação,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SDK.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39"/>
                <a:gridCol w="1554479"/>
                <a:gridCol w="4206239"/>
                <a:gridCol w="35414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Coluna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Princípio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 o cs_de calcula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 ler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rtt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tempo (mode 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média dos tempos de ida e volta acumulados nos steps de RTT, dividida por 2 e multiplicada por 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resolução de ~1 m; multipath e relay attack só podem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aumentá-la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phase_slope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fase (mode 2)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diferença de fase entre canais vizinhos, somada em todos os 75; a inclinação média vira distância. Oito linhas de C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fina em linha de visada; multipath e a periodicidade da fase a distorcem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ifft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fase (mode 2)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Inverse Fast Fourier Transform de 512 pontos sobre os 75 tons: sai um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perfil de atraso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. O primeiro pico forte é o caminho direto; o pico é interpolado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mais robusta das duas de fase: separa o caminho direto dos refletidos. É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best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da Nordic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Resolução bruta da IFFT: c / (2 × 75 MHz) ≈ 2 m por bin; a interpolação do pico leva a decímetros. O cs_de erra ~1 m na bancada; o lab 5 mostra que a orientação da antena do TAG decide o erro.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RTT e PBR juntos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Números da bancada do curso (labs 2 e 5, 2026-09-05): os dois princípios lado a lado, na mesma procedure.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RTT (mode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resolução grosseira: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~1 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 espalhamento na bancada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com multipath só aumenta: o caminho refletido é mais longo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resiste ao relay attack: é um limite físico inferior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precisa de payload aleatório contra quem tenta adivinhar a resposta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PBR (mode 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fino: desvio de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0,2 a 0,8 m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medido, conforme a distância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com multipath ou fase manipulada pode ler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mais curto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que a distância real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 RTT, é falsificável manipulando a fase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onde um algoritmo melhor faz diferença (lab 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 default do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ras_initiator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é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main mode 2 + sub mode 1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: PBR para a precisão, RTT para o limite. O IPT abre mão do segundo.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Ranging Service: como os dois lados se juntam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RAS é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serviço GATT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Bluetooth SIG. Não é obrigatório, mas é o que os telefones falam. É ele que torna um reflector universal.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procedure 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rádio: cada lado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mede fase 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tempos nos seus steps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reflector guarda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Ranging Data: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IQ + ToD/ToA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do lado dele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GATT · 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Ranging Responder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expõe; Ranging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Requestor busca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initiator junta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local × remoto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por canal; RTT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acumulado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algoritmo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cs_de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: ifft,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phase_slope, rtt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→ metros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notificações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Com 75 canais e um caminho de antena, cada step de PBR ocupa 10 B no Ranging Data: ~860 B por lado e por procedure, segmentados pelo RAS em notificações de até MTU − 3 B. É essa transferência que o IPT elimina.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Ranging Service por dentro: um serviço GATT do SIG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Serviço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0x185B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seis características. Reflector = Ranging Responder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CONFIG_BT_RAS_RRSP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), initiator = Ranging Requestor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CONFIG_BT_RAS_RREQ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). A mesma mecânica GATT do NUS dos dias 1 e 2, padronizada pelo SIG.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39"/>
                <a:gridCol w="1280159"/>
                <a:gridCol w="6650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Característica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UUID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RAS Features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leitura: o reflector diz o que suporta (real-time, recuperar segmento perdido, abort, filtro)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Real-time Ranging Data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notificação: o dado sai assim que o procedure termina, se o reflector suportar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On-demand Ranging Data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notificação/indicação: o dado sai em segmentos quando o initiator pede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RAS Control Point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escrita: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get ranging data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um counter,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ack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retrieve lost segments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abort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Ranging Data Ready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notificação: o procedure N terminou e pode ser pedido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Ranging Data Overwritten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0x2C19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notificação: o procedure N foi sobrescrito antes de ser buscado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Fluxo do initiator no sample: troca de MTU → descoberta → lê Features → real-time? assina 0x2C15 : assina Ready + Overwritten + On-demand e pede pelo Control Point a cada counter. Na bancada caiu no on-demand: ~200 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viaja dentro do Ranging Data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Custom GATT você já fez nos dias 1 e 2 (NUS). O RAS é o caso em que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se customiza. O que ele carrega explica o gargalo que o IPT resolve.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Por procedure: um </a:t>
            </a:r>
            <a:r>
              <a:rPr sz="1700" b="1">
                <a:solidFill>
                  <a:srgbClr val="0093D0"/>
                </a:solidFill>
                <a:latin typeface="Segoe UI"/>
              </a:rPr>
              <a:t>ranging header</a:t>
            </a:r>
            <a:r>
              <a:rPr sz="1700" b="0">
                <a:solidFill>
                  <a:srgbClr val="0B1B2B"/>
                </a:solidFill>
                <a:latin typeface="Segoe UI"/>
              </a:rPr>
              <a:t> (4 B: counter, config, potência, máscara de caminhos de antena), depois um </a:t>
            </a:r>
            <a:r>
              <a:rPr sz="1700" b="1">
                <a:solidFill>
                  <a:srgbClr val="0093D0"/>
                </a:solidFill>
                <a:latin typeface="Segoe UI"/>
              </a:rPr>
              <a:t>subevent header</a:t>
            </a:r>
            <a:r>
              <a:rPr sz="1700" b="0">
                <a:solidFill>
                  <a:srgbClr val="0B1B2B"/>
                </a:solidFill>
                <a:latin typeface="Segoe UI"/>
              </a:rPr>
              <a:t> (8 B) por subevent, depois um byte de modo mais o dado de cada </a:t>
            </a:r>
            <a:r>
              <a:rPr sz="1700" b="1">
                <a:solidFill>
                  <a:srgbClr val="0093D0"/>
                </a:solidFill>
                <a:latin typeface="Segoe UI"/>
              </a:rPr>
              <a:t>step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Um step de mode 2 carrega, por caminho de antena, o </a:t>
            </a:r>
            <a:r>
              <a:rPr sz="1700" b="1">
                <a:solidFill>
                  <a:srgbClr val="0093D0"/>
                </a:solidFill>
                <a:latin typeface="Segoe UI"/>
              </a:rPr>
              <a:t>IQ do tom</a:t>
            </a:r>
            <a:r>
              <a:rPr sz="1700" b="0">
                <a:solidFill>
                  <a:srgbClr val="0B1B2B"/>
                </a:solidFill>
                <a:latin typeface="Segoe UI"/>
              </a:rPr>
              <a:t> (PCT, 3 B) e a qualidade (1 B), mais um slot de extensão: 10 B com um caminho. Um step de mode 1 carrega os </a:t>
            </a:r>
            <a:r>
              <a:rPr sz="1700" b="1">
                <a:solidFill>
                  <a:srgbClr val="0093D0"/>
                </a:solidFill>
                <a:latin typeface="Segoe UI"/>
              </a:rPr>
              <a:t>carimbos de tempo</a:t>
            </a:r>
            <a:r>
              <a:rPr sz="1700" b="0">
                <a:solidFill>
                  <a:srgbClr val="0B1B2B"/>
                </a:solidFill>
                <a:latin typeface="Segoe UI"/>
              </a:rPr>
              <a:t> (ToD/ToA). Com 75 canais e um caminho, ~860 B por lado e por procedure.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é esse volume que define a MTU: o Ranging Profile pede ≥ 247 octetos; o sample usa 498 e DLE de 251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initiator junta o </a:t>
            </a:r>
            <a:r>
              <a:rPr sz="1700" b="1">
                <a:solidFill>
                  <a:srgbClr val="0093D0"/>
                </a:solidFill>
                <a:latin typeface="Segoe UI"/>
              </a:rPr>
              <a:t>seu</a:t>
            </a:r>
            <a:r>
              <a:rPr sz="1700" b="0">
                <a:solidFill>
                  <a:srgbClr val="0B1B2B"/>
                </a:solidFill>
                <a:latin typeface="Segoe UI"/>
              </a:rPr>
              <a:t> step com o </a:t>
            </a:r>
            <a:r>
              <a:rPr sz="1700" b="1">
                <a:solidFill>
                  <a:srgbClr val="0093D0"/>
                </a:solidFill>
                <a:latin typeface="Segoe UI"/>
              </a:rPr>
              <a:t>do reflector</a:t>
            </a:r>
            <a:r>
              <a:rPr sz="1700" b="0">
                <a:solidFill>
                  <a:srgbClr val="0B1B2B"/>
                </a:solidFill>
                <a:latin typeface="Segoe UI"/>
              </a:rPr>
              <a:t> pelo mesmo counter e step (</a:t>
            </a:r>
            <a:r>
              <a:rPr sz="1700" b="0">
                <a:solidFill>
                  <a:srgbClr val="0B1B2B"/>
                </a:solidFill>
                <a:latin typeface="Consolas"/>
              </a:rPr>
              <a:t>bt_ras_rreq_rd_subevent_data_parse()</a:t>
            </a:r>
            <a:r>
              <a:rPr sz="1700" b="0">
                <a:solidFill>
                  <a:srgbClr val="0B1B2B"/>
                </a:solidFill>
                <a:latin typeface="Segoe UI"/>
              </a:rPr>
              <a:t>) e só então o </a:t>
            </a:r>
            <a:r>
              <a:rPr sz="1700" b="0">
                <a:solidFill>
                  <a:srgbClr val="0B1B2B"/>
                </a:solidFill>
                <a:latin typeface="Consolas"/>
              </a:rPr>
              <a:t>cs_de</a:t>
            </a:r>
            <a:r>
              <a:rPr sz="1700" b="0">
                <a:solidFill>
                  <a:srgbClr val="0B1B2B"/>
                </a:solidFill>
                <a:latin typeface="Segoe UI"/>
              </a:rPr>
              <a:t> roda. Sem o dado do outro lado, não há PBR.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Por que um serviço </a:t>
            </a:r>
            <a:r>
              <a:rPr sz="1700" b="1">
                <a:solidFill>
                  <a:srgbClr val="0093D0"/>
                </a:solidFill>
                <a:latin typeface="Segoe UI"/>
              </a:rPr>
              <a:t>padronizado</a:t>
            </a:r>
            <a:r>
              <a:rPr sz="1700" b="0">
                <a:solidFill>
                  <a:srgbClr val="0B1B2B"/>
                </a:solidFill>
                <a:latin typeface="Segoe UI"/>
              </a:rPr>
              <a:t> e não um customizado como o NUS: para que qualquer telefone com Bluetooth 6.0 leia qualquer reflector. É o que o IPT dispensa, ao mandar o dado dentro do próprio tom.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RAS × IPT: por onde viaja o dado do reflector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Mesmo par, mesma distância. Em cima, o dado vai por GATT. Embaixo, vai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dentro da fase do tom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Tempos medidos na bancada: ~200 ms contra 30 ms por estimativa.</a:t>
            </a:r>
          </a:p>
        </p:txBody>
      </p:sp>
      <p:pic>
        <p:nvPicPr>
          <p:cNvPr id="9" name="Picture 8" descr="cs_ras_ipt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964" y="1810512"/>
            <a:ext cx="977576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RAS × IPT: o trade-off dos labs 3 e 4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IPT é uma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flag na configuração de CS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um step mode. Ganha taxa de atualização e memória; perde o RTT e, com ele, a proteção contra ranging attacks.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3657599"/>
                <a:gridCol w="39986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RAS (labs 1 e 2)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IPT (lab 3)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Dado do reflector viaja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por GATT, pela conexão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dentro da fase do tom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Setup antes da 1ª medida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descoberta do serviço + assinaturas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nenhum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Tempo entre estimativas (bancada)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~200 ms (default do sample)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30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Abrange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mode 1 (RTT), 2 (PBR) e 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só PBR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mode 2 e a parte PBR do 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RAM e consumo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buffer nos dois lados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buffer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Segurança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RTT + PBR combinados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menor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sem o limite físico do RTT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que o log imprime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ifft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phase_slope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rtt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median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update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time_delta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ipt_initiator, doc, “Drawbacks of CS IPT”: “Reduced security level — only CS mode 2 steps; not the same protection against ranging attacks.”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Configuração de stack e otimização de pacotes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Tudo isso já vem nos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prj.conf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dos labs. O aluno precisa saber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que é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por que está lá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é o que muda quando o produto tem outro telefone, outra antena ou outro ritmo.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19"/>
                <a:gridCol w="1737359"/>
                <a:gridCol w="50959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Ajuste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 no lab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Por quê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CONFIG_BT_L2CAP_TX_MTU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498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Ranging Data de um procedure tem ~860 B (10 B por step de PBR); o Ranging Profile pede MTU ≥ 247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CONFIG_BT_BUF_ACL_TX/RX_SIZE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502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buffer ACL acima da MTU, senão fragmenta em L2CAP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CONFIG_BT_CTLR_DATA_LENGTH_MAX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Data Length Extension: 251 B por PDU em vez de 27; uma notificação em 2 PDUs em vez de 19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CONFIG_BT_ATT_PREPARE_COUNT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escritas longas no Control Point do RAS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CONFIG_BT_RAS_MAX_ANTENNA_PATHS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tamanho do buffer de Ranging Data por caminho de antena; no TAG, 1 → 2 foi a única linha do curso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CONFIG_BT_CTLR_SDC_MAX_CONN_EVENT_LEN_DEFAULT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1250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s26.conf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evento de conexão maior para o Galaxy S26 negociar o procedure; sem isso, erro 0x1E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CONFIG_LAB_PROCEDURE_INTERVAL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 / 50 / 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intervalo entre procedures: default do sample, 1/s no lab 5, 2/s na demo; e escalonar seis bancadas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IPT em vez de RAS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lab 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dado do reflector não sai do rádio: 30 ms em vez de ~200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MTU e DLE para o dado caber em poucos PDUs; buffers para não fragmentar; evento de conexão para o par negociar.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Segurança: o rádio garante, o chip suporta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tabela “CS feature support for the SoftDevice Controller”: o que está na spec e o que está no chip.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Conexão cifrada primeiro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BT_SECURITY_L2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 de qualquer coisa. O CS exige enlace cifrado: é por ele que os segredos do passo seguinte são trocados.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CS Security Enable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Initiator e reflector trocam CS_IV, CS_IN e CS_PV pela ACL cifrada e semeiam um DRBG. Ele sorteia a ordem dos canais e os payloads de RTT; quem só escuta não reproduz a sequência.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RTT com payload aleatório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SDC suporta 32, 64, 96 e 128 bits. O sample usa só o access address. O lab 4 troca para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32_BIT_RANDOM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recompila.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o SDC v3.4.0 não faz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RTT with Sounding Sequence, Normalized Attack Detection Metric, CS AM Attack Resilience, algoritmo de canais #3c. Está na spec, não no chip.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PBR sozinho é falsificável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fase é periódica. Manipulada, faz um dispositivo distante parecer próximo. Por isso o arranjo robusto é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mode 1 + mode 2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Segurança é combinação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Rádio (o que o SDC faz), algoritmo (o que você faz com as duas medidas) e decisão da aplicação. O chip cobre os dois primeiros até onde a tabela diz.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algoritmo é camada de aplicação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spec define a medida; a conversão para metros é código de aplicação. O SDK traz um algoritmo de referência em fonte.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A spec define </a:t>
            </a:r>
            <a:r>
              <a:rPr sz="1700" b="1">
                <a:solidFill>
                  <a:srgbClr val="0093D0"/>
                </a:solidFill>
                <a:latin typeface="Segoe UI"/>
              </a:rPr>
              <a:t>como medir</a:t>
            </a:r>
            <a:r>
              <a:rPr sz="1700" b="0">
                <a:solidFill>
                  <a:srgbClr val="0B1B2B"/>
                </a:solidFill>
                <a:latin typeface="Segoe UI"/>
              </a:rPr>
              <a:t>, não </a:t>
            </a:r>
            <a:r>
              <a:rPr sz="1700" b="1">
                <a:solidFill>
                  <a:srgbClr val="0093D0"/>
                </a:solidFill>
                <a:latin typeface="Segoe UI"/>
              </a:rPr>
              <a:t>como calcular</a:t>
            </a:r>
            <a:r>
              <a:rPr sz="1700" b="0">
                <a:solidFill>
                  <a:srgbClr val="0B1B2B"/>
                </a:solidFill>
                <a:latin typeface="Segoe UI"/>
              </a:rPr>
              <a:t>. Do IQ e dos tempos até os metros, o código é da aplicação.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</a:t>
            </a:r>
            <a:r>
              <a:rPr sz="1700" b="0">
                <a:solidFill>
                  <a:srgbClr val="0B1B2B"/>
                </a:solidFill>
                <a:latin typeface="Consolas"/>
              </a:rPr>
              <a:t>cs_de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SDK é </a:t>
            </a:r>
            <a:r>
              <a:rPr sz="1700" b="1">
                <a:solidFill>
                  <a:srgbClr val="0093D0"/>
                </a:solidFill>
                <a:latin typeface="Segoe UI"/>
              </a:rPr>
              <a:t>referência</a:t>
            </a:r>
            <a:r>
              <a:rPr sz="1700" b="0">
                <a:solidFill>
                  <a:srgbClr val="0B1B2B"/>
                </a:solidFill>
                <a:latin typeface="Segoe UI"/>
              </a:rPr>
              <a:t>, marcado </a:t>
            </a:r>
            <a:r>
              <a:rPr sz="1700" b="0">
                <a:solidFill>
                  <a:srgbClr val="0B1B2B"/>
                </a:solidFill>
                <a:latin typeface="Consolas"/>
              </a:rPr>
              <a:t>[EXPERIMENTAL]</a:t>
            </a:r>
            <a:r>
              <a:rPr sz="1700" b="0">
                <a:solidFill>
                  <a:srgbClr val="0B1B2B"/>
                </a:solidFill>
                <a:latin typeface="Segoe UI"/>
              </a:rPr>
              <a:t>. Webinar da Nordic: “provided just as reference algorithms; we recommend you to work with a third party algorithm partner if you require more sophisticated algorithms”.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Mas ele vem </a:t>
            </a:r>
            <a:r>
              <a:rPr sz="1700" b="1">
                <a:solidFill>
                  <a:srgbClr val="0093D0"/>
                </a:solidFill>
                <a:latin typeface="Segoe UI"/>
              </a:rPr>
              <a:t>em fonte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subsys/bluetooth/cs_de/cs_de.c</a:t>
            </a:r>
            <a:r>
              <a:rPr sz="1700" b="0">
                <a:solidFill>
                  <a:srgbClr val="0B1B2B"/>
                </a:solidFill>
                <a:latin typeface="Segoe UI"/>
              </a:rPr>
              <a:t>, 328 linhas, três funções, licença Nordic 5-Clause. Modificar é permitido.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caminho de produto são parceiros de algoritmo (Metirionic e outros). Em código aberto existe pouco: o toolset </a:t>
            </a:r>
            <a:r>
              <a:rPr sz="1700" b="1">
                <a:solidFill>
                  <a:srgbClr val="0093D0"/>
                </a:solidFill>
                <a:latin typeface="Segoe UI"/>
              </a:rPr>
              <a:t>waves</a:t>
            </a:r>
            <a:r>
              <a:rPr sz="1700" b="0">
                <a:solidFill>
                  <a:srgbClr val="0B1B2B"/>
                </a:solidFill>
                <a:latin typeface="Segoe UI"/>
              </a:rPr>
              <a:t> (MIT) traz um MUSIC de 70 linhas.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Nos telefones o algoritmo é do sistema: a </a:t>
            </a:r>
            <a:r>
              <a:rPr sz="1700" b="0">
                <a:solidFill>
                  <a:srgbClr val="0B1B2B"/>
                </a:solidFill>
                <a:latin typeface="Consolas"/>
              </a:rPr>
              <a:t>RangingManager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Android faz a conta.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Medido no lab 5: o </a:t>
            </a:r>
            <a:r>
              <a:rPr sz="1700" b="1">
                <a:solidFill>
                  <a:srgbClr val="0093D0"/>
                </a:solidFill>
                <a:latin typeface="Segoe UI"/>
              </a:rPr>
              <a:t>mesmo IQ</a:t>
            </a:r>
            <a:r>
              <a:rPr sz="1700" b="0">
                <a:solidFill>
                  <a:srgbClr val="0B1B2B"/>
                </a:solidFill>
                <a:latin typeface="Segoe UI"/>
              </a:rPr>
              <a:t>, a 5 m de trena, deu de </a:t>
            </a:r>
            <a:r>
              <a:rPr sz="1700" b="1">
                <a:solidFill>
                  <a:srgbClr val="0093D0"/>
                </a:solidFill>
                <a:latin typeface="Segoe UI"/>
              </a:rPr>
              <a:t>5,6 a 10,7 m</a:t>
            </a:r>
            <a:r>
              <a:rPr sz="1700" b="0">
                <a:solidFill>
                  <a:srgbClr val="0B1B2B"/>
                </a:solidFill>
                <a:latin typeface="Segoe UI"/>
              </a:rPr>
              <a:t> conforme o algoritmo e a antena escolhidos no PC. O firmware fornece os dados; a distância é do algoritmo.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01 · CHANNEL SOUNDING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Quem fala Channel Sounding hoje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554480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5669279"/>
                <a:gridCol w="23527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Fonte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nRF54L15 / L10 / L05, LM20, LV10, LC10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suportado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initiator e reflector, na DN desde o NCS 3.0.1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doc do SDC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nRF54L15-TAG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reflector ideal: bateria, 2 antenas; board files da Nordic nos 4 samples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blog da Nordic; árvore do SDK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Google Pixel 9 / 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suportado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Android 16 QPR2+ / 17; nRF Toolbox ≥ 4.1.4 (open source)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blog DevZone da Nordic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Samsung Galaxy S26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funciona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com ajustes dos dois lados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MAX_CONN_EVENT_LEN_DEFAULT=1250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reflector 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min_sub_event_len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maior no app. Sem correção oficial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DevZone #128985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Outros Android 16+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depende do hardware Bluetooth 6.0 do aparelho; a spec garante a interoperabilidade quando ele existir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Nordic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Algoritmo de precisão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parceiros (Metirionic e outros); referência aberta no SDK; MUSIC do waves (MIT)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webinar da Nordic; github.com/skig/waves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13232" y="5093208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093208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Setembro de 2026. O reflector RAS do SDK funciona com o Pixel como veio. O teste com smartphone (bloco 02) usa o S26, com plano 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Channel Sounding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Distância por </a:t>
            </a:r>
            <a:r>
              <a:rPr sz="1500" b="1">
                <a:solidFill>
                  <a:srgbClr val="E8F1F8"/>
                </a:solidFill>
                <a:latin typeface="Segoe UI"/>
              </a:rPr>
              <a:t>tempo</a:t>
            </a:r>
            <a:r>
              <a:rPr sz="1500" b="0">
                <a:solidFill>
                  <a:srgbClr val="93A6B8"/>
                </a:solidFill>
                <a:latin typeface="Segoe UI"/>
              </a:rPr>
              <a:t> (RTT, mode 1) e por </a:t>
            </a:r>
            <a:r>
              <a:rPr sz="1500" b="1">
                <a:solidFill>
                  <a:srgbClr val="E8F1F8"/>
                </a:solidFill>
                <a:latin typeface="Segoe UI"/>
              </a:rPr>
              <a:t>fase</a:t>
            </a:r>
            <a:r>
              <a:rPr sz="1500" b="0">
                <a:solidFill>
                  <a:srgbClr val="93A6B8"/>
                </a:solidFill>
                <a:latin typeface="Segoe UI"/>
              </a:rPr>
              <a:t> (PBR, mode 2), na mesma procedure. Três colunas no log.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ACL cifrada + CS Security Enable: canais e payloads sorteados; o RTT não cede ao relay attack.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E8F1F8"/>
                </a:solidFill>
                <a:latin typeface="Segoe UI"/>
              </a:rPr>
              <a:t>RAS</a:t>
            </a:r>
            <a:r>
              <a:rPr sz="1500" b="0">
                <a:solidFill>
                  <a:srgbClr val="93A6B8"/>
                </a:solidFill>
                <a:latin typeface="Segoe UI"/>
              </a:rPr>
              <a:t> leva o dado por GATT; </a:t>
            </a:r>
            <a:r>
              <a:rPr sz="1500" b="1">
                <a:solidFill>
                  <a:srgbClr val="E8F1F8"/>
                </a:solidFill>
                <a:latin typeface="Segoe UI"/>
              </a:rPr>
              <a:t>IPT</a:t>
            </a:r>
            <a:r>
              <a:rPr sz="1500" b="0">
                <a:solidFill>
                  <a:srgbClr val="93A6B8"/>
                </a:solidFill>
                <a:latin typeface="Segoe UI"/>
              </a:rPr>
              <a:t> o embute na fase do tom: 30 ms em vez de ~200, sem RTT.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algoritmo é código de aplicação: o mesmo IQ deu de 5,6 a 10,7 m a 5 m. O </a:t>
            </a:r>
            <a:r>
              <a:rPr sz="1500" b="0">
                <a:solidFill>
                  <a:srgbClr val="93A6B8"/>
                </a:solidFill>
                <a:latin typeface="Consolas"/>
              </a:rPr>
              <a:t>cs_de</a:t>
            </a:r>
            <a:r>
              <a:rPr sz="1500" b="0">
                <a:solidFill>
                  <a:srgbClr val="93A6B8"/>
                </a:solidFill>
                <a:latin typeface="Segoe UI"/>
              </a:rPr>
              <a:t> é o ponto de partida do lab 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75 × 1 MHz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canais de PBR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(2404–2479 MHz)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 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= 30 cm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 régua do RTT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~200 / 30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por estimativa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RAS / IPT, medido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linhas do cs_de.c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que o aluno lê inteiro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 controller entrega IQ e tempos. A conversão em distância, e de distância em decisão, é código de aplicação.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