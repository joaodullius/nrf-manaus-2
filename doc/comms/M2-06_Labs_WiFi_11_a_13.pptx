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OS — Operating System.</a:t>
            </a:r>
          </a:p>
          <a:p>
            <a:r>
              <a:t>PPK2 — Power Profiler Kit II: o medidor de corrente da Nordic (200 nA a 1 A, 100 kSa/s).</a:t>
            </a:r>
          </a:p>
          <a:p>
            <a:r>
              <a:t>BLE — Bluetooth Low Energy: o rádio de 2,4 GHz do próprio nRF54LM20.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P10 — Conector da EB II onde se mede a corrente do VBAT (com o SB10 cortado).</a:t>
            </a:r>
          </a:p>
          <a:p>
            <a:r>
              <a:t>EB II — nRF7002 Expansion Board II: o shield com o nRF7002 que encaixa na DK.</a:t>
            </a:r>
          </a:p>
          <a:p>
            <a:r>
              <a:t>MPSL — Multiprotocol Service Layer: a camada da Nordic que arbitra o rádio entre protocolos; MPSL CX é a interface de coexistência.</a:t>
            </a:r>
          </a:p>
          <a:p>
            <a:r>
              <a:t>CX — Coexistence: a interface de coexistência entre o rádio BLE e o Wi-Fi.</a:t>
            </a:r>
          </a:p>
          <a:p>
            <a:r>
              <a:t>PTA — Packet Traffic Arbitration: o árbitro de coexistência em hardware dentro do nRF70.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TWT — Target Wake Time (Wi-Fi 6): a estação negocia com o AP o próprio horário de acordar. Opcional no AP.</a:t>
            </a:r>
          </a:p>
          <a:p>
            <a:r>
              <a:t>AP — Access Point, ponto de acesso: quem anuncia a rede e dá acesso a ela (o roteador).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TIM — Traffic Indication Map: elemento dentro de todo beacon com o bitmap das estações que têm quadro unicast guardado no AP.</a:t>
            </a:r>
          </a:p>
          <a:p>
            <a:r>
              <a:t>PS — Power Save: modo de economia em que o rádio dorme entre beacons.</a:t>
            </a:r>
          </a:p>
          <a:p>
            <a:r>
              <a:t>TWT — Target Wake Time (Wi-Fi 6): a estação negocia com o AP o próprio horário de acordar. Opcional no 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  <a:p>
            <a:r>
              <a:t>AP — Access Point, ponto de acesso: quem anuncia a rede e dá acesso a ela (o roteador).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PC — Personal Computer.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PPK2 — Power Profiler Kit II: o medidor de corrente da Nordic (200 nA a 1 A, 100 kSa/s).</a:t>
            </a:r>
          </a:p>
          <a:p>
            <a:r>
              <a:t>P14 — Conector da LM20-DK para medir a corrente do SoC (VDD:nRF); não vê o companion.</a:t>
            </a:r>
          </a:p>
          <a:p>
            <a:r>
              <a:t>SoC — System on Chip: CPU, memória e rádio no mesmo chip (nRF54LM20).</a:t>
            </a:r>
          </a:p>
          <a:p>
            <a:r>
              <a:t>EB II — nRF7002 Expansion Board II: o shield com o nRF7002 que encaixa na DK.</a:t>
            </a:r>
          </a:p>
          <a:p>
            <a:r>
              <a:t>P10 — Conector da EB II onde se mede a corrente do VBAT (com o SB10 cortado).</a:t>
            </a:r>
          </a:p>
          <a:p>
            <a:r>
              <a:t>SB10 — Solder bridge da EB II, fechado de fábrica, que fecha o VBAT; cortar para medir em P10.</a:t>
            </a:r>
          </a:p>
          <a:p>
            <a:r>
              <a:t>DK — Development Kit: a placa de desenvolvimento (nRF54LM20-DK).</a:t>
            </a:r>
          </a:p>
          <a:p>
            <a:r>
              <a:t>VBAT — Alimentação principal do nRF7002, o trilho do rádio (P10 na EB II).</a:t>
            </a:r>
          </a:p>
          <a:p>
            <a:r>
              <a:t>IOVDD — Alimentação da interface de I/O do nRF7002 (P4 na EB II).</a:t>
            </a:r>
          </a:p>
          <a:p>
            <a:r>
              <a:t>SB9 — Solder bridge da EB II para o IOVDD (P4).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VBAT — Alimentação principal do nRF7002, o trilho do rádio (P10 na EB II).</a:t>
            </a:r>
          </a:p>
          <a:p>
            <a:r>
              <a:t>PS — Power Save: modo de economia em que o rádio dorme entre beacons.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  <a:p>
            <a:r>
              <a:t>PPK2 — Power Profiler Kit II: o medidor de corrente da Nordic (200 nA a 1 A, 100 kSa/s).</a:t>
            </a:r>
          </a:p>
          <a:p>
            <a:r>
              <a:t>IOVDD — Alimentação da interface de I/O do nRF7002 (P4 na EB II).</a:t>
            </a:r>
          </a:p>
          <a:p>
            <a:r>
              <a:t>LI — Listen Interval: de quantos em quantos beacons a estação promete acordar (vai no quadro de associação).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TWT — Target Wake Time (Wi-Fi 6): a estação negocia com o AP o próprio horário de acordar. Opcional no AP.</a:t>
            </a:r>
          </a:p>
          <a:p>
            <a:r>
              <a:t>LI — Listen Interval: de quantos em quantos beacons a estação promete acordar (vai no quadro de associação).</a:t>
            </a:r>
          </a:p>
          <a:p>
            <a:r>
              <a:t>PS — Power Save: modo de economia em que o rádio dorme entre beacons.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PS — Power Save: modo de economia em que o rádio dorme entre beacons.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  <a:p>
            <a:r>
              <a:t>LI — Listen Interval: de quantos em quantos beacons a estação promete acordar (vai no quadro de associação).</a:t>
            </a:r>
          </a:p>
          <a:p>
            <a:r>
              <a:t>VBAT — Alimentação principal do nRF7002, o trilho do rádio (P10 na EB II).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TWT — Target Wake Time (Wi-Fi 6): a estação negocia com o AP o próprio horário de acordar. Opcional no AP.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ONT — Optical Network Terminal: o modem/roteador da fibra, o AP da bancada.</a:t>
            </a:r>
          </a:p>
          <a:p>
            <a:r>
              <a:t>PPK2 — Power Profiler Kit II: o medidor de corrente da Nordic (200 nA a 1 A, 100 kSa/s).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TWT — Target Wake Time (Wi-Fi 6): a estação negocia com o AP o próprio horário de acordar. Opcional no AP.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SP — Service Period: a janela em que a estação TWT está acordada e o AP a atende.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  <a:p>
            <a:r>
              <a:t>PS-Poll — Quadro que a estação manda ao AP para buscar um quadro unicast guardado (Legacy Power Save).</a:t>
            </a:r>
          </a:p>
          <a:p>
            <a:r>
              <a:t>EDCA — Enhanced Distributed Channel Access: o acesso ao meio por contenção do Wi-Fi (CSMA/CA com prioridades). Num TWT non-trigger, é assim que a estação transmite dentro da service period.</a:t>
            </a:r>
          </a:p>
          <a:p>
            <a:r>
              <a:t>STA — Station, estação: o dispositivo que entra na rede de um AP. O kit é 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  <a:p>
            <a:r>
              <a:t>TWT — Target Wake Time (Wi-Fi 6): a estação negocia com o AP o próprio horário de acordar. Opcional no AP.</a:t>
            </a:r>
          </a:p>
          <a:p>
            <a:r>
              <a:t>ONT — Optical Network Terminal: o modem/roteador da fibra, o AP da bancada.</a:t>
            </a:r>
          </a:p>
          <a:p>
            <a:r>
              <a:t>ISLEEP — Corrente do nRF7002 dormindo, só com o RTC ligado (15 µA no datasheet).</a:t>
            </a:r>
          </a:p>
          <a:p>
            <a:r>
              <a:t>RTC — Real-Time Counter: o único relógio que fica ligado com o rádio dormindo.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BLE — Bluetooth Low Energy: o rádio de 2,4 GHz do próprio nRF54LM20.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BLE — Bluetooth Low Energy: o rádio de 2,4 GHz do próprio nRF54LM20.</a:t>
            </a:r>
          </a:p>
          <a:p>
            <a:r>
              <a:t>PTA — Packet Traffic Arbitration: o árbitro de coexistência em hardware dentro do nRF70.</a:t>
            </a:r>
          </a:p>
          <a:p>
            <a:r>
              <a:t>MPSL — Multiprotocol Service Layer: a camada da Nordic que arbitra o rádio entre protocolos; MPSL CX é a interface de coexistência.</a:t>
            </a:r>
          </a:p>
          <a:p>
            <a:r>
              <a:t>CX — Coexistence: a interface de coexistência entre o rádio BLE e o Wi-Fi.</a:t>
            </a:r>
          </a:p>
          <a:p>
            <a:r>
              <a:t>SDC — SoftDevice Controller: o controlador Bluetooth da Nordic.</a:t>
            </a:r>
          </a:p>
          <a:p>
            <a:r>
              <a:t>RF — Radiofrequência; chave de RF é o switch de antena entre BLE e Wi-Fi (ausente na EB II desta placa).</a:t>
            </a:r>
          </a:p>
          <a:p>
            <a:r>
              <a:t>UDP — User Datagram Protocol: datagramas sem conexão nem garantia de entrega.</a:t>
            </a:r>
          </a:p>
          <a:p>
            <a:r>
              <a:t>iperf — Ferramenta de medir vazão de rede; a versão 2 fala com o zperf do Zephyr.</a:t>
            </a:r>
          </a:p>
          <a:p>
            <a:r>
              <a:t>zperf — O gerador de tráfego do Zephyr, compatível com o iperf 2.</a:t>
            </a:r>
          </a:p>
          <a:p>
            <a:r>
              <a:t>MAC — Medium Access Control: a camada que decide quem transmite e quando; também o endereço de hardware da interface.</a:t>
            </a:r>
          </a:p>
          <a:p>
            <a:r>
              <a:t>FLASH — Memória não volátil de programa (2 MB no nRF54LM20).</a:t>
            </a:r>
          </a:p>
          <a:p>
            <a:r>
              <a:t>P17 — Conector de expansão da LM20-DK onde a EB II encaixa.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BLE — Bluetooth Low Energy: o rádio de 2,4 GHz do próprio nRF54LM20.</a:t>
            </a:r>
          </a:p>
          <a:p>
            <a:r>
              <a:t>DK — Development Kit: a placa de desenvolvimento (nRF54LM20-DK).</a:t>
            </a:r>
          </a:p>
          <a:p>
            <a:r>
              <a:t>PC — Personal Computer.</a:t>
            </a:r>
          </a:p>
          <a:p>
            <a:r>
              <a:t>iperf — Ferramenta de medir vazão de rede; a versão 2 fala com o zperf do Zephyr.</a:t>
            </a:r>
          </a:p>
          <a:p>
            <a:r>
              <a:t>zperf — O gerador de tráfego do Zephyr, compatível com o iperf 2.</a:t>
            </a:r>
          </a:p>
          <a:p>
            <a:r>
              <a:t>EB II — nRF7002 Expansion Board II: o shield com o nRF7002 que encaixa na DK.</a:t>
            </a:r>
          </a:p>
          <a:p>
            <a:r>
              <a:t>RF — Radiofrequência; chave de RF é o switch de antena entre BLE e Wi-Fi (ausente na EB II desta placa).</a:t>
            </a:r>
          </a:p>
          <a:p>
            <a:r>
              <a:t>IP — Internet Protocol: o endereçamento e o roteamento entre redes.</a:t>
            </a:r>
          </a:p>
          <a:p>
            <a:r>
              <a:t>FLASH — Memória não volátil de programa (2 MB no nRF54LM20).</a:t>
            </a:r>
          </a:p>
          <a:p>
            <a:r>
              <a:t>RAM — Random Access Memory: a memória de trabalho (511 KB no nRF54LM20).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UDP — User Datagram Protocol: datagramas sem conexão nem garantia de entrega.</a:t>
            </a:r>
          </a:p>
          <a:p>
            <a:r>
              <a:t>BLE — Bluetooth Low Energy: o rádio de 2,4 GHz do próprio nRF54LM20.</a:t>
            </a:r>
          </a:p>
          <a:p>
            <a:r>
              <a:t>RF — Radiofrequência; chave de RF é o switch de antena entre BLE e Wi-Fi (ausente na EB II desta placa).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SDK — Software Development Kit.</a:t>
            </a:r>
          </a:p>
          <a:p>
            <a:r>
              <a:t>UDP — User Datagram Protocol: datagramas sem conexão nem garantia de entrega.</a:t>
            </a:r>
          </a:p>
          <a:p>
            <a:r>
              <a:t>SPI — Serial Peripheral Interface: barramento serial de 4 fios entre o host e o nRF7002 (8 MHz na EB II).</a:t>
            </a:r>
          </a:p>
          <a:p>
            <a:r>
              <a:t>BLE — Bluetooth Low Energy: o rádio de 2,4 GHz do próprio nRF54LM20.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GNSS — Global Navigation Satellite System: o termo genérico; GPS, Galileo, GLONASS e BeiDou são constelações GNSS.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BSSID — Basic Service Set Identifier: o endereço MAC do rádio do AP.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DK — Development Kit: a placa de desenvolvimento (nRF54LM20-DK).</a:t>
            </a:r>
          </a:p>
          <a:p>
            <a:r>
              <a:t>RSSI — Received Signal Strength Indication: potência do sinal recebido, em dBm (negativo).</a:t>
            </a:r>
          </a:p>
          <a:p>
            <a:r>
              <a:t>SSID — Service Set Identifier: o nome da rede Wi-Fi.</a:t>
            </a:r>
          </a:p>
          <a:p>
            <a:r>
              <a:t>TCP — Transmission Control Protocol: conexão confiável, em ordem.</a:t>
            </a:r>
          </a:p>
          <a:p>
            <a:r>
              <a:t>PC — Personal Computer.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HTTPS — HTTP sobre TLS.</a:t>
            </a:r>
          </a:p>
          <a:p>
            <a:r>
              <a:t>OAT — Organization Auth Token do nRF Cloud: a chave que autoriza chamadas ao Location Services.</a:t>
            </a:r>
          </a:p>
          <a:p>
            <a:r>
              <a:t>TF-M — Trusted Firmware-M: o firmware seguro (TrustZone) dos alvos /ns.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PC — Personal Computer.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OAT — Organization Auth Token do nRF Cloud: a chave que autoriza chamadas ao Location Services.</a:t>
            </a:r>
          </a:p>
          <a:p>
            <a:r>
              <a:t>API — Application Programming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PC — Personal Computer.</a:t>
            </a:r>
          </a:p>
          <a:p>
            <a:r>
              <a:t>TF-M — Trusted Firmware-M: o firmware seguro (TrustZone) dos alvos /ns.</a:t>
            </a:r>
          </a:p>
          <a:p>
            <a:r>
              <a:t>OAT — Organization Auth Token do nRF Cloud: a chave que autoriza chamadas ao Location Services.</a:t>
            </a:r>
          </a:p>
          <a:p>
            <a:r>
              <a:t>FLASH — Memória não volátil de programa (2 MB no nRF54LM20).</a:t>
            </a:r>
          </a:p>
          <a:p>
            <a:r>
              <a:t>RAM — Random Access Memory: a memória de trabalho (511 KB no nRF54LM20).</a:t>
            </a:r>
          </a:p>
          <a:p>
            <a:r>
              <a:t>CoAP — Constrained Application Protocol: um HTTP leve sobre UDP, para dispositivos pequenos.</a:t>
            </a:r>
          </a:p>
          <a:p>
            <a:r>
              <a:t>MQTT — Message Queuing Telemetry Transport: publish/subscribe por meio de um broker.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TWT — Target Wake Time (Wi-Fi 6): a estação negocia com o AP o próprio horário de acordar. Opcional no AP.</a:t>
            </a:r>
          </a:p>
          <a:p>
            <a:r>
              <a:t>BLE — Bluetooth Low Energy: o rádio de 2,4 GHz do próprio nRF54LM20.</a:t>
            </a:r>
          </a:p>
          <a:p>
            <a:r>
              <a:t>RF — Radiofrequência; chave de RF é o switch de antena entre BLE e Wi-Fi (ausente na EB II desta placa).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371600"/>
            <a:ext cx="107652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40">
                <a:solidFill>
                  <a:srgbClr val="22C3E6"/>
                </a:solidFill>
                <a:latin typeface="Segoe UI"/>
              </a:rPr>
              <a:t>MÓDULO 2 · BLOCO 06 · OS LABS 11 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96926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F1F8"/>
                </a:solidFill>
                <a:latin typeface="Segoe UI"/>
              </a:rPr>
              <a:t>Energia, coexistência</a:t>
            </a:r>
          </a:p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F1F8"/>
                </a:solidFill>
                <a:latin typeface="Segoe UI"/>
              </a:rPr>
              <a:t>e locationing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703320"/>
            <a:ext cx="8961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Quanto o rádio gasta em cada degrau da escada (PPK2), o que acontece quando BLE e Wi-Fi dividem os 2,4 GHz no mesmo kit, e como um kit sem GPS descobre onde está. </a:t>
            </a:r>
            <a:r>
              <a:rPr sz="1600" b="1" i="0">
                <a:solidFill>
                  <a:srgbClr val="E8F1F8"/>
                </a:solidFill>
                <a:latin typeface="Segoe UI"/>
              </a:rPr>
              <a:t>Todo número é da bancada, ou vem atribuído à Nordic.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470916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PPK2 no P10 da EB II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16936" y="4709160"/>
            <a:ext cx="1425549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MPSL CX + PTA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5365" y="4709160"/>
            <a:ext cx="1850745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nRF Cloud Location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58990" y="4709160"/>
            <a:ext cx="1425549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comms/11 a 13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Lab 11 · A escada de energia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Economia não é “antigo × moderno”: é uma escada de três degraus, cada um com um dono do intervalo de dormida. Parte A mede os degraus 1 e 2 em qualquer rede; Parte B (TWT) negocia com o AP da sala.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11 · ENERGIA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Os três degraus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A coluna “sono útil” não vem de catálogo: o listen interval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é aceito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até 65535 (1,8 h), mas o downlink já é inutilizável nas dezenas.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Associar não é ser alcançável.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6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39"/>
                <a:gridCol w="1737359"/>
                <a:gridCol w="2743199"/>
                <a:gridCol w="1737359"/>
                <a:gridCol w="1005839"/>
                <a:gridCol w="116403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Degrau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Quem controla o sono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 que faz ao acordar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Sono útil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Wi-Fi 6?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Perde broadcast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1 · DTIM Power Save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AP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lê o TIM e recebe o tráfego de grupo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0,1–1 s (o DTIM do AP)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2 · Extended PS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(listen interval)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estação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lê o TIM de um beacon qualquer,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disputando o meio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até ~3 s na prática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3 · TWT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(deep sleep)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negociado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com o AP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acorda numa service period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reservada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minutos a horas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391363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1363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Transversal: o nRF70 sai da economia sozinho quando há tráfego e volta depois do inactivity timer (100 ms). É um botão à parte do degrau — e derruba qualquer medida feita com pings em rajada.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11 · ENERGIA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Parte A: os comandos do shell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527048"/>
            <a:ext cx="1076523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500" b="1">
                <a:solidFill>
                  <a:srgbClr val="0093D0"/>
                </a:solidFill>
                <a:latin typeface="Segoe UI"/>
              </a:rPr>
              <a:t>Pegadinha medida:</a:t>
            </a:r>
            <a:r>
              <a:rPr sz="1500" b="0">
                <a:solidFill>
                  <a:srgbClr val="0B1B2B"/>
                </a:solidFill>
                <a:latin typeface="Segoe UI"/>
              </a:rPr>
              <a:t> é </a:t>
            </a:r>
            <a:r>
              <a:rPr sz="1500" b="0">
                <a:solidFill>
                  <a:srgbClr val="0B1B2B"/>
                </a:solidFill>
                <a:latin typeface="Consolas"/>
              </a:rPr>
              <a:t>wifi ps_listen_interval</a:t>
            </a:r>
            <a:r>
              <a:rPr sz="1500" b="0">
                <a:solidFill>
                  <a:srgbClr val="0B1B2B"/>
                </a:solidFill>
                <a:latin typeface="Segoe UI"/>
              </a:rPr>
              <a:t>, não </a:t>
            </a:r>
            <a:r>
              <a:rPr sz="1500" b="0">
                <a:solidFill>
                  <a:srgbClr val="0B1B2B"/>
                </a:solidFill>
                <a:latin typeface="Consolas"/>
              </a:rPr>
              <a:t>wifi listen_interval</a:t>
            </a:r>
            <a:r>
              <a:rPr sz="1500" b="0">
                <a:solidFill>
                  <a:srgbClr val="0B1B2B"/>
                </a:solidFill>
                <a:latin typeface="Segoe UI"/>
              </a:rPr>
              <a:t>. Errar o nome </a:t>
            </a:r>
            <a:r>
              <a:rPr sz="1500" b="1">
                <a:solidFill>
                  <a:srgbClr val="0093D0"/>
                </a:solidFill>
                <a:latin typeface="Segoe UI"/>
              </a:rPr>
              <a:t>não devolve erro</a:t>
            </a:r>
            <a:r>
              <a:rPr sz="1500" b="0">
                <a:solidFill>
                  <a:srgbClr val="0B1B2B"/>
                </a:solidFill>
                <a:latin typeface="Segoe UI"/>
              </a:rPr>
              <a:t> — sempre conferir com </a:t>
            </a:r>
            <a:r>
              <a:rPr sz="1500" b="0">
                <a:solidFill>
                  <a:srgbClr val="0B1B2B"/>
                </a:solidFill>
                <a:latin typeface="Consolas"/>
              </a:rPr>
              <a:t>wifi ps</a:t>
            </a:r>
            <a:r>
              <a:rPr sz="1500" b="0">
                <a:solidFill>
                  <a:srgbClr val="0B1B2B"/>
                </a:solidFill>
                <a:latin typeface="Segoe UI"/>
              </a:rPr>
              <a:t>.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0B1B2B"/>
                </a:solidFill>
                <a:latin typeface="Segoe UI"/>
              </a:rPr>
              <a:t>Trocar o </a:t>
            </a:r>
            <a:r>
              <a:rPr sz="1500" b="1">
                <a:solidFill>
                  <a:srgbClr val="0093D0"/>
                </a:solidFill>
                <a:latin typeface="Segoe UI"/>
              </a:rPr>
              <a:t>modo</a:t>
            </a:r>
            <a:r>
              <a:rPr sz="1500" b="0">
                <a:solidFill>
                  <a:srgbClr val="0B1B2B"/>
                </a:solidFill>
                <a:latin typeface="Segoe UI"/>
              </a:rPr>
              <a:t> funciona em runtime; trocar o </a:t>
            </a:r>
            <a:r>
              <a:rPr sz="1500" b="1">
                <a:solidFill>
                  <a:srgbClr val="0093D0"/>
                </a:solidFill>
                <a:latin typeface="Segoe UI"/>
              </a:rPr>
              <a:t>valor</a:t>
            </a:r>
            <a:r>
              <a:rPr sz="1500" b="0">
                <a:solidFill>
                  <a:srgbClr val="0B1B2B"/>
                </a:solidFill>
                <a:latin typeface="Segoe UI"/>
              </a:rPr>
              <a:t> exige reconectar. O </a:t>
            </a:r>
            <a:r>
              <a:rPr sz="1500" b="0">
                <a:solidFill>
                  <a:srgbClr val="0B1B2B"/>
                </a:solidFill>
                <a:latin typeface="Consolas"/>
              </a:rPr>
              <a:t>wifi twt setup</a:t>
            </a:r>
            <a:r>
              <a:rPr sz="1500" b="0">
                <a:solidFill>
                  <a:srgbClr val="0B1B2B"/>
                </a:solidFill>
                <a:latin typeface="Segoe UI"/>
              </a:rPr>
              <a:t> posicional do material online </a:t>
            </a:r>
            <a:r>
              <a:rPr sz="1500" b="1">
                <a:solidFill>
                  <a:srgbClr val="0093D0"/>
                </a:solidFill>
                <a:latin typeface="Segoe UI"/>
              </a:rPr>
              <a:t>falha</a:t>
            </a:r>
            <a:r>
              <a:rPr sz="1500" b="0">
                <a:solidFill>
                  <a:srgbClr val="0B1B2B"/>
                </a:solidFill>
                <a:latin typeface="Segoe UI"/>
              </a:rPr>
              <a:t> aqui: use o </a:t>
            </a:r>
            <a:r>
              <a:rPr sz="1500" b="0">
                <a:solidFill>
                  <a:srgbClr val="0B1B2B"/>
                </a:solidFill>
                <a:latin typeface="Consolas"/>
              </a:rPr>
              <a:t>quick_setup</a:t>
            </a:r>
            <a:r>
              <a:rPr sz="1500" b="0">
                <a:solidFill>
                  <a:srgbClr val="0B1B2B"/>
                </a:solidFill>
                <a:latin typeface="Segoe UI"/>
              </a:rPr>
              <a:t>, em µs.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715768"/>
            <a:ext cx="10765231" cy="2389632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916936"/>
            <a:ext cx="10125151" cy="19872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wifi ps off                    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sem economia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wifi ps on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wifi ps_wakeup_mode dtim       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degrau 1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wifi ps_listen_interval 10     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ANTES de conectar: viaja no quadro de associacao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wifi ps_wakeup_mode listen_interval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degrau 2 (troca de modo funciona em runtime)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wifi ps                        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confere: modo, wakeup, listen interval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wifi status                      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beacon interval e DTIM period da rede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wifi twt quick_setup 65024 524288        </a:t>
            </a:r>
            <a:r>
              <a:rPr sz="1400" b="0">
                <a:solidFill>
                  <a:srgbClr val="7FB58E"/>
                </a:solidFill>
                <a:latin typeface="Consolas"/>
              </a:rPr>
              <a:t># degrau 3: o AP da sala aceita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11 · ENERGIA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escada medida por latência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Pings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isolados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um a cada 3 s, do PC. A leitura que sobrevive às duas corridas é a razão entre os degraus, não o valor exato: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~10 ms → ~0,1 s → ~0,7 s → ~2 s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6" cy="2423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79"/>
                <a:gridCol w="1097279"/>
                <a:gridCol w="1280159"/>
                <a:gridCol w="1280159"/>
                <a:gridCol w="1463039"/>
                <a:gridCol w="363291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Regime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Mín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Mediana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Máximo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Sem resposta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 que a teoria previa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sem economia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6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8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44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0/12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DTIM 3 (o padrão)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40 ms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55 ms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247 ms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0/12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fração aleatória de 307 ms: máximo perto do período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listen interval 10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360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663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673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0/12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acorda a cada 9 beacons: 922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listen interval 30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308 ms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1775 ms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2728 ms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3/14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3072 ms — e o downlink começa a degradar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441655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1655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Duas armadilhas de método, as duas medidas: pings em rajada dão ~8 ms em qualquer regime (o inactivity timer); e espaçamento que bate com o ciclo de dormida dá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aliasing</a:t>
            </a:r>
            <a:r>
              <a:rPr sz="1250" b="0" i="0">
                <a:solidFill>
                  <a:srgbClr val="0B1B2B"/>
                </a:solidFill>
                <a:latin typeface="Segoe UI"/>
              </a:rPr>
              <a:t> — 53 ms no listen interval 30, um número que desmentia a tese. Se o resultado desmente a teoria, desconfie do relógio antes.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11 · ENERGIA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Onde ligar o PPK2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P14 mede só o SoC (VDD:nRF); o VDD:IO que alimenta a EB II é um seguidor bufferizado, de propósito. A corrente que muda entre os degraus é a do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nRF7002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e ela só aparece no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P10 da EB II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com o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SB10 cortado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PPK2 em amperímetro: quem alimenta continua sendo a DK.</a:t>
            </a:r>
          </a:p>
        </p:txBody>
      </p:sp>
      <p:pic>
        <p:nvPicPr>
          <p:cNvPr id="9" name="Picture 8" descr="wifi_ppk2_eb2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195" y="1810512"/>
            <a:ext cx="7365304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11 · ENERGIA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escada medida por corrente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22 s por regime, firmware do lab 6, trilho VBAT.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Ligar o power save corta 22×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(51,33 → 2,29 mA), e isso não custa Wi-Fi 6 nenhum: é o degrau 1, ligado por padrão. A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mediana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de ~10 µA denuncia o mecanismo: a média é feita inteiramente dos picos de acordar, de até 250 mA.</a:t>
            </a:r>
          </a:p>
        </p:txBody>
      </p:sp>
      <p:pic>
        <p:nvPicPr>
          <p:cNvPr id="9" name="Picture 8" descr="wifi_escada_psm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175" y="1810512"/>
            <a:ext cx="8825345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11 · ENERGIA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anatomia do despertar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Segmentando os pulsos acima de 2 mA: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média = carga por despertar × frequência de despertar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O piso de sono é desprezível, 98–99% da carga está nos pulsos. Economizar é acordar menos vezes, ou acordar mais barato.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6" cy="2926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199"/>
                <a:gridCol w="1828799"/>
                <a:gridCol w="1463039"/>
                <a:gridCol w="1371599"/>
                <a:gridCol w="2011679"/>
                <a:gridCol w="134691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Regime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Despertares em 22 s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Período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Duração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Carga por despertar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Nos pulsos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2,4 GHz · DTIM 3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73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305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18,2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694 µC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99%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5 GHz · DTIM 3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73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305 ms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17,2 ms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686 µC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99%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2,4 GHz · listen interval 10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891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24,0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998 µC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99%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5 GHz · listen interval 10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928 ms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13,5 ms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480 µC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97%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2,4 GHz · listen interval 30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3182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38,4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1929 µC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98%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491947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91947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305 ms é DTIM 3 × beacon de 100 ms; 891 ms é o listen interval 10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arredondado para 9 beacons</a:t>
            </a:r>
            <a:r>
              <a:rPr sz="1250" b="0" i="0">
                <a:solidFill>
                  <a:srgbClr val="0B1B2B"/>
                </a:solidFill>
                <a:latin typeface="Segoe UI"/>
              </a:rPr>
              <a:t> — a teoria da abertura, agora num osciloscópio de corrente. E quanto mais dorme, mais custa acordar (ressincronizar): por isso a escada tem rendimento decrescente.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11 · ENERGIA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Até onde o listen interval leva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Listen interval 600 (~72 s de sono) chega a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31 µA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— o patamar que o datasheet atribui ao TWT de 1 minuto (29,5 µA). O preço: num ping ininterrupto,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1 resposta em 481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O rádio está acordado 0,04% do tempo. Um dispositivo assim só funciona se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ele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inicia a conversa.</a:t>
            </a:r>
          </a:p>
        </p:txBody>
      </p:sp>
      <p:pic>
        <p:nvPicPr>
          <p:cNvPr id="9" name="Picture 8" descr="wifi_li_longo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279" y="1810512"/>
            <a:ext cx="9101137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11 · ENERGIA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Energia × latência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Corrente e latência medidas nos mesmos regimes, no mesmo dia. Do regime sem economia ao listen interval 10, a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corrente cai ~45×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e a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latência sobe ~80×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Não há degrau bom e degrau ruim: escolher o regime é escolher quanto atraso a aplicação aguenta.</a:t>
            </a:r>
          </a:p>
        </p:txBody>
      </p:sp>
      <p:pic>
        <p:nvPicPr>
          <p:cNvPr id="9" name="Picture 8" descr="wifi_troca_energia_latencia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287" y="1810512"/>
            <a:ext cx="896112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11 · ENERGIA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Parte B · TWT: determinismo, não economia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54480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36776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o que a Parte A já provou sem TWT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03120"/>
            <a:ext cx="5245455" cy="342900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304288"/>
            <a:ext cx="4696815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31 µA com listen interval 600 —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empata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com os 29,5 µA que o datasheet dá ao TWT de 1 min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os despertares do listen interval duraram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24 a 86 ms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, irregulares: o rádio espera a vez no meio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o downlink morre nas dezenas de listen interval — e a doc da Nordic diz que com TWT de minutos o AP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também não bufferiza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a ONT da bancada é ax e responde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Peer not TWT capable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; o AP da sala, também ax, responde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TWT accept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554480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636776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o que o TWT acrescenta, quando o AP negocia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03120"/>
            <a:ext cx="5245455" cy="342900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304288"/>
            <a:ext cx="4696815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a estação e o AP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combinam um horário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; o AP reserva a service period (num flow trigger-enabled, manda trigger frames e aloca Resource Units)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o despertar tem duração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escolhida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(8 a 256 ms), não sofrida — e não colide com quem acordou no mesmo beacon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a vantagem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cresce com o número de dispositivos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: uma sala cheia de kits, uma fábrica. Com um kit numa rede quieta, quase não aparece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só TWT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Individual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no driver v3.4.0;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btwt_setup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existe no shell mas não tem driver por trás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5641848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641848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Demonstrado no AP da sala, no firmware do lab 6: </a:t>
            </a:r>
            <a:r>
              <a:rPr sz="1300" b="1" i="0">
                <a:solidFill>
                  <a:srgbClr val="0B1B2B"/>
                </a:solidFill>
                <a:latin typeface="Consolas"/>
              </a:rPr>
              <a:t>wifi twt quick_setup 65024 524288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 devolve </a:t>
            </a:r>
            <a:r>
              <a:rPr sz="1300" b="1" i="0">
                <a:solidFill>
                  <a:srgbClr val="0B1B2B"/>
                </a:solidFill>
                <a:latin typeface="Consolas"/>
              </a:rPr>
              <a:t>TWT accept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. A corrente com TWT ainda não foi medida com o PPK2.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11 · ENERGIA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acordo de TWT, campo a campo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Log real do AP da sala. O primeiro número do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quick_setup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é quanto tempo a estação fica acordada por service period; o segundo, de quanto em quanto ela se repete: 65 ÷ 524 = 12,4 % do tempo com o rádio ligado.</a:t>
            </a:r>
          </a:p>
        </p:txBody>
      </p:sp>
      <p:pic>
        <p:nvPicPr>
          <p:cNvPr id="9" name="Picture 8" descr="wifi_twt_sp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10765231" cy="43060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11 · ENERGIA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Os números do datasheet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datasheet é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piso, não previsão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O piso bate, o DTIM 3 não, e o TWT de 1 minuto empata com o nosso degrau 2. É exatamente por isso que o lab mede em vez de citar.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3429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108959"/>
                <a:gridCol w="1645919"/>
                <a:gridCol w="601035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Regime (datasheet nRF7002, 2,4 GHz)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Corrente média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Na nossa bancada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DTIM 1 (~100 ms)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3,47 mA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DTIM 3 (~300 ms)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1,12 mA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2,29 mA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— 2× pior: a ONT tem outros clientes e tráfego de grupo o tempo todo; o datasheet mede numa rede limpa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DTIM 10 (~1 s)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0,34 mA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TWT, intervalo de 1 min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29,5 µA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31 µA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com listen interval 600 — o empate que muda o argumento do TWT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TWT, intervalo de 1 h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18,4 µA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dormindo (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ISLEEP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, só o RTC)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15 µA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12–14 µA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de piso — bate, e valida a cadeia de medição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42239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42239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O efeito da banda existe, mas não onde o datasheet diz: em listen interval, 5 GHz custa metade de 2,4 GHz (0,53 × 1,13 mA); em DTIM as duas bandas custam o mesmo por despertar. A coincidência com os 0,56 / 1,12 mA do catálogo é armadilha — são outro regime.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Lab 12 · Coexistência entre BLE e Wi-Fi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A turma acabou de medir distância por BLE em 2,4 GHz. Este lab põe o Wi-Fi no mesmo espectro, no mesmo kit, ao mesmo tempo — e mede o que o árbitro de coexistência faz com isso.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12 · COEXISTÊNCIA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BLE e Wi-Fi no mesmo kit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nRF7002 tem um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PTA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(Packet Traffic Arbitration) em hardware; o lado BLE é o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MPSL CX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no nRF54LM20. Três linhas no header de expansão: BLE pede (REQ), diz se é TX ou RX (STATUS0), o PTA responde GRANT.</a:t>
            </a:r>
          </a:p>
        </p:txBody>
      </p:sp>
      <p:pic>
        <p:nvPicPr>
          <p:cNvPr id="9" name="Picture 8" descr="wifi_coex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530" y="1810512"/>
            <a:ext cx="10042634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12 · COEXISTÊNCIA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build de coexistência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par BLE é uma nRF54L15-DK rodando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bluetooth/throughput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como periférico (o papel se escolhe no shell, sem botão). No PC,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iPerf 2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(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iperf -s -u -i 1 -p 5001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): o iperf3 não fala o protocolo do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zperf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3429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19"/>
                <a:gridCol w="2651759"/>
                <a:gridCol w="509595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Por quê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SHIELD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"nrf7002eb2;nrf7002eb2_coex"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segundo fragmento só acrescenta o nó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nrf_radio_coex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com os três GPIOs. Sem ele o driver não tem para onde apontar os pinos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CONFIG_MPSL_CX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y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(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build_on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) ou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n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(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build_off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árbitro liga e desliga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em tempo de compilação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: dois binários, não um comando de shell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CONFIG_COEX_SEP_ANTENNAS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y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 EB II tem antena dedicada; o Wi-Fi e o BLE do LM20 irradiam por antenas separadas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CONFIG_NRF70_SR_COEX_RF_SWITCH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cai para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n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, com aviso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depende de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srrf-switch-gpios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no nó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nrf70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, que o overlay da EB II nesta placa não declara.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Não há chave de RF a controlar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CONFIG_NET_CONFIG_PEER_IPV4_ADDR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IP do PC, na linha de build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vem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192.168.1.253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de fábrica — um destino que não existe. Sem sobrescrever, o lado Wi-Fi da medida simplesmente não acontece, sem erro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FLASH · RAM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741084 B ·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374100 B (71,49%)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build mais pesado da frente: as duas pilhas de rádio abertas ao mesmo tempo. A diferença on/off é 556 B — só o driver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mpsl_cx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12 · COEXISTÊNCIA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Throughput medido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custo da convivência é real e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assimétrico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E o árbitro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não recupera nada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nesta montagem — deixa os dois marginalmente piores. Não é defeito do lab: é o resultado, e ele tem duas explicações que se somam.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2423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023359"/>
                <a:gridCol w="3566159"/>
                <a:gridCol w="317571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Regime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Wi-Fi UDP TX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BLE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Wi-Fi sozinho (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TEST_TYPE_WLAN_ONLY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3,07 Mbps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BLE sozinho (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TEST_TYPE_BLE_ONLY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568 kbps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Ambos · coexistência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desligada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2,95 ± 0,03 Mbps (n=3) —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−4%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455 ± 61 kbps (n=3) —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−20%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Ambos · coexistência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ligada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2,91 ± 0,02 Mbps (n=4)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414 ± 23 kbps (n=4)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441655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1655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1) Sem chave de RF, o árbitro sinaliza mas não há hardware para agir. 2) Com 3 Mbps há pouco tempo de ar disputado. Na referência da Nordic (nRF5340, 10,2 Mbps) o BLE despenca 87% sem árbitro e recupera com ele. Aqui o problema que o árbitro existe para resolver mal aparece.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12 · COEXISTÊNCIA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Por que 3 Mbps e não 10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Os 10,2 Mbps do README do SDK são de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outro host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Comparar com eles compara duas CPUs, não duas soluções de Wi-Fi: o nRF7002 é o mesmo.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8" cy="2423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199"/>
                <a:gridCol w="1645919"/>
                <a:gridCol w="1097279"/>
                <a:gridCol w="527883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Variação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Wi-Fi UDP TX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Perda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Conclusão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2,4 GHz · SPI 8 MHz (padrão)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3,07 Mbps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sample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pede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10 Mbps (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WIFI_ZPERF_RATE=10000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2,4 GHz ·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SPI 16 MHz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3,15 Mbps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0,05%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dobrar o barramento não muda nada: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o SPI nunca esteve saturado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5 GHz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· SPI 8 MHz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3,11 Mbps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trocar de banda não muda nada: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o rádio não é o gargalo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sobra o host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Cortex-M33 a 128 MHz, single-core, gerando datagramas de 1024 B pela pilha do Zephyr. A referência roda num nRF5340 dual-core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441655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1655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Lição de método, registrada de propósito: a primeira versão do README afirmava com segurança que o teto era o SPI — a conta fechava. Estava errada, e só se soube dobrando o clock e medindo.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Explicação plausível que fecha a conta não é evidência.</a:t>
            </a:r>
            <a:r>
              <a:rPr sz="1250" b="0" i="0">
                <a:solidFill>
                  <a:srgbClr val="0B1B2B"/>
                </a:solidFill>
                <a:latin typeface="Segoe UI"/>
              </a:rPr>
              <a:t> E uma medida por regime não decide nada: o BLE varia de 385 a 501 kbps na mesma configuração.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Lab 13 · Locationing sem GPS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Onde satélite não chega, um kit sem GPS ainda se localiza — desde que veja pelo menos dois APs que já estejam num banco de mapeamento. Fecha o módulo de GNSS pelo lado de dentro do prédio.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13 · LOCATIONING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posição não está no kit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kit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nunca sabe onde está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— só enxerga os vizinhos. Quem resolve é o banco de dados de quem já percorreu o mundo registrando “este BSSID fica nesta coordenada”. É o “Localizar” de qualquer smartphone sem GPS, feito à mão para o mecanismo ficar visível.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250692"/>
            <a:ext cx="1750710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3451860"/>
            <a:ext cx="147639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DK varre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872484"/>
            <a:ext cx="147639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Consolas"/>
              </a:rPr>
              <a:t>net_mgmt</a:t>
            </a:r>
            <a:r>
              <a:rPr sz="1100" b="0" i="0">
                <a:solidFill>
                  <a:srgbClr val="566577"/>
                </a:solidFill>
                <a:latin typeface="Segoe UI"/>
              </a:rPr>
              <a:t> SCAN;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acumula BSSID, RSSI,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frequência, SSID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37094" y="3886200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66862" y="3250692"/>
            <a:ext cx="1750710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4022" y="3451860"/>
            <a:ext cx="147639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TCP para o 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4022" y="3872484"/>
            <a:ext cx="147639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uma linha por AP: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Consolas"/>
              </a:rPr>
              <a:t>AP,&lt;bssid&gt;,&lt;rssi&gt;,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Consolas"/>
              </a:rPr>
              <a:t>&lt;freq&gt;,&lt;ssid&gt;</a:t>
            </a:r>
            <a:r>
              <a:rPr sz="1100" b="0" i="0">
                <a:solidFill>
                  <a:srgbClr val="566577"/>
                </a:solidFill>
                <a:latin typeface="Segoe UI"/>
              </a:rPr>
              <a:t> + </a:t>
            </a:r>
            <a:r>
              <a:rPr sz="1100" b="0" i="0">
                <a:solidFill>
                  <a:srgbClr val="566577"/>
                </a:solidFill>
                <a:latin typeface="Consolas"/>
              </a:rPr>
              <a:t>FIM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790724" y="3886200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20492" y="3250692"/>
            <a:ext cx="1750710" cy="1417320"/>
          </a:xfrm>
          <a:prstGeom prst="roundRect">
            <a:avLst>
              <a:gd name="adj" fmla="val 7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7652" y="3451860"/>
            <a:ext cx="147639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E8F1F8"/>
                </a:solidFill>
                <a:latin typeface="Segoe UI"/>
              </a:rPr>
              <a:t>wifi_locate.py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7652" y="3872484"/>
            <a:ext cx="147639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3A6B8"/>
                </a:solidFill>
                <a:latin typeface="Segoe UI"/>
              </a:rPr>
              <a:t>descarta MACs locais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3A6B8"/>
                </a:solidFill>
                <a:latin typeface="Segoe UI"/>
              </a:rPr>
              <a:t>(bit 0x02) e exige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3A6B8"/>
                </a:solidFill>
                <a:latin typeface="Segoe UI"/>
              </a:rPr>
              <a:t>≥ 2 APs válidos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44354" y="3886200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74122" y="3250692"/>
            <a:ext cx="1750710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1282" y="3451860"/>
            <a:ext cx="147639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nRF 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1282" y="3872484"/>
            <a:ext cx="147639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Location Services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HTTPS + OAT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banco de quem mapeou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297984" y="3886200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727752" y="3250692"/>
            <a:ext cx="1750710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64912" y="3451860"/>
            <a:ext cx="147639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lat · lon · raio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64912" y="3872484"/>
            <a:ext cx="147639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a coordenada e a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incerteza em metros:</a:t>
            </a:r>
          </a:p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566577"/>
                </a:solidFill>
                <a:latin typeface="Segoe UI"/>
              </a:rPr>
              <a:t>13,4 m</a:t>
            </a:r>
            <a:r>
              <a:rPr sz="1100" b="0" i="0">
                <a:solidFill>
                  <a:srgbClr val="566577"/>
                </a:solidFill>
                <a:latin typeface="Segoe UI"/>
              </a:rPr>
              <a:t> na bancada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50644" y="2939796"/>
            <a:ext cx="1636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093D0"/>
                </a:solidFill>
                <a:latin typeface="Segoe UI"/>
              </a:rPr>
              <a:t>sw0 = nova varredura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4274" y="2939796"/>
            <a:ext cx="1636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093D0"/>
                </a:solidFill>
                <a:latin typeface="Segoe UI"/>
              </a:rPr>
              <a:t>internet só aqui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4896612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566577"/>
                </a:solidFill>
                <a:latin typeface="Segoe UI"/>
              </a:rPr>
              <a:t>Código do curso, reaproveitando o cliente TCP do lab 9. Sem TF-M, sem onboarding: o kit só precisa da rede da sala; a chave nunca sobe para o firmware.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13 · LOCATIONING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ciclo completo, medido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aluno vê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as duas metades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: a lista de APs que o kit enxergou (21 na tela do kit) e a coordenada que saiu dela (16 na do PC). A pergunta “por que sumiram cinco” tem resposta técnica, não é bug.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15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reset → coordenada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tempo de máquina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dos quais ~5,5 s são a varredura. Não é duração de aula: é o intervalo entre ligar o kit e a ferramenta responder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1689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3129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21 →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1689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APs varridos → usados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8849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por que sumiram cinco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281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MACs administrados localmente (</a:t>
            </a:r>
            <a:r>
              <a:rPr sz="1100" b="0" i="0">
                <a:solidFill>
                  <a:srgbClr val="566577"/>
                </a:solidFill>
                <a:latin typeface="Consolas"/>
              </a:rPr>
              <a:t>02:</a:t>
            </a:r>
            <a:r>
              <a:rPr sz="1100" b="0" i="0">
                <a:solidFill>
                  <a:srgbClr val="566577"/>
                </a:solidFill>
                <a:latin typeface="Segoe UI"/>
              </a:rPr>
              <a:t>, </a:t>
            </a:r>
            <a:r>
              <a:rPr sz="1100" b="0" i="0">
                <a:solidFill>
                  <a:srgbClr val="566577"/>
                </a:solidFill>
                <a:latin typeface="Consolas"/>
              </a:rPr>
              <a:t>96:</a:t>
            </a:r>
            <a:r>
              <a:rPr sz="1100" b="0" i="0">
                <a:solidFill>
                  <a:srgbClr val="566577"/>
                </a:solidFill>
                <a:latin typeface="Segoe UI"/>
              </a:rPr>
              <a:t>) não identificam um AP físico fixo. Descartados </a:t>
            </a:r>
            <a:r>
              <a:rPr sz="1100" b="1" i="0">
                <a:solidFill>
                  <a:srgbClr val="566577"/>
                </a:solidFill>
                <a:latin typeface="Segoe UI"/>
              </a:rPr>
              <a:t>antes</a:t>
            </a:r>
            <a:r>
              <a:rPr sz="1100" b="0" i="0">
                <a:solidFill>
                  <a:srgbClr val="566577"/>
                </a:solidFill>
                <a:latin typeface="Segoe UI"/>
              </a:rPr>
              <a:t> da chamada, que é paga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1587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13,4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0147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de incerteza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com 16 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4739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contra 14,1 m com só cinco. Mais vizinhos ajudam, mas o ganho satura rápido — dá para medir na hora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58605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0045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OAT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58605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não a API key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5765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Consolas"/>
              </a:rPr>
              <a:t>401 malformed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3197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só o Organization Auth Token serve para Location Services. Exportado no ambiente do PC, nunca em arquivo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LAB 13 · LOCATIONING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Curso × produção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54480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36776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o curso: scan no kit, resolução no PC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03120"/>
            <a:ext cx="5245455" cy="342900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304288"/>
            <a:ext cx="4696815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cpuapp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normal, sem TF-M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uma chave OAT, no PC do instrutor — nenhum onboarding de dispositivo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internet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só no PC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; o kit só precisa da rede da sala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o aluno vê a lista de BSSIDs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e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a coordenada: o mecanismo fica visível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reaproveita o lab 9; 553520 B de FLASH, 187256 B de 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554480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636776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produção: </a:t>
            </a:r>
            <a:r>
              <a:rPr sz="1500" b="1" i="0">
                <a:solidFill>
                  <a:srgbClr val="FFFFFF"/>
                </a:solidFill>
                <a:latin typeface="Consolas"/>
              </a:rPr>
              <a:t>nrf/samples/wifi/nrf_cloud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03120"/>
            <a:ext cx="5245455" cy="342900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304288"/>
            <a:ext cx="4696815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alvo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/ns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: build com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TF-M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e certificado provisionado na Trust Zone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onboarding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que associa cada dispositivo físico à conta na nuvem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o próprio dispositivo fala com o nRF Cloud por CoAP ou MQTT, continuamente (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lib_location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)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sem script de PC no meio — é como um produto embarca isso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fica como referência escrita e demo, se houver tempo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5641848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641848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O princípio é o mesmo nos dois: a localização está no banco de dados de quem mapeou os APs, não no dispositivo.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22C3E6"/>
                </a:solidFill>
                <a:latin typeface="Segoe UI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F1F8"/>
                </a:solidFill>
                <a:latin typeface="Segoe UI"/>
              </a:rPr>
              <a:t>Resumo dos labs 11 a 13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572768"/>
            <a:ext cx="10765231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Ligar o power save corta </a:t>
            </a:r>
            <a:r>
              <a:rPr sz="1500" b="1">
                <a:solidFill>
                  <a:srgbClr val="E8F1F8"/>
                </a:solidFill>
                <a:latin typeface="Segoe UI"/>
              </a:rPr>
              <a:t>22×</a:t>
            </a:r>
            <a:r>
              <a:rPr sz="1500" b="0">
                <a:solidFill>
                  <a:srgbClr val="93A6B8"/>
                </a:solidFill>
                <a:latin typeface="Segoe UI"/>
              </a:rPr>
              <a:t> sem Wi-Fi 6 nenhum. Média = carga por despertar × frequência.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Listen interval 600 chega a </a:t>
            </a:r>
            <a:r>
              <a:rPr sz="1500" b="1">
                <a:solidFill>
                  <a:srgbClr val="E8F1F8"/>
                </a:solidFill>
                <a:latin typeface="Segoe UI"/>
              </a:rPr>
              <a:t>31 µA</a:t>
            </a:r>
            <a:r>
              <a:rPr sz="1500" b="0">
                <a:solidFill>
                  <a:srgbClr val="93A6B8"/>
                </a:solidFill>
                <a:latin typeface="Segoe UI"/>
              </a:rPr>
              <a:t> — e o downlink morre. O argumento do TWT é </a:t>
            </a:r>
            <a:r>
              <a:rPr sz="1500" b="1">
                <a:solidFill>
                  <a:srgbClr val="E8F1F8"/>
                </a:solidFill>
                <a:latin typeface="Segoe UI"/>
              </a:rPr>
              <a:t>determinismo</a:t>
            </a:r>
            <a:r>
              <a:rPr sz="1500" b="0">
                <a:solidFill>
                  <a:srgbClr val="93A6B8"/>
                </a:solidFill>
                <a:latin typeface="Segoe UI"/>
              </a:rPr>
              <a:t>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Dois rádios no kit: BLE perde 20%, Wi-Fi 4%; o árbitro sem chave de RF não recupera nada.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A posição não está no kit: 21 APs vistos, 16 usados, 13,4 m — resolvida por quem mapeou.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22C3E6"/>
                </a:solidFill>
                <a:latin typeface="Consolas"/>
              </a:rPr>
              <a:t>22×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51 mA → 2,3 mA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ligando o power save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1689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1689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22C3E6"/>
                </a:solidFill>
                <a:latin typeface="Consolas"/>
              </a:rPr>
              <a:t>31 µA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8849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listen interval 600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≈ TWT de 1 min (29,5)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0147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−20% / −4%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BLE / Wi-Fi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coexistindo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8605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8605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22C3E6"/>
                </a:solidFill>
                <a:latin typeface="Consolas"/>
              </a:rPr>
              <a:t>13,4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5765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incerteza com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16 APs vistos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532120"/>
            <a:ext cx="10765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1">
                <a:solidFill>
                  <a:srgbClr val="22C3E6"/>
                </a:solidFill>
                <a:latin typeface="Segoe UI"/>
              </a:rPr>
              <a:t>Cada lab produz um número que o aluno compara. Onde o datasheet e a bancada discordam, é a bancada que ensina.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