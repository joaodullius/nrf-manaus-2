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SDK — Software Development Kit.</a:t>
            </a:r>
          </a:p>
          <a:p>
            <a:r>
              <a:t>DK — Development Kit: a placa de desenvolvimento (nRF54LM20-DK).</a:t>
            </a:r>
          </a:p>
          <a:p>
            <a:r>
              <a:t>NCS — nRF Connect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DK — Development Kit: a placa de desenvolvimento (nRF54LM20-DK).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SDC — SoftDevice Controller: o controlador Bluetooth da Nordic.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SDK — Software Development Kit.</a:t>
            </a:r>
          </a:p>
          <a:p>
            <a:r>
              <a:t>DK — Development Kit: a placa de desenvolvimento (nRF54LM20-DK).</a:t>
            </a:r>
          </a:p>
          <a:p>
            <a:r>
              <a:t>sysbuild — O build de sistema do Zephyr, que constrói várias imagens e escopa opções por imagem.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UART — Universal Asynchronous Receiver/Transmitter: a serial do console.</a:t>
            </a:r>
          </a:p>
          <a:p>
            <a:r>
              <a:t>DFU — Device Firmware Update: atualização de firmware, por cabo ou por rádio.</a:t>
            </a:r>
          </a:p>
          <a:p>
            <a:r>
              <a:t>MCUboot — O bootloader do Zephyr.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UUID — Universally Unique Identifier: identificador de 128 bits de serviços e características.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SDK — Software Development Kit.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GATT — Generic Attribute Profile: o modelo de serviços e características do BLE.</a:t>
            </a:r>
          </a:p>
          <a:p>
            <a:r>
              <a:t>sysbuild — O build de sistema do Zephyr, que constrói várias imagens e escopa opções por imagem.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LED — Light-Emitting Diode.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DK — Development Kit: a placa de desenvolvimento (nRF54LM20-DK).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BLE — Bluetooth Low Energy: o rádio de 2,4 GHz do próprio nRF54LM20.</a:t>
            </a:r>
          </a:p>
          <a:p>
            <a:r>
              <a:t>CS — Channel Sounding: medição de distância do Bluetooth Core 6.0, por tempo de voo (RTT) e fase (PBR).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DK — Development Kit: a placa de desenvolvimento (nRF54LM20-DK).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GATT — Generic Attribute Profile: o modelo de serviços e características do BLE.</a:t>
            </a:r>
          </a:p>
          <a:p>
            <a:r>
              <a:t>UUID — Universally Unique Identifier: identificador de 128 bits de serviços e características.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PBR — Phase-Based Ranging (CS, mode 2): distância pela fase de um tom medida em 75 canais.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RAM — Random Access Memory: a memória de trabalho (511 KB no nRF54LM20).</a:t>
            </a:r>
          </a:p>
          <a:p>
            <a:r>
              <a:t>CS — Channel Sounding: medição de distância do Bluetooth Core 6.0, por tempo de voo (RTT) e fase (PBR).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BLE — Bluetooth Low Energy: o rádio de 2,4 GHz do próprio nRF54LM20.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L2 — Camada 2 (enlace): no Zephyr, o módulo que fala com o driver — Ethernet, Wi-Fi mgmt.</a:t>
            </a:r>
          </a:p>
          <a:p>
            <a:r>
              <a:t>DRBG — Deterministic Random Bit Generator: gerador pseudoaleatório semeado por CS_IV, CS_IN e CS_PV; sorteia canais e payloads.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SDC — SoftDevice Controller: o controlador Bluetooth da Nordic.</a:t>
            </a:r>
          </a:p>
          <a:p>
            <a:r>
              <a:t>DK — Development Kit: a placa de desenvolvimento (nRF54LM20-DK).</a:t>
            </a:r>
          </a:p>
          <a:p>
            <a:r>
              <a:t>RSSI — Received Signal Strength Indication: potência do sinal recebido, em dBm (negativo).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NADM — Normalized Attack Detection Metric: métrica da spec para detectar pacote de RTT alterado; não suportada pelo SDC.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DK — Development Kit: a placa de desenvolvimento (nRF54LM20-DK).</a:t>
            </a:r>
          </a:p>
          <a:p>
            <a:r>
              <a:t>PPK2 — Power Profiler Kit II: o medidor de corrente da Nordic (200 nA a 1 A, 100 kSa/s).</a:t>
            </a:r>
          </a:p>
          <a:p>
            <a:r>
              <a:t>SoC — System on Chip: CPU, memória e rádio no mesmo chip (nRF54LM20).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RAM — Random Access Memory: a memória de trabalho (511 KB no nRF54LM20).</a:t>
            </a:r>
          </a:p>
          <a:p>
            <a:r>
              <a:t>VCOM — Virtual COM port: a porta serial que o chip de interface da DK cria no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SDK — Software Development Kit.</a:t>
            </a:r>
          </a:p>
          <a:p>
            <a:r>
              <a:t>CS — Channel Sounding: medição de distância do Bluetooth Core 6.0, por tempo de voo (RTT) e fase (PBR).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UUID — Universally Unique Identifier: identificador de 128 bits de serviços e características.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ACL — Asynchronous Connection-Less: o enlace de conexão BLE sobre o qual o CS roda.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SDK — Software Development Kit.</a:t>
            </a:r>
          </a:p>
          <a:p>
            <a:r>
              <a:t>IQ — Componentes em fase (I) e em quadratura (Q) do tom recebido: amplitude e fase por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02 · OS LABS 1 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Channel Sounding na bancada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Os labs 1 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Quatro labs sobre o mesmo par de kits: o dispositivo que só responde, o par que mede, o mesmo par por outro caminho, e a leitura do log do lab 2 pelo lado da segurança.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Tudo copiado do SDK, com as mudanças do curso marcadas.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680667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nRF54LM20-DK (B)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6779" y="4709160"/>
            <a:ext cx="134051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nRF54L15-TAG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00169" y="4709160"/>
            <a:ext cx="117043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NCS v3.4.0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53480" y="4709160"/>
            <a:ext cx="1425549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comms/01 a 04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02 · OS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roteiro: cada lab prova uma coisa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 TAG e uma DK por dupla. O TAG é gravado por fio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duas vezes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(RAS no lab 1, IPT no lab 3). A DK, a cada lab.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8117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3820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277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3545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Lab 1 · reflector RAS no 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6654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sample da Nordic como veio. Grava por fio, lê no RTT. É o dispositivo que só responde.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68046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2506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2964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32232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Lab 2 · initiator RAS no LM20-DK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5341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fecha o par com o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seu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TAG e imprime três estimativas por procedure: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ifft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phase_slope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rtt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5491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41193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650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0919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Lab 3 · o mesmo par com 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44028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regrava os dois lados. A coluna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rtt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some e 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time_delta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cai para 30 ms.</a:t>
            </a:r>
          </a:p>
        </p:txBody>
      </p:sp>
      <p:sp>
        <p:nvSpPr>
          <p:cNvPr id="24" name="Oval 23"/>
          <p:cNvSpPr/>
          <p:nvPr/>
        </p:nvSpPr>
        <p:spPr>
          <a:xfrm>
            <a:off x="1078992" y="49880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0337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9606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Lab 4 · segurança (se der tempo)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52715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sem firmware novo: o log do lab 2 relido, um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rtt_type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trocado, e a lista do que o SDC não faz.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02 · OS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Kit e convenção, iguais nos quatro labs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0078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Cópias do SDK, não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Cada lab é uma app independente em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comms/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copiada de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nrf/samples/bluetooth/channel_sounding/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Cabeçalho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ORIGEM: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cada mudança marcada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ALTERADO PELO CURSO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55448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8154" y="170078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TAG no DEBUG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154" y="208483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TAG é gravado encaixado no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DEBUG OUT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da DK. Enquanto está lá, o debugger aponta para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ele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gravar “a DK” nessa hora grava o TAG. Rode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device-info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55448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620" y="170078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mesmo endereço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620" y="208483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endereço do seu TAG é 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mesmo do Edge AI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vem do chip, não do firmware. O initiator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pergunta na serial a cada boot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como o central do Edge AI.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0050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14680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53085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west build -p --sysbuild -b nrf54lm20dk/nrf54lm20b/cpuapp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sem fragmento: o mesmo binário serve para qualquer aluno. Só o intervalo entre bancadas vai por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-D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400050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8154" y="414680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453085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TAG: só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RTT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e só no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DEBUG OUT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(ele não tem UART). DK: serial USB a 115200, na segunda COM. As linhas saem como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I: …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logger em modo minimal.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4164" y="400050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3620" y="414680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Sem DFU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620" y="453085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Nada de MCUboot ou OTA neste módulo: já foi no treinamento anterior. Regravar é sempre por fio.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02 · OS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Seis estações na mesma sala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Todos os TAGs anunciam o mesmo UUID e o mesmo nome. O initiator do curso filtra em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modo AND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UUID ou nome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endereço digitado no boot. É a única mudança no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main.c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de fábrica.</a:t>
            </a:r>
          </a:p>
        </p:txBody>
      </p:sp>
      <p:pic>
        <p:nvPicPr>
          <p:cNvPr id="9" name="Picture 8" descr="cs_bancad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964" y="1810512"/>
            <a:ext cx="9775767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 · REFLECTOR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Lab 1: o reflector no TAG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TAG recebe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ras_reflector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SDK e passa a anunciar o Ranging Service. Vinte minutos; ao fim, o endereço anotado e o TAG na bateria, pronto para o lab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que ele faz:</a:t>
            </a:r>
            <a:r>
              <a:rPr sz="1700" b="0">
                <a:solidFill>
                  <a:srgbClr val="0B1B2B"/>
                </a:solidFill>
                <a:latin typeface="Segoe UI"/>
              </a:rPr>
              <a:t> anuncia o Ranging Service, aceita uma conexão, participa dos procedures de CS e entrega o Ranging Data por GATT. Não calcula distância.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que o aluno faz:</a:t>
            </a:r>
            <a:r>
              <a:rPr sz="1700" b="0">
                <a:solidFill>
                  <a:srgbClr val="0B1B2B"/>
                </a:solidFill>
                <a:latin typeface="Segoe UI"/>
              </a:rPr>
              <a:t> TAG no </a:t>
            </a:r>
            <a:r>
              <a:rPr sz="1700" b="0">
                <a:solidFill>
                  <a:srgbClr val="0B1B2B"/>
                </a:solidFill>
                <a:latin typeface="Consolas"/>
              </a:rPr>
              <a:t>DEBUG OUT</a:t>
            </a:r>
            <a:r>
              <a:rPr sz="1700" b="0">
                <a:solidFill>
                  <a:srgbClr val="0B1B2B"/>
                </a:solidFill>
                <a:latin typeface="Segoe UI"/>
              </a:rPr>
              <a:t>; </a:t>
            </a:r>
            <a:r>
              <a:rPr sz="1700" b="0">
                <a:solidFill>
                  <a:srgbClr val="0B1B2B"/>
                </a:solidFill>
                <a:latin typeface="Consolas"/>
              </a:rPr>
              <a:t>device-info</a:t>
            </a:r>
            <a:r>
              <a:rPr sz="1700" b="0">
                <a:solidFill>
                  <a:srgbClr val="0B1B2B"/>
                </a:solidFill>
                <a:latin typeface="Segoe UI"/>
              </a:rPr>
              <a:t> mostra nRF54L15; </a:t>
            </a:r>
            <a:r>
              <a:rPr sz="1700" b="0">
                <a:solidFill>
                  <a:srgbClr val="0B1B2B"/>
                </a:solidFill>
                <a:latin typeface="Consolas"/>
              </a:rPr>
              <a:t>west build -b nrf54l15tag/nrf54l15/cpuapp --sysbuild</a:t>
            </a:r>
            <a:r>
              <a:rPr sz="1700" b="0">
                <a:solidFill>
                  <a:srgbClr val="0B1B2B"/>
                </a:solidFill>
                <a:latin typeface="Segoe UI"/>
              </a:rPr>
              <a:t>; </a:t>
            </a:r>
            <a:r>
              <a:rPr sz="1700" b="0">
                <a:solidFill>
                  <a:srgbClr val="0B1B2B"/>
                </a:solidFill>
                <a:latin typeface="Consolas"/>
              </a:rPr>
              <a:t>west flash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Como lê:</a:t>
            </a:r>
            <a:r>
              <a:rPr sz="1700" b="0">
                <a:solidFill>
                  <a:srgbClr val="0B1B2B"/>
                </a:solidFill>
                <a:latin typeface="Segoe UI"/>
              </a:rPr>
              <a:t> só RTT, com o TAG no </a:t>
            </a:r>
            <a:r>
              <a:rPr sz="1700" b="0">
                <a:solidFill>
                  <a:srgbClr val="0B1B2B"/>
                </a:solidFill>
                <a:latin typeface="Consolas"/>
              </a:rPr>
              <a:t>DEBUG OUT</a:t>
            </a:r>
            <a:r>
              <a:rPr sz="1700" b="0">
                <a:solidFill>
                  <a:srgbClr val="0B1B2B"/>
                </a:solidFill>
                <a:latin typeface="Segoe UI"/>
              </a:rPr>
              <a:t> (</a:t>
            </a:r>
            <a:r>
              <a:rPr sz="1700" b="0">
                <a:solidFill>
                  <a:srgbClr val="0B1B2B"/>
                </a:solidFill>
                <a:latin typeface="Consolas"/>
              </a:rPr>
              <a:t>JLinkRTTLogger -Device NRF54L15_M33</a:t>
            </a:r>
            <a:r>
              <a:rPr sz="1700" b="0">
                <a:solidFill>
                  <a:srgbClr val="0B1B2B"/>
                </a:solidFill>
                <a:latin typeface="Segoe UI"/>
              </a:rPr>
              <a:t>). O bloco de RTT no </a:t>
            </a:r>
            <a:r>
              <a:rPr sz="1700" b="0">
                <a:solidFill>
                  <a:srgbClr val="0B1B2B"/>
                </a:solidFill>
                <a:latin typeface="Consolas"/>
              </a:rPr>
              <a:t>.conf</a:t>
            </a:r>
            <a:r>
              <a:rPr sz="1700" b="0">
                <a:solidFill>
                  <a:srgbClr val="0B1B2B"/>
                </a:solidFill>
                <a:latin typeface="Segoe UI"/>
              </a:rPr>
              <a:t> do board é a única adição do curso.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sem </a:t>
            </a:r>
            <a:r>
              <a:rPr sz="1400" b="0">
                <a:solidFill>
                  <a:srgbClr val="566577"/>
                </a:solidFill>
                <a:latin typeface="Consolas"/>
              </a:rPr>
              <a:t>CONFIG_USE_SEGGER_RTT</a:t>
            </a:r>
            <a:r>
              <a:rPr sz="1400" b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>
                <a:solidFill>
                  <a:srgbClr val="566577"/>
                </a:solidFill>
                <a:latin typeface="Consolas"/>
              </a:rPr>
              <a:t>CONFIG_RTT_CONSOLE</a:t>
            </a:r>
            <a:r>
              <a:rPr sz="1400" b="0">
                <a:solidFill>
                  <a:srgbClr val="566577"/>
                </a:solidFill>
                <a:latin typeface="Segoe UI"/>
              </a:rPr>
              <a:t> o TAG fica mudo; buffer de 4096 para não cortar o </a:t>
            </a:r>
            <a:r>
              <a:rPr sz="1400" b="0">
                <a:solidFill>
                  <a:srgbClr val="566577"/>
                </a:solidFill>
                <a:latin typeface="Consolas"/>
              </a:rPr>
              <a:t>Identity: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Como testa:</a:t>
            </a:r>
            <a:r>
              <a:rPr sz="1700" b="0">
                <a:solidFill>
                  <a:srgbClr val="0B1B2B"/>
                </a:solidFill>
                <a:latin typeface="Segoe UI"/>
              </a:rPr>
              <a:t> no boot, </a:t>
            </a:r>
            <a:r>
              <a:rPr sz="1700" b="0">
                <a:solidFill>
                  <a:srgbClr val="0B1B2B"/>
                </a:solidFill>
                <a:latin typeface="Consolas"/>
              </a:rPr>
              <a:t>I: Identity: EC:EF:40:2D:5E:46 (random)</a:t>
            </a:r>
            <a:r>
              <a:rPr sz="1700" b="0">
                <a:solidFill>
                  <a:srgbClr val="0B1B2B"/>
                </a:solidFill>
                <a:latin typeface="Segoe UI"/>
              </a:rPr>
              <a:t>: anote. Com o initiator do lab 2: LED 1 aceso e, no RTT, </a:t>
            </a:r>
            <a:r>
              <a:rPr sz="1700" b="0">
                <a:solidFill>
                  <a:srgbClr val="0B1B2B"/>
                </a:solidFill>
                <a:latin typeface="Consolas"/>
              </a:rPr>
              <a:t>CS security enabled.</a:t>
            </a:r>
            <a:r>
              <a:rPr sz="1700" b="0">
                <a:solidFill>
                  <a:srgbClr val="0B1B2B"/>
                </a:solidFill>
                <a:latin typeface="Segoe UI"/>
              </a:rPr>
              <a:t> e </a:t>
            </a:r>
            <a:r>
              <a:rPr sz="1700" b="0">
                <a:solidFill>
                  <a:srgbClr val="0B1B2B"/>
                </a:solidFill>
                <a:latin typeface="Consolas"/>
              </a:rPr>
              <a:t>CS procedures enabled.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Na bateria:</a:t>
            </a:r>
            <a:r>
              <a:rPr sz="1700" b="0">
                <a:solidFill>
                  <a:srgbClr val="0B1B2B"/>
                </a:solidFill>
                <a:latin typeface="Segoe UI"/>
              </a:rPr>
              <a:t> fora do </a:t>
            </a:r>
            <a:r>
              <a:rPr sz="1700" b="0">
                <a:solidFill>
                  <a:srgbClr val="0B1B2B"/>
                </a:solidFill>
                <a:latin typeface="Consolas"/>
              </a:rPr>
              <a:t>DEBUG OUT</a:t>
            </a:r>
            <a:r>
              <a:rPr sz="1700" b="0">
                <a:solidFill>
                  <a:srgbClr val="0B1B2B"/>
                </a:solidFill>
                <a:latin typeface="Segoe UI"/>
              </a:rPr>
              <a:t> não há log. A evidência de vida é o LED 1 e a serial do initiator.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2 · INITIATOR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Lab 2: três estimativas por procedure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Serial da DK, bancada do curso, TAG 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0,78 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da antena.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rtt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vem do tempo de voo.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phase_slope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ifft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vêm da mesma fase, por dois métodos: inclinação e perfil de atraso.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O sample sai como veio: </a:t>
            </a:r>
            <a:r>
              <a:rPr sz="1500" b="1">
                <a:solidFill>
                  <a:srgbClr val="0093D0"/>
                </a:solidFill>
                <a:latin typeface="Segoe UI"/>
              </a:rPr>
              <a:t>main mode 2 + sub mode 1</a:t>
            </a:r>
            <a:r>
              <a:rPr sz="1500" b="0">
                <a:solidFill>
                  <a:srgbClr val="0B1B2B"/>
                </a:solidFill>
                <a:latin typeface="Segoe UI"/>
              </a:rPr>
              <a:t>, PBR e RTT na mesma procedure.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A mudança do curso: o endereço digitado no boot entra no </a:t>
            </a:r>
            <a:r>
              <a:rPr sz="1500" b="0">
                <a:solidFill>
                  <a:srgbClr val="0B1B2B"/>
                </a:solidFill>
                <a:latin typeface="Consolas"/>
              </a:rPr>
              <a:t>scan_init()</a:t>
            </a:r>
            <a:r>
              <a:rPr sz="1500" b="0">
                <a:solidFill>
                  <a:srgbClr val="0B1B2B"/>
                </a:solidFill>
                <a:latin typeface="Segoe UI"/>
              </a:rPr>
              <a:t> como filtro em modo AND. E </a:t>
            </a:r>
            <a:r>
              <a:rPr sz="1500" b="0">
                <a:solidFill>
                  <a:srgbClr val="0B1B2B"/>
                </a:solidFill>
                <a:latin typeface="Consolas"/>
              </a:rPr>
              <a:t>CONFIG_LAB_PROCEDURE_INTERVAL</a:t>
            </a:r>
            <a:r>
              <a:rPr sz="1500" b="0">
                <a:solidFill>
                  <a:srgbClr val="0B1B2B"/>
                </a:solidFill>
                <a:latin typeface="Segoe UI"/>
              </a:rPr>
              <a:t> para escalonar as bancadas.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2624328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2221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Endereco BLE do tag (ex.: EC:EF:40:2D:5E:46 random): EC:EF:40:2D:5E:46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Procurando o tag EC:EF:40:2D:5E:46 (random)...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Filtrando pelo tag EC:EF:40:2D:5E:46 (random)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CS capability exchange completed.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CS security enabled.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CS procedures enabled: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Latest distance estimates on antenna path 0: ifft: 2.05, phase_slope: 2.36, rtt: 1.77 meters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Latest distance estimates on antenna path 0: ifft: 2.09, phase_slope: 2.36, rtt: 1.78 meters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Latest distance estimates on antenna path 0: ifft: 2.13, phase_slope: 2.35, rtt: 1.93 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73328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As três colunas vêm dos mesmos dados do rádio, por três algoritmos. A 0,78 m leem ~1,2 m a mais; o lab 5 mostra que o viés depende da orientação da antena do TAG.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2 · INITIATOR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Lab 2, o experimento: RTT × PBR com uma trena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0078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 · distâncias conhecidas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TAG a 1, 3 e 5 m, em linha de visada, dez linhas por ponto. Qual coluna acompanha a trena? Qual espalha menos? Quanto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ifft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phase_slope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divergem entre si?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55448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8154" y="170078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 · obstrução e multipath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154" y="208483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Um corpo entre TAG e DK; o TAG encostado em metal. Previsão: as colunas de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fase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reagem ao multipath; a de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tempo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tem resolução pior e só aumenta. Anote onde a medida diverge.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55448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620" y="170078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 · registre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620" y="208483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Média e desvio das três colunas por condição. É o dado que o lab 5 revisita com outro algoritmo.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0050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14680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Variações (opcional)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53085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pbr_only.conf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deixa só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ifft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phase_slope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;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rtt_only.conf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deixa só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rtt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Rebuild só da DK. O TAG não muda.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400050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8154" y="414680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Várias bancadas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453085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Seis pares medindo ao mesmo tempo é uma condição que a Nordic não documenta. Se degradar: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-DCONFIG_LAB_PROCEDURE_INTERVAL=50 + n×12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(unidades de 20 ms).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4164" y="400050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3620" y="414680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Medido pelo instrutor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620" y="453085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1 m: ifft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2,05 ± 0,23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· 3 m: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4,46 ± 0,48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· 5 m: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5,86 ± 0,84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Viés de +0,9 a +1,5 m; o espalhamento cresce com a distância.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3 · 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Lab 3: o mesmo par, por outro caminho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TAG volta ao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DEBUG OUT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recebe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ipt_reflector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A DK recebe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ipt_initiator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prompt do endereço é o mesmo; o filtro agora é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nome e endereço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Lab 2 · 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setup: descoberta do Ranging Service e assinaturas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dado do reflector por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GATT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log: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ifft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phase_slope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rtt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~200 ms entre estimativas (default do sample)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filtro de fábrica: UUID do 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Lab 3 · 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setup: nenhum, não há serviço a descobrir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dado do reflector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na fase do tom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log: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median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update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time_delta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.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Sem rtt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30 ms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entre estimativas (medido)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filtro de fábrica: 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nome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Nordic CS IPT Reflector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igual em todos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A coluna rtt não existe no IPT: a correção inline atua só nos tons de PBR (mode 2 e a parte PBR do mode 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3 · 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Lab 3: o que sai na serial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Bancada do curso, o mesmo TAG a 0,78 m.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update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a estimativa da procedure,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median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a mediana deslizante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time_delta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tempo desde a anterior.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Consolas"/>
              </a:rPr>
              <a:t>ipt_reflector</a:t>
            </a:r>
            <a:r>
              <a:rPr sz="1500" b="0">
                <a:solidFill>
                  <a:srgbClr val="0B1B2B"/>
                </a:solidFill>
                <a:latin typeface="Segoe UI"/>
              </a:rPr>
              <a:t> no TAG: </a:t>
            </a:r>
            <a:r>
              <a:rPr sz="1500" b="1">
                <a:solidFill>
                  <a:srgbClr val="0093D0"/>
                </a:solidFill>
                <a:latin typeface="Segoe UI"/>
              </a:rPr>
              <a:t>15 % de flash, 20 % de RAM</a:t>
            </a:r>
            <a:r>
              <a:rPr sz="1500" b="0">
                <a:solidFill>
                  <a:srgbClr val="0B1B2B"/>
                </a:solidFill>
                <a:latin typeface="Segoe UI"/>
              </a:rPr>
              <a:t>. O TAG não está na lista do sample; foi validado na bancada.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Um procedure a cada ~30 ms. Para seis bancadas, </a:t>
            </a:r>
            <a:r>
              <a:rPr sz="1500" b="0">
                <a:solidFill>
                  <a:srgbClr val="0B1B2B"/>
                </a:solidFill>
                <a:latin typeface="Consolas"/>
              </a:rPr>
              <a:t>LAB_PROCEDURE_INTERVAL = 67 + n×17</a:t>
            </a:r>
            <a:r>
              <a:rPr sz="1500" b="0">
                <a:solidFill>
                  <a:srgbClr val="0B1B2B"/>
                </a:solidFill>
                <a:latin typeface="Segoe UI"/>
              </a:rPr>
              <a:t> (unidades de 15 ms).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168554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1283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Filtrando pelo tag EC:EF:40:2D:5E:46 (random)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Distance estimates: median: 2.26m, update: 2.25m, time_delta: 30ms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Distance estimates: median: 2.25m, update: 2.25m, time_delta: 30ms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Distance estimates: median: 2.25m, update: 2.18m, time_delta: 30ms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I: Distance estimates: median: 2.25m, update: 2.27m, time_delta: 30ms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794504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IPT é uma flag na configuração de CS (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CS configuration creation with CS IPT enabled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), e é o initiator quem a liga.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4 ·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Lab 4: reler o log do lab 2 com outros olhos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Sem firmware novo. O TAG volta ao reflector RAS e o par do lab 2 vira estudo de caso. Gancho para o dia 5: o pareamento BLE que cria o enlace cifrado.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Log do lab 2 em ordem: </a:t>
            </a:r>
            <a:r>
              <a:rPr sz="1700" b="0">
                <a:solidFill>
                  <a:srgbClr val="0B1B2B"/>
                </a:solidFill>
                <a:latin typeface="Consolas"/>
              </a:rPr>
              <a:t>Connected</a:t>
            </a:r>
            <a:r>
              <a:rPr sz="17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700" b="0">
                <a:solidFill>
                  <a:srgbClr val="0B1B2B"/>
                </a:solidFill>
                <a:latin typeface="Consolas"/>
              </a:rPr>
              <a:t>capability exchange</a:t>
            </a:r>
            <a:r>
              <a:rPr sz="17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700" b="0">
                <a:solidFill>
                  <a:srgbClr val="0B1B2B"/>
                </a:solidFill>
                <a:latin typeface="Consolas"/>
              </a:rPr>
              <a:t>config creation</a:t>
            </a:r>
            <a:r>
              <a:rPr sz="17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700" b="1">
                <a:solidFill>
                  <a:srgbClr val="0093D0"/>
                </a:solidFill>
                <a:latin typeface="Segoe UI"/>
              </a:rPr>
              <a:t>CS security enabled</a:t>
            </a:r>
            <a:r>
              <a:rPr sz="17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700" b="0">
                <a:solidFill>
                  <a:srgbClr val="0B1B2B"/>
                </a:solidFill>
                <a:latin typeface="Consolas"/>
              </a:rPr>
              <a:t>procedures enabled</a:t>
            </a:r>
            <a:r>
              <a:rPr sz="1700" b="0">
                <a:solidFill>
                  <a:srgbClr val="0B1B2B"/>
                </a:solidFill>
                <a:latin typeface="Segoe UI"/>
              </a:rPr>
              <a:t>. É a ordem do setup de CS.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A conexão é cifrada </a:t>
            </a:r>
            <a:r>
              <a:rPr sz="1700" b="1">
                <a:solidFill>
                  <a:srgbClr val="0093D0"/>
                </a:solidFill>
                <a:latin typeface="Segoe UI"/>
              </a:rPr>
              <a:t>antes</a:t>
            </a:r>
            <a:r>
              <a:rPr sz="1700" b="0">
                <a:solidFill>
                  <a:srgbClr val="0B1B2B"/>
                </a:solidFill>
                <a:latin typeface="Segoe UI"/>
              </a:rPr>
              <a:t> de tudo (</a:t>
            </a:r>
            <a:r>
              <a:rPr sz="1700" b="0">
                <a:solidFill>
                  <a:srgbClr val="0B1B2B"/>
                </a:solidFill>
                <a:latin typeface="Consolas"/>
              </a:rPr>
              <a:t>bt_conn_set_security(L2)</a:t>
            </a:r>
            <a:r>
              <a:rPr sz="1700" b="0">
                <a:solidFill>
                  <a:srgbClr val="0B1B2B"/>
                </a:solidFill>
                <a:latin typeface="Segoe UI"/>
              </a:rPr>
              <a:t>); é por esse enlace que os segredos do CS são trocados.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Consolas"/>
              </a:rPr>
              <a:t>CS security enable</a:t>
            </a:r>
            <a:r>
              <a:rPr sz="1700" b="0">
                <a:solidFill>
                  <a:srgbClr val="0B1B2B"/>
                </a:solidFill>
                <a:latin typeface="Segoe UI"/>
              </a:rPr>
              <a:t>: os dois lados trocam CS_IV, CS_IN e CS_PV e semeiam um DRBG que sorteia canais e payloads de RTT. Quem só escuta não reproduz a sequência.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Consolas"/>
              </a:rPr>
              <a:t>cs_config_get()</a:t>
            </a:r>
            <a:r>
              <a:rPr sz="1700" b="0">
                <a:solidFill>
                  <a:srgbClr val="0B1B2B"/>
                </a:solidFill>
                <a:latin typeface="Segoe UI"/>
              </a:rPr>
              <a:t> usa </a:t>
            </a:r>
            <a:r>
              <a:rPr sz="1700" b="0">
                <a:solidFill>
                  <a:srgbClr val="0B1B2B"/>
                </a:solidFill>
                <a:latin typeface="Consolas"/>
              </a:rPr>
              <a:t>.rtt_type = AA_ONLY</a:t>
            </a:r>
            <a:r>
              <a:rPr sz="1700" b="0">
                <a:solidFill>
                  <a:srgbClr val="0B1B2B"/>
                </a:solidFill>
                <a:latin typeface="Segoe UI"/>
              </a:rPr>
              <a:t>. O SDC também faz RTT com payload aleatório de 32 a 128 bits.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exercício: trocar para </a:t>
            </a:r>
            <a:r>
              <a:rPr sz="1400" b="0">
                <a:solidFill>
                  <a:srgbClr val="566577"/>
                </a:solidFill>
                <a:latin typeface="Consolas"/>
              </a:rPr>
              <a:t>BT_CONN_LE_CS_RTT_TYPE_32_BIT_RANDOM</a:t>
            </a:r>
            <a:r>
              <a:rPr sz="1400" b="0">
                <a:solidFill>
                  <a:srgbClr val="566577"/>
                </a:solidFill>
                <a:latin typeface="Segoe UI"/>
              </a:rPr>
              <a:t>, recompilar a DK, medir, desfazer com </a:t>
            </a:r>
            <a:r>
              <a:rPr sz="1400" b="0">
                <a:solidFill>
                  <a:srgbClr val="566577"/>
                </a:solidFill>
                <a:latin typeface="Consolas"/>
              </a:rPr>
              <a:t>git checkout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Relay attack</a:t>
            </a:r>
            <a:r>
              <a:rPr sz="1700" b="0">
                <a:solidFill>
                  <a:srgbClr val="0B1B2B"/>
                </a:solidFill>
                <a:latin typeface="Segoe UI"/>
              </a:rPr>
              <a:t>: engana RSSI; no RTT só acrescenta atraso. PBR sozinho é falsificável pela fase: por isso o IPT do lab 3 tem segurança menor.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SDC v3.4.0 </a:t>
            </a:r>
            <a:r>
              <a:rPr sz="1700" b="1">
                <a:solidFill>
                  <a:srgbClr val="0093D0"/>
                </a:solidFill>
                <a:latin typeface="Segoe UI"/>
              </a:rPr>
              <a:t>não</a:t>
            </a:r>
            <a:r>
              <a:rPr sz="1700" b="0">
                <a:solidFill>
                  <a:srgbClr val="0B1B2B"/>
                </a:solidFill>
                <a:latin typeface="Segoe UI"/>
              </a:rPr>
              <a:t> suporta: RTT with Sounding Sequence, NADM, CS AM Attack Resilience, canais #3c.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02 · OS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Pegadinhas da bancada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Seis sintomas sem mensagem de erro, com a causa e a correção de cada 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TAG some depois de regravar a 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Queda de conexão →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sys_reboot()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no reflector → com o J-Link acoplado, nem sempre volta a anunciar. O sintoma é igual ao de endereço errado.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nrfutil device reset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no TAG.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PPK2 no lugar do jumper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Com o PPK2 no jumper de corrente da DK (bloco anterior), o SoC fica sem a alimentação normal e o J-Link falha com debug port SELECT register. Recoloque o jumper.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RTT mostra log velho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Logo após regravar, o bloco RTT do firmware anterior pode continuar na RAM.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nrfutil device reset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leia de novo.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Serial da DK muda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 DK enumera duas COM; o log sai na segunda. E o VCOM só fala com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DTR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ativo.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cs_capture.py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do lab 5 já cuida disso.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8154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Gravou o TAG em vez da 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154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TAG no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DEBUG OUT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= debugger no TAG.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nrfutil device device-info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antes de gravar: nRF54L15 é o TAG, nRF54LM20B é a DK.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4164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620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Um initiator esquecido rouba o TAG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reflector aceita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uma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conexão. Uma DK com firmware antigo ligada na sala conecta primeiro.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nrfutil device recover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nela.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02 · OS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Testando com smartphone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Teste conduzido pelo instrutor, com o telefone como initiator. O bloco não depende dele.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TAG do lab 1 com </a:t>
            </a:r>
            <a:r>
              <a:rPr sz="1700" b="1">
                <a:solidFill>
                  <a:srgbClr val="0093D0"/>
                </a:solidFill>
                <a:latin typeface="Segoe UI"/>
              </a:rPr>
              <a:t>três fragmentos</a:t>
            </a:r>
            <a:r>
              <a:rPr sz="1700" b="0">
                <a:solidFill>
                  <a:srgbClr val="0B1B2B"/>
                </a:solidFill>
                <a:latin typeface="Segoe UI"/>
              </a:rPr>
              <a:t>: </a:t>
            </a:r>
            <a:r>
              <a:rPr sz="1700" b="0">
                <a:solidFill>
                  <a:srgbClr val="0B1B2B"/>
                </a:solidFill>
                <a:latin typeface="Consolas"/>
              </a:rPr>
              <a:t>android_ranging.conf</a:t>
            </a:r>
            <a:r>
              <a:rPr sz="1700" b="0">
                <a:solidFill>
                  <a:srgbClr val="0B1B2B"/>
                </a:solidFill>
                <a:latin typeface="Segoe UI"/>
              </a:rPr>
              <a:t> (do SDK: bonding, settings, 2 antenna paths), </a:t>
            </a:r>
            <a:r>
              <a:rPr sz="1700" b="0">
                <a:solidFill>
                  <a:srgbClr val="0B1B2B"/>
                </a:solidFill>
                <a:latin typeface="Consolas"/>
              </a:rPr>
              <a:t>demo.conf</a:t>
            </a:r>
            <a:r>
              <a:rPr sz="1700" b="0">
                <a:solidFill>
                  <a:srgbClr val="0B1B2B"/>
                </a:solidFill>
                <a:latin typeface="Segoe UI"/>
              </a:rPr>
              <a:t> (nome </a:t>
            </a:r>
            <a:r>
              <a:rPr sz="1700" b="0">
                <a:solidFill>
                  <a:srgbClr val="0B1B2B"/>
                </a:solidFill>
                <a:latin typeface="Consolas"/>
              </a:rPr>
              <a:t>CS Reflector DEMO</a:t>
            </a:r>
            <a:r>
              <a:rPr sz="1700" b="0">
                <a:solidFill>
                  <a:srgbClr val="0B1B2B"/>
                </a:solidFill>
                <a:latin typeface="Segoe UI"/>
              </a:rPr>
              <a:t>) e </a:t>
            </a:r>
            <a:r>
              <a:rPr sz="1700" b="0">
                <a:solidFill>
                  <a:srgbClr val="0B1B2B"/>
                </a:solidFill>
                <a:latin typeface="Consolas"/>
              </a:rPr>
              <a:t>s26.conf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Pixel 9 ou 10 com o nRF Toolbox da loja: funciona como veio. A </a:t>
            </a:r>
            <a:r>
              <a:rPr sz="1700" b="0">
                <a:solidFill>
                  <a:srgbClr val="0B1B2B"/>
                </a:solidFill>
                <a:latin typeface="Consolas"/>
              </a:rPr>
              <a:t>RangingManager</a:t>
            </a:r>
            <a:r>
              <a:rPr sz="1700" b="0">
                <a:solidFill>
                  <a:srgbClr val="0B1B2B"/>
                </a:solidFill>
                <a:latin typeface="Segoe UI"/>
              </a:rPr>
              <a:t> do Android faz o algoritmo.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Galaxy S26: o </a:t>
            </a:r>
            <a:r>
              <a:rPr sz="1700" b="0">
                <a:solidFill>
                  <a:srgbClr val="0B1B2B"/>
                </a:solidFill>
                <a:latin typeface="Consolas"/>
              </a:rPr>
              <a:t>ras_reflector</a:t>
            </a:r>
            <a:r>
              <a:rPr sz="1700" b="0">
                <a:solidFill>
                  <a:srgbClr val="0B1B2B"/>
                </a:solidFill>
                <a:latin typeface="Segoe UI"/>
              </a:rPr>
              <a:t> original falha com </a:t>
            </a:r>
            <a:r>
              <a:rPr sz="1700" b="1">
                <a:solidFill>
                  <a:srgbClr val="0093D0"/>
                </a:solidFill>
                <a:latin typeface="Segoe UI"/>
              </a:rPr>
              <a:t>0x1E</a:t>
            </a:r>
            <a:r>
              <a:rPr sz="1700" b="0">
                <a:solidFill>
                  <a:srgbClr val="0B1B2B"/>
                </a:solidFill>
                <a:latin typeface="Segoe UI"/>
              </a:rPr>
              <a:t> no Procedure Enable. Dois ajustes, os dois obrigatórios: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no reflector: </a:t>
            </a:r>
            <a:r>
              <a:rPr sz="1400" b="0">
                <a:solidFill>
                  <a:srgbClr val="566577"/>
                </a:solidFill>
                <a:latin typeface="Consolas"/>
              </a:rPr>
              <a:t>CONFIG_BT_CTLR_SDC_MAX_CONN_EVENT_LEN_DEFAULT=1250</a:t>
            </a:r>
            <a:r>
              <a:rPr sz="1400" b="0">
                <a:solidFill>
                  <a:srgbClr val="566577"/>
                </a:solidFill>
                <a:latin typeface="Segoe UI"/>
              </a:rPr>
              <a:t> (é o </a:t>
            </a:r>
            <a:r>
              <a:rPr sz="1400" b="0">
                <a:solidFill>
                  <a:srgbClr val="566577"/>
                </a:solidFill>
                <a:latin typeface="Consolas"/>
              </a:rPr>
              <a:t>s26.conf</a:t>
            </a:r>
            <a:r>
              <a:rPr sz="1400" b="0">
                <a:solidFill>
                  <a:srgbClr val="566577"/>
                </a:solidFill>
                <a:latin typeface="Segoe UI"/>
              </a:rPr>
              <a:t>)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no telefone: </a:t>
            </a:r>
            <a:r>
              <a:rPr sz="1400" b="0">
                <a:solidFill>
                  <a:srgbClr val="566577"/>
                </a:solidFill>
                <a:latin typeface="Consolas"/>
              </a:rPr>
              <a:t>min_sub_event_len</a:t>
            </a:r>
            <a:r>
              <a:rPr sz="1400" b="0">
                <a:solidFill>
                  <a:srgbClr val="566577"/>
                </a:solidFill>
                <a:latin typeface="Segoe UI"/>
              </a:rPr>
              <a:t> ≥ 2250 µs. O nRF Toolbox da loja não expõe isso; precisa de um build próprio do app (open source, Kotlin)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Plano B, se não houver telefone compatível no dia: o par embarcado projetado na tela, e a thread do DevZone como estudo de caso de interoperabilidade.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Os labs 1 a 4 em uma tela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reflector é o sample da Nordic </a:t>
            </a:r>
            <a:r>
              <a:rPr sz="1500" b="1">
                <a:solidFill>
                  <a:srgbClr val="E8F1F8"/>
                </a:solidFill>
                <a:latin typeface="Segoe UI"/>
              </a:rPr>
              <a:t>sem uma linha do curso</a:t>
            </a:r>
            <a:r>
              <a:rPr sz="1500" b="0">
                <a:solidFill>
                  <a:srgbClr val="93A6B8"/>
                </a:solidFill>
                <a:latin typeface="Segoe UI"/>
              </a:rPr>
              <a:t>: só o RTT como console.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initiator filtra pelo </a:t>
            </a:r>
            <a:r>
              <a:rPr sz="1500" b="1">
                <a:solidFill>
                  <a:srgbClr val="E8F1F8"/>
                </a:solidFill>
                <a:latin typeface="Segoe UI"/>
              </a:rPr>
              <a:t>seu</a:t>
            </a:r>
            <a:r>
              <a:rPr sz="1500" b="0">
                <a:solidFill>
                  <a:srgbClr val="93A6B8"/>
                </a:solidFill>
                <a:latin typeface="Segoe UI"/>
              </a:rPr>
              <a:t> TAG: UUID ou nome </a:t>
            </a:r>
            <a:r>
              <a:rPr sz="1500" b="1">
                <a:solidFill>
                  <a:srgbClr val="E8F1F8"/>
                </a:solidFill>
                <a:latin typeface="Segoe UI"/>
              </a:rPr>
              <a:t>e</a:t>
            </a:r>
            <a:r>
              <a:rPr sz="1500" b="0">
                <a:solidFill>
                  <a:srgbClr val="93A6B8"/>
                </a:solidFill>
                <a:latin typeface="Segoe UI"/>
              </a:rPr>
              <a:t> endereço, o mesmo que o Edge AI usou.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Três colunas no lab 2, </a:t>
            </a:r>
            <a:r>
              <a:rPr sz="1500" b="1">
                <a:solidFill>
                  <a:srgbClr val="E8F1F8"/>
                </a:solidFill>
                <a:latin typeface="Segoe UI"/>
              </a:rPr>
              <a:t>uma</a:t>
            </a:r>
            <a:r>
              <a:rPr sz="1500" b="0">
                <a:solidFill>
                  <a:srgbClr val="93A6B8"/>
                </a:solidFill>
                <a:latin typeface="Segoe UI"/>
              </a:rPr>
              <a:t> no lab 3, e 30 ms em vez de ~200. É o trade-off do IPT.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Segurança: ACL cifrada, canais e payloads sorteados, RTT como limite físico. O IPT abre mão do RTT.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gravações do TAG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por fio (RAS, IPT)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 →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colunas de estimativa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RAS → 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~200 / 30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entre estimativas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medido na bancada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+1,2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viés a 0,78 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algoritmo de 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Os quatro labs usam os samples do SDK. O que se faz com o IQ é o assunto do lab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