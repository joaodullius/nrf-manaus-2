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SoC — System on Chip: CPU, memória e rádio no mesmo chip (nRF54LM20).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DK — Development Kit: a placa de desenvolvimento (nRF54LM20-DK).</a:t>
            </a:r>
          </a:p>
          <a:p>
            <a:r>
              <a:t>EB II — nRF7002 Expansion Board II: o shield com o nRF7002 que encaixa na DK.</a:t>
            </a:r>
          </a:p>
          <a:p>
            <a:r>
              <a:t>SDK — Software Development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SSID — Service Set Identifier: o nome da rede Wi-Fi.</a:t>
            </a:r>
          </a:p>
          <a:p>
            <a:r>
              <a:t>BSSID — Basic Service Set Identifier: o endereço MAC do rádio do AP.</a:t>
            </a:r>
          </a:p>
          <a:p>
            <a:r>
              <a:t>MAC — Medium Access Control: a camada que decide quem transmite e quando; também o endereço de hardware da interface.</a:t>
            </a:r>
          </a:p>
          <a:p>
            <a:r>
              <a:t>HE — High Efficiency: o nome técnico do PHY do 802.11ax (Wi-Fi 6).</a:t>
            </a:r>
          </a:p>
          <a:p>
            <a:r>
              <a:t>RSSI — Received Signal Strength Indication: potência do sinal recebido, em dBm (negativo).</a:t>
            </a:r>
          </a:p>
          <a:p>
            <a:r>
              <a:t>WPA2 — Wi-Fi Protected Access 2 (2004): segurança com cifra CCMP/AES; -PSK usa senha compartilhada.</a:t>
            </a:r>
          </a:p>
          <a:p>
            <a:r>
              <a:t>PSK — Pre-Shared Key: a senha da rede, compartilhada por todos os clientes.</a:t>
            </a:r>
          </a:p>
          <a:p>
            <a:r>
              <a:t>WPA3 — Wi-Fi Protected Access 3: sucessor do WPA2; -SAE troca o PSK por um handshake resistente a dicionário.</a:t>
            </a:r>
          </a:p>
          <a:p>
            <a:r>
              <a:t>SAE — Simultaneous Authentication of Equals: o handshake do WPA3-Personal (Dragonfly).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IP — Internet Protocol: o endereçamento e o roteamento entre redes.</a:t>
            </a:r>
          </a:p>
          <a:p>
            <a:r>
              <a:t>STA — Station, estação: o dispositivo que entra na rede de um AP. O kit é STA.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SSID — Service Set Identifier: o nome da rede Wi-Fi.</a:t>
            </a:r>
          </a:p>
          <a:p>
            <a:r>
              <a:t>PTK — Pairwise Transient Key: chave derivada no 4-way handshake que protege o tráfego unicast desta estação.</a:t>
            </a:r>
          </a:p>
          <a:p>
            <a:r>
              <a:t>GTK — Group Temporal Key: chave que protege broadcast e multicast, distribuída pelo AP no handshake.</a:t>
            </a:r>
          </a:p>
          <a:p>
            <a:r>
              <a:t>CCMP — Counter Mode CBC-MAC Protocol: a cifra do WPA2/WPA3, baseada em AES.</a:t>
            </a:r>
          </a:p>
          <a:p>
            <a:r>
              <a:t>AID — Association ID: número que o AP dá à estação ao associar; é o bit dela no TIM.</a:t>
            </a:r>
          </a:p>
          <a:p>
            <a:r>
              <a:t>DHCP — Dynamic Host Configuration Protocol: o cliente pede endereço, máscara e gateway ao roteador (discover, offer, request, ack).</a:t>
            </a:r>
          </a:p>
          <a:p>
            <a:r>
              <a:t>LI — Listen Interval: de quantos em quantos beacons a estação promete acordar (vai no quadro de associação).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OFDMA — Orthogonal Frequency-Division Multiple Access: divide o canal em Resource Units para vários clientes ao mesmo tempo (Wi-Fi 6).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BSS — Basic Service Set: um AP e as estações associadas a ele.</a:t>
            </a:r>
          </a:p>
          <a:p>
            <a:r>
              <a:t>HE — High Efficiency: o nome técnico do PHY do 802.11ax (Wi-Fi 6).</a:t>
            </a:r>
          </a:p>
          <a:p>
            <a:r>
              <a:t>MU-MIMO — Multi-User MIMO: várias antenas servindo vários clientes ao mesmo tempo; o nRF7002 (1 fluxo) não usa.</a:t>
            </a:r>
          </a:p>
          <a:p>
            <a:r>
              <a:t>QAM — Quadrature Amplitude Modulation: modulação; 64-QAM leva 6 bits por símbolo.</a:t>
            </a:r>
          </a:p>
          <a:p>
            <a:r>
              <a:t>PHY — Physical layer: a camada física do rádio (modulação, taxa). 86 Mbps de PHY não são 86 Mbps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ONT — Optical Network Terminal: o modem/roteador da fibra, o AP da bancada.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HE — High Efficiency: o nome técnico do PHY do 802.11ax (Wi-Fi 6).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FullMAC — Arquitetura em que toda a MAC 802.11 roda no chip de rádio, não no host. O nRF70 é FullMAC.</a:t>
            </a:r>
          </a:p>
          <a:p>
            <a:r>
              <a:t>MAC — Medium Access Control: a camada que decide quem transmite e quando; também o endereço de hardware da interface.</a:t>
            </a:r>
          </a:p>
          <a:p>
            <a:r>
              <a:t>PHY — Physical layer: a camada física do rádio (modulação, taxa). 86 Mbps de PHY não são 86 Mbps de dados.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TCP — Transmission Control Protocol: conexão confiável, em ordem.</a:t>
            </a:r>
          </a:p>
          <a:p>
            <a:r>
              <a:t>IP — Internet Protocol: o endereçamento e o roteamento entre redes.</a:t>
            </a:r>
          </a:p>
          <a:p>
            <a:r>
              <a:t>SoC — System on Chip: CPU, memória e rádio no mesmo chip (nRF54LM20).</a:t>
            </a:r>
          </a:p>
          <a:p>
            <a:r>
              <a:t>BUCKEN — Buck Enable: a linha que liga o regulador interno do nRF7002.</a:t>
            </a:r>
          </a:p>
          <a:p>
            <a:r>
              <a:t>IOVDD — Alimentação da interface de I/O do nRF7002 (P4 na EB II).</a:t>
            </a:r>
          </a:p>
          <a:p>
            <a:r>
              <a:t>IRQ — Interrupt Request: HOST_IRQ é a linha com que o companion avisa o host.</a:t>
            </a:r>
          </a:p>
          <a:p>
            <a:r>
              <a:t>RPU — Radio Processing Unit: o processador dentro do nRF7002 que roda o firmware (blob).</a:t>
            </a:r>
          </a:p>
          <a:p>
            <a:r>
              <a:t>VBAT — Alimentação principal do nRF7002, o trilho do rádio (P10 na EB II).</a:t>
            </a:r>
          </a:p>
          <a:p>
            <a:r>
              <a:t>P10 — Conector da EB II onde se mede a corrente do VBAT (com o SB10 cortado).</a:t>
            </a:r>
          </a:p>
          <a:p>
            <a:r>
              <a:t>P17 — Conector de expansão da LM20-DK onde a EB II encaixa.</a:t>
            </a:r>
          </a:p>
          <a:p>
            <a:r>
              <a:t>SB10 — Solder bridge da EB II, fechado de fábrica, que fecha o VBAT; cortar para medir em P10.</a:t>
            </a:r>
          </a:p>
          <a:p>
            <a:r>
              <a:t>PDM — Pulse-Density Modulation: a interface do microfone digital do Edge AI.</a:t>
            </a:r>
          </a:p>
          <a:p>
            <a:r>
              <a:t>UART — Universal Asynchronous Receiver/Transmitter: a serial do console.</a:t>
            </a:r>
          </a:p>
          <a:p>
            <a:r>
              <a:t>VCOM — Virtual COM port: a porta serial que o chip de interface da DK cria no PC.</a:t>
            </a:r>
          </a:p>
          <a:p>
            <a:r>
              <a:t>BLE — Bluetooth Low Energy: o rádio de 2,4 GHz do próprio nRF54LM20.</a:t>
            </a:r>
          </a:p>
          <a:p>
            <a:r>
              <a:t>SDC — SoftDevice Controller: o controlador Bluetooth da Nordic.</a:t>
            </a:r>
          </a:p>
          <a:p>
            <a:r>
              <a:t>CX — Coexistence: a interface de coexistência entre o rádio BLE e o Wi-Fi.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MCU — Microcontroller Unit.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EB II — nRF7002 Expansion Board II: o shield com o nRF7002 que encaixa na DK.</a:t>
            </a:r>
          </a:p>
          <a:p>
            <a:r>
              <a:t>STA — Station, estação: o dispositivo que entra na rede de um AP. O kit é STA.</a:t>
            </a:r>
          </a:p>
          <a:p>
            <a:r>
              <a:t>SSID — Service Set Identifier: o nome da rede Wi-Fi.</a:t>
            </a:r>
          </a:p>
          <a:p>
            <a:r>
              <a:t>PHY — Physical layer: a camada física do rádio (modulação, taxa). 86 Mbps de PHY não são 86 Mbps de dados.</a:t>
            </a:r>
          </a:p>
          <a:p>
            <a:r>
              <a:t>OFDMA — Orthogonal Frequency-Division Multiple Access: divide o canal em Resource Units para vários clientes ao mesmo tempo (Wi-Fi 6).</a:t>
            </a:r>
          </a:p>
          <a:p>
            <a:r>
              <a:t>BSS — Basic Service Set: um AP e as estações associadas a ele.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QSPI — Quad SPI: SPI com 4 linhas de dados; o nRF54LM20 não tem.</a:t>
            </a:r>
          </a:p>
          <a:p>
            <a:r>
              <a:t>BUCKEN — Buck Enable: a linha que liga o regulador interno do nRF7002.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L2 — Camada 2 (enlace): no Zephyr, o módulo que fala com o driver — Ethernet, Wi-Fi mgmt.</a:t>
            </a:r>
          </a:p>
          <a:p>
            <a:r>
              <a:t>TCP — Transmission Control Protocol: conexão confiável, em ordem.</a:t>
            </a:r>
          </a:p>
          <a:p>
            <a:r>
              <a:t>IP — Internet Protocol: o endereçamento e o roteamento entre redes.</a:t>
            </a:r>
          </a:p>
          <a:p>
            <a:r>
              <a:t>DHCP — Dynamic Host Configuration Protocol: o cliente pede endereço, máscara e gateway ao roteador (discover, offer, request, ack).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MAC — Medium Access Control: a camada que decide quem transmite e quando; também o endereço de hardware da interface.</a:t>
            </a:r>
          </a:p>
          <a:p>
            <a:r>
              <a:t>PHY — Physical layer: a camada física do rádio (modulação, taxa). 86 Mbps de PHY não são 86 Mbps de dados.</a:t>
            </a:r>
          </a:p>
          <a:p>
            <a:r>
              <a:t>RPU — Radio Processing Unit: o processador dentro do nRF7002 que roda o firmware (blob).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L2 — Camada 2 (enlace): no Zephyr, o módulo que fala com o driver — Ethernet, Wi-Fi mgmt.</a:t>
            </a:r>
          </a:p>
          <a:p>
            <a:r>
              <a:t>DHCP — Dynamic Host Configuration Protocol: o cliente pede endereço, máscara e gateway ao roteador (discover, offer, request, ack).</a:t>
            </a:r>
          </a:p>
          <a:p>
            <a:r>
              <a:t>IP — Internet Protocol: o endereçamento e o roteamento entre redes.</a:t>
            </a:r>
          </a:p>
          <a:p>
            <a:r>
              <a:t>SSID — Service Set Identifier: o nome da rede Wi-Fi.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TCP — Transmission Control Protocol: conexão confiável, em ordem.</a:t>
            </a:r>
          </a:p>
          <a:p>
            <a:r>
              <a:t>IP — Internet Protocol: o endereçamento e o roteamento entre redes.</a:t>
            </a:r>
          </a:p>
          <a:p>
            <a:r>
              <a:t>MTU — Maximum Transmission Unit: o maior pacote que a interface envia (1492 B no wlan0).</a:t>
            </a:r>
          </a:p>
          <a:p>
            <a:r>
              <a:t>IPv4 — Internet Protocol versão 4: endereços de 32 bits (192.168.x.x).</a:t>
            </a:r>
          </a:p>
          <a:p>
            <a:r>
              <a:t>DHCP — Dynamic Host Configuration Protocol: o cliente pede endereço, máscara e gateway ao roteador (discover, offer, request, ack).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IPv6 — Internet Protocol versão 6: endereços de 128 bits (2804:...).</a:t>
            </a:r>
          </a:p>
          <a:p>
            <a:r>
              <a:t>SLAAC — Stateless Address Autoconfiguration: o IPv6 que o dispositivo monta sozinho a partir do prefixo anunciado pelo roteador.</a:t>
            </a:r>
          </a:p>
          <a:p>
            <a:r>
              <a:t>PC — Personal Computer.</a:t>
            </a:r>
          </a:p>
          <a:p>
            <a:r>
              <a:t>DNS — Domain Name System: traduz nomes em endereços IP.</a:t>
            </a:r>
          </a:p>
          <a:p>
            <a:r>
              <a:t>HTTP — Hypertext Transfer Protocol: pedido/resposta; o cliente sempre inicia.</a:t>
            </a:r>
          </a:p>
          <a:p>
            <a:r>
              <a:t>MQTT — Message Queuing Telemetry Transport: publish/subscribe por meio de um broker.</a:t>
            </a:r>
          </a:p>
          <a:p>
            <a:r>
              <a:t>UDP — User Datagram Protocol: datagramas sem conexão nem garantia de entrega.</a:t>
            </a:r>
          </a:p>
          <a:p>
            <a:r>
              <a:t>zperf — O gerador de tráfego do Zephyr, compatível com o iperf 2.</a:t>
            </a:r>
          </a:p>
          <a:p>
            <a:r>
              <a:t>TLS — Transport Layer Security: cifra e autentica uma conexão (HTTPS = HTTP sobre TLS).</a:t>
            </a:r>
          </a:p>
          <a:p>
            <a:r>
              <a:t>RAM — Random Access Memory: a memória de trabalho (511 KB no nRF54LM20).</a:t>
            </a:r>
          </a:p>
          <a:p>
            <a:r>
              <a:t>HTTPS — HTTP sobre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L2 — Camada 2 (enlace): no Zephyr, o módulo que fala com o driver — Ethernet, Wi-Fi mgmt.</a:t>
            </a:r>
          </a:p>
          <a:p>
            <a:r>
              <a:t>TCP — Transmission Control Protocol: conexão confiável, em ordem.</a:t>
            </a:r>
          </a:p>
          <a:p>
            <a:r>
              <a:t>UDP — User Datagram Protocol: datagramas sem conexão nem garantia de entrega.</a:t>
            </a:r>
          </a:p>
          <a:p>
            <a:r>
              <a:t>ICMP — Internet Control Message Protocol: mensagens de controle; o ping usa ICMP.</a:t>
            </a:r>
          </a:p>
          <a:p>
            <a:r>
              <a:t>IPv4 — Internet Protocol versão 4: endereços de 32 bits (192.168.x.x).</a:t>
            </a:r>
          </a:p>
          <a:p>
            <a:r>
              <a:t>IPv6 — Internet Protocol versão 6: endereços de 128 bits (2804:...).</a:t>
            </a:r>
          </a:p>
          <a:p>
            <a:r>
              <a:t>HTTP — Hypertext Transfer Protocol: pedido/resposta; o cliente sempre inicia.</a:t>
            </a:r>
          </a:p>
          <a:p>
            <a:r>
              <a:t>MQTT — Message Queuing Telemetry Transport: publish/subscribe por meio de um broker.</a:t>
            </a:r>
          </a:p>
          <a:p>
            <a:r>
              <a:t>DNS — Domain Name System: traduz nomes em endereços IP.</a:t>
            </a:r>
          </a:p>
          <a:p>
            <a:r>
              <a:t>mDNS — Multicast DNS: resolve nomes .local por multicast na rede local, sem servidor.</a:t>
            </a:r>
          </a:p>
          <a:p>
            <a:r>
              <a:t>MTU — Maximum Transmission Unit: o maior pacote que a interface envia (1492 B no wlan0).</a:t>
            </a:r>
          </a:p>
          <a:p>
            <a:r>
              <a:t>ARP — Address Resolution Protocol: descobre o MAC de um IP na rede local (feito pelo L2 Ethernet).</a:t>
            </a:r>
          </a:p>
          <a:p>
            <a:r>
              <a:t>L3 — Camada 3 (rede): IPv4/IPv6.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MAC — Medium Access Control: a camada que decide quem transmite e quando; também o endereço de hardware da interface.</a:t>
            </a:r>
          </a:p>
          <a:p>
            <a:r>
              <a:t>PHY — Physical layer: a camada física do rádio (modulação, taxa). 86 Mbps de PHY não são 86 Mbps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BSS — Basic Service Set: um AP e as estações associadas a ele.</a:t>
            </a:r>
          </a:p>
          <a:p>
            <a:r>
              <a:t>PTK — Pairwise Transient Key: chave derivada no 4-way handshake que protege o tráfego unicast desta estação.</a:t>
            </a:r>
          </a:p>
          <a:p>
            <a:r>
              <a:t>GTK — Group Temporal Key: chave que protege broadcast e multicast, distribuída pelo AP no handshake.</a:t>
            </a:r>
          </a:p>
          <a:p>
            <a:r>
              <a:t>802.1X — Controle de acesso por porta: a estação (suplicante) só ganha rede depois que um servidor de autenticação aprova.</a:t>
            </a:r>
          </a:p>
          <a:p>
            <a:r>
              <a:t>LED — Light-Emitting Diode.</a:t>
            </a:r>
          </a:p>
          <a:p>
            <a:r>
              <a:t>RAM — Random Access Memory: a memória de trabalho (511 KB no nRF54LM20).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CMake — O gerador de build que o Zephyr usa por baixo do west.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BUCKEN — Buck Enable: a linha que liga o regulador interno do nRF7002.</a:t>
            </a:r>
          </a:p>
          <a:p>
            <a:r>
              <a:t>IRQ — Interrupt Request: HOST_IRQ é a linha com que o companion avisa o host.</a:t>
            </a:r>
          </a:p>
          <a:p>
            <a:r>
              <a:t>RAM — Random Access Memory: a memória de trabalho (511 KB no nRF54LM20).</a:t>
            </a:r>
          </a:p>
          <a:p>
            <a:r>
              <a:t>SDK — Software Development Kit.</a:t>
            </a:r>
          </a:p>
          <a:p>
            <a:r>
              <a:t>sysbuild — O build de sistema do Zephyr, que constrói várias imagens e escopa opções por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VCOM — Virtual COM port: a porta serial que o chip de interface da DK cria no PC.</a:t>
            </a:r>
          </a:p>
          <a:p>
            <a:r>
              <a:t>DK — Development Kit: a placa de desenvolvimento (nRF54LM20-DK).</a:t>
            </a:r>
          </a:p>
          <a:p>
            <a:r>
              <a:t>devicetree — A descrição de hardware do Zephyr (pinos, periféricos, overlays).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TIM — Traffic Indication Map: elemento dentro de todo beacon com o bitmap das estações que têm quadro unicast guardado no AP.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TU — Time Unit do 802.11: 1024 µs. Beacon interval 100 TU = 102,4 ms.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PS — Power Save: modo de economia em que o rádio dorme entre beacons.</a:t>
            </a:r>
          </a:p>
          <a:p>
            <a:r>
              <a:t>PS-Poll — Quadro que a estação manda ao AP para buscar um quadro unicast guardado (Legacy Power Save).</a:t>
            </a:r>
          </a:p>
          <a:p>
            <a:r>
              <a:t>SP — Service Period: a janela em que a estação TWT está acordada e o AP a atende.</a:t>
            </a:r>
          </a:p>
          <a:p>
            <a:r>
              <a:t>AID — Association ID: número que o AP dá à estação ao associar; é o bit dela no TIM.</a:t>
            </a:r>
          </a:p>
          <a:p>
            <a:r>
              <a:t>LI — Listen Interval: de quantos em quantos beacons a estação promete acordar (vai no quadro de associação).</a:t>
            </a:r>
          </a:p>
          <a:p>
            <a:r>
              <a:t>PPK2 — Power Profiler Kit II: o medidor de corrente da Nordic (200 nA a 1 A, 100 kSa/s).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TWT — Target Wake Time (Wi-Fi 6): a estação negocia com o AP o próprio horário de acordar. Opcional no 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SSID — Service Set Identifier: o nome da rede Wi-Fi.</a:t>
            </a:r>
          </a:p>
          <a:p>
            <a:r>
              <a:t>HTTPS — HTTP sobre TLS.</a:t>
            </a:r>
          </a:p>
          <a:p>
            <a:r>
              <a:t>GATT — Generic Attribute Profile: o modelo de serviços e características do BLE.</a:t>
            </a:r>
          </a:p>
          <a:p>
            <a:r>
              <a:t>BLE — Bluetooth Low Energy: o rádio de 2,4 GHz do próprio nRF54LM20.</a:t>
            </a:r>
          </a:p>
          <a:p>
            <a:r>
              <a:t>ZMS — Zephyr Memory Storage: backend de settings mais novo, usado no lab 8a.</a:t>
            </a:r>
          </a:p>
          <a:p>
            <a:r>
              <a:t>NVS — Non-Volatile Storage: backend de settings em flash (lab 8b).</a:t>
            </a:r>
          </a:p>
          <a:p>
            <a:r>
              <a:t>PSA — Platform Security Architecture: as APIs de criptografia e armazenamento seguro da Arm; PSA ITS é o armazenamento interno confiável.</a:t>
            </a:r>
          </a:p>
          <a:p>
            <a:r>
              <a:t>ITS — Internal Trusted Storage: armazenamento protegido da PSA, usado pelo wifi_credentials em alvos com TF-M.</a:t>
            </a:r>
          </a:p>
          <a:p>
            <a:r>
              <a:t>TF-M — Trusted Firmware-M: o firmware seguro (TrustZone) dos alvos /ns.</a:t>
            </a:r>
          </a:p>
          <a:p>
            <a:r>
              <a:t>API — Application Programming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WPA2 — Wi-Fi Protected Access 2 (2004): segurança com cifra CCMP/AES; -PSK usa senha compartilhada.</a:t>
            </a:r>
          </a:p>
          <a:p>
            <a:r>
              <a:t>X.509 — O formato padrão de certificado digital.</a:t>
            </a:r>
          </a:p>
          <a:p>
            <a:r>
              <a:t>PSK — Pre-Shared Key: a senha da rede, compartilhada por todos os clientes.</a:t>
            </a:r>
          </a:p>
          <a:p>
            <a:r>
              <a:t>WPA3 — Wi-Fi Protected Access 3: sucessor do WPA2; -SAE troca o PSK por um handshake resistente a dicionário.</a:t>
            </a:r>
          </a:p>
          <a:p>
            <a:r>
              <a:t>SAE — Simultaneous Authentication of Equals: o handshake do WPA3-Personal (Dragonfly).</a:t>
            </a:r>
          </a:p>
          <a:p>
            <a:r>
              <a:t>EAP — Extensible Authentication Protocol: a moldura de autenticação do 802.1X; EAP-TLS usa certificados.</a:t>
            </a:r>
          </a:p>
          <a:p>
            <a:r>
              <a:t>EAP-TLS — EAP com TLS: cliente e servidor se autenticam por certificado X.509, sem senha de rede.</a:t>
            </a:r>
          </a:p>
          <a:p>
            <a:r>
              <a:t>TLS — Transport Layer Security: cifra e autentica uma conexão (HTTPS = HTTP sobre TLS).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RADIUS — Servidor de autenticação usado no Wi-Fi Enterprise; o AP só encaminha para ele.</a:t>
            </a:r>
          </a:p>
          <a:p>
            <a:r>
              <a:t>802.1X — Controle de acesso por porta: a estação (suplicante) só ganha rede depois que um servidor de autenticação aprova.</a:t>
            </a:r>
          </a:p>
          <a:p>
            <a:r>
              <a:t>CA — Certificate Authority: quem assina certificados; o cliente confia no servidor porque confia na CA.</a:t>
            </a:r>
          </a:p>
          <a:p>
            <a:r>
              <a:t>NCS — nRF Connect SDK.</a:t>
            </a:r>
          </a:p>
          <a:p>
            <a:r>
              <a:t>PSA — Platform Security Architecture: as APIs de criptografia e armazenamento seguro da Arm; PSA ITS é o armazenamento interno confiável.</a:t>
            </a:r>
          </a:p>
          <a:p>
            <a:r>
              <a:t>hostapd — O daemon de AP e servidor RADIUS do projeto hostap (o mesmo do wpa_supplicant).</a:t>
            </a:r>
          </a:p>
          <a:p>
            <a:r>
              <a:t>protobuf — Protocol Buffers: serialização binária com schema (.proto). Serializa, não criptografa.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DK — Development Kit: a placa de desenvolvimento (nRF54LM20-DK).</a:t>
            </a:r>
          </a:p>
          <a:p>
            <a:r>
              <a:t>EB II — nRF7002 Expansion Board II: o shield com o nRF7002 que encaixa na DK.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IP — Internet Protocol: o endereçamento e o roteamento entre redes.</a:t>
            </a:r>
          </a:p>
          <a:p>
            <a:r>
              <a:t>HTTPS — HTTP sobre TLS.</a:t>
            </a:r>
          </a:p>
          <a:p>
            <a:r>
              <a:t>protobuf — Protocol Buffers: serialização binária com schema (.proto). Serializa, não criptografa.</a:t>
            </a:r>
          </a:p>
          <a:p>
            <a:r>
              <a:t>BLE — Bluetooth Low Energy: o rádio de 2,4 GHz do próprio nRF54LM20.</a:t>
            </a:r>
          </a:p>
          <a:p>
            <a:r>
              <a:t>TCP — Transmission Control Protocol: conexão confiável, em ordem.</a:t>
            </a:r>
          </a:p>
          <a:p>
            <a:r>
              <a:t>LED — Light-Emitting Diode.</a:t>
            </a:r>
          </a:p>
          <a:p>
            <a:r>
              <a:t>PC — Personal Computer.</a:t>
            </a:r>
          </a:p>
          <a:p>
            <a:r>
              <a:t>HTTP — Hypertext Transfer Protocol: pedido/resposta; o cliente sempre inicia.</a:t>
            </a:r>
          </a:p>
          <a:p>
            <a:r>
              <a:t>MQTT — Message Queuing Telemetry Transport: publish/subscribe por meio de um broker.</a:t>
            </a:r>
          </a:p>
          <a:p>
            <a:r>
              <a:t>PPK2 — Power Profiler Kit II: o medidor de corrente da Nordic (200 nA a 1 A, 100 kSa/s).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iperf — Ferramenta de medir vazão de rede; a versão 2 fala com o zperf do Zephyr.</a:t>
            </a:r>
          </a:p>
          <a:p>
            <a:r>
              <a:t>OAT — Organization Auth Token do nRF Cloud: a chave que autoriza chamadas ao Location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FullMAC — Arquitetura em que toda a MAC 802.11 roda no chip de rádio, não no host. O nRF70 é FullMAC.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IP — Internet Protocol: o endereçamento e o roteamento entre redes.</a:t>
            </a:r>
          </a:p>
          <a:p>
            <a:r>
              <a:t>TIM — Traffic Indication Map: elemento dentro de todo beacon com o bitmap das estações que têm quadro unicast guardado no AP.</a:t>
            </a:r>
          </a:p>
          <a:p>
            <a:r>
              <a:t>DTIM — Delivery TIM: o TIM especial que aparece a cada N beacons e anuncia tráfego broadcast/multicast. Não é outro mecanismo: é um TIM privilegiado.</a:t>
            </a:r>
          </a:p>
          <a:p>
            <a:r>
              <a:t>AP — Access Point, ponto de acesso: quem anuncia a rede e dá acesso a ela (o roteador).</a:t>
            </a:r>
          </a:p>
          <a:p>
            <a:r>
              <a:t>TWT — Target Wake Time (Wi-Fi 6): a estação negocia com o AP o próprio horário de acordar. Opcional no AP.</a:t>
            </a:r>
          </a:p>
          <a:p>
            <a:r>
              <a:t>TU — Time Unit do 802.11: 1024 µs. Beacon interval 100 TU = 102,4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40">
                <a:solidFill>
                  <a:srgbClr val="22C3E6"/>
                </a:solidFill>
                <a:latin typeface="Segoe UI"/>
              </a:rPr>
              <a:t>MÓDULO 2 · 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6926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Wi-Fi 6 para IoT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Companion, pilha e economia de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8961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 Wi-Fi que já existia, o que o Wi-Fi 6 muda de verdade para um dispositivo a bateria, e como isso se materializa num </a:t>
            </a:r>
            <a:r>
              <a:rPr sz="1600" b="1" i="0">
                <a:solidFill>
                  <a:srgbClr val="E8F1F8"/>
                </a:solidFill>
                <a:latin typeface="Segoe UI"/>
              </a:rPr>
              <a:t>SoC de 128 MHz com um companion por SPI</a:t>
            </a:r>
            <a:r>
              <a:rPr sz="1600" b="0" i="0">
                <a:solidFill>
                  <a:srgbClr val="93A6B8"/>
                </a:solidFill>
                <a:latin typeface="Segoe UI"/>
              </a:rPr>
              <a:t>. Este bloco é a teoria que os labs 6 a 13 levam para a bancada.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709160"/>
            <a:ext cx="1850745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802.11ax · Wi-Fi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6857" y="4709160"/>
            <a:ext cx="176570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nRF7002 companion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5443" y="470916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nRF54LM20-DK + EB II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9147" y="4709160"/>
            <a:ext cx="2190902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nRF Connect SDK v3.4.0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 termos do </a:t>
            </a:r>
            <a:r>
              <a:rPr sz="3200" b="1" i="0">
                <a:solidFill>
                  <a:srgbClr val="0B1B2B"/>
                </a:solidFill>
                <a:latin typeface="Consolas"/>
              </a:rPr>
              <a:t>wifi scan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Nada disto é Wi-Fi 6: é o 802.11 de sempre, e o companion implementa tudo. São os campos que o lab 6 imprime.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931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19"/>
                <a:gridCol w="6035039"/>
                <a:gridCol w="308427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Termo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significa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Exemplo da bancada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AP e estação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AP anuncia a rede e dá acesso. A estação é quem entra. O kit é estação (no lab 8a ele vira AP por um momento).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Interface Mode: STATION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SSID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nome da rede, escolhido por quem a configurou.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PepeuNet-6G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BSSID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endereço MAC do rádio do AP. Um AP com dois rádios tem dois BSSIDs.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...58:CF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em 2,4 GHz e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...58:CE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em 5 GHz — o mesmo SSID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Banda e canal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GHz (canais 1 a 14) alcança mais longe; 5 GHz (36 e acima) é mais rápido e menos disputado.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canal 6 e canal 52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Geração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802.11n é Wi-Fi 4, ac é Wi-Fi 5, ax é Wi-Fi 6. O nRF7002 fala todas.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WIFI 6 (802.11ax/HE)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RSSI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potência com que o sinal chega, em dBm. Sempre negativo: −34 é forte, −90 é o limite.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−34 a −83 nas 26 redes vistas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Segurança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Como a senha é usada: WPA2-PSK (senha compartilhada), WPA3-SAE (senha, handshake mais forte), Enterprise (certificado).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WPA2-PSK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→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-k 1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no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connect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Como uma estação entra na rede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Do reset ao IP,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cerca de 7 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no lab 7 — e 4 s disso é varredura. A senha nunca viaja: o 4-way handshake prova que os dois lados a conhecem e deriva as chaves da sessão.</a:t>
            </a:r>
          </a:p>
        </p:txBody>
      </p:sp>
      <p:pic>
        <p:nvPicPr>
          <p:cNvPr id="9" name="Picture 8" descr="wifi_associaca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30" y="1810512"/>
            <a:ext cx="1004263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o Wi-Fi 6 muda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Da lista de melhorias do 802.11ax, a Nordic implementa no nRF70 as que servem a dispositivos pequenos e a bateria. Conferido no product brief e no product specification.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29968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OFDMA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414016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O canal de 20 MHz é dividido em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Resource Units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vários dispositivos transmitem no mesmo instante, cada um no seu pedaço. Menos disputa quando há muitos clientes com pouco dado. O nRF7002 suporta nos dois sentidos.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883664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029968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TWT — Target Wake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414016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 estação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negocia com o AP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quando vai acordar, em vez de herdar o calendário coletivo dos beacons. Dorme de segundos a horas. É o recurso de bateria — e é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opcional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no AP.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4164" y="1883664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3620" y="2029968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BSS coloring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3620" y="2414016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Um campo de 6 bits no cabeçalho identifica a rede vizinha: pacotes de outra cor podem ser tratados como ruído e a estação transmite por cima. Mais reuso do espectro em prédio cheio.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165092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11396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HE e símbolos mais longos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695444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High Efficiency: 4× mais subportadoras, símbolo mais longo, mais robusto a multipercurso. É o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HE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que aparece em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Link Mode: WIFI 6 (802.11ax/HE)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698" y="4165092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8154" y="4311396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o nRF7002 não faz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8154" y="4695444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MU-MIMO, 160 MHz, 8 fluxos e a banda de 6 GHz (Wi-Fi 6E) são para roteadores e laptops. O companion é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1 fluxo, 20 MHz, MCS7 (64-QAM), 86 Mbps de PHY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, em 2,4 e 5 GHz. É um rádio de IoT, de propósito.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4164" y="4165092"/>
            <a:ext cx="3454298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620" y="4311396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importa para bateria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620" y="4695444"/>
            <a:ext cx="3015386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Dormir bem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TWT quando o AP negocia, e os dois degraus que já existiam antes do Wi-Fi 6 quando não. A escada inteira está adiante.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Wi-Fi 6 não garante TWT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ONT da bancada de preparação é um AP 802.11ax de verdade. E responde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Peer not TWT capable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47672"/>
            <a:ext cx="10765231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700" b="0">
                <a:solidFill>
                  <a:srgbClr val="0B1B2B"/>
                </a:solidFill>
                <a:latin typeface="Segoe UI"/>
              </a:rPr>
              <a:t>TWT é </a:t>
            </a:r>
            <a:r>
              <a:rPr sz="1700" b="1">
                <a:solidFill>
                  <a:srgbClr val="0093D0"/>
                </a:solidFill>
                <a:latin typeface="Segoe UI"/>
              </a:rPr>
              <a:t>opcional</a:t>
            </a:r>
            <a:r>
              <a:rPr sz="1700" b="0">
                <a:solidFill>
                  <a:srgbClr val="0B1B2B"/>
                </a:solidFill>
                <a:latin typeface="Segoe UI"/>
              </a:rPr>
              <a:t> na spec. Um AP pode ser Wi-Fi 6 legítimo, negociar HE, e não anunciar TWT Responder.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700" b="0">
                <a:solidFill>
                  <a:srgbClr val="0B1B2B"/>
                </a:solidFill>
                <a:latin typeface="Segoe UI"/>
              </a:rPr>
              <a:t>Medido na bancada (2026-09-06), com o firmware do lab 6 e o power save do nRF7002 já ligado:</a:t>
            </a:r>
          </a:p>
          <a:p>
            <a:pPr lvl="1" marL="576072" indent="-256032">
              <a:lnSpc>
                <a:spcPct val="118000"/>
              </a:lnSpc>
              <a:spcAft>
                <a:spcPts val="400"/>
              </a:spcAft>
              <a:buClr>
                <a:srgbClr val="566577"/>
              </a:buClr>
              <a:buSzPct val="90000"/>
              <a:buFont typeface="Segoe UI"/>
              <a:buChar char="–"/>
            </a:pPr>
            <a:r>
              <a:rPr sz="1400" b="0">
                <a:solidFill>
                  <a:srgbClr val="566577"/>
                </a:solidFill>
                <a:latin typeface="Segoe UI"/>
              </a:rPr>
              <a:t>2,4 GHz, canal 6: </a:t>
            </a:r>
            <a:r>
              <a:rPr sz="1400" b="0">
                <a:solidFill>
                  <a:srgbClr val="566577"/>
                </a:solidFill>
                <a:latin typeface="Consolas"/>
              </a:rPr>
              <a:t>Link Mode: WIFI 6 (802.11ax/HE)</a:t>
            </a:r>
            <a:r>
              <a:rPr sz="1400" b="0">
                <a:solidFill>
                  <a:srgbClr val="566577"/>
                </a:solidFill>
                <a:latin typeface="Segoe UI"/>
              </a:rPr>
              <a:t> e </a:t>
            </a:r>
            <a:r>
              <a:rPr sz="1400" b="0">
                <a:solidFill>
                  <a:srgbClr val="566577"/>
                </a:solidFill>
                <a:latin typeface="Consolas"/>
              </a:rPr>
              <a:t>TWT: Not supported</a:t>
            </a:r>
          </a:p>
          <a:p>
            <a:pPr lvl="1" marL="576072" indent="-256032">
              <a:lnSpc>
                <a:spcPct val="118000"/>
              </a:lnSpc>
              <a:spcAft>
                <a:spcPts val="400"/>
              </a:spcAft>
              <a:buClr>
                <a:srgbClr val="566577"/>
              </a:buClr>
              <a:buSzPct val="90000"/>
              <a:buFont typeface="Segoe UI"/>
              <a:buChar char="–"/>
            </a:pPr>
            <a:r>
              <a:rPr sz="1400" b="0">
                <a:solidFill>
                  <a:srgbClr val="566577"/>
                </a:solidFill>
                <a:latin typeface="Segoe UI"/>
              </a:rPr>
              <a:t>5 GHz, canal 52: </a:t>
            </a:r>
            <a:r>
              <a:rPr sz="1400" b="0">
                <a:solidFill>
                  <a:srgbClr val="566577"/>
                </a:solidFill>
                <a:latin typeface="Consolas"/>
              </a:rPr>
              <a:t>Link Mode: UNKNOWN</a:t>
            </a:r>
            <a:r>
              <a:rPr sz="1400" b="0">
                <a:solidFill>
                  <a:srgbClr val="566577"/>
                </a:solidFill>
                <a:latin typeface="Segoe UI"/>
              </a:rPr>
              <a:t> (campo não preenchido pelo driver) e </a:t>
            </a:r>
            <a:r>
              <a:rPr sz="1400" b="0">
                <a:solidFill>
                  <a:srgbClr val="566577"/>
                </a:solidFill>
                <a:latin typeface="Consolas"/>
              </a:rPr>
              <a:t>TWT: Not supported</a:t>
            </a:r>
          </a:p>
          <a:p>
            <a:pPr lvl="1" marL="576072" indent="-256032">
              <a:lnSpc>
                <a:spcPct val="118000"/>
              </a:lnSpc>
              <a:spcAft>
                <a:spcPts val="400"/>
              </a:spcAft>
              <a:buClr>
                <a:srgbClr val="566577"/>
              </a:buClr>
              <a:buSzPct val="90000"/>
              <a:buFont typeface="Segoe UI"/>
              <a:buChar char="–"/>
            </a:pPr>
            <a:r>
              <a:rPr sz="1400" b="0">
                <a:solidFill>
                  <a:srgbClr val="566577"/>
                </a:solidFill>
                <a:latin typeface="Consolas"/>
              </a:rPr>
              <a:t>wifi twt quick_setup 65024 524288</a:t>
            </a:r>
            <a:r>
              <a:rPr sz="1400" b="0">
                <a:solidFill>
                  <a:srgbClr val="566577"/>
                </a:solidFill>
                <a:latin typeface="Segoe UI"/>
              </a:rPr>
              <a:t> → </a:t>
            </a:r>
            <a:r>
              <a:rPr sz="1400" b="0">
                <a:solidFill>
                  <a:srgbClr val="566577"/>
                </a:solidFill>
                <a:latin typeface="Consolas"/>
              </a:rPr>
              <a:t>TWT setup ... failed, reason : Peer not TWT capable</a:t>
            </a:r>
            <a:r>
              <a:rPr sz="1400" b="0">
                <a:solidFill>
                  <a:srgbClr val="566577"/>
                </a:solidFill>
                <a:latin typeface="Segoe UI"/>
              </a:rPr>
              <a:t>, nas duas bandas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700" b="0">
                <a:solidFill>
                  <a:srgbClr val="0B1B2B"/>
                </a:solidFill>
                <a:latin typeface="Segoe UI"/>
              </a:rPr>
              <a:t>É por isso que o lab 11 tem uma </a:t>
            </a:r>
            <a:r>
              <a:rPr sz="1700" b="1">
                <a:solidFill>
                  <a:srgbClr val="0093D0"/>
                </a:solidFill>
                <a:latin typeface="Segoe UI"/>
              </a:rPr>
              <a:t>Parte A</a:t>
            </a:r>
            <a:r>
              <a:rPr sz="1700" b="0">
                <a:solidFill>
                  <a:srgbClr val="0B1B2B"/>
                </a:solidFill>
                <a:latin typeface="Segoe UI"/>
              </a:rPr>
              <a:t> que não depende de Wi-Fi 6 (DTIM e listen interval) e uma </a:t>
            </a:r>
            <a:r>
              <a:rPr sz="1700" b="1">
                <a:solidFill>
                  <a:srgbClr val="0093D0"/>
                </a:solidFill>
                <a:latin typeface="Segoe UI"/>
              </a:rPr>
              <a:t>Parte B</a:t>
            </a:r>
            <a:r>
              <a:rPr sz="1700" b="0">
                <a:solidFill>
                  <a:srgbClr val="0B1B2B"/>
                </a:solidFill>
                <a:latin typeface="Segoe UI"/>
              </a:rPr>
              <a:t> (TWT) pendente de um AP que negocie.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700" b="0">
                <a:solidFill>
                  <a:srgbClr val="0B1B2B"/>
                </a:solidFill>
                <a:latin typeface="Segoe UI"/>
              </a:rPr>
              <a:t>Para o aluno: o comando acima é a forma de conferir </a:t>
            </a:r>
            <a:r>
              <a:rPr sz="1700" b="1">
                <a:solidFill>
                  <a:srgbClr val="0093D0"/>
                </a:solidFill>
                <a:latin typeface="Segoe UI"/>
              </a:rPr>
              <a:t>na própria rede</a:t>
            </a:r>
            <a:r>
              <a:rPr sz="1700" b="0">
                <a:solidFill>
                  <a:srgbClr val="0B1B2B"/>
                </a:solidFill>
                <a:latin typeface="Segoe UI"/>
              </a:rPr>
              <a:t> se o AP negocia TWT. Não acredite no rótulo.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Companion IC: host e nRF7002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nRF7002 é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FullMAC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MAC e PHY 802.11 rodam dentro dele. Pelo SPI passam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quadros Ethernet e controle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TCP/IP, supplicant e driver ficam no nRF54LM20.</a:t>
            </a:r>
          </a:p>
        </p:txBody>
      </p:sp>
      <p:pic>
        <p:nvPicPr>
          <p:cNvPr id="9" name="Picture 8" descr="wifi_compan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907" y="1810512"/>
            <a:ext cx="9707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família nRF70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Um companion IC não tem CPU de aplicação: ele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precisa de um host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A Nordic o pensou para nRF52/53/54/91, mas qualquer MCU com SPI serve. Fonte: product briefs e product specifications.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8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39"/>
                <a:gridCol w="2743199"/>
                <a:gridCol w="2377439"/>
                <a:gridCol w="326715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nRF7000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nRF7001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nRF7002 (o da EB II)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Wi-Fi 6 (802.11ax)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a/b/g/n/ac/ax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Bandas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2,4 + 5 GHz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só 2,4 GHz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2,4 + 5 GHz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Varredura (scan)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é para isso que existe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Estação (STA) e SoftAP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e Wi-Fi Direct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Uso típico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locationing por SSID junto do nRF91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produto só 2,4 GHz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completo: os labs 6 a 13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Rádio (os três)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 fluxo · 20 MHz · MCS7 · 86 Mbps PHY · OFDMA · BSS coloring · TWT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42239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42239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Host por SPI (4 fios) ou QSPI (6 fios) + HOST_IRQ + BUCKEN, coex de 3 ou 4 fios. A EB II usa SPI a 8 MHz: o nRF54LM20 não tem QSPI — e o lab 12 mostra que o SPI não é o gargalo.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As seis camadas de software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“O Wi-Fi” não é uma peça. São seis camadas de lugares diferentes da árvore, e 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prefixo da linha de log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diz em qual delas o problema está — sem abrir o código.</a:t>
            </a:r>
          </a:p>
        </p:txBody>
      </p:sp>
      <p:pic>
        <p:nvPicPr>
          <p:cNvPr id="9" name="Picture 8" descr="wifi_pilha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10765231" cy="41404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Consolas"/>
              </a:rPr>
              <a:t>net_mgmt()</a:t>
            </a:r>
            <a:r>
              <a:rPr sz="3200" b="1" i="0">
                <a:solidFill>
                  <a:srgbClr val="0B1B2B"/>
                </a:solidFill>
                <a:latin typeface="Segoe UI"/>
              </a:rPr>
              <a:t>: pedidos e eventos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aplicação não chama o supplicant nem o driver. Ela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pede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algo à pilha com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net_mgmt()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assina eventos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para saber o resultado. Tudo é assíncrono: pedir e acontecer são dois momentos.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56232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0093D0"/>
                </a:solidFill>
                <a:latin typeface="Segoe UI"/>
              </a:rPr>
              <a:t>Pedidos</a:t>
            </a:r>
            <a:r>
              <a:rPr sz="1500" b="0">
                <a:solidFill>
                  <a:srgbClr val="0B1B2B"/>
                </a:solidFill>
                <a:latin typeface="Segoe UI"/>
              </a:rPr>
              <a:t> (</a:t>
            </a:r>
            <a:r>
              <a:rPr sz="1500" b="0">
                <a:solidFill>
                  <a:srgbClr val="0B1B2B"/>
                </a:solidFill>
                <a:latin typeface="Consolas"/>
              </a:rPr>
              <a:t>NET_REQUEST_...</a:t>
            </a:r>
            <a:r>
              <a:rPr sz="1500" b="0">
                <a:solidFill>
                  <a:srgbClr val="0B1B2B"/>
                </a:solidFill>
                <a:latin typeface="Segoe UI"/>
              </a:rPr>
              <a:t>): conectar com a credencial guardada, varrer, mudar o regime de energia, ler o status. O nome diz a camada: </a:t>
            </a:r>
            <a:r>
              <a:rPr sz="1500" b="0">
                <a:solidFill>
                  <a:srgbClr val="0B1B2B"/>
                </a:solidFill>
                <a:latin typeface="Consolas"/>
              </a:rPr>
              <a:t>WIFI_</a:t>
            </a:r>
            <a:r>
              <a:rPr sz="1500" b="0">
                <a:solidFill>
                  <a:srgbClr val="0B1B2B"/>
                </a:solidFill>
                <a:latin typeface="Segoe UI"/>
              </a:rPr>
              <a:t> vai ao Wi-Fi mgmt L2.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0093D0"/>
                </a:solidFill>
                <a:latin typeface="Segoe UI"/>
              </a:rPr>
              <a:t>Eventos</a:t>
            </a:r>
            <a:r>
              <a:rPr sz="1500" b="0">
                <a:solidFill>
                  <a:srgbClr val="0B1B2B"/>
                </a:solidFill>
                <a:latin typeface="Segoe UI"/>
              </a:rPr>
              <a:t> (</a:t>
            </a:r>
            <a:r>
              <a:rPr sz="1500" b="0">
                <a:solidFill>
                  <a:srgbClr val="0B1B2B"/>
                </a:solidFill>
                <a:latin typeface="Consolas"/>
              </a:rPr>
              <a:t>NET_EVENT_...</a:t>
            </a:r>
            <a:r>
              <a:rPr sz="1500" b="0">
                <a:solidFill>
                  <a:srgbClr val="0B1B2B"/>
                </a:solidFill>
                <a:latin typeface="Segoe UI"/>
              </a:rPr>
              <a:t>): associou ou falhou, caiu, varredura terminou, DHCP entregou. </a:t>
            </a:r>
            <a:r>
              <a:rPr sz="1500" b="0">
                <a:solidFill>
                  <a:srgbClr val="0B1B2B"/>
                </a:solidFill>
                <a:latin typeface="Consolas"/>
              </a:rPr>
              <a:t>WIFI_</a:t>
            </a:r>
            <a:r>
              <a:rPr sz="1500" b="0">
                <a:solidFill>
                  <a:srgbClr val="0B1B2B"/>
                </a:solidFill>
                <a:latin typeface="Segoe UI"/>
              </a:rPr>
              <a:t> vem do L2; </a:t>
            </a:r>
            <a:r>
              <a:rPr sz="1500" b="0">
                <a:solidFill>
                  <a:srgbClr val="0B1B2B"/>
                </a:solidFill>
                <a:latin typeface="Consolas"/>
              </a:rPr>
              <a:t>IPV4_</a:t>
            </a:r>
            <a:r>
              <a:rPr sz="1500" b="0">
                <a:solidFill>
                  <a:srgbClr val="0B1B2B"/>
                </a:solidFill>
                <a:latin typeface="Segoe UI"/>
              </a:rPr>
              <a:t> vem da pilha IP — por isso link e IP são dois eventos.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44952"/>
            <a:ext cx="10765231" cy="2859024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246120"/>
            <a:ext cx="10125151" cy="24566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1. assinar os eventos que interessam (antes de pedir qualquer coisa)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net_mgmt_init_event_callback(&amp;wifi_cb, handler_wifi, NET_EVENT_WIFI_CONNECT_RESULT);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net_mgmt_add_event_callback(&amp;wifi_cb);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net_mgmt_init_event_callback(&amp;net_cb, handler_net, NET_EVENT_IPV4_DHCP_BOUND);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net_mgmt_add_event_callback(&amp;net_cb);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2. pedir. A chamada volta na hora; o resultado chega como evento, mais tarde */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net_mgmt(NET_REQUEST_WIFI_CONNECT_STORED, iface, </a:t>
            </a:r>
            <a:r>
              <a:rPr sz="1400" b="1">
                <a:solidFill>
                  <a:srgbClr val="4FC3E8"/>
                </a:solidFill>
                <a:latin typeface="Consolas"/>
              </a:rPr>
              <a:t>NULL</a:t>
            </a:r>
            <a:r>
              <a:rPr sz="1400" b="0">
                <a:solidFill>
                  <a:srgbClr val="DCE8F2"/>
                </a:solidFill>
                <a:latin typeface="Consolas"/>
              </a:rPr>
              <a:t>, 0);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/* 3. reagir: handler_wifi recebe CONNECT_RESULT (~7 s), handler_net recebe DHCP_BOUND (+150 ms) */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967984"/>
            <a:ext cx="107652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66577"/>
                </a:solidFill>
                <a:latin typeface="Segoe UI"/>
              </a:rPr>
              <a:t>O trecho é o do lab 9 (src/main.c). O </a:t>
            </a:r>
            <a:r>
              <a:rPr sz="1200" b="0" i="1">
                <a:solidFill>
                  <a:srgbClr val="566577"/>
                </a:solidFill>
                <a:latin typeface="Consolas"/>
              </a:rPr>
              <a:t>CONNECT_STORED</a:t>
            </a:r>
            <a:r>
              <a:rPr sz="1200" b="0" i="1">
                <a:solidFill>
                  <a:srgbClr val="566577"/>
                </a:solidFill>
                <a:latin typeface="Segoe UI"/>
              </a:rPr>
              <a:t> vem da extensão da Nordic (</a:t>
            </a:r>
            <a:r>
              <a:rPr sz="1200" b="0" i="1">
                <a:solidFill>
                  <a:srgbClr val="566577"/>
                </a:solidFill>
                <a:latin typeface="Consolas"/>
              </a:rPr>
              <a:t>wifi_mgmt_ext</a:t>
            </a:r>
            <a:r>
              <a:rPr sz="1200" b="0" i="1">
                <a:solidFill>
                  <a:srgbClr val="566577"/>
                </a:solidFill>
                <a:latin typeface="Segoe UI"/>
              </a:rPr>
              <a:t>): pega SSID e senha do cofre </a:t>
            </a:r>
            <a:r>
              <a:rPr sz="1200" b="0" i="1">
                <a:solidFill>
                  <a:srgbClr val="566577"/>
                </a:solidFill>
                <a:latin typeface="Consolas"/>
              </a:rPr>
              <a:t>wifi_credentials</a:t>
            </a:r>
            <a:r>
              <a:rPr sz="1200" b="0" i="1">
                <a:solidFill>
                  <a:srgbClr val="566577"/>
                </a:solidFill>
                <a:latin typeface="Segoe UI"/>
              </a:rPr>
              <a:t>, não de argumento.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TCP/IP sobre Wi-Fi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Para a pilha do Zephyr, o Wi-Fi é uma placa de rede (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wlan0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MTU 1492). Daqui para cima é o mesmo TCP/IP que rodaria sobre Ethernet — e é o que a súmula chama de “TCP/IP sobre Wi-Fi”.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79"/>
                <a:gridCol w="5120639"/>
                <a:gridCol w="40901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Para que serve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Como aparece nos labs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Endereço IPv4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kit pede um endereço ao roteador por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DHCP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: quatro mensagens, discover, offer, request, ack. Só depois disso ele tem para onde mandar.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DHCP IP address: 192.168.15.19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lease de 4 h. Na volta do AP, renova em 21 ms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Endereço IPv6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Sem pedir a ninguém: o kit monta o próprio endereço a partir do prefixo que o roteador anuncia (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SLAAC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).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2804:...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aparece no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net iface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sem configuração nenhuma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Nomes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Os labs apontam para o PC por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IP escrito na mão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CONFIG_LAB_SERVIDOR_IP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). Não há DNS envolvido.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só o 8a usa um nome: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wifiprov.local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resolvido dentro da rede do próprio kit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TCP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Conexão confiável: chega tudo, em ordem, ou a conexão cai. Um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socket()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+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connect()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como no PC.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lab 9 (telemetria), HTTP e MQTT em cima dele; lab 13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UDP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Datagramas sem conexão: rápido, sem garantia de entrega. Serve para medir vazão.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zperf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do lab 12: 1024 B por datagrama, 0% de perda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TLS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Cifra o socket TCP e autentica o servidor por certificado. Custa RAM (mbedTLS).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só o 8a (HTTPS). Labs 9 e 10 ficam sem TLS de propósito, para comparar transportes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pilha de rede do Zephyr por dentro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Cinco camadas, dois pontos de entrada (sockets para dados,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net_mgmt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para controle), e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só o L2 fala com o driver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Um pacote troca de thread nas filas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k_fifo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é por isso que o lab 9 tem threads de aplicação, e a pilha tem as suas.</a:t>
            </a:r>
          </a:p>
        </p:txBody>
      </p:sp>
      <p:pic>
        <p:nvPicPr>
          <p:cNvPr id="9" name="Picture 8" descr="wifi_zephyr_net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10765231" cy="43060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wpa_supplicant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companion faz o rádio; quem conduz 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entrada na rede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— as fases 1 a 4 do diálogo com o AP — é um programa no host. A doc da Nordic o descreve como parte do driver.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5282031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29968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ele faz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414016"/>
            <a:ext cx="4843119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Varre e escolhe o BSS, autentica e associa (802.11), faz 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4-way handshake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e deriva PTK e GTK, mantém a associação e reassocia quando cai. No 8a, faz o papel de AP. É o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suplicante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do 802.1X: quem pede acesso e prova que tem direito.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883664"/>
            <a:ext cx="5282031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029968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É uma thread, e demora a subir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2414016"/>
            <a:ext cx="4843119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O driver fica pronto antes dele. Pedir conexão cedo demais devolve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-ENOTSUP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. Por isso os labs 7 e 9 esperam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CONFIG_WIFI_READY_LIB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antes de conectar — achado de bancada.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165092"/>
            <a:ext cx="5282031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311396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Reconecta sozinho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695444"/>
            <a:ext cx="4843119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Na queda do AP medida no lab 7, retentativas a cada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~9,7 s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sem a aplicação pedir: não há um segundo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Connection requested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no log. O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main.c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só apaga o LED.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4165092"/>
            <a:ext cx="5282031" cy="20802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4311396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É a maior conta de RAM da frente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4695444"/>
            <a:ext cx="4843119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Tudo isso roda no host, em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modules/lib/hostap/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(o mesmo código do Linux, portado; prefixo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wpa_supp: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). É por isso que o lab 12 chega a </a:t>
            </a:r>
            <a:r>
              <a:rPr sz="1200" b="1" i="0">
                <a:solidFill>
                  <a:srgbClr val="0B1B2B"/>
                </a:solidFill>
                <a:latin typeface="Segoe UI"/>
              </a:rPr>
              <a:t>71% da RAM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: ali ele divide a memória com a pilha Bluetooth.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o build precisa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27048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0093D0"/>
                </a:solidFill>
                <a:latin typeface="Segoe UI"/>
              </a:rPr>
              <a:t>Blobs</a:t>
            </a:r>
            <a:r>
              <a:rPr sz="1500" b="0">
                <a:solidFill>
                  <a:srgbClr val="0B1B2B"/>
                </a:solidFill>
                <a:latin typeface="Segoe UI"/>
              </a:rPr>
              <a:t>: cinco binários proprietários para </a:t>
            </a:r>
            <a:r>
              <a:rPr sz="1500" b="0">
                <a:solidFill>
                  <a:srgbClr val="0B1B2B"/>
                </a:solidFill>
                <a:latin typeface="Consolas"/>
              </a:rPr>
              <a:t>modules/lib/nrf_wifi/zephyr/blobs/</a:t>
            </a:r>
            <a:r>
              <a:rPr sz="1500" b="0">
                <a:solidFill>
                  <a:srgbClr val="0B1B2B"/>
                </a:solidFill>
                <a:latin typeface="Segoe UI"/>
              </a:rPr>
              <a:t>. Sem eles o CMake falha por arquivo ausente. O toolchain manager do VS Code </a:t>
            </a:r>
            <a:r>
              <a:rPr sz="1500" b="1">
                <a:solidFill>
                  <a:srgbClr val="0093D0"/>
                </a:solidFill>
                <a:latin typeface="Segoe UI"/>
              </a:rPr>
              <a:t>não</a:t>
            </a:r>
            <a:r>
              <a:rPr sz="1500" b="0">
                <a:solidFill>
                  <a:srgbClr val="0B1B2B"/>
                </a:solidFill>
                <a:latin typeface="Segoe UI"/>
              </a:rPr>
              <a:t> os baixa.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1">
                <a:solidFill>
                  <a:srgbClr val="0093D0"/>
                </a:solidFill>
                <a:latin typeface="Segoe UI"/>
              </a:rPr>
              <a:t>Shield</a:t>
            </a:r>
            <a:r>
              <a:rPr sz="1500" b="0">
                <a:solidFill>
                  <a:srgbClr val="0B1B2B"/>
                </a:solidFill>
                <a:latin typeface="Segoe UI"/>
              </a:rPr>
              <a:t> </a:t>
            </a:r>
            <a:r>
              <a:rPr sz="1500" b="0">
                <a:solidFill>
                  <a:srgbClr val="0B1B2B"/>
                </a:solidFill>
                <a:latin typeface="Consolas"/>
              </a:rPr>
              <a:t>nrf7002eb2</a:t>
            </a:r>
            <a:r>
              <a:rPr sz="1500" b="0">
                <a:solidFill>
                  <a:srgbClr val="0B1B2B"/>
                </a:solidFill>
                <a:latin typeface="Segoe UI"/>
              </a:rPr>
              <a:t>: SPI, BUCKEN, IRQ e o reroteamento do console. </a:t>
            </a:r>
            <a:r>
              <a:rPr sz="1500" b="1">
                <a:solidFill>
                  <a:srgbClr val="0093D0"/>
                </a:solidFill>
                <a:latin typeface="Segoe UI"/>
              </a:rPr>
              <a:t>Snippet</a:t>
            </a:r>
            <a:r>
              <a:rPr sz="1500" b="0">
                <a:solidFill>
                  <a:srgbClr val="0B1B2B"/>
                </a:solidFill>
                <a:latin typeface="Segoe UI"/>
              </a:rPr>
              <a:t> </a:t>
            </a:r>
            <a:r>
              <a:rPr sz="1500" b="0">
                <a:solidFill>
                  <a:srgbClr val="0B1B2B"/>
                </a:solidFill>
                <a:latin typeface="Consolas"/>
              </a:rPr>
              <a:t>nrf70-wifi</a:t>
            </a:r>
            <a:r>
              <a:rPr sz="1500" b="0">
                <a:solidFill>
                  <a:srgbClr val="0B1B2B"/>
                </a:solidFill>
                <a:latin typeface="Segoe UI"/>
              </a:rPr>
              <a:t>: no LM20 é um no-op, passa por convenção. O prefixo </a:t>
            </a:r>
            <a:r>
              <a:rPr sz="1500" b="0">
                <a:solidFill>
                  <a:srgbClr val="0B1B2B"/>
                </a:solidFill>
                <a:latin typeface="Consolas"/>
              </a:rPr>
              <a:t>&lt;imagem&gt;_</a:t>
            </a:r>
            <a:r>
              <a:rPr sz="1500" b="0">
                <a:solidFill>
                  <a:srgbClr val="0B1B2B"/>
                </a:solidFill>
                <a:latin typeface="Segoe UI"/>
              </a:rPr>
              <a:t> é obrigatório para os dois; para </a:t>
            </a:r>
            <a:r>
              <a:rPr sz="1500" b="0">
                <a:solidFill>
                  <a:srgbClr val="0B1B2B"/>
                </a:solidFill>
                <a:latin typeface="Consolas"/>
              </a:rPr>
              <a:t>EXTRA_CONF_FILE</a:t>
            </a:r>
            <a:r>
              <a:rPr sz="1500" b="0">
                <a:solidFill>
                  <a:srgbClr val="0B1B2B"/>
                </a:solidFill>
                <a:latin typeface="Segoe UI"/>
              </a:rPr>
              <a:t> é opcional, e o curso escreve sempre.</a:t>
            </a:r>
          </a:p>
          <a:p>
            <a:pPr marL="256032" indent="-256032">
              <a:lnSpc>
                <a:spcPct val="118000"/>
              </a:lnSpc>
              <a:spcAft>
                <a:spcPts val="900"/>
              </a:spcAft>
              <a:buClr>
                <a:srgbClr val="0093D0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0B1B2B"/>
                </a:solidFill>
                <a:latin typeface="Segoe UI"/>
              </a:rPr>
              <a:t>Build limpo: </a:t>
            </a:r>
            <a:r>
              <a:rPr sz="1500" b="1">
                <a:solidFill>
                  <a:srgbClr val="0093D0"/>
                </a:solidFill>
                <a:latin typeface="Segoe UI"/>
              </a:rPr>
              <a:t>7 a 12 minutos</a:t>
            </a:r>
            <a:r>
              <a:rPr sz="1500" b="0">
                <a:solidFill>
                  <a:srgbClr val="0B1B2B"/>
                </a:solidFill>
                <a:latin typeface="Segoe UI"/>
              </a:rPr>
              <a:t>; com pouca RAM livre, </a:t>
            </a:r>
            <a:r>
              <a:rPr sz="1500" b="0">
                <a:solidFill>
                  <a:srgbClr val="0B1B2B"/>
                </a:solidFill>
                <a:latin typeface="Consolas"/>
              </a:rPr>
              <a:t>-o=-j2</a:t>
            </a:r>
            <a:r>
              <a:rPr sz="1500" b="0">
                <a:solidFill>
                  <a:srgbClr val="0B1B2B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715768"/>
            <a:ext cx="10765231" cy="2624328"/>
          </a:xfrm>
          <a:prstGeom prst="roundRect">
            <a:avLst>
              <a:gd name="adj" fmla="val 4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916936"/>
            <a:ext cx="10125151" cy="2221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# uma vez por instalação do SDK — o clone não traz o firmware do companion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west</a:t>
            </a:r>
            <a:r>
              <a:rPr sz="1400" b="0">
                <a:solidFill>
                  <a:srgbClr val="DCE8F2"/>
                </a:solidFill>
                <a:latin typeface="Consolas"/>
              </a:rPr>
              <a:t> blobs fetch nrf_wifi</a:t>
            </a:r>
          </a:p>
          <a:p>
            <a:pPr>
              <a:lnSpc>
                <a:spcPct val="112000"/>
              </a:lnSpc>
            </a:pP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7FB58E"/>
                </a:solidFill>
                <a:latin typeface="Consolas"/>
              </a:rPr>
              <a:t># cada lab: shield e snippet escopados pela imagem (o nome da pasta, no sysbuild)</a:t>
            </a:r>
          </a:p>
          <a:p>
            <a:pPr>
              <a:lnSpc>
                <a:spcPct val="112000"/>
              </a:lnSpc>
            </a:pPr>
            <a:r>
              <a:rPr sz="1400" b="1">
                <a:solidFill>
                  <a:srgbClr val="4FC3E8"/>
                </a:solidFill>
                <a:latin typeface="Consolas"/>
              </a:rPr>
              <a:t>west</a:t>
            </a:r>
            <a:r>
              <a:rPr sz="1400" b="0">
                <a:solidFill>
                  <a:srgbClr val="DCE8F2"/>
                </a:solidFill>
                <a:latin typeface="Consolas"/>
              </a:rPr>
              <a:t> build -p -b nrf54lm20dk/nrf54lm20b/cpuapp --sysbuild \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-d comms/07_wifi_sta/build_lm20 comms/07_wifi_sta -- \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-D07_wifi_sta_SHIELD=</a:t>
            </a:r>
            <a:r>
              <a:rPr sz="1400" b="0">
                <a:solidFill>
                  <a:srgbClr val="FFCF6B"/>
                </a:solidFill>
                <a:latin typeface="Consolas"/>
              </a:rPr>
              <a:t>"nrf7002eb2"</a:t>
            </a:r>
            <a:r>
              <a:rPr sz="1400" b="0">
                <a:solidFill>
                  <a:srgbClr val="DCE8F2"/>
                </a:solidFill>
                <a:latin typeface="Consolas"/>
              </a:rPr>
              <a:t> \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-D07_wifi_sta_SNIPPET=nrf70-wifi \</a:t>
            </a:r>
          </a:p>
          <a:p>
            <a:pPr>
              <a:lnSpc>
                <a:spcPct val="112000"/>
              </a:lnSpc>
            </a:pPr>
            <a:r>
              <a:rPr sz="1400" b="0">
                <a:solidFill>
                  <a:srgbClr val="DCE8F2"/>
                </a:solidFill>
                <a:latin typeface="Consolas"/>
              </a:rPr>
              <a:t>  -D07_wifi_sta_EXTRA_CONF_FILE=minha_rede.conf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Console na outra VCOM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overlay do shield diz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/* UART20 conflicts with EB-II shield; use UART30 */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É um contorno para um conflito de pinos que só existe no kit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pré-produção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do LM20-DK.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8" cy="1417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39"/>
                <a:gridCol w="2377439"/>
                <a:gridCol w="1463039"/>
                <a:gridCol w="36329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Firmware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Console em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VCOM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Botões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labs de Channel Sounding (sem shield)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uart20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(P1.16/P1.17)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segunda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sw0–sw3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qualquer lab de Wi-Fi (com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nrf7002eb2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uart30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(P0.06/P0.07)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primeira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sw0–sw2 —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sw3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apagado do devicetree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341071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41071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A doc “latest” da Nordic descreve o contrário — porque em Zephyr mais novo o shield não reroteia mais nessa placa. Não é contradição, é versão. Vale a árvore instalada: v3.4.0. Na dúvida, abra as duas portas e veja qual responde.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Beacon, TIM, DTIM, listen interval e TWT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Todo beacon carrega um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TIM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(quem tem quadro guardado); um beacon a cada N é um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DTIM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o que anuncia broadcast e multicast. DTIM não é outro mecanismo: é um TIM privilegiado. Medido: beacon 100 TU, DTIM 3.</a:t>
            </a:r>
          </a:p>
        </p:txBody>
      </p:sp>
      <p:pic>
        <p:nvPicPr>
          <p:cNvPr id="9" name="Picture 8" descr="wifi_beacon_tim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10765231" cy="43060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escada de três degraus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Três degraus, três donos do intervalo de dormida. Só o último exige Wi-Fi 6, e os dois primeiros são medíveis em qualquer rede — é o que o lab 11 faz.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7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39"/>
                <a:gridCol w="2560319"/>
                <a:gridCol w="1371599"/>
                <a:gridCol w="1737359"/>
                <a:gridCol w="27185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Degrau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Quem controla o sono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Precisa de Wi-Fi 6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Perde broadcast/multicast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Quando ganha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 · DTIM Power Save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vazão e latência baixa; o padrão do nRF70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2 · Extended Power Save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(listen interval)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estação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no quadro de associação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sem AP com TWT; dezenas de beacons de sono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3 · TWT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(deep sleep)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negociado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entre estação e AP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dormidas longas, tráfego previsível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391363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1363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Transversal aos três: o </a:t>
            </a:r>
            <a:r>
              <a:rPr sz="1250" b="1" i="0">
                <a:solidFill>
                  <a:srgbClr val="0B1B2B"/>
                </a:solidFill>
                <a:latin typeface="Segoe UI"/>
              </a:rPr>
              <a:t>dynamic power save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. O nRF70 sai da economia sozinho quando há tráfego e volta depois do inactivity timer (100 ms). É um botão à parte — e é o que faz pings em rajada medirem ~8 ms em qualquer regime.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Credenciais: estática ou provisionada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onsolas"/>
              </a:rPr>
              <a:t>WIFI_CREDENTIALS_STATIC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 — labs 7, 9, 11, 12,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SSID e senha compilados no binário, a partir de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minha_rede.conf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fragmento rastreado pelo git e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vazio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; o build falha de propósito se ficar vazio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some se você muda de rede: é a justificativa do provisionamento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doc da Nordic: “Do not use static credentials in production”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é o análogo do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meu_tag.conf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que o Edge AI e o CS já dispensaram: lá o endereço é digitado no boot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provisionada — labs 8a e 8b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credencial chega em tempo de execução: por HTTPS num SoftAP ou por GATT sobre BLE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wifi_credentials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grava em memória não volátil: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settings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(ZMS/NVS) ou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PSA ITS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em alvos com TF-M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o kit provisionado volta sozinho à rede depois do reset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sw0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(8a) ou o app (8b) apagam a credencial e voltam ao modo de provisionamento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 mesma API dos dois lados: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NET_REQUEST_WIFI_CONNECT_STORED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A chamada de conexão é a mesma nos oito labs. O que muda é o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backend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 do cofre de credenciais.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Enterprise: certificado em vez de senha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No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wifi scan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do lab 6 apareceram redes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WPA2 Enterprise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Nelas não há senha da rede: o dispositivo prova quem é com um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certificado X.509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e quem decide é um servidor de autenticação.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5999"/>
                <a:gridCol w="3291839"/>
                <a:gridCol w="518739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Personal (WPA2-PSK / WPA3-SAE)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Enterprise (WPA2/WPA3-EAP-TLS)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Quem autentica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próprio AP, com a senha compartilhada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servidor RADIUS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(802.1X) atrás do AP — o AP só encaminha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que o cliente apresenta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senha (PSK) ou o handshake SAE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certificado + chave privada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próprios, e o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CA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para conferir o servidor. Identidade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anon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senha nenhuma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Por que existe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casa, hotspot, sala de aula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certificado por dispositivo: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revoga-se um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sem trocar a senha de todos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Onde ficam os certificados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no build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test_certs/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vira header) ou em runtime, no cofre TLS (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wifi_ent_cert_installer.py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Build e comando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-k 1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/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-k 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snippet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nordic-wifi-enterprise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;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wifi connect -s &lt;ssid&gt; -k 7 -a anon -K &lt;senha da chave&gt;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No nRF70 / NCS v3.4.0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PSA crypto por padrão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desde o NCS 2.8: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só EAP-TLS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na lista oficial; sem PSA crypto neste modo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42239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42239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Não é lab: exige AP em modo Enterprise e um RADIUS (a doc da Nordic traz o roteiro com hostapd). O </a:t>
            </a:r>
            <a:r>
              <a:rPr sz="1250" b="0" i="0">
                <a:solidFill>
                  <a:srgbClr val="0B1B2B"/>
                </a:solidFill>
                <a:latin typeface="Consolas"/>
              </a:rPr>
              <a:t>wifi_prov_core</a:t>
            </a:r>
            <a:r>
              <a:rPr sz="1250" b="0" i="0">
                <a:solidFill>
                  <a:srgbClr val="0B1B2B"/>
                </a:solidFill>
                <a:latin typeface="Segoe UI"/>
              </a:rPr>
              <a:t> dos labs 8a/8b já carrega EAP-TLS no protobuf: provisionar certificado é o mesmo fluxo de provisionar senha.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BLOCO 04 · WI-FI 6 PARA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 labs 6 a 13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par LM20-DK + EB II é o mesmo do lab 6 ao 13. Decks M2-05 (labs 6 a 10) e M2-06 (labs 11 a 13).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8" cy="4361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79"/>
                <a:gridCol w="3931919"/>
                <a:gridCol w="2560319"/>
                <a:gridCol w="271851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Lab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prova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Depende de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número que sai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 · shell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companion visível: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scan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connect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status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ps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AP qualquer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26 redes; um AP, dois BSSIDs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 · sta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associação programática por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minha_rede.conf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AP qualquer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~7 s do reset ao IP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8a · SoftAP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DK escaneia por você; HTTPS + protobuf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nada — a DK é o AP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5,6 s até o AP no ar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8b · BLE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mesmo protocolo por outro rádio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celular com o app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3,1 s do Set_config ao IP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9 · TCP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lab central: telemetria, botão, LED, backoff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AP + PC na mesma rede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buraco no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seq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10 · HTTP/MQTT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um payload, três transportes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broker no PC (MQTT)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74 / 269 / 99 B por amostra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11 · energia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escada de três degraus, medida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PPK2; AP com TWT (Parte B)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51 mA → 2,3 mA → 31 µA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12 · coex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dois rádios no mesmo kit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par BLE + iperf 2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BLE perde 20%, Wi-Fi 4%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13 · location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 posição não está no kit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internet no PC + OAT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16 APs → 13,4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22C3E6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F1F8"/>
                </a:solidFill>
                <a:latin typeface="Segoe UI"/>
              </a:rPr>
              <a:t>Resumo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72768"/>
            <a:ext cx="10765231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O companion é </a:t>
            </a:r>
            <a:r>
              <a:rPr sz="1500" b="1">
                <a:solidFill>
                  <a:srgbClr val="E8F1F8"/>
                </a:solidFill>
                <a:latin typeface="Segoe UI"/>
              </a:rPr>
              <a:t>FullMAC</a:t>
            </a:r>
            <a:r>
              <a:rPr sz="1500" b="0">
                <a:solidFill>
                  <a:srgbClr val="93A6B8"/>
                </a:solidFill>
                <a:latin typeface="Segoe UI"/>
              </a:rPr>
              <a:t>: 802.11 inteiro no nRF7002; pelo SPI passam quadros Ethernet.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Seis camadas, seis prefixos de log. A aplicação só toca </a:t>
            </a:r>
            <a:r>
              <a:rPr sz="1500" b="0">
                <a:solidFill>
                  <a:srgbClr val="93A6B8"/>
                </a:solidFill>
                <a:latin typeface="Consolas"/>
              </a:rPr>
              <a:t>net_mgmt()</a:t>
            </a:r>
            <a:r>
              <a:rPr sz="1500" b="0">
                <a:solidFill>
                  <a:srgbClr val="93A6B8"/>
                </a:solidFill>
                <a:latin typeface="Segoe UI"/>
              </a:rPr>
              <a:t>; associar e ter IP são </a:t>
            </a:r>
            <a:r>
              <a:rPr sz="1500" b="1">
                <a:solidFill>
                  <a:srgbClr val="E8F1F8"/>
                </a:solidFill>
                <a:latin typeface="Segoe UI"/>
              </a:rPr>
              <a:t>dois eventos</a:t>
            </a:r>
            <a:r>
              <a:rPr sz="1500" b="0">
                <a:solidFill>
                  <a:srgbClr val="93A6B8"/>
                </a:solidFill>
                <a:latin typeface="Segoe UI"/>
              </a:rPr>
              <a:t>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Todo beacon carrega um TIM; um a cada N é um DTIM. A economia é uma </a:t>
            </a:r>
            <a:r>
              <a:rPr sz="1500" b="1">
                <a:solidFill>
                  <a:srgbClr val="E8F1F8"/>
                </a:solidFill>
                <a:latin typeface="Segoe UI"/>
              </a:rPr>
              <a:t>escada de três degraus</a:t>
            </a:r>
            <a:r>
              <a:rPr sz="1500" b="0">
                <a:solidFill>
                  <a:srgbClr val="93A6B8"/>
                </a:solidFill>
                <a:latin typeface="Segoe UI"/>
              </a:rPr>
              <a:t>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“AP Wi-Fi 6” não implica TWT. Credencial estática no lab, provisionada no produto: a mesma chamada.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 × 20 MHz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fluxo · canal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do nRF7002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1689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1689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~7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8849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do reset ao IP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(4 s de varredura)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100 ·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beacon (TU) · DTIM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medidos na bancada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8605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8605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5765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camadas entre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o lab e a antena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3212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1">
                <a:solidFill>
                  <a:srgbClr val="22C3E6"/>
                </a:solidFill>
                <a:latin typeface="Segoe UI"/>
              </a:rPr>
              <a:t>O rádio dorme bem quando alguém decide quando ele acorda. Quem decide é o degrau — e o degrau é uma escolha de aplicação.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