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DK — Development Kit: a placa de desenvolvimento (nRF54LM20-DK).</a:t>
            </a:r>
          </a:p>
          <a:p>
            <a:r>
              <a:t>EB II — nRF7002 Expansion Board II: o shield com o nRF7002 que encaixa na DK.</a:t>
            </a:r>
          </a:p>
          <a:p>
            <a:r>
              <a:t>NCS — nRF Connect SDK.</a:t>
            </a:r>
          </a:p>
          <a:p>
            <a:r>
              <a:t>VCOM — Virtual COM port: a porta serial que o chip de interface da DK cria no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DK — Development Kit: a placa de desenvolvimento (nRF54LM20-DK).</a:t>
            </a:r>
          </a:p>
          <a:p>
            <a:r>
              <a:t>EB II — nRF7002 Expansion Board II: o shield com o nRF7002 que encaixa na DK.</a:t>
            </a:r>
          </a:p>
          <a:p>
            <a:r>
              <a:t>P17 — Conector de expansão da LM20-DK onde a EB II encaixa.</a:t>
            </a:r>
          </a:p>
          <a:p>
            <a:r>
              <a:t>IP — Internet Protocol: o endereçamento e o roteamento entre redes.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HTTPS — HTTP sobre TLS.</a:t>
            </a:r>
          </a:p>
          <a:p>
            <a:r>
              <a:t>BLE — Bluetooth Low Energy: o rádio de 2,4 GHz do próprio nRF54LM20.</a:t>
            </a:r>
          </a:p>
          <a:p>
            <a:r>
              <a:t>GATT — Generic Attribute Profile: o modelo de serviços e características do BLE.</a:t>
            </a:r>
          </a:p>
          <a:p>
            <a:r>
              <a:t>protobuf — Protocol Buffers: serialização binária com schema (.proto). Serializa, não criptografa.</a:t>
            </a:r>
          </a:p>
          <a:p>
            <a:r>
              <a:t>LED — Light-Emitting Diode.</a:t>
            </a:r>
          </a:p>
          <a:p>
            <a:r>
              <a:t>TCP — Transmission Control Protocol: conexão confiável, em ordem.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SDK — Software Development Kit.</a:t>
            </a:r>
          </a:p>
          <a:p>
            <a:r>
              <a:t>SSID — Service Set Identifier: o nome da rede Wi-Fi.</a:t>
            </a:r>
          </a:p>
          <a:p>
            <a:r>
              <a:t>VCOM — Virtual COM port: a porta serial que o chip de interface da DK cria no PC.</a:t>
            </a:r>
          </a:p>
          <a:p>
            <a:r>
              <a:t>EB II — nRF7002 Expansion Board II: o shield com o nRF7002 que encaixa na 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EB II — nRF7002 Expansion Board II: o shield com o nRF7002 que encaixa na 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SSID — Service Set Identifier: o nome da rede Wi-Fi.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RSSI — Received Signal Strength Indication: potência do sinal recebido, em dBm (negativo).</a:t>
            </a:r>
          </a:p>
          <a:p>
            <a:r>
              <a:t>WPA2 — Wi-Fi Protected Access 2 (2004): segurança com cifra CCMP/AES; -PSK usa senha compartilhada.</a:t>
            </a:r>
          </a:p>
          <a:p>
            <a:r>
              <a:t>PSK — Pre-Shared Key: a senha da rede, compartilhada por todos os clientes.</a:t>
            </a:r>
          </a:p>
          <a:p>
            <a:r>
              <a:t>BSSID — Basic Service Set Identifier: o endereço MAC do rádio do AP.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MFP — Management Frame Protection (802.11w): protege quadros de gerência, como deauth.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ONT — Optical Network Terminal: o modem/roteador da fibra, o AP da bancada.</a:t>
            </a:r>
          </a:p>
          <a:p>
            <a:r>
              <a:t>WPA2 — Wi-Fi Protected Access 2 (2004): segurança com cifra CCMP/AES; -PSK usa senha compartilhada.</a:t>
            </a:r>
          </a:p>
          <a:p>
            <a:r>
              <a:t>IP — Internet Protocol: o endereçamento e o roteamento entre redes.</a:t>
            </a:r>
          </a:p>
          <a:p>
            <a:r>
              <a:t>STA — Station, estação: o dispositivo que entra na rede de um AP. O kit é STA.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SSID — Service Set Identifier: o nome da rede Wi-Fi.</a:t>
            </a:r>
          </a:p>
          <a:p>
            <a:r>
              <a:t>BSSID — Basic Service Set Identifier: o endereço MAC do rádio do AP.</a:t>
            </a:r>
          </a:p>
          <a:p>
            <a:r>
              <a:t>MFP — Management Frame Protection (802.11w): protege quadros de gerência, como deauth.</a:t>
            </a:r>
          </a:p>
          <a:p>
            <a:r>
              <a:t>RSSI — Received Signal Strength Indication: potência do sinal recebido, em dBm (negativo).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TU — Time Unit do 802.11: 1024 µs. Beacon interval 100 TU = 102,4 ms.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PS — Power Save: modo de economia em que o rádio dorme entre beacons.</a:t>
            </a:r>
          </a:p>
          <a:p>
            <a:r>
              <a:t>PS-Poll — Quadro que a estação manda ao AP para buscar um quadro unicast guardado (Legacy Power Save).</a:t>
            </a:r>
          </a:p>
          <a:p>
            <a:r>
              <a:t>WMM — Wi-Fi Multimedia: QoS por classes; WMM Power Save é a alternativa ao Legacy PS.</a:t>
            </a:r>
          </a:p>
          <a:p>
            <a:r>
              <a:t>LI — Listen Interval: de quantos em quantos beacons a estação promete acordar (vai no quadro de associação).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IP — Internet Protocol: o endereçamento e o roteamento entre redes.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STA — Station, estação: o dispositivo que entra na rede de um AP. O kit é STA.</a:t>
            </a:r>
          </a:p>
          <a:p>
            <a:r>
              <a:t>SDK — Software Development Kit.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IP — Internet Protocol: o endereçamento e o roteamento entre redes.</a:t>
            </a:r>
          </a:p>
          <a:p>
            <a:r>
              <a:t>LED — Light-Emitting Diode.</a:t>
            </a:r>
          </a:p>
          <a:p>
            <a:r>
              <a:t>IPv4 — Internet Protocol versão 4: endereços de 32 bits (192.168.x.x).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STA — Station, estação: o dispositivo que entra na rede de um AP. O kit é STA.</a:t>
            </a:r>
          </a:p>
          <a:p>
            <a:r>
              <a:t>IP — Internet Protocol: o endereçamento e o roteamento entre redes.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LED — Light-Emitting Diode.</a:t>
            </a:r>
          </a:p>
          <a:p>
            <a:r>
              <a:t>IPv4 — Internet Protocol versão 4: endereços de 32 bits (192.168.x.x).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STA — Station, estação: o dispositivo que entra na rede de um AP. O kit é STA.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RSSI — Received Signal Strength Indication: potência do sinal recebido, em dBm (negativo).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IP — Internet Protocol: o endereçamento e o roteamento entre redes.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HTTPS — HTTP sobre TLS.</a:t>
            </a:r>
          </a:p>
          <a:p>
            <a:r>
              <a:t>DK — Development Kit: a placa de desenvolvimento (nRF54LM20-DK).</a:t>
            </a:r>
          </a:p>
          <a:p>
            <a:r>
              <a:t>GATT — Generic Attribute Profile: o modelo de serviços e características do BLE.</a:t>
            </a:r>
          </a:p>
          <a:p>
            <a:r>
              <a:t>BLE — Bluetooth Low Energy: o rádio de 2,4 GHz do próprio nRF54LM20.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BLE — Bluetooth Low Energy: o rádio de 2,4 GHz do próprio nRF54LM20.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DK — Development Kit: a placa de desenvolvimento (nRF54LM20-DK).</a:t>
            </a:r>
          </a:p>
          <a:p>
            <a:r>
              <a:t>HTTPS — HTTP sobre TLS.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mDNS — Multicast DNS: resolve nomes .local por multicast na rede local, sem servidor.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GATT — Generic Attribute Profile: o modelo de serviços e características do BLE.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protobuf — Protocol Buffers: serialização binária com schema (.proto). Serializa, não criptografa.</a:t>
            </a:r>
          </a:p>
          <a:p>
            <a:r>
              <a:t>nanopb — Implementação de protobuf para C embarcado, usada pelo wifi_prov_core.</a:t>
            </a:r>
          </a:p>
          <a:p>
            <a:r>
              <a:t>NVS — Non-Volatile Storage: backend de settings em flash (lab 8b).</a:t>
            </a:r>
          </a:p>
          <a:p>
            <a:r>
              <a:t>ZMS — Zephyr Memory Storage: backend de settings mais novo, usado no lab 8a.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  <a:p>
            <a:r>
              <a:t>LED — Light-Emitting Diode.</a:t>
            </a:r>
          </a:p>
          <a:p>
            <a:r>
              <a:t>IP — Internet Protocol: o endereçamento e o roteamento entre redes.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SSID — Service Set Identifier: o nome da rede Wi-Fi.</a:t>
            </a:r>
          </a:p>
          <a:p>
            <a:r>
              <a:t>mDNS — Multicast DNS: resolve nomes .local por multicast na rede local, sem servidor.</a:t>
            </a:r>
          </a:p>
          <a:p>
            <a:r>
              <a:t>CN — Common Name: o nome principal no certificado.</a:t>
            </a:r>
          </a:p>
          <a:p>
            <a:r>
              <a:t>SAN — Subject Alternative Name: os nomes de host que um certificado cobre.</a:t>
            </a:r>
          </a:p>
          <a:p>
            <a:r>
              <a:t>SDK — Software Development Kit.</a:t>
            </a:r>
          </a:p>
          <a:p>
            <a:r>
              <a:t>IP — Internet Protocol: o endereçamento e o roteamento entre redes.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Kconfig — O sistema de configuração do Zephyr: as opções CONFIG_* do prj.conf.</a:t>
            </a:r>
          </a:p>
          <a:p>
            <a:r>
              <a:t>protobuf — Protocol Buffers: serialização binária com schema (.proto). Serializa, não criptografa.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SSID — Service Set Identifier: o nome da rede Wi-Fi.</a:t>
            </a:r>
          </a:p>
          <a:p>
            <a:r>
              <a:t>ASCII — A tabela de caracteres básica; a coluna à direita de um hex dump.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mDNS — Multicast DNS: resolve nomes .local por multicast na rede local, sem servidor.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IP — Internet Protocol: o endereçamento e o roteamento entre redes.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BLE — Bluetooth Low Energy: o rádio de 2,4 GHz do próprio nRF54LM20.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  <a:p>
            <a:r>
              <a:t>HTTPS — HTTP sobre TLS.</a:t>
            </a:r>
          </a:p>
          <a:p>
            <a:r>
              <a:t>GATT — Generic Attribute Profile: o modelo de serviços e características do BLE.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DK — Development Kit: a placa de desenvolvimento (nRF54LM20-DK).</a:t>
            </a:r>
          </a:p>
          <a:p>
            <a:r>
              <a:t>protobuf — Protocol Buffers: serialização binária com schema (.proto). Serializa, não criptografa.</a:t>
            </a:r>
          </a:p>
          <a:p>
            <a:r>
              <a:t>HTTP — Hypertext Transfer Protocol: pedido/resposta; o cliente sempre inicia.</a:t>
            </a:r>
          </a:p>
          <a:p>
            <a:r>
              <a:t>mDNS — Multicast DNS: resolve nomes .local por multicast na rede local, sem servidor.</a:t>
            </a:r>
          </a:p>
          <a:p>
            <a:r>
              <a:t>NVS — Non-Volatile Storage: backend de settings em flash (lab 8b).</a:t>
            </a:r>
          </a:p>
          <a:p>
            <a:r>
              <a:t>EB II — nRF7002 Expansion Board II: o shield com o nRF7002 que encaixa na DK.</a:t>
            </a:r>
          </a:p>
          <a:p>
            <a:r>
              <a:t>RF — Radiofrequência; chave de RF é o switch de antena entre BLE e Wi-Fi (ausente na EB II desta placa).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TCP — Transmission Control Protocol: conexão confiável, em ordem.</a:t>
            </a:r>
          </a:p>
          <a:p>
            <a:r>
              <a:t>LED — Light-Emitting Diode.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TCP — Transmission Control Protocol: conexão confiável, em ordem.</a:t>
            </a:r>
          </a:p>
          <a:p>
            <a:r>
              <a:t>ISR — Interrupt Service Routine: o código que roda na interrupção; não deve fazer trabalho pesado.</a:t>
            </a:r>
          </a:p>
          <a:p>
            <a:r>
              <a:t>RSSI — Received Signal Strength Indication: potência do sinal recebido, em dBm (negativo).</a:t>
            </a:r>
          </a:p>
          <a:p>
            <a:r>
              <a:t>JSON — JavaScript Object Notation: texto estruturado em chaves e valores; o payload do lab 9.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BSD — Berkeley Software Distribution: a API de sockets clássica (socket, connect, send, recv), que o Zephyr expõe como zsock_*.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LED — Light-Emitting Diode.</a:t>
            </a:r>
          </a:p>
          <a:p>
            <a:r>
              <a:t>PC — Personal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TCP — Transmission Control Protocol: conexão confiável, em ordem.</a:t>
            </a:r>
          </a:p>
          <a:p>
            <a:r>
              <a:t>JSON — JavaScript Object Notation: texto estruturado em chaves e valores; o payload do lab 9.</a:t>
            </a:r>
          </a:p>
          <a:p>
            <a:r>
              <a:t>PC — Personal Computer.</a:t>
            </a:r>
          </a:p>
          <a:p>
            <a:r>
              <a:t>SoC — System on Chip: CPU, memória e rádio no mesmo chip (nRF54LM20).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TCP — Transmission Control Protocol: conexão confiável, em ordem.</a:t>
            </a:r>
          </a:p>
          <a:p>
            <a:r>
              <a:t>LED — Light-Emitting Diode.</a:t>
            </a:r>
          </a:p>
          <a:p>
            <a:r>
              <a:t>HTTP — Hypertext Transfer Protocol: pedido/resposta; o cliente sempre inicia.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TCP — Transmission Control Protocol: conexão confiável, em ordem.</a:t>
            </a:r>
          </a:p>
          <a:p>
            <a:r>
              <a:t>BSD — Berkeley Software Distribution: a API de sockets clássica (socket, connect, send, recv), que o Zephyr expõe como zsock_*.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DNS — Domain Name System: traduz nomes em endereços IP.</a:t>
            </a:r>
          </a:p>
          <a:p>
            <a:r>
              <a:t>IP — Internet Protocol: o endereçamento e o roteamento entre redes.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NAT — Network Address Translation: o roteador esconde a rede interna atrás de um IP; por isso o servidor não abre conexão para o kit.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TCP — Transmission Control Protocol: conexão confiável, em ordem.</a:t>
            </a:r>
          </a:p>
          <a:p>
            <a:r>
              <a:t>LED — Light-Emitting Diode.</a:t>
            </a:r>
          </a:p>
          <a:p>
            <a:r>
              <a:t>PC — Personal Computer.</a:t>
            </a:r>
          </a:p>
          <a:p>
            <a:r>
              <a:t>IP — Internet Protocol: o endereçamento e o roteamento entre redes.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  <a:p>
            <a:r>
              <a:t>TCP — Transmission Control Protocol: conexão confiável, em ordem.</a:t>
            </a:r>
          </a:p>
          <a:p>
            <a:r>
              <a:t>IP — Internet Protocol: o endereçamento e o roteamento entre redes.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IP — Internet Protocol: o endereçamento e o roteamento entre redes.</a:t>
            </a:r>
          </a:p>
          <a:p>
            <a:r>
              <a:t>protobuf — Protocol Buffers: serialização binária com schema (.proto). Serializa, não criptografa.</a:t>
            </a:r>
          </a:p>
          <a:p>
            <a:r>
              <a:t>TCP — Transmission Control Protocol: conexão confiável, em ordem.</a:t>
            </a:r>
          </a:p>
          <a:p>
            <a:r>
              <a:t>MQTT — Message Queuing Telemetry Transport: publish/subscribe por meio de um broker.</a:t>
            </a:r>
          </a:p>
          <a:p>
            <a:r>
              <a:t>HTTP — Hypertext Transfer Protocol: pedido/resposta; o cliente sempre inicia.</a:t>
            </a:r>
          </a:p>
          <a:p>
            <a:r>
              <a:t>ASCII — A tabela de caracteres básica; a coluna à direita de um hex dump.</a:t>
            </a:r>
          </a:p>
          <a:p>
            <a:r>
              <a:t>FLASH — Memória não volátil de programa (2 MB no 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05 · LABS 6 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Wi-Fi 6 na bancada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Labs 6 a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Cinco labs sobre o mesmo par de placas: o companion visto pelo shell, a associação que acontece sozinha, dois jeitos de provisionar, um dispositivo IoT completo em miniatura, e o mesmo payload viajando por três transportes.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Números reais da bancada, não exemplos.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304129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nRF54LM20-DK (B) + nRF7002-EB 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7406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NCS v3.4.0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717" y="4709160"/>
            <a:ext cx="142554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comms/06 a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9146" y="4709160"/>
            <a:ext cx="1850745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console na 1ª VCOM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05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cinco labs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Uma DK e uma EB II por aluno. A EB II não sai do conector P17 em nenhum lab; o que muda é o firmware.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774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476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202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6 · shell da Nordic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311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nenhuma linha de aplicação.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device list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wifi scan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connect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status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ps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o companion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cru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24612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8163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8620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7889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7 · associação programática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0998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minha_rede.conf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um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sem shell: o firmware conecta e sobe IP sozinho, em ~7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11480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68503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73075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65760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8a e 8b · provisionamento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96849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 DK vira AP e recebe por HTTPS; ou anuncia por BLE e recebe por GATT. Mesmo protobuf, mesmo cofre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9834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5537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5262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9 · o lab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8371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código do curso: telemetria, botão, LED e reconexão com backoff, por TCP puro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" y="54223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4681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3949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Lab 10 · um payload, três transportes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57058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firmware do lab 9 recompilado com HTTP e MQTT. Bytes, FLASH, RAM e o custo do polling, medidos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05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Kit e convenções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82031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00784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Cópias do SDK, com ORIGEM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4843119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Cada lab é uma app independente em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comms/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Os que vêm do SDK trazem cabeçalho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ORIGEM: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cada mudança marcada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ALTERADO PELO CURSO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Os labs 9 e 13 são código do curso.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54480"/>
            <a:ext cx="5282031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700784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Consolas"/>
              </a:rPr>
              <a:t>minha_rede.conf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084832"/>
            <a:ext cx="4843119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SSID e senha da rede da sala, num fragmento rastreado 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vazio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Sem ele preenchido o build falha na configuração, de propósito.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git checkout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nele antes de qualquer commit.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000500"/>
            <a:ext cx="5282031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146804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Console na primeira VCOM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530852"/>
            <a:ext cx="4843119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Com a EB II, o overlay move o console para a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uart30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Quem vem do Channel Sounding (segunda VCOM) precisa trocar. Abra as duas e veja qual responde.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4000500"/>
            <a:ext cx="5282031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4146804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Blobs e prefixo de imagem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4530852"/>
            <a:ext cx="4843119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west blobs fetch nrf_wifi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uma vez.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-D&lt;pasta&gt;_SHIELD="nrf7002eb2"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-D&lt;pasta&gt;_SNIPPET=nrf70-wifi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em toda linha de build. 7 a 12 min por build limpo.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6 · O shell de Wi-Fi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shell de Wi-Fi da Nordic sobre a EB II, sem lógica de aplicação. Cada comando fala direto com o driver e o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wpa_supplicant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 É a base de que os labs 7, 8 e 11 partem.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6 ·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Consolas"/>
              </a:rPr>
              <a:t>device list</a:t>
            </a:r>
            <a:r>
              <a:rPr sz="3200" b="1" i="0">
                <a:solidFill>
                  <a:srgbClr val="0B1B2B"/>
                </a:solidFill>
                <a:latin typeface="Segoe UI"/>
              </a:rPr>
              <a:t> e </a:t>
            </a:r>
            <a:r>
              <a:rPr sz="3200" b="1" i="0">
                <a:solidFill>
                  <a:srgbClr val="0B1B2B"/>
                </a:solidFill>
                <a:latin typeface="Consolas"/>
              </a:rPr>
              <a:t>wifi scan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 observação que rende aula: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 rede da bancada aparece duas vezes, mesmo SSID, BSSIDs diferentes. É um AP com dois rádios — 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-b 2/5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connect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escolhe qual.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19"/>
                <a:gridCol w="5486399"/>
                <a:gridCol w="31757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é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Na bancada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spi@c8000 (READY)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barramento SPI até o nRF7002. Sem ele, o shield não está encaixado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spi22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8 MHz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wlan0 (READY)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interface que o driver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nrf_wifi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criou por cima do SPI. Sem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wlan0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 scan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não adianta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uart30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na lista: 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uart20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sumiu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SSID (len)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nome da rede e comprimento.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`len 0` é rede oculta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26 redes na captura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Chan (Band)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1–14 é 2,4 GHz; 36 e acima é 5 GHz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canal 6 e canal 52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RSSI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dBm, sempre negativo: −34 forte, −90 no limite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−34 a −83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Security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OPEN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WPA2-PSK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WPA2 Enterprise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... define 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-k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connect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-k 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= WPA2-PSK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BSSID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MAC do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rádio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do AP, não do AP inteiro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...58:CF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(2,4) 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...58:CE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(5)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MFP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Management Frame Protection, 802.11w: protege contra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deauth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forjado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Disable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scan,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Optional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status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6 ·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log de </a:t>
            </a:r>
            <a:r>
              <a:rPr sz="3200" b="1" i="0">
                <a:solidFill>
                  <a:srgbClr val="0B1B2B"/>
                </a:solidFill>
                <a:latin typeface="Consolas"/>
              </a:rPr>
              <a:t>wifi status</a:t>
            </a:r>
            <a:r>
              <a:rPr sz="3200" b="1" i="0">
                <a:solidFill>
                  <a:srgbClr val="0B1B2B"/>
                </a:solidFill>
                <a:latin typeface="Segoe UI"/>
              </a:rPr>
              <a:t> e </a:t>
            </a:r>
            <a:r>
              <a:rPr sz="3200" b="1" i="0">
                <a:solidFill>
                  <a:srgbClr val="0B1B2B"/>
                </a:solidFill>
                <a:latin typeface="Consolas"/>
              </a:rPr>
              <a:t>wifi ps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Resposta real da bancada, conectado no rádio de 5 GHz da ONT. Três eventos em ~250 ms no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connect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Key negotiation completed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(WPA2),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CTRL-EVENT-CONNECTED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(o link)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net_dhcpv4: Received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(o IP).</a:t>
            </a:r>
          </a:p>
        </p:txBody>
      </p:sp>
      <p:pic>
        <p:nvPicPr>
          <p:cNvPr id="9" name="Picture 8" descr="wifi_status_log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03" y="1810512"/>
            <a:ext cx="1076248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7 · Conectar sem 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sta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da Nordic com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minha_rede.conf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 Sem shell: o firmware conecta e sobe IP sozinho. É aqui que entra a convenção de credencial que os labs 9, 11, 12 e 13 reaproveitam.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7 · 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fluxo do </a:t>
            </a:r>
            <a:r>
              <a:rPr sz="3200" b="1" i="0">
                <a:solidFill>
                  <a:srgbClr val="0B1B2B"/>
                </a:solidFill>
                <a:latin typeface="Consolas"/>
              </a:rPr>
              <a:t>main.c</a:t>
            </a:r>
            <a:r>
              <a:rPr sz="3200" b="1" i="0">
                <a:solidFill>
                  <a:srgbClr val="0B1B2B"/>
                </a:solidFill>
                <a:latin typeface="Segoe UI"/>
              </a:rPr>
              <a:t> e o log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Copiado do SDK sem divergência. Cada caixa está amarrada à linha que produz no console: é assim que se lê o log sem abrir o código.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Connected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DHCP IP address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são dois eventos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wifi_sta_fluxo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7" y="1810512"/>
            <a:ext cx="104013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7 · 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reset ao IP em 7 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Quem lê o log de cima para baixo e para no primeiro IP aponta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CONFIG_LAB_SERVIDOR_IP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dos labs 9 e 13 para o endereço errado.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7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reset →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tempo de máquina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Connection requested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aos 2,7 s;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Connected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aos 7,2;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DHCP IP address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aos 7,4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4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de varredura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maior trecho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State: SCANNING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a cada 300 ms entre 2,7 e 6,9 s. Se o kit demora bem mais, o gargalo não é o firmware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150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link →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dois eventos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LED0 pisca a partir do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Connected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, antes do IP. Um kit com LED piscando e sem endereço é possível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IPv4 no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só um vale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primeiro (192.168.1.99) é o estático de exemplo do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prj.conf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. O que vale é o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DHCP IP address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7 · 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Quando o AP cai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Em nenhum momento aparece um segundo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Connection requested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Essa linha só sai de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wifi_connect()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chamada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uma vez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As retentativas a cada ~9,7 s são do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wpa_supplicant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deste código.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59"/>
                <a:gridCol w="4023359"/>
                <a:gridCol w="54617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Linha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Leitura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15:40,557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sta: Received Disconnected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hotspot foi desligado; 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LED0 apaga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15:45,584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State: COMPLETED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RSSI: -9999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status obsoleto: o sentinela de “sem medida” é o sinal visual de link morto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15:50,200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Connection failed (4)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1ª retentativa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15:59,826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Connection failed (4)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2ª,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~9,6 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depois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16:09,568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Connected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3ª, ~9,7 s depois, já com o hotspot de volta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16:09,589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DHCP IP address: 10.151.38.218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21 ms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depois, e 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mesmo IP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o lease valia, o cliente só renovou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Para o aluno: o kit volta sozinho, em até ~10 s depois de o AP voltar, sem reset. O que 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main.c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faz na queda é logar e apagar o LED0 — só isso.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8a e 8b · Provisionamento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credencial chega em tempo de execução. Por HTTPS num SoftAP que a própria DK sobe, ou por GATT sobre o BLE do nRF54LM20. O protocolo e o cofre são os mesmos.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8A E 8B · PROVISIONAMENTO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Provisionar por SoftAP ou por BLE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 8a o cliente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sai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rede e entra no AP da DK; no 8b o celular nunca sai de onde está. No 8a a DK escaneia sozinha antes de subir o AP; no 8b o celular manda escanear.</a:t>
            </a:r>
          </a:p>
        </p:txBody>
      </p:sp>
      <p:pic>
        <p:nvPicPr>
          <p:cNvPr id="9" name="Picture 8" descr="wifi_prov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1404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8A · SOFTAP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Lab 8a: nomes, endereços e certificado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certificado se amarra ao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hostname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ao SSID: trocar o SSID não obriga a regerar nada; trocar o hostname obriga. Sem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--certificate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provision.py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aceita qualquer servidor — cifrado, mas sem autenticar.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799"/>
                <a:gridCol w="2560319"/>
                <a:gridCol w="3474719"/>
                <a:gridCol w="29013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 onde vem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Único por kit?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SSID do SoftAP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nrf-wifiprov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ou o seu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meu_softap.conf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rastreado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com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valor, não é segredo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é a única coisa que os kits disputam no ar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SSID da rede-alvo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rede da sala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digitado no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provision.py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ou no app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Hostname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wifiprov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→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wifiprov.local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CONFIG_NET_HOSTNAME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mDNS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não: cada SoftAP é uma rede isolada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Certificado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/ SAN =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wifiprov.local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certs/*.pem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registrado no boot (0,03 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— e a chave privada é pública: é do SDK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IP do AP · porta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192.168.0.1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443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Kconfig da biblioteca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softap_wifi_provision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Recursos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GET /prov/networks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POST /prov/configure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protobuf, não HTML: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é um formulário web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Do boot ao SoftAP no ar: 5,6 s, dos quais 4,6 s de varredura. O momento didático é a DK escanear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por você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e entregar a lista pronta — o aluno escolhe de uma lista real.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8A · SOFTAP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Protobuf não criptografa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O log imprime o corpo cru do </a:t>
            </a:r>
            <a:r>
              <a:rPr sz="1500" b="0">
                <a:solidFill>
                  <a:srgbClr val="0B1B2B"/>
                </a:solidFill>
                <a:latin typeface="Consolas"/>
              </a:rPr>
              <a:t>POST</a:t>
            </a:r>
            <a:r>
              <a:rPr sz="1500" b="0">
                <a:solidFill>
                  <a:srgbClr val="0B1B2B"/>
                </a:solidFill>
                <a:latin typeface="Segoe UI"/>
              </a:rPr>
              <a:t>: dá para </a:t>
            </a:r>
            <a:r>
              <a:rPr sz="1500" b="1">
                <a:solidFill>
                  <a:srgbClr val="0093D0"/>
                </a:solidFill>
                <a:latin typeface="Segoe UI"/>
              </a:rPr>
              <a:t>ler o SSID e a senha na coluna ASCII</a:t>
            </a:r>
            <a:r>
              <a:rPr sz="1500" b="0">
                <a:solidFill>
                  <a:srgbClr val="0B1B2B"/>
                </a:solidFill>
                <a:latin typeface="Segoe UI"/>
              </a:rPr>
              <a:t>. Protobuf é serialização, não segurança. Quem protege a senha no ar é o </a:t>
            </a:r>
            <a:r>
              <a:rPr sz="1500" b="1">
                <a:solidFill>
                  <a:srgbClr val="0093D0"/>
                </a:solidFill>
                <a:latin typeface="Segoe UI"/>
              </a:rPr>
              <a:t>TLS por baixo</a:t>
            </a:r>
            <a:r>
              <a:rPr sz="15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A linha parseada censura (</a:t>
            </a:r>
            <a:r>
              <a:rPr sz="1500" b="0">
                <a:solidFill>
                  <a:srgbClr val="0B1B2B"/>
                </a:solidFill>
                <a:latin typeface="Consolas"/>
              </a:rPr>
              <a:t>passphrase: xxxxxx</a:t>
            </a:r>
            <a:r>
              <a:rPr sz="1500" b="0">
                <a:solidFill>
                  <a:srgbClr val="0B1B2B"/>
                </a:solidFill>
                <a:latin typeface="Segoe UI"/>
              </a:rPr>
              <a:t>); a do corpo cru não. O </a:t>
            </a:r>
            <a:r>
              <a:rPr sz="1500" b="1">
                <a:solidFill>
                  <a:srgbClr val="0093D0"/>
                </a:solidFill>
                <a:latin typeface="Segoe UI"/>
              </a:rPr>
              <a:t>Verify</a:t>
            </a:r>
            <a:r>
              <a:rPr sz="1500" b="0">
                <a:solidFill>
                  <a:srgbClr val="0B1B2B"/>
                </a:solidFill>
                <a:latin typeface="Segoe UI"/>
              </a:rPr>
              <a:t> do app falha no 8a (o kit não responde mDNS depois de virar estação) — provisionou; só a confirmação falha.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[00:03:19] on_url: &gt; /prov/configure  (POST)   on_body length: 42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0a 1b 0a 0b 50 65 70 65  75 4e 65 74 2d 36 47 12 |....Pepe uNet-6G.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06 44 89 6d 61 58 cf 18  01 20 06 28 04 12 0b 47 |.D.maX.. . .(...G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6f 70 69 67 6f 70 69 21  32 31                   |opigopi! 21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[00:03:19] ssid: PepeuNet-6G, bssid: 44:89:6D:61:58:CF, passphrase: xxxxxx, sectype: 4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[00:03:20] Provisioning completed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[00:03:22] PSM disabled  -&gt;  Network connected  -&gt;  DHCP IP address: 192.168.15.19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[00:05:22] PSM enabled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8B · 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8a × 8b: o que muda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8b gasta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menos FLASH e mais RAM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que o 8a. Contraria o argumento com que a Nordic apresentou o SoftAP (“evita incluir a pilha Bluetooth”): nesta montagem a pilha BLE saiu 50 KB mais barata em flash e 48 KB mais cara em RAM. Só medindo se sabe.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3840479"/>
                <a:gridCol w="41815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8a · SoftAP + HTTPS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8b · BLE + GATT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Rádio 2,4 GHz do nRF54LM20 (BLE)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desligado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ligado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anuncia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PVxxxxxx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nome derivado do MAC — sem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.conf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nRF7002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modo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servidor DHCP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modo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estação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Quem escaneia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DK, sozinha, antes de subir o AP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celular manda: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Start_Scan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/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Stop_Scan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(8,5 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protocolo no log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POST /prov/configure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blob protobuf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GET_STATUS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Start_Scan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Set_config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mesmo protocolo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legível de graça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Pilhas extras no binário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mbedTLS, HTTP parser, mDNS, DHCP server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Bluetooth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NRF70_SR_COEX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(o árbitro entra sozinho)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FLASH · RAM medidos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728140 B (34,9%) · 271813 B (52,0%)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678024 B (32,5%)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320304 B (61,2%)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Verify do app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falha (mDNS)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funciona: o link GATT continua aberto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que persiste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credencial Wi-Fi (fs_zms)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credencial Wi-Fi (NVS). O bond BLE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BT_BONDABLE=n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80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No 8b há dois rádios transmitindo em 2,4 GHz dentro do mesmo kit pela primeira vez no módulo.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NRF70_SR_COEX_RF_SWITCH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cai para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n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porque a EB II nesta placa não declara a chave de RF. É o assunto do lab 12.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9 · Telemetria por TCP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Código do curso. Um dispositivo IoT completo em miniatura: telemetria periódica, um botão que sobe na hora, e um LED que o servidor acende. Três gestos — e o terceiro é o que separa os transportes.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9 · TCP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arquitetura do firmware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orquestra a partida e só larga as threads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depois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 a rede estar de pé. As duas de uplink chamam a mesma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montar_e_enviar()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a ISR do botão só libera um semáforo. Abaixo de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transporte.h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uma implementação por binário.</a:t>
            </a:r>
          </a:p>
        </p:txBody>
      </p:sp>
      <p:pic>
        <p:nvPicPr>
          <p:cNvPr id="9" name="Picture 8" descr="wifi_lab9_bloco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30" y="1810512"/>
            <a:ext cx="100426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9 · TCP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payload e os três gestos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{"seq":7,"uptime_ms":1234,"temp_c":25.37,"rssi_dbm":-52,"botao":false}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uma linha JSON, 74 bytes, terminada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\n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formato existe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duas vezes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payload.c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no firmware,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payload_ref.py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no PC) e tem de bater.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39"/>
                <a:gridCol w="2743199"/>
                <a:gridCol w="65589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Origem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Por quê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seq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contador atômico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ensina perda e reconexão: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buraco na sequência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é informação honesta sobre o link, sem depender dele para se descrever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uptime_ms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k_uptime_get()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referência temporal. A amostra do botão caiu em 181399 ms, entre periódicas em 180058 e 182060: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fura o ritmo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temp_c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temp_sensor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do SoC, em centésimos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grandeza física independente do rádio: encoste o dedo no chip e ela sobe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rssi_dbm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 status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campo entre outros, como um produto faz. Caiu de −48 para −55 nas amostras de botão: a mão perto da antena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botao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sw0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true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só na amostra disparada pelo botão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Os três gestos: telemetria a cada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CONFIG_LAB_INTERVALO_MS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(↑), botão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sw0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(↑, imediato), e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l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/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d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no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wifi_server.py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acendendo o LED1 (↓). O último só existe se houver downlink — e é ele que faz o lab 10 valer.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9 · TCP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Reconexão com backoff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abrir_com_backoff()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nunca desiste: 4 → 8 → 16 → 30 s de teto. Na quinta tentativa imprime a lista do que conferir — inclusive o firewall do Windows, a causa mais comum. Quando o servidor sobe, o kit entra sozinho, sem reset.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3657599"/>
                <a:gridCol w="4364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Retorno de `transporte_receber()`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Significa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a thread faz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&gt; 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chegou uma linha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interpreta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LED 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/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LED 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nada chegou em 1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é erro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conexão presumida viva, tenta de novo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-ECONNRESET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outro lado fechou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reconecta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-EBADMSG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erro de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aplicação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não de conexão (só o HTTP produz)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loga e segue — reabrir não resolveria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-ENOTCONN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outra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thread já está no meio de abrir a conexão nova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espera 100 ms e tenta de novo — reconectar aqui abriria uma segunda conexão por cima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outro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&lt; 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erro de rede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reconecta, protegida por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reconexao_mutex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Grave o kit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antes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de subir o servidor: é o jeito mais barato de ver a escada do backoff. E depois que funciona, o console fica mudo — só falha gera linha. A prova está do lado do servidor.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10 · Um payload, três transportes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Sem firmware próprio: o lab 9 recompilado escolhendo outra opção da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choice LAB_TRANSPORTE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 O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main.c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não muda uma linha. Muda qual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transporte.c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entra no binário.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10 · HTTP E MQTT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TCP, HTTP e MQTT na pilha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Os três falam TCP.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HTTP e MQTT não substituem o TCP: empilham-se sobre ele. É o mal-entendido mais comum sobre o trio, e a pilha mostra por quê.</a:t>
            </a:r>
          </a:p>
        </p:txBody>
      </p:sp>
      <p:pic>
        <p:nvPicPr>
          <p:cNvPr id="9" name="Picture 8" descr="wifi_transporte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30" y="1810512"/>
            <a:ext cx="100426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10 · HTTP E MQTT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Downlink: empurrar ou perguntar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HTTP request/response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não tem primitiva de push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o servidor não inicia conexão para um kit atrás de NAT/DHCP. O polling é estrutural do protocolo, não detalhe deste lab.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2560319"/>
                <a:gridCol w="3291839"/>
                <a:gridCol w="29013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TCP puro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HTTP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MQTT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Uplink (telemetria)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send()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socket aberto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POST /telemetria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por amostra, cabeçalho a cada vez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PUBLISH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tópico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Downlink (LED)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servidor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empurra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pela mesma conexão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kit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pergunta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GET /comando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a cada 1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broker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empurra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para quem assinou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&lt;tópico&gt;/comando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Custo sem novidade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147 B por consulta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147 B/s só para saber que não há comando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Conexões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 aberta o tempo todo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nova por requisição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 aberta o tempo todo, com o broker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Quem conhece quem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kit ↔ servidor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kit ↔ servidor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ninguém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kit e assinante só conhecem o broker e o nome do tópico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Ferramenta no PC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wifi_server.py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wifi_http_server.py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mosquitto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wifi_mqtt_sub.py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terceira pergunta é a que mais rende: no MQTT o assinante rodava em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localhost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e o kit apontava para um IP — e nenhum dos dois precisou saber do outro. Só do tópico.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10 · HTTP E MQTT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FLASH, RAM e bytes por amostra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Entre o mais leve e o mais pesado,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11,5 KB de FLASH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pouco para três protocolos de aplicação. A parte cara (Wi-Fi, supplicant, TCP/IP) é a mesma nos três. Ciclo com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CONFIG_LAB_INTERVALO_MS=2000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599"/>
                <a:gridCol w="2194559"/>
                <a:gridCol w="2194559"/>
                <a:gridCol w="3017519"/>
                <a:gridCol w="19869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FLASH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RAM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Uplink por amostra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Ciclo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TCP puro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555512 B (26,64%)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191952 B (36,68%)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74 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2050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HTTP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567184 B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(27,20%)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192200 B (36,73%)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269 B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(176 de POST + 93 de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200 OK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2095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MQTT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560904 B (26,90%)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193392 B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(36,96%)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99 B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(cabeçalho + nome do tópico)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2053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391363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1363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TCP e MQTT mediam ~3000 ms e o HTTP parecia mais rápido: era um mutex segurado durante 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poll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Medir os três lado a lado revelou um bug que o código não revelou.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dos labs 6 a 10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shell mostra o companion </a:t>
            </a:r>
            <a:r>
              <a:rPr sz="1500" b="1">
                <a:solidFill>
                  <a:srgbClr val="E8F1F8"/>
                </a:solidFill>
                <a:latin typeface="Segoe UI"/>
              </a:rPr>
              <a:t>cru</a:t>
            </a:r>
            <a:r>
              <a:rPr sz="1500" b="0">
                <a:solidFill>
                  <a:srgbClr val="93A6B8"/>
                </a:solidFill>
                <a:latin typeface="Segoe UI"/>
              </a:rPr>
              <a:t>: um AP com dois rádios, </a:t>
            </a:r>
            <a:r>
              <a:rPr sz="1500" b="0">
                <a:solidFill>
                  <a:srgbClr val="93A6B8"/>
                </a:solidFill>
                <a:latin typeface="Consolas"/>
              </a:rPr>
              <a:t>TWT: Not supported</a:t>
            </a:r>
            <a:r>
              <a:rPr sz="1500" b="0">
                <a:solidFill>
                  <a:srgbClr val="93A6B8"/>
                </a:solidFill>
                <a:latin typeface="Segoe UI"/>
              </a:rPr>
              <a:t>, rádio já dormindo.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Associar e ter IP são dois eventos. Na queda, quem reconecta é o </a:t>
            </a:r>
            <a:r>
              <a:rPr sz="1500" b="1">
                <a:solidFill>
                  <a:srgbClr val="E8F1F8"/>
                </a:solidFill>
                <a:latin typeface="Segoe UI"/>
              </a:rPr>
              <a:t>wpa_supplicant</a:t>
            </a:r>
            <a:r>
              <a:rPr sz="1500" b="0">
                <a:solidFill>
                  <a:srgbClr val="93A6B8"/>
                </a:solidFill>
                <a:latin typeface="Segoe UI"/>
              </a:rPr>
              <a:t>, não o </a:t>
            </a:r>
            <a:r>
              <a:rPr sz="1500" b="0">
                <a:solidFill>
                  <a:srgbClr val="93A6B8"/>
                </a:solidFill>
                <a:latin typeface="Consolas"/>
              </a:rPr>
              <a:t>main.c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Provisionar é o mesmo protobuf por dois rádios — e protobuf </a:t>
            </a:r>
            <a:r>
              <a:rPr sz="1500" b="1">
                <a:solidFill>
                  <a:srgbClr val="E8F1F8"/>
                </a:solidFill>
                <a:latin typeface="Segoe UI"/>
              </a:rPr>
              <a:t>não criptografa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Um payload, três transportes. O </a:t>
            </a:r>
            <a:r>
              <a:rPr sz="1500" b="1">
                <a:solidFill>
                  <a:srgbClr val="E8F1F8"/>
                </a:solidFill>
                <a:latin typeface="Segoe UI"/>
              </a:rPr>
              <a:t>downlink</a:t>
            </a:r>
            <a:r>
              <a:rPr sz="1500" b="0">
                <a:solidFill>
                  <a:srgbClr val="93A6B8"/>
                </a:solidFill>
                <a:latin typeface="Segoe UI"/>
              </a:rPr>
              <a:t> separa: TCP e MQTT empurram, HTTP pergunta (147 B/s por nada).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~7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 reset ao IP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4 s de varredura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42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de protobuf com 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senha legível em ASCII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74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por amostra em TCP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269 em HTTP, 99 em MQTT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11,5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de FLASH entre 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transporte mais leve e o mais pesado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Segurar o dado e variar a camada: foi assim no Channel Sounding, e é assim aqui. A comparação só é honesta quando o payload não muda.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