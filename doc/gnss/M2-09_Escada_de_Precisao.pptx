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PointPerfect — Serviço PPP-RTK da u-blox: modelo SSR em SPARTN, entregue por IP (MQTT, ou NTRIP como base virtual em RTCM) ou por L-band (receptor NEO-D9S). Vale onde há cobertura; Manaus fora na data do curso.</a:t>
            </a:r>
          </a:p>
          <a:p>
            <a:r>
              <a:t>NTRIP — Networked Transport of RTCM via Internet Protocol: o transporte das correções por HTTP.</a:t>
            </a:r>
          </a:p>
          <a:p>
            <a:r>
              <a:t>PPP — Precise Point Positioning: correção por órbitas e relógios precisos, sem base; converge em minutos.</a:t>
            </a:r>
          </a:p>
          <a:p>
            <a:r>
              <a:t>PPP-RTK — PPP com correções de estado (SSR) que incluem atmosfera; converge em dezenas de segundos.</a:t>
            </a:r>
          </a:p>
          <a:p>
            <a:r>
              <a:t>RTK — Real-Time Kinematic: correção por fase da portadora contra uma base próxima; centimétrico.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NTRIP — Networked Transport of RTCM via Internet Protocol: o transporte das correções por HTTP.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CEP50 — O raio que contém metade das posições.</a:t>
            </a:r>
          </a:p>
          <a:p>
            <a:r>
              <a:t>CEP95 — O raio que contém 95 por cento das posições.</a:t>
            </a:r>
          </a:p>
          <a:p>
            <a:r>
              <a:t>VRS — Virtual Reference Station: uma estação sintetizada na posição do rover; exige que o cliente envie GGA.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CEP50 — O raio que contém metade das posições.</a:t>
            </a:r>
          </a:p>
          <a:p>
            <a:r>
              <a:t>HDOP — Horizontal Dilution of Precision: quanto a geometria dos satélites amplifica o erro horizontal.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  <a:p>
            <a:r>
              <a:t>GSA — A sentença NMEA com os PRN usados na solução e os DOP.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C/N0 — Relação portadora-ruído, em dB-Hz: a força do sinal de cada satélite.</a:t>
            </a:r>
          </a:p>
          <a:p>
            <a:r>
              <a:t>PRN — Pseudo-Random Noise: o código que identifica cada satélite.</a:t>
            </a:r>
          </a:p>
          <a:p>
            <a:r>
              <a:t>GSV — A sentença NMEA com os satélites à vista, elevação, azimute e C/N0.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  <a:p>
            <a:r>
              <a:t>CEP50 — O raio que contém metade das posições.</a:t>
            </a:r>
          </a:p>
          <a:p>
            <a:r>
              <a:t>CEP95 — O raio que contém 95 por cento das 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CEP50 — O raio que contém metade das posições.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PointPerfect — Serviço PPP-RTK da u-blox: modelo SSR em SPARTN, entregue por IP (MQTT, ou NTRIP como base virtual em RTCM) ou por L-band (receptor NEO-D9S). Vale onde há cobertura; Manaus fora na data do curso.</a:t>
            </a:r>
          </a:p>
          <a:p>
            <a:r>
              <a:t>NTRIP — Networked Transport of RTCM via Internet Protocol: o transporte das correções por HTTP.</a:t>
            </a:r>
          </a:p>
          <a:p>
            <a:r>
              <a:t>RTK — Real-Time Kinematic: correção por fase da portadora contra uma base próxima; centimétrico.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PointPerfect — Serviço PPP-RTK da u-blox: modelo SSR em SPARTN, entregue por IP (MQTT, ou NTRIP como base virtual em RTCM) ou por L-band (receptor NEO-D9S). Vale onde há cobertura; Manaus fora na data do curso.</a:t>
            </a:r>
          </a:p>
          <a:p>
            <a:r>
              <a:t>NTRIP — Networked Transport of RTCM via Internet Protocol: o transporte das correções por HTTP.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CEP — Circular Error Probable: o raio que contém uma fração das posições (CEP50 metade, CEP95 dezenove em vinte).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  <a:p>
            <a:r>
              <a:t>NMEA — O protocolo de texto dos receptores GNSS (sentenças $GPGGA, $GPRMC...), NMEA 0183.</a:t>
            </a:r>
          </a:p>
          <a:p>
            <a:r>
              <a:t>RTK — Real-Time Kinematic: correção por fase da portadora contra uma base próxima; centimétrico.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CEP — Circular Error Probable: o raio que contém uma fração das posições (CEP50 metade, CEP95 dezenove em vinte).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GSA — A sentença NMEA com os PRN usados na solução e os DOP.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EVK — Evaluation Kit: a placa de avaliação da u-blox (EVK-X20P).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RTK — Real-Time Kinematic: correção por fase da portadora contra uma base próxima; centimétrico.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RTCM — O formato binário das correções (RTCM 10403, 'RTCM 3'); as mensagens têm número (1005, 1074, 1230...).</a:t>
            </a:r>
          </a:p>
          <a:p>
            <a:r>
              <a:t>UART — Universal Asynchronous Receiver/Transmitter: a serial do console.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  <a:p>
            <a:r>
              <a:t>NMEA — O protocolo de texto dos receptores GNSS (sentenças $GPGGA, $GPRMC...), NMEA 0183.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Galileo — A constelação europeia (E1, E5a, E5b, E6).</a:t>
            </a:r>
          </a:p>
          <a:p>
            <a:r>
              <a:t>BeiDou — A constelação chinesa (B1, B1C, B2a, B3I).</a:t>
            </a:r>
          </a:p>
          <a:p>
            <a:r>
              <a:t>UBX — O protocolo binário dos receptores u-blox (UBX-NAV-PVT, UBX-RXM-COR...).</a:t>
            </a:r>
          </a:p>
          <a:p>
            <a:r>
              <a:t>RAM — Random Access Memory: a memória de trabalho (511 KB no nRF54LM20).</a:t>
            </a:r>
          </a:p>
          <a:p>
            <a:r>
              <a:t>MSM — Multiple Signal Message: as mensagens RTCM de observáveis por constelação (1074, 1084, 1094, 1124).</a:t>
            </a:r>
          </a:p>
          <a:p>
            <a:r>
              <a:t>CEP — Circular Error Probable: o raio que contém uma fração das posições (CEP50 metade, CEP95 dezenove em vinte).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EVK — Evaluation Kit: a placa de avaliação da u-blox (EVK-X20P).</a:t>
            </a:r>
          </a:p>
          <a:p>
            <a:r>
              <a:t>NTRIP — Networked Transport of RTCM via Internet Protocol: o transporte das correções por HTTP.</a:t>
            </a:r>
          </a:p>
          <a:p>
            <a:r>
              <a:t>RTCM — O formato binário das correções (RTCM 10403, 'RTCM 3'); as mensagens têm número (1005, 1074, 1230...).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NMEA — O protocolo de texto dos receptores GNSS (sentenças $GPGGA, $GPRMC...), NMEA 0183.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EVK — Evaluation Kit: a placa de avaliação da u-blox (EVK-X20P).</a:t>
            </a:r>
          </a:p>
          <a:p>
            <a:r>
              <a:t>HPG — High Precision GNSS: a linha de firmware do ZED-X20P (HPG 2.02, 2.11).</a:t>
            </a:r>
          </a:p>
          <a:p>
            <a:r>
              <a:t>UBX — O protocolo binário dos receptores u-blox (UBX-NAV-PVT, UBX-RXM-COR...).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CEP50 — O raio que contém metade das posições.</a:t>
            </a:r>
          </a:p>
          <a:p>
            <a:r>
              <a:t>CEP95 — O raio que contém 95 por cento das posições.</a:t>
            </a:r>
          </a:p>
          <a:p>
            <a:r>
              <a:t>NMEA — O protocolo de texto dos receptores GNSS (sentenças $GPGGA, $GPRMC...), NMEA 0183.</a:t>
            </a:r>
          </a:p>
          <a:p>
            <a:r>
              <a:t>DGNSS — Differential GNSS: correção de código contra uma base; decimétrico.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CEP — Circular Error Probable: o raio que contém uma fração das posições (CEP50 metade, CEP95 dezenove em vinte).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MSM — Multiple Signal Message: as mensagens RTCM de observáveis por constelação (1074, 1084, 1094, 1124).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UBX — O protocolo binário dos receptores u-blox (UBX-NAV-PVT, UBX-RXM-COR...).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UBX — O protocolo binário dos receptores u-blox (UBX-NAV-PVT, UBX-RXM-COR...).</a:t>
            </a:r>
          </a:p>
          <a:p>
            <a:r>
              <a:t>PVT — Position, Velocity, Time: a estrutura que o receptor entrega a cada época.</a:t>
            </a:r>
          </a:p>
          <a:p>
            <a:r>
              <a:t>NMEA — O protocolo de texto dos receptores GNSS (sentenças $GPGGA, $GPRMC...), NMEA 0183.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EVK — Evaluation Kit: a placa de avaliação da u-blox (EVK-X20P).</a:t>
            </a:r>
          </a:p>
          <a:p>
            <a:r>
              <a:t>RF — Radiofrequência; chave de RF é o switch de antena entre BLE e Wi-Fi (ausente na EB II desta placa).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UART — Universal Asynchronous Receiver/Transmitter: a serial do console.</a:t>
            </a:r>
          </a:p>
          <a:p>
            <a:r>
              <a:t>UBX — O protocolo binário dos receptores u-blox (UBX-NAV-PVT, UBX-RXM-COR...).</a:t>
            </a:r>
          </a:p>
          <a:p>
            <a:r>
              <a:t>HPG — High Precision GNSS: a linha de firmware do ZED-X20P (HPG 2.02, 2.11).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RTK — Real-Time Kinematic: correção por fase da portadora contra uma base próxima; centimétrico.</a:t>
            </a:r>
          </a:p>
          <a:p>
            <a:r>
              <a:t>CEP50 — O raio que contém metade das posições.</a:t>
            </a:r>
          </a:p>
          <a:p>
            <a:r>
              <a:t>SBAS — Satellite-Based Augmentation System: correção de área ampla difundida por satélite geoestacionário (WAAS, EGNOS).</a:t>
            </a:r>
          </a:p>
          <a:p>
            <a:r>
              <a:t>PointPerfect — Serviço PPP-RTK da u-blox: modelo SSR em SPARTN, entregue por IP (MQTT, ou NTRIP como base virtual em RTCM) ou por L-band (receptor NEO-D9S). Vale onde há cobertura; Manaus fora na data do curso.</a:t>
            </a:r>
          </a:p>
          <a:p>
            <a:r>
              <a:t>NTRIP — Networked Transport of RTCM via Internet Protocol: o transporte das correções por HTTP.</a:t>
            </a:r>
          </a:p>
          <a:p>
            <a:r>
              <a:t>CEP — Circular Error Probable: o raio que contém uma fração das posições (CEP50 metade, CEP95 dezenove em vinte).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09 · NRF9151 × ZED-X20P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A escada de precisão,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medida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Os dois receptores no mesmo céu e nos mesmos minutos: janela obstruída, céu aberto, PointPerfect por NTRIP (PPP-RTK) e RTK de base própria. Depois, as regras de medida por trás de cada número, e a demo com as cinco falhas de RTK.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Todo número é da bancada de Porto Alegre, 08–09/09/2026.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25547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metros →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1583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blocos alternados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0169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céu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3480" y="4709160"/>
            <a:ext cx="159562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5 falhas de RTK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 escada, medida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Quatro degraus na mesma bancada, dois receptores gravando ao mesmo tempo. A comparação controla o instante e a antena; o que sobra é o receptor e a correção.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Quatro degraus, nos mesmos minutos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Blocos de 100 s em todas as linhas. nRF9151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1,71 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X20P autônomo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0,11 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NTRIP em RTK fixo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6 cm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base própria a 1,5 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 cm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Faixas que não se sobrepõem: ~10× a ~15× entre receptores.</a:t>
            </a:r>
          </a:p>
        </p:txBody>
      </p:sp>
      <p:pic>
        <p:nvPicPr>
          <p:cNvPr id="9" name="Picture 8" descr="escada_preci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54" y="1810512"/>
            <a:ext cx="1062058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Dois receptores, o mesmo céu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 bloco de 300 s, capturado simultaneamente, na mesma escala: o nRF9151 espalha 2,5 m (CEP50) e caminha; o X20P vira um ponto de 20 cm. HDOP 1,0 contra 0,6 — 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numSV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GGA cravado em 12 no X20P, porque o campo satura: para contar satélites, os GSA.</a:t>
            </a:r>
          </a:p>
        </p:txBody>
      </p:sp>
      <p:pic>
        <p:nvPicPr>
          <p:cNvPr id="9" name="Picture 8" descr="gnss_desvio_lado_a_lado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672" y="1810512"/>
            <a:ext cx="707835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mesmo céu, visto pelo ZED-X20P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Mesma janela de 15 min do skyplot do bloco 07: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36 satélites com órbita conhecida contra 13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23 na solução contra 8. Os mesmos GP12 e GP13 continuam fracos a 60° de elevação — a obstrução é a mesma; o que muda é quanto céu sobra depois dela.</a:t>
            </a:r>
          </a:p>
        </p:txBody>
      </p:sp>
      <p:pic>
        <p:nvPicPr>
          <p:cNvPr id="9" name="Picture 8" descr="ceu_comp_x20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810512"/>
            <a:ext cx="707456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Céu aberto: cinco degraus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Parapeito, três antenas na mesma altura, 18h34–19h46. Épocas com SBAS (GGA qualidade 2) separadas como degrau: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0,34 m contra 0,14 m sem correção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faixas sem sobreposição. O SBAS corrige código, não fase.</a:t>
            </a:r>
          </a:p>
        </p:txBody>
      </p:sp>
      <p:pic>
        <p:nvPicPr>
          <p:cNvPr id="9" name="Picture 8" descr="esc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0" y="1810512"/>
            <a:ext cx="100426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Cânion e céu aberto, lado a lado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CEP50, mediana dos blocos, faixa min–max entre parênteses.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 nRF9151 mediu pior em céu aberto às 19h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que na janela às 13h. Campanhas em horários diferentes: a causa não é afirmada; a hipótese é ionosférica.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39"/>
                <a:gridCol w="3657599"/>
                <a:gridCol w="38157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Degrau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Cânion, 13h (blocos de 100 s)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Céu aberto, 19h (janelas de 100 s)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nRF9151, GPS L1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1,71 m (1,15–3,20)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3,60 m (1,61–6,90)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X20P autônomo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0,11 m (0,05–0,21)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0,14 m (0,08–0,37)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X20P + PointPerfect (NTRIP), RTK fixo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 cm (0,05–0,06)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 cm (0,020–0,021)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X20P + base própria, RTK fixo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cm (0,00–0,03)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cm (0,008–0,18)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Os degraus de RTK só usam épocas de qualidade 4. Um bloco que mistura fixo e flutuante mede o degrau entre as duas soluções (7× em r2_D), não o ruído de nenhuma.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Tempo até o RTK fixo, por correção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Base a 1,42 m: 5 e 19 s. PointPerfect por NTRIP (base virtual): 197 s, e dois blocos sem fixar. Na janela obstruída, só depois de 5 min.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primeira resolução de ambiguidade é lenta (1149 s); refixar é rápido (2 s).</a:t>
            </a:r>
          </a:p>
        </p:txBody>
      </p:sp>
      <p:pic>
        <p:nvPicPr>
          <p:cNvPr id="9" name="Picture 8" descr="gnss_convergenci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3" y="1810512"/>
            <a:ext cx="104116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Teste de deslocamento: precisão e exatidão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CEP mede repetibilidade, não exatidão. Mover a antena por uma distância conhecida e medir o deslocamento do centroide testa a exatidão relativa: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10,4 cm ± 1,9 cm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rumo 33°. A grade de 1,85 cm é a quantização da GGA com 5 casas de minuto;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CFG-NMEA-HIGHPREC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leva a 0,185 mm.</a:t>
            </a:r>
          </a:p>
        </p:txBody>
      </p:sp>
      <p:pic>
        <p:nvPicPr>
          <p:cNvPr id="9" name="Picture 8" descr="deslocamento_rt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551" y="1810512"/>
            <a:ext cx="473659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A ESCADA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Incerteza do centroide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RTK entrega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vetor exato em relação à base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posição exata no mundo. Para ter as duas, base com coordenada conhecida ou serviço de correção.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6,9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entre centroides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de 1 minuto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épocas consecutivas compartilham ionosfera, multicaminho e ambiguidades: não são amostras independentes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± 1,8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centroide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de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estimado pelo espalhamento das sub-janelas; a conta ingênua por raiz de n daria 1 mm — errada por uma ordem de grandeza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9,6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exatidão absoluta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do Survey-In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normal sob céu obstruído. Não afeta o teste: as duas nuvens erram juntas e o vetor entre elas continua centimétrico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~1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salto ao fixar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de float para fixo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 primeira captura foi perdida inteira em flutuante; o salto teria engolido os 10 cm sem deixar rastro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Regras de medida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As condições sob as quais os números deste bloco são comparáveis entre si e reproduzíveis em outra posição de antena.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Seis regras de comparabilidade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Regras sob as quais os números deste bloco são comparáveis entre si e reproduzíveis em outra posição.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39"/>
                <a:gridCol w="65589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Regra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Motivo, medido nesta bancada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Um conjunto = uma posição de antena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antena, plano de terra e cabo fixos do começo ao fim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Blocos de mesma duração; nunca concatenar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CEP cresce com a janela: 1,129 m inteiro, 0,338 m em janelas de 5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Alternar as condições, com a ordem girada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nRF9151 variou de 1,80 a 4,75 m sem mudar nada; o X20P, 3,2× em 20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Congelar o que não é a variável (SBAS = 0)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SBAS entrando e saindo muda a fração de épocas em DGPS por bloco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Em RTK, só épocas de qualidade 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 misto mede o degrau entre soluções: 0,479 m inteiro, 0,069 m só fixo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Satélites contados nos GSA, não na GGA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numSV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da GGA satura em 12 com multiconstelação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Ferramentas: desvio.py concorda com o Deviation Map do u-center 2 dentro de 1 %; uc2.py escreve o formato .uc2 que o u-center 2 reproduz.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 demo: a escada ao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Roteiro do instrutor, ~25 min, dois EVK-X20P e uma SMA-DK, cada um com a própria antena: os três degraus gravando ao mesmo tempo, e as cinco falhas de RTK provocadas na configuração da base.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Configurar base e rover: o que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base precisa saber onde está e emitir o que mede; o rover só precisa aceitar RTCM na UART, e isso já vem de fábrica. Toda configuração do X20P é um par chave-valor numa camada; o u-center 2 faz o mesmo por trás dos menus.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29384"/>
            <a:ext cx="3063240" cy="274320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BASE: duas coisas a ligar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32304"/>
            <a:ext cx="2697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1. Saber onde está.</a:t>
            </a:r>
            <a:r>
              <a:rPr sz="950" b="0" i="0">
                <a:solidFill>
                  <a:srgbClr val="E8F1F8"/>
                </a:solidFill>
                <a:latin typeface="Segoe UI"/>
              </a:rPr>
              <a:t> Modo estação (</a:t>
            </a:r>
            <a:r>
              <a:rPr sz="950" b="0" i="0">
                <a:solidFill>
                  <a:srgbClr val="E8F1F8"/>
                </a:solidFill>
                <a:latin typeface="Consolas"/>
              </a:rPr>
              <a:t>CFG-TMODE-MODE</a:t>
            </a:r>
            <a:r>
              <a:rPr sz="950" b="0" i="0">
                <a:solidFill>
                  <a:srgbClr val="E8F1F8"/>
                </a:solidFill>
                <a:latin typeface="Segoe UI"/>
              </a:rPr>
              <a:t>): survey-in descobre a posição sozinho (encerra em 60 s e 5 m) ou fixed recebe a coordenada conhecida.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2. Emitir o que mede.</a:t>
            </a:r>
            <a:r>
              <a:rPr sz="950" b="0" i="0">
                <a:solidFill>
                  <a:srgbClr val="E8F1F8"/>
                </a:solidFill>
                <a:latin typeface="Segoe UI"/>
              </a:rPr>
              <a:t> Saída RTCM na UART (</a:t>
            </a:r>
            <a:r>
              <a:rPr sz="950" b="0" i="0">
                <a:solidFill>
                  <a:srgbClr val="E8F1F8"/>
                </a:solidFill>
                <a:latin typeface="Consolas"/>
              </a:rPr>
              <a:t>CFG-MSGOUT-RTCM_3X_*</a:t>
            </a:r>
            <a:r>
              <a:rPr sz="950" b="0" i="0">
                <a:solidFill>
                  <a:srgbClr val="E8F1F8"/>
                </a:solidFill>
                <a:latin typeface="Segoe UI"/>
              </a:rPr>
              <a:t>): as três mensagens ao lado, uma vez por época.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5223" y="1929384"/>
            <a:ext cx="3063240" cy="2743200"/>
          </a:xfrm>
          <a:prstGeom prst="roundRect">
            <a:avLst>
              <a:gd name="adj" fmla="val 7000"/>
            </a:avLst>
          </a:prstGeom>
          <a:solidFill>
            <a:srgbClr val="E1F0FA"/>
          </a:solidFill>
          <a:ln w="12700">
            <a:solidFill>
              <a:srgbClr val="009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8103" y="2020824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224E"/>
                </a:solidFill>
                <a:latin typeface="Segoe UI"/>
              </a:rPr>
              <a:t>ROVER: quase nada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8103" y="2432304"/>
            <a:ext cx="2697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224E"/>
                </a:solidFill>
                <a:latin typeface="Segoe UI"/>
              </a:rPr>
              <a:t>Aceitar RTCM na UART</a:t>
            </a:r>
            <a:r>
              <a:rPr sz="950" b="0" i="0">
                <a:solidFill>
                  <a:srgbClr val="0B1B2B"/>
                </a:solidFill>
                <a:latin typeface="Segoe UI"/>
              </a:rPr>
              <a:t> (</a:t>
            </a:r>
            <a:r>
              <a:rPr sz="950" b="0" i="0">
                <a:solidFill>
                  <a:srgbClr val="0B1B2B"/>
                </a:solidFill>
                <a:latin typeface="Consolas"/>
              </a:rPr>
              <a:t>CFG-UARTxINPROT-RTCM3X</a:t>
            </a:r>
            <a:r>
              <a:rPr sz="950" b="0" i="0">
                <a:solidFill>
                  <a:srgbClr val="0B1B2B"/>
                </a:solidFill>
                <a:latin typeface="Segoe UI"/>
              </a:rPr>
              <a:t>): já vem ligado de fábrica. Um rover no padrão fixa sem nenhuma configuração.</a:t>
            </a:r>
          </a:p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224E"/>
                </a:solidFill>
                <a:latin typeface="Segoe UI"/>
              </a:rPr>
              <a:t>Opcional: GGA de alta precisão</a:t>
            </a:r>
            <a:r>
              <a:rPr sz="950" b="0" i="0">
                <a:solidFill>
                  <a:srgbClr val="0B1B2B"/>
                </a:solidFill>
                <a:latin typeface="Segoe UI"/>
              </a:rPr>
              <a:t> (</a:t>
            </a:r>
            <a:r>
              <a:rPr sz="950" b="0" i="0">
                <a:solidFill>
                  <a:srgbClr val="0B1B2B"/>
                </a:solidFill>
                <a:latin typeface="Consolas"/>
              </a:rPr>
              <a:t>CFG-NMEA-HIGHPREC</a:t>
            </a:r>
            <a:r>
              <a:rPr sz="950" b="0" i="0">
                <a:solidFill>
                  <a:srgbClr val="0B1B2B"/>
                </a:solidFill>
                <a:latin typeface="Segoe UI"/>
              </a:rPr>
              <a:t>): 7 casas de minuto. Sem ela a posição sai em degraus de ~1,85 cm e o mapa de desvio do fixo fica falso.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1929384"/>
            <a:ext cx="4364431" cy="8534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776472" y="2356104"/>
            <a:ext cx="155448" cy="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59775" y="2356104"/>
            <a:ext cx="155448" cy="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50792" y="1965960"/>
            <a:ext cx="4090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A971"/>
                </a:solidFill>
                <a:latin typeface="Consolas"/>
              </a:rPr>
              <a:t>1006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2" y="2203704"/>
            <a:ext cx="4090111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 i="0">
                <a:solidFill>
                  <a:srgbClr val="0B1B2B"/>
                </a:solidFill>
                <a:latin typeface="Segoe UI"/>
              </a:rPr>
              <a:t>onde a antena da base está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0B1B2B"/>
                </a:solidFill>
                <a:latin typeface="Segoe UI"/>
              </a:rPr>
              <a:t>sem ela o rover não tem referência e não computa posição (falha 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13632" y="2874264"/>
            <a:ext cx="4364431" cy="8534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776472" y="3300984"/>
            <a:ext cx="155448" cy="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59775" y="3300984"/>
            <a:ext cx="155448" cy="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50792" y="2910840"/>
            <a:ext cx="4090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A971"/>
                </a:solidFill>
                <a:latin typeface="Consolas"/>
              </a:rPr>
              <a:t>1074 · 1084 · 1094 · 1124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2" y="3148584"/>
            <a:ext cx="4090111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 i="0">
                <a:solidFill>
                  <a:srgbClr val="0B1B2B"/>
                </a:solidFill>
                <a:latin typeface="Segoe UI"/>
              </a:rPr>
              <a:t>o que a base mede de cada satélite de GPS, GLONASS, Galileo e BeiDou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0B1B2B"/>
                </a:solidFill>
                <a:latin typeface="Segoe UI"/>
              </a:rPr>
              <a:t>código e fase da portadora por satélite, no formato compacto MSM4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632" y="3819144"/>
            <a:ext cx="4364431" cy="8534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776472" y="4245864"/>
            <a:ext cx="155448" cy="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59775" y="4245864"/>
            <a:ext cx="155448" cy="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50792" y="3855720"/>
            <a:ext cx="4090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A971"/>
                </a:solidFill>
                <a:latin typeface="Consolas"/>
              </a:rPr>
              <a:t>1230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792" y="4093464"/>
            <a:ext cx="4090111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 i="0">
                <a:solidFill>
                  <a:srgbClr val="0B1B2B"/>
                </a:solidFill>
                <a:latin typeface="Segoe UI"/>
              </a:rPr>
              <a:t>o acerto do GLONASS</a:t>
            </a:r>
          </a:p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0B1B2B"/>
                </a:solidFill>
                <a:latin typeface="Segoe UI"/>
              </a:rPr>
              <a:t>cada satélite GLONASS transmite numa frequência própria, com um atraso próprio no receptor; sem esse acerto o GLONASS entra na conta mas não fixa (falha 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855464"/>
            <a:ext cx="10765231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928616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00224E"/>
                </a:solidFill>
                <a:latin typeface="Segoe UI"/>
              </a:rPr>
              <a:t>Como se configura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0224E"/>
                </a:solidFill>
                <a:latin typeface="Consolas"/>
              </a:rPr>
              <a:t>UBX-CFG-VALSET</a:t>
            </a:r>
            <a:r>
              <a:rPr sz="950" b="0" i="0">
                <a:solidFill>
                  <a:srgbClr val="00224E"/>
                </a:solidFill>
                <a:latin typeface="Segoe UI"/>
              </a:rPr>
              <a:t>: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0224E"/>
                </a:solidFill>
                <a:latin typeface="Segoe UI"/>
              </a:rPr>
              <a:t>chave + valor + camada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4946904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0 · 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0672" y="5239512"/>
            <a:ext cx="19597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66577"/>
                </a:solidFill>
                <a:latin typeface="Segoe UI"/>
              </a:rPr>
              <a:t>vale até religar; é o que a demo usa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1899" y="4946904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1 · BBR  2 · flash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1899" y="5239512"/>
            <a:ext cx="19597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66577"/>
                </a:solidFill>
                <a:latin typeface="Segoe UI"/>
              </a:rPr>
              <a:t>persistem; só se pedir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3127" y="4946904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7 · Default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3127" y="5239512"/>
            <a:ext cx="19597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66577"/>
                </a:solidFill>
                <a:latin typeface="Segoe UI"/>
              </a:rPr>
              <a:t>o padrão de fábrica, só leitura; </a:t>
            </a:r>
            <a:r>
              <a:rPr sz="880" b="0" i="0">
                <a:solidFill>
                  <a:srgbClr val="566577"/>
                </a:solidFill>
                <a:latin typeface="Consolas"/>
              </a:rPr>
              <a:t>VALGET</a:t>
            </a:r>
            <a:r>
              <a:rPr sz="880" b="0" i="0">
                <a:solidFill>
                  <a:srgbClr val="566577"/>
                </a:solidFill>
                <a:latin typeface="Segoe UI"/>
              </a:rPr>
              <a:t> compara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355" y="4946904"/>
            <a:ext cx="19597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voltar ao padrão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355" y="5239512"/>
            <a:ext cx="19597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66577"/>
                </a:solidFill>
                <a:latin typeface="Consolas"/>
              </a:rPr>
              <a:t>UBX-CFG-CFG</a:t>
            </a:r>
            <a:r>
              <a:rPr sz="880" b="0" i="0">
                <a:solidFill>
                  <a:srgbClr val="566577"/>
                </a:solidFill>
                <a:latin typeface="Segoe UI"/>
              </a:rPr>
              <a:t> limpa BBR e flash e recarrega o Default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montagem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1604772" y="1691640"/>
            <a:ext cx="548640" cy="548640"/>
          </a:xfrm>
          <a:prstGeom prst="ellips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5856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antena 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9092" y="2240280"/>
            <a:ext cx="0" cy="411480"/>
          </a:xfrm>
          <a:prstGeom prst="line">
            <a:avLst/>
          </a:prstGeom>
          <a:ln w="1905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731252" y="1691640"/>
            <a:ext cx="548640" cy="548640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25856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antena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5572" y="2240280"/>
            <a:ext cx="0" cy="411480"/>
          </a:xfrm>
          <a:prstGeom prst="line">
            <a:avLst/>
          </a:prstGeom>
          <a:ln w="1905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062972" y="1691640"/>
            <a:ext cx="548640" cy="548640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25856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antena 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7292" y="2240280"/>
            <a:ext cx="0" cy="411480"/>
          </a:xfrm>
          <a:prstGeom prst="line">
            <a:avLst/>
          </a:prstGeom>
          <a:ln w="1905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" y="2651760"/>
            <a:ext cx="2148840" cy="11887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761488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8F1F8"/>
                </a:solidFill>
                <a:latin typeface="Segoe UI"/>
              </a:rPr>
              <a:t>EVK-X20P ·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090672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Survey-In </a:t>
            </a:r>
            <a:r>
              <a:rPr sz="900" b="1" i="0">
                <a:solidFill>
                  <a:srgbClr val="E8F1F8"/>
                </a:solidFill>
                <a:latin typeface="Segoe UI"/>
              </a:rPr>
              <a:t>uma vez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, na montagem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gravado </a:t>
            </a:r>
            <a:r>
              <a:rPr sz="900" b="0" i="0">
                <a:solidFill>
                  <a:srgbClr val="93A6B8"/>
                </a:solidFill>
                <a:latin typeface="Consolas"/>
              </a:rPr>
              <a:t>CFG-TMODE = FIXED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emite 1005 · 1074 · 1084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1094 · 1124 · 1230 (MSM4)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67912" y="2651760"/>
            <a:ext cx="2148840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2504" y="2761488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notebook · u-center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2504" y="3090672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caster NTRIP embutido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(porta liberada no firewall)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rede local, </a:t>
            </a:r>
            <a:r>
              <a:rPr sz="900" b="1" i="0">
                <a:solidFill>
                  <a:srgbClr val="0B1B2B"/>
                </a:solidFill>
                <a:latin typeface="Segoe UI"/>
              </a:rPr>
              <a:t>sem internet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2651760"/>
            <a:ext cx="2148840" cy="11887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2761488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8F1F8"/>
                </a:solidFill>
                <a:latin typeface="Segoe UI"/>
              </a:rPr>
              <a:t>EVK-X20P · rover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3090672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degrau 2: autônomo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degrau 3: cliente NTRIP no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u-center 2, RTCM pela serial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62872" y="2651760"/>
            <a:ext cx="2148840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7464" y="2761488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nRF9151 SMA-DK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090672"/>
            <a:ext cx="18196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degrau 1: firmware do lab 3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(NMEA limpo) capturado por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Consolas"/>
              </a:rPr>
              <a:t>nmea_captura.py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53512" y="3246120"/>
            <a:ext cx="914400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62072" y="286207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RTCM3, serial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16752" y="3246120"/>
            <a:ext cx="914400" cy="0"/>
          </a:xfrm>
          <a:prstGeom prst="line">
            <a:avLst/>
          </a:prstGeom>
          <a:ln w="25400">
            <a:solidFill>
              <a:srgbClr val="1FA9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25312" y="286207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FA971"/>
                </a:solidFill>
                <a:latin typeface="Segoe UI"/>
              </a:rPr>
              <a:t>rede local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1152" y="4069080"/>
            <a:ext cx="4480560" cy="0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31152" y="4069080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411712" y="4069080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31152" y="379476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931152" y="421538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gravam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ao mesmo tempo</a:t>
            </a:r>
            <a:r>
              <a:rPr sz="1050" b="0" i="0">
                <a:solidFill>
                  <a:srgbClr val="0B1B2B"/>
                </a:solidFill>
                <a:latin typeface="Segoe UI"/>
              </a:rPr>
              <a:t>: a comparação controla o instante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754880"/>
            <a:ext cx="107652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Três antenas ANN-MB2,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na mesma altura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, cada uma sobre plano de terra de ø12 cm, separadas por ~1,5 m. Base e rover a metros: baseline curta, mesma atmosfera.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Uma antena por receptor: sem troca de cabo e sem compartilhar antena (o J2 da SMA-DK alimenta a 3 V, o EVK a 3,3 V).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As antenas B e C não estão no mesmo ponto: os degraus comparam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dispersão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, não posição absoluta.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roteiro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" y="2029968"/>
            <a:ext cx="25400" cy="46482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60020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57276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Antes da aula: firmware e Survey-In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88366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os dois EVK em HPG 2.11 (conferir com UBX-MON-VER). Survey-In da base uma vez: 5000 mm e 60 s de alvo, anotar a coordenada, gravar CFG-TMODE-MODE = FIXED e salvar na flash.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" y="2814828"/>
            <a:ext cx="25400" cy="46482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" y="238506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4307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35762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Degrau 1: a SMA-DK, na antena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66852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firmware do lab 3; o u-center 2 monta o Deviation Map com CEP50/CEP95 a partir do NMEA. Dispersão de metros.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3599688"/>
            <a:ext cx="25400" cy="46482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316992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21564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14248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Degrau 2: o rover autônomo, na antena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45338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ao mesmo tempo que o degrau 1: o que a multibanda faz antes de qualquer correção. Decimétrico.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1872" y="4384548"/>
            <a:ext cx="25400" cy="46482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8992" y="395478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00050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392734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Degrau 3: o rover com a correção da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23824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narrar 3D → 3D/DGNSS → Float → Fixed enquanto acontece. Ligar o rover com antecedência: a primeira fixação leva minutos, refixar leva segundos.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61872" y="5169408"/>
            <a:ext cx="25400" cy="46482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8992" y="473964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78536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71220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O laço que fecha o módulo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02310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 coordenada do fix RTK volta como CONFIG_GNSS_SAMPLE_REFERENCE_LATITUDE/LONGITUDE no build do lab 1: a placa passa a reportar o próprio erro contra uma referência medida em sala.</a:t>
            </a:r>
          </a:p>
        </p:txBody>
      </p:sp>
      <p:sp>
        <p:nvSpPr>
          <p:cNvPr id="33" name="Oval 32"/>
          <p:cNvSpPr/>
          <p:nvPr/>
        </p:nvSpPr>
        <p:spPr>
          <a:xfrm>
            <a:off x="1078992" y="552450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557022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792" y="549706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A ressalva de posição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80796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as antenas B e C ficam a ~1,5 m uma da outra, não no mesmo ponto: os degraus comparam dispersão (CEP), não a posição absoluta de cada receptor.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cinco falhas de RTK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Todas documentadas no manual e determinísticas. Ordem sugerida se o tempo apertar: A, C, D, 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19"/>
                <a:gridCol w="3291839"/>
                <a:gridCol w="49130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Falha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Como provocar, na base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o rover mostra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sem posição da base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emitir só MSM, sem 1005 nem 1006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chegam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RXM-COR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MSM, nenhum 1005/1006;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computa posição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estação errada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 de estação diferente do filtro do rover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msgUsed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= 1 (recebida, não usada); não fixa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GLONASS sem viés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GLONASS ligado, sem 1230 nem 1033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nenhum erro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fixa, mas o GLONASS fica em float; só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carrSoln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denuncia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correção envelhecida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interromper o stream do caster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os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RXM-COR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param; após 60 s cai para 3D. Religar recupera o fixo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base no lugar errado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coordenada fixa errada em mais de ~50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UBX-INF-WARNING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posição da base; fixa centimétrico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no lugar errado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Não usar 'base emite só GLONASS': o manual não descreve o comportamento sem a observação de uma constelação inteira, então a demo não seria determinística.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Diagnóstico com UBX-RXM-COR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UBX-RXM-COR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emitido ao parsear com sucesso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cada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correção de entrada, mesmo não suportada ou não usada. Complementos: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UBX-NAV-SAT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(em quais satélites a correção foi aplicada)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UBX-NAV-PVT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carrSoln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1 = float, 2 = fixo). No NMEA, GGA 4 = fixo, 5 = float.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83877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Campo de `UBX-RXM-COR`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Uso didático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msgUsed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 = recebida mas não usada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2 = usada. Separa 'chegou e foi descartada' de 'chegou e serviu'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correctionId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ID de estação da mensagem — denuncia a falha 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msgType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número da mensagem;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 ausência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um tipo significa que ele não chegou — assinatura da falha 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msgInputHandle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 o receptor tem suporte de entrada para aquela mensagem (as 1008/1013/1019/1020 da AMUA0 aparecem aqui)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errStatus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livre de erro contra errônea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Armadilhas de bancada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0078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antena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uma por receptor: o J2 da SMA-DK alimenta a 3 V, o EVK a 3,3 V — nunca no mesmo cabo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plano de terra de ø12 cm sob cada ANN-MB2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conector RF do EVK só recebe antena ou simulador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5448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70078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chave I2C/SPI do EVK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08483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nunca mover com o EVK ligado: pode danificar o chip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em SPI, o DB9 e a UART do conector frontal ficam desativados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sintoma parece driver: 'a porta COM não manda nada'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00050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4680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Sem bateria de 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53085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efemérides, almanaque e última posição se perdem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todo boot do X20P é partida a frio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(~25 s de spec; 30 s medidos)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configuração na flash sobrevive; conferir a versão com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UBX-MON-VER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(o curso usa HPG 2.11)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400050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414680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453085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porta do caster precisa estar liberada; na primeira execução o Windows pergunta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uma negativa distraída faz o rover não conectar sem sintoma que aponte a causa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desmarcar 'Get configuration automatically' no u-center 2: o padrão transmite tudo e causa latência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09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Mesmo céu, mesmos minutos: nRF9151 1,71 m, X20P 0,11 m, RTK 1 cm (CEP50, blocos de 100 s).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Épocas com SBAS: dispersão maior em céu aberto (0,34 m contra 0,14 m). Comparativos rodam com SBAS desligado.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Base a 1,42 m fixa em 5–19 s; PointPerfect por NTRIP, 197 s. Primeira fixação 1149 s; refixação 2 s.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CEP depende da janela. Blocos de mesma duração, ordem girada, SBAS desligado, só qualidade 4 em RTK.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1,71 m → 1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 escada no cânion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blocos de 100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5 – 19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até o RTK fixo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com a base a 1,42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10,4 ± 1,9 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deslocamento medido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contra ~14 cm anotados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5 falhas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documentadas e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determinísticas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Os números de bancada valem sob as regras de comparabilidade; fora delas, a mesma montagem produz conclusões opostas.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