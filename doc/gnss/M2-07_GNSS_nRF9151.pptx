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QZSS — Quasi-Zenith Satellite System: o sistema regional japonês; o nRF9151 o recebe em L1 C/A, mas ele não é visível no Brasil.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PSM — Power Saving Mode: o modo em que a UE fica registrada mas com o rádio desligado até o próximo TAU.</a:t>
            </a:r>
          </a:p>
          <a:p>
            <a:r>
              <a:t>QZSS — Quasi-Zenith Satellite System: o sistema regional japonês; o nRF9151 o recebe em L1 C/A, mas ele não é visível no Brasil.</a:t>
            </a:r>
          </a:p>
          <a:p>
            <a:r>
              <a:t>Galileo — A constelação europeia (E1, E5a, E5b, E6).</a:t>
            </a:r>
          </a:p>
          <a:p>
            <a:r>
              <a:t>GLONASS — A constelação russa; usa FDMA em L1OF e L2OF, e por isso exige a mensagem 1230 ou 1033 no RTK.</a:t>
            </a:r>
          </a:p>
          <a:p>
            <a:r>
              <a:t>BeiDou — A constelação chinesa (B1, B1C, B2a, B3I).</a:t>
            </a:r>
          </a:p>
          <a:p>
            <a:r>
              <a:t>L2 — Camada 2 (enlace): no Zephyr, o módulo que fala com o driver — Ethernet, Wi-Fi mgmt.</a:t>
            </a:r>
          </a:p>
          <a:p>
            <a:r>
              <a:t>TTFF — Time To First Fix: o tempo da partida até a primeira posição válida.</a:t>
            </a:r>
          </a:p>
          <a:p>
            <a:r>
              <a:t>TCXO — Temperature-Compensated Crystal Oscillator: o relógio do receptor nas condições da Product Specification.</a:t>
            </a:r>
          </a:p>
          <a:p>
            <a:r>
              <a:t>LNA — Low-Noise Amplifier: o amplificador da antena ativa; a SMA-DK não tem LNA de bordo.</a:t>
            </a:r>
          </a:p>
          <a:p>
            <a:r>
              <a:t>SAW — Surface Acoustic Wave: o filtro que a Nordic recomenda na entrada do GNSS.</a:t>
            </a:r>
          </a:p>
          <a:p>
            <a:r>
              <a:t>A-GPS — O mesmo que A-GNSS, na nomenclatura da Product Specification.</a:t>
            </a:r>
          </a:p>
          <a:p>
            <a:r>
              <a:t>CEP50 — O raio que contém metade das posições.</a:t>
            </a:r>
          </a:p>
          <a:p>
            <a:r>
              <a:t>NeQuick — Modelo empírico da ionosfera usado pelo Galileo e pelo A-GPS da Nordic para estimar o atraso.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TCXO — Temperature-Compensated Crystal Oscillator: o relógio do receptor nas condições da Product Specification.</a:t>
            </a:r>
          </a:p>
          <a:p>
            <a:r>
              <a:t>LNA — Low-Noise Amplifier: o amplificador da antena ativa; a SMA-DK não tem LNA de bordo.</a:t>
            </a:r>
          </a:p>
          <a:p>
            <a:r>
              <a:t>SAW — Surface Acoustic Wave: o filtro que a Nordic recomenda na entrada do GNSS.</a:t>
            </a:r>
          </a:p>
          <a:p>
            <a:r>
              <a:t>TTFF — Time To First Fix: o tempo da partida até a primeira posição válida.</a:t>
            </a:r>
          </a:p>
          <a:p>
            <a:r>
              <a:t>A-GPS — O mesmo que A-GNSS, na nomenclatura da Product Specification.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CEP50 — O raio que contém metade das posições.</a:t>
            </a:r>
          </a:p>
          <a:p>
            <a:r>
              <a:t>NeQuick — Modelo empírico da ionosfera usado pelo Galileo e pelo A-GPS da Nordic para estimar o atraso.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LNA — Low-Noise Amplifier: o amplificador da antena ativa; a SMA-DK não tem LNA de bordo.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SDK — Software Development Kit.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NB-IoT — Narrowband IoT: a variante Cat-NB1/NB2.</a:t>
            </a:r>
          </a:p>
          <a:p>
            <a:r>
              <a:t>SIM — Subscriber Identity Module.</a:t>
            </a:r>
          </a:p>
          <a:p>
            <a:r>
              <a:t>LTE-M — A variante Cat-M1 do LTE para IoT.</a:t>
            </a:r>
          </a:p>
          <a:p>
            <a:r>
              <a:t>SMA — O conector coaxial de antena da SMA-DK e do EVK.</a:t>
            </a:r>
          </a:p>
          <a:p>
            <a:r>
              <a:t>DK — Development Kit: a placa de desenvolvimento (nRF54LM20-DK).</a:t>
            </a:r>
          </a:p>
          <a:p>
            <a:r>
              <a:t>NCS — nRF Connect SDK.</a:t>
            </a:r>
          </a:p>
          <a:p>
            <a:r>
              <a:t>LNA — Low-Noise Amplifier: o amplificador da antena ativa; a SMA-DK não tem LNA de bordo.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sysbuild — O build de sistema do Zephyr, que constrói várias imagens e escopa opções por imagem.</a:t>
            </a:r>
          </a:p>
          <a:p>
            <a:r>
              <a:t>hex — Arquivo Intel HEX: a imagem de firmware pronta para gravar.</a:t>
            </a:r>
          </a:p>
          <a:p>
            <a:r>
              <a:t>SIM — Subscriber Identity Module.</a:t>
            </a:r>
          </a:p>
          <a:p>
            <a:r>
              <a:t>PVT — Position, Velocity, Time: a estrutura que o receptor entrega a cada época.</a:t>
            </a:r>
          </a:p>
          <a:p>
            <a:r>
              <a:t>TTFF — Time To First Fix: o tempo da partida até a primeira posição válida.</a:t>
            </a:r>
          </a:p>
          <a:p>
            <a:r>
              <a:t>LTE-M — A variante Cat-M1 do LTE para IoT.</a:t>
            </a:r>
          </a:p>
          <a:p>
            <a:r>
              <a:t>MCC — Mobile Country Code: o código do país na rede LTE; a assistência mínima o usa como posição aproximada.</a:t>
            </a:r>
          </a:p>
          <a:p>
            <a:r>
              <a:t>DK — Development Kit: a placa de desenvolvimento (nRF54LM20-DK).</a:t>
            </a:r>
          </a:p>
          <a:p>
            <a:r>
              <a:t>A-GNSS — Assisted GNSS: efemérides, almanaque, hora e posição aproximada entregues pela rede, para encurtar o TTFF.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CEP50 — O raio que contém metade das posições.</a:t>
            </a:r>
          </a:p>
          <a:p>
            <a:r>
              <a:t>CEP95 — O raio que contém 95 por cento das 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CEP50 — O raio que contém metade das 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CEP50 — O raio que contém metade das posições.</a:t>
            </a:r>
          </a:p>
          <a:p>
            <a:r>
              <a:t>CEP95 — O raio que contém 95 por cento das posições.</a:t>
            </a:r>
          </a:p>
          <a:p>
            <a:r>
              <a:t>CEP — Circular Error Probable: o raio que contém uma fração das posições (CEP50 metade, CEP95 dezenove em vinte).</a:t>
            </a:r>
          </a:p>
          <a:p>
            <a:r>
              <a:t>HDOP — Horizontal Dilution of Precision: quanto a geometria dos satélites amplifica o erro horizontal.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GSV — A sentença NMEA com os satélites à vista, elevação, azimute e C/N0.</a:t>
            </a:r>
          </a:p>
          <a:p>
            <a:r>
              <a:t>C/N0 — Relação portadora-ruído, em dB-Hz: a força do sinal de cada satélite.</a:t>
            </a:r>
          </a:p>
          <a:p>
            <a:r>
              <a:t>PRN — Pseudo-Random Noise: o código que identifica cada satélite.</a:t>
            </a:r>
          </a:p>
          <a:p>
            <a:r>
              <a:t>GSA — A sentença NMEA com os PRN usados na solução e os DOP.</a:t>
            </a:r>
          </a:p>
          <a:p>
            <a:r>
              <a:t>GGA — A sentença NMEA com posição, número de satélites, HDOP e a qualidade do fix (1 autônomo, 2 DGNSS, 4 RTK fixo, 5 RTK flutuante).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HDOP — Horizontal Dilution of Precision: quanto a geometria dos satélites amplifica o erro horizontal.</a:t>
            </a:r>
          </a:p>
          <a:p>
            <a:r>
              <a:t>CEP95 — O raio que contém 95 por cento das posições.</a:t>
            </a:r>
          </a:p>
          <a:p>
            <a:r>
              <a:t>NeQuick — Modelo empírico da ionosfera usado pelo Galileo e pelo A-GPS da Nordic para estimar o atraso.</a:t>
            </a:r>
          </a:p>
          <a:p>
            <a:r>
              <a:t>CEP50 — O raio que contém metade das 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S4 — Índice de cintilação de amplitude: desvio padrão normalizado da intensidade do sinal; acima de ~0,3 o rastreio sofre.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NeQuick — Modelo empírico da ionosfera usado pelo Galileo e pelo A-GPS da Nordic para estimar o atraso.</a:t>
            </a:r>
          </a:p>
          <a:p>
            <a:r>
              <a:t>WBMOD — WideBand MODel: modelo climatológico de cintilação (Secan/Fremouw) usado nos mapas de S4.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GPS — Global Positioning System: a constelação americana; o nRF9151 recebe só o sinal L1 C/A dela.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  <a:p>
            <a:r>
              <a:t>A-GNSS — Assisted GNSS: efemérides, almanaque, hora e posição aproximada entregues pela rede, para encurtar o TTFF.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CoAP — Constrained Application Protocol: um HTTP leve sobre UDP, para dispositivos pequenos.</a:t>
            </a:r>
          </a:p>
          <a:p>
            <a:r>
              <a:t>Kconfig — O sistema de configuração do Zephyr: as opções CONFIG_* do prj.conf.</a:t>
            </a:r>
          </a:p>
          <a:p>
            <a:r>
              <a:t>TTFF — Time To First Fix: o tempo da partida até a primeira posição válida.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TTFF — Time To First Fix: o tempo da partida até a primeira posição válida.</a:t>
            </a:r>
          </a:p>
          <a:p>
            <a:r>
              <a:t>A-GNSS — Assisted GNSS: efemérides, almanaque, hora e posição aproximada entregues pela rede, para encurtar o TTFF.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MCC — Mobile Country Code: o código do país na rede LTE; a assistência mínima o usa como posição aproximada.</a:t>
            </a:r>
          </a:p>
          <a:p>
            <a:r>
              <a:t>RRC — Radio Resource Control: a camada que decide se a UE está conectada ou em idle; o timer de inatividade é da rede.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TTFF — Time To First Fix: o tempo da partida até a primeira posição válida.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PVT — Position, Velocity, Time: a estrutura que o receptor entrega a cada época.</a:t>
            </a:r>
          </a:p>
          <a:p>
            <a:r>
              <a:t>UE — User Equipment: o dispositivo, na nomenclatura 3GPP.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A-GNSS — Assisted GNSS: efemérides, almanaque, hora e posição aproximada entregues pela rede, para encurtar o TTFF.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GNSS — Global Navigation Satellite System: o termo genérico; GPS, Galileo, GLONASS e BeiDou são constelações GNSS.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PSM — Power Saving Mode: o modo em que a UE fica registrada mas com o rádio desligado até o próximo TAU.</a:t>
            </a:r>
          </a:p>
          <a:p>
            <a:r>
              <a:t>TAU — Tracking Area Update: a atualização periódica de registro; o prj.conf do sample pede 8 h.</a:t>
            </a:r>
          </a:p>
          <a:p>
            <a:r>
              <a:t>TTFF — Time To First Fix: o tempo da partida até a primeira posição válida.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eDRX — Extended Discontinuous Reception: ciclos longos de escuta em idle.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PVT — Position, Velocity, Time: a estrutura que o receptor entrega a cada época.</a:t>
            </a:r>
          </a:p>
          <a:p>
            <a:r>
              <a:t>GNSS — Global Navigation Satellite System: o termo genérico; GPS, Galileo, GLONASS e BeiDou são constelações GNSS.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Kconfig — O sistema de configuração do Zephyr: as opções CONFIG_* do prj.conf.</a:t>
            </a:r>
          </a:p>
          <a:p>
            <a:r>
              <a:t>GNSS — Global Navigation Satellite System: o termo genérico; GPS, Galileo, GLONASS e BeiDou são constelações GNSS.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A-GNSS — Assisted GNSS: efemérides, almanaque, hora e posição aproximada entregues pela rede, para encurtar o TTFF.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UE — User Equipment: o dispositivo, na nomenclatura 3GPP.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A-GNSS — Assisted GNSS: efemérides, almanaque, hora e posição aproximada entregues pela rede, para encurtar o TTFF.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cDRX — Connected-mode Discontinuous Reception: os ciclos de escuta enquanto a UE está em RRC conectado.</a:t>
            </a:r>
          </a:p>
          <a:p>
            <a:r>
              <a:t>UE — User Equipment: o dispositivo, na nomenclatura 3GPP.</a:t>
            </a:r>
          </a:p>
          <a:p>
            <a:r>
              <a:t>TTFF — Time To First Fix: o tempo da partida até a primeira posição válida.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LTE-M — A variante Cat-M1 do LTE para IoT.</a:t>
            </a:r>
          </a:p>
          <a:p>
            <a:r>
              <a:t>SIM — Subscriber Identity Module.</a:t>
            </a:r>
          </a:p>
          <a:p>
            <a:r>
              <a:t>A-GNSS — Assisted GNSS: efemérides, almanaque, hora e posição aproximada entregues pela rede, para encurtar o TTFF.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UE — User Equipment: o dispositivo, na nomenclatura 3GPP.</a:t>
            </a:r>
          </a:p>
          <a:p>
            <a:r>
              <a:t>TTFF — Time To First Fix: o tempo da partida até a primeira posição válida.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A-GNSS — Assisted GNSS: efemérides, almanaque, hora e posição aproximada entregues pela rede, para encurtar o TTFF.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cDRX — Connected-mode Discontinuous Reception: os ciclos de escuta enquanto a UE está em RRC conectado.</a:t>
            </a:r>
          </a:p>
          <a:p>
            <a:r>
              <a:t>UE — User Equipment: o dispositivo, na nomenclatura 3GPP.</a:t>
            </a:r>
          </a:p>
          <a:p>
            <a:r>
              <a:t>AS-RAI — Access Stratum RAI, do 3GPP Release 14: vale para LTE-M e NB-IoT; depende da operadora.</a:t>
            </a:r>
          </a:p>
          <a:p>
            <a:r>
              <a:t>RAI — Release Assistance Indication: a UE avisa que terminou e pede a liberação antes do timer de inatividade.</a:t>
            </a:r>
          </a:p>
          <a:p>
            <a:r>
              <a:t>APN — Access Point Name: a rede de dados da operadora; em APN privada o timer RRC pode ser negociado.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UE — User Equipment: o dispositivo, na nomenclatura 3GPP.</a:t>
            </a:r>
          </a:p>
          <a:p>
            <a:r>
              <a:t>A-GNSS — Assisted GNSS: efemérides, almanaque, hora e posição aproximada entregues pela rede, para encurtar o TTFF.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TTFF — Time To First Fix: o tempo da partida até a primeira posição válida.</a:t>
            </a:r>
          </a:p>
          <a:p>
            <a:r>
              <a:t>AS-RAI — Access Stratum RAI, do 3GPP Release 14: vale para LTE-M e NB-IoT; depende da operadora.</a:t>
            </a:r>
          </a:p>
          <a:p>
            <a:r>
              <a:t>RAI — Release Assistance Indication: a UE avisa que terminou e pede a liberação antes do timer de inatividade.</a:t>
            </a:r>
          </a:p>
          <a:p>
            <a:r>
              <a:t>APN — Access Point Name: a rede de dados da operadora; em APN privada o timer RRC pode ser negociado.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GNSS — Global Navigation Satellite System: o termo genérico; GPS, Galileo, GLONASS e BeiDou são constelações GNSS.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DK — Development Kit: a placa de desenvolvimento (nRF54LM20-DK).</a:t>
            </a:r>
          </a:p>
          <a:p>
            <a:r>
              <a:t>PC — Personal Computer.</a:t>
            </a:r>
          </a:p>
          <a:p>
            <a:r>
              <a:t>VCOM — Virtual COM port: a porta serial que o chip de interface da DK cria no PC.</a:t>
            </a:r>
          </a:p>
          <a:p>
            <a:r>
              <a:t>SMA — O conector coaxial de antena da SMA-DK e do EVK.</a:t>
            </a:r>
          </a:p>
          <a:p>
            <a:r>
              <a:t>LNA — Low-Noise Amplifier: o amplificador da antena ativa; a SMA-DK não tem LNA de bordo.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A-GPS — O mesmo que A-GNSS, na nomenclatura da Product Specification.</a:t>
            </a:r>
          </a:p>
          <a:p>
            <a:r>
              <a:t>GPS — Global Positioning System: a constelação americana; o nRF9151 recebe só o sinal L1 C/A dela.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cDRX — Connected-mode Discontinuous Reception: os ciclos de escuta enquanto a UE está em RRC conectado.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A-GNSS — Assisted GNSS: efemérides, almanaque, hora e posição aproximada entregues pela rede, para encurtar o TTFF.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SoC — System on Chip: CPU, memória e rádio no mesmo chip (nRF54LM20).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MCC — Mobile Country Code: o código do país na rede LTE; a assistência mínima o usa como posição aproximada.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NMEA — O protocolo de texto dos receptores GNSS (sentenças $GPGGA, $GPRMC...), NMEA 0183.</a:t>
            </a:r>
          </a:p>
          <a:p>
            <a:r>
              <a:t>UART — Universal Asynchronous Receiver/Transmitter: a serial do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UART — Universal Asynchronous Receiver/Transmitter: a serial do console.</a:t>
            </a:r>
          </a:p>
          <a:p>
            <a:r>
              <a:t>PVT — Position, Velocity, Time: a estrutura que o receptor entrega a cada época.</a:t>
            </a:r>
          </a:p>
          <a:p>
            <a:r>
              <a:t>NMEA — O protocolo de texto dos receptores GNSS (sentenças $GPGGA, $GPRMC...), NMEA 0183.</a:t>
            </a:r>
          </a:p>
          <a:p>
            <a:r>
              <a:t>FLASH — Memória não volátil de programa (2 MB no nRF54LM20).</a:t>
            </a:r>
          </a:p>
          <a:p>
            <a:r>
              <a:t>RAM — Random Access Memory: a memória de trabalho (511 KB no nRF54LM20).</a:t>
            </a:r>
          </a:p>
          <a:p>
            <a:r>
              <a:t>TTFF — Time To First Fix: o tempo da partida até a primeira posição válida.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CEP50 — O raio que contém metade das posições.</a:t>
            </a:r>
          </a:p>
          <a:p>
            <a:r>
              <a:t>TTFF — Time To First Fix: o tempo da partida até a primeira posição válida.</a:t>
            </a:r>
          </a:p>
          <a:p>
            <a:r>
              <a:t>A-GNSS — Assisted GNSS: efemérides, almanaque, hora e posição aproximada entregues pela rede, para encurtar o TTFF.</a:t>
            </a:r>
          </a:p>
          <a:p>
            <a:r>
              <a:t>GNSS — Global Navigation Satellite System: o termo genérico; GPS, Galileo, GLONASS e BeiDou são constelações GNSS.</a:t>
            </a:r>
          </a:p>
          <a:p>
            <a:r>
              <a:t>RRC — Radio Resource Control: a camada que decide se a UE está conectada ou em idle; o timer de inatividade é da rede.</a:t>
            </a:r>
          </a:p>
          <a:p>
            <a:r>
              <a:t>UE — User Equipment: o dispositivo, na nomenclatura 3GPP.</a:t>
            </a:r>
          </a:p>
          <a:p>
            <a:r>
              <a:t>AS-RAI — Access Stratum RAI, do 3GPP Release 14: vale para LTE-M e NB-IoT; depende da operadora.</a:t>
            </a:r>
          </a:p>
          <a:p>
            <a:r>
              <a:t>RAI — Release Assistance Indication: a UE avisa que terminou e pede a liberação antes do timer de inatividade.</a:t>
            </a:r>
          </a:p>
          <a:p>
            <a:r>
              <a:t>APN — Access Point Name: a rede de dados da operadora; em APN privada o timer RRC pode ser negociado.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07 · GNSS NO NRF9151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O receptor dentro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do modem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Acurácia e tempo até o fix esperados, o rádio compartilhado entre LTE e GNSS, o efeito de cada degrau de assistência e do timer RRC da rede, e o consumo em cada modo.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Todo número é da bancada, ou vem atribuído à Product Specification.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nRF9151 SMA-DK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06700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GPS L1 C/A + QZSS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5286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NCS v3.4.0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08597" y="4709160"/>
            <a:ext cx="1340510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gnss/01 a 03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que o receptor 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 receptor de banda única, multiplexado no tempo com o modem LTE. A diferença para o ZED-X20P do próximo bloco é de classe de receptor, não de qualidade.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 RECEPTOR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Dois sinais, uma frequência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GNSS só existe na variante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SICA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nRF9151; SIAA e SIBA não têm. A Product Specification diz que “GPS receiver operation is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time multiplexed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with the LTE modem”: o GNSS trabalha com o modem em RRC idle, em PSM ou desativado — nunca em RRC conectado.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sinais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GPS L1 C/A + QZSS L1 C/A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os dois em 1575,42 MHz. Sem Galileo, GLONASS, BeiDou; sem L2, L5, L6. O GPS não pode ser desligado; o QZSS não é visível no Brasil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1689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129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30,5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689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TTFF a frio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8849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datasheet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281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céu aberto, 25 °C, TCXO, LNA externo com filtro SAW. Sensibilidade: −146,5 dBm a frio, −156,5 dBm rastreando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7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1587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1,3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com A-GPS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307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datasheet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4739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igual à partida a quente: com efemérides, almanaque, hora e posição já no modem, resta só a medida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8605" y="2839212"/>
            <a:ext cx="2519857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0045" y="3095244"/>
            <a:ext cx="233697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2,0 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58605" y="3735324"/>
            <a:ext cx="25198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CEP50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765" y="4119372"/>
            <a:ext cx="224553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rastreio contínuo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3197" y="4466844"/>
            <a:ext cx="2190673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1,8 m com A-GPS (modelo NeQuick incluso); 3,4 m em modo periódico. Metade das posições cai dentro desse raio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 RECEPTOR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a Product Specification promete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Condições declaradas: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céu aberto, 25 °C, relógio TCXO, LNA externo com filtro SAW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A própria especificação avisa que condições locais e temporais podem variar o TTFF e a precisão consideravelmente.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04487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59"/>
                <a:gridCol w="1463039"/>
                <a:gridCol w="61932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Grandeza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Valor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Condição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TTFF a frio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30,5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efemérides, sem almanaque, sem hora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TTFF a quente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1,3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efemérides válidas na memória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TTFF com A-GPS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1,3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efemérides, almanaque, hora e posição entregues pela rede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CEP50, contínuo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2,0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rastreio a 1 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CEP50, contínuo com A-GPS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1,8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inclui os parâmetros do modelo ionosférico NeQuick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CEP50, periódico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3,4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fix a cada 2 min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CEP50, periódico com A-GPS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3,1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fix a cada 2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9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9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Valores de céu aberto. A bancada do curso fica numa janela entre dois prédios: os números medidos neste bloco são dessa condição, com visada parcial.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 RECEPTOR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SMA-DK depende da antena externa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nRF9151 SMA-DK (PCA10201), a placa do curso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sem antena de bordo e sem LNA de GNSS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os u.FL J1/J2 viraram conectores SMA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J2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é o de GNSS e já entrega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3 V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para alimentar a antena ativa (do nPM1300)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CONFIG_MODEM_ANTENNA_GNSS_EXTERNAL=y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— a única divergência do sample do SDK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%XCOEX0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fica sem parâmetros: nada de LNA de bordo para ligar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mesmo alvo de build da DK comum: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nrf9151dk/nrf9151/ns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; não há board separado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nRF9151 DK comum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antena patch de bordo (Taoglas)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com LNA embutido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ligado pelo pino COEX0 em 1565–1586 MHz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padrão do NCS é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MODEM_ANTENNA_GNSS_ONBOARD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opção externa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desliga o LNA de bordo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: o mesmo firmware roda, mas o desempenho cai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um aluno com a DK comum compila e roda — e fica preso à antena de bordo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Antena ativa é obrigatória na SMA-DK. A ANN-MB2 (3,0–5,0 V, 15 mA) está na faixa dos 3 V do J2, no limite de baixo; a u-blox não publica o ganho a 3 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 RECEPTOR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duas linhas que o curso acrescenta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Com seleção automática, o modem registrou em NB-IoT com o SIM Cat-M1 (attach de 150 s); forçado LTE-M, </a:t>
            </a:r>
            <a:r>
              <a:rPr sz="1500" b="1">
                <a:solidFill>
                  <a:srgbClr val="0093D0"/>
                </a:solidFill>
                <a:latin typeface="Segoe UI"/>
              </a:rPr>
              <a:t>26 s</a:t>
            </a:r>
            <a:r>
              <a:rPr sz="15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Firmware do modem nas SMA-DK do curso: </a:t>
            </a:r>
            <a:r>
              <a:rPr sz="1500" b="0">
                <a:solidFill>
                  <a:srgbClr val="0B1B2B"/>
                </a:solidFill>
                <a:latin typeface="Consolas"/>
              </a:rPr>
              <a:t>mfw_nrf91x1_2.0.4</a:t>
            </a:r>
            <a:r>
              <a:rPr sz="1500" b="0">
                <a:solidFill>
                  <a:srgbClr val="0B1B2B"/>
                </a:solidFill>
                <a:latin typeface="Segoe UI"/>
              </a:rPr>
              <a:t>, padrão (o de NTN é outro firmware).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gnss/01_nrf9151_basic/prj.conf — copia de nrf/samples/cellular/gnss (NCS v3.4.0)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CONFIG_MODEM_ANTENNA_GNSS_EXTERNAL</a:t>
            </a:r>
            <a:r>
              <a:rPr sz="1400" b="0">
                <a:solidFill>
                  <a:srgbClr val="DCE8F2"/>
                </a:solidFill>
                <a:latin typeface="Consolas"/>
              </a:rPr>
              <a:t>=y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SMA-DK: sem LNA de bordo, antena ativa no J2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CONFIG_LTE_NETWORK_MODE_LTE_M_GPS</a:t>
            </a:r>
            <a:r>
              <a:rPr sz="1400" b="0">
                <a:solidFill>
                  <a:srgbClr val="DCE8F2"/>
                </a:solidFill>
                <a:latin typeface="Consolas"/>
              </a:rPr>
              <a:t>=y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forca LTE-M: com o SIM Cat-M1 o modem caia em NB-IoT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o resto e o padrao do sample: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CONFIG_GNSS_SAMPLE_MODE_CONTINUOUS</a:t>
            </a:r>
            <a:r>
              <a:rPr sz="1400" b="0">
                <a:solidFill>
                  <a:srgbClr val="DCE8F2"/>
                </a:solidFill>
                <a:latin typeface="Consolas"/>
              </a:rPr>
              <a:t>=y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rastreio a 1 Hz (lab 1)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CONFIG_GNSS_SAMPLE_ASSISTANCE_NONE</a:t>
            </a:r>
            <a:r>
              <a:rPr sz="1400" b="0">
                <a:solidFill>
                  <a:srgbClr val="DCE8F2"/>
                </a:solidFill>
                <a:latin typeface="Consolas"/>
              </a:rPr>
              <a:t>=y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sem assistencia (lab 1)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CONFIG_AT_HOST_LIBRARY</a:t>
            </a:r>
            <a:r>
              <a:rPr sz="1400" b="0">
                <a:solidFill>
                  <a:srgbClr val="DCE8F2"/>
                </a:solidFill>
                <a:latin typeface="Consolas"/>
              </a:rPr>
              <a:t>=y       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comandos AT pelo console (padrao do sample)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O RECEPTOR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Um fonte, seis builds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Mesmo fonte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gnss/01_nrf9151_basic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), mesmo alvo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nrf9151dk/nrf9151/ns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sysbuild), opções com o prefixo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01_nrf9151_basic_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Cada pasta de lab tem um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build.cmd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que gera o build ali; hex pronto de cinco deles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gnss/hex/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79"/>
                <a:gridCol w="2834639"/>
                <a:gridCol w="2743199"/>
                <a:gridCol w="27185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Build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Opções além do padrão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Exige para rodar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se observa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Lab 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build_9151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nenhuma: contínuo, sem assistência, log + AT host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antena + céu;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sem LTE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SIM dispensável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fix a frio, satélites rastreados × usados, PVT a 1 Hz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Lab 2 · sem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build_sem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MODE_TTFF_TEST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COLD_START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antena + céu; sem LTE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TTFF por ciclo, partida a frio forçada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Lab 2 · mínima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build_minima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ASSISTANCE_MINIMAL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(seleciona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LTE_ON_DEMAND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antena +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 LTE-M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TTFF; o LTE liga só para buscar hora e MCC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Lab 2 · nuvem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build_nuvem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ASSISTANCE_NRF_CLOUD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antena + SIM LTE-M +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DK provisionada na nRF Cloud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A-GNSS em &lt; 1 s; ~30 s presos em RRC conectado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Lab 2 · periódica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build_periodico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MODE_PERIODIC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LTE_ON_DEMAND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ASSISTANCE_MINIMAL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antena + SIM LTE-M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 quatro mensagens do rádio compartilhado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Lab 3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·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03_nrf9151_nmea/build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NMEA_ONLY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LOG=n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AT_HOST_LIBRARY=n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antena + céu; sem LTE; u-center 2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nmea_captura.py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$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na porta; mapa de desvio, CEP50 e CEP95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linha completa de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west build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,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west flash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e conferência de cada um dos seis está em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gnss/comandos_west.txt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 Só a variante de nuvem depende de infraestrutura fora da sala (rede LTE-M e nRF Cloud); mínima e periódica dependem só da rede.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Acurácia: o que esperar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Os 2,0 m de CEP50 do datasheet são de céu aberto. Na janela entre dois prédios o mesmo receptor mede 4 a 6 m em 15 min, e o mapa do céu mostra por quê.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ACURÁCIA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Dispersão medida: nRF9151, cinco capturas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CEP50 e CEP95 do erro horizontal contra a média da própria captura.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 CEP cresce com a duração da captura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porque a solução deriva: a captura de 15 min das 13h31 dá 1,129 m inteira e 0,338 m na mediana de janelas de 5 min. Comparar só linhas de mesma janela.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4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1005839"/>
                <a:gridCol w="1188719"/>
                <a:gridCol w="914399"/>
                <a:gridCol w="1097279"/>
                <a:gridCol w="1097279"/>
                <a:gridCol w="1188719"/>
                <a:gridCol w="18955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Captura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Posição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Plano de terra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Janela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CEP50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CEP95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Sat. usados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HDOP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08/09 23h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15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5,56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18,11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5,4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1,89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09/09 03h40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15 min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4,29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9,85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5,1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2,30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09/09 13h31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ø12 cm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15 min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5,57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13,54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6,9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1,43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09/09 13h–14h35, 18 blocos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janela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ø12 cm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100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1,71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3,36 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8,5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09/09 19h, 26 janelas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parapeito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ø12 cm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100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3,60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7,16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23h → 03h40: CEP95 de 18,1 m para 9,9 m com menos satélites e HDOP maior. A geometria piorou e a dispersão caiu; o termo que mudou é o atraso ionosférico, que um receptor de uma banda modela e não mede.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ACURÁCIA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céu que a antena enxerga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GSV de 15 min: cor = C/N0 médio, forma = usado ou não na solução. GP12 e GP13, a 58° e 62° de elevação, com 22–24 dB-Hz (céu aberto: 40+) indicam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obstrução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o setor hachurado é a lacuna de azimute.</a:t>
            </a:r>
          </a:p>
        </p:txBody>
      </p:sp>
      <p:pic>
        <p:nvPicPr>
          <p:cNvPr id="9" name="Picture 8" descr="ceu_comp_nrf9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563" y="1810512"/>
            <a:ext cx="707456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ACURÁCIA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Accuracy, horário e plano de terra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99716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46020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Campo </a:t>
            </a:r>
            <a:r>
              <a:rPr sz="1400" b="1" i="0">
                <a:solidFill>
                  <a:srgbClr val="0B1B2B"/>
                </a:solidFill>
                <a:latin typeface="Consolas"/>
              </a:rPr>
              <a:t>accuracy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 ≠ erro medido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0068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estimativa 2D 1-σ do próprio receptor; cai de 14,3 m para ≤ 5 m nos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9 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após o fix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dois fixes iniciais no mesmo ponto diferiram 36 m em latitude e 48 m em longitude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faixa de altitude de 33 m contra 10 m no horizontal (HDOP 2,0): o erro vertical domina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2299716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8154" y="2446020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Horário: 23h contra 03h40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154" y="2830068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CEP95 de 18,1 m para 9,9 m; satélites usados 5,4 → 5,1; HDOP 1,89 → 2,30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geometria pior e dispersão menor: o termo que mudou é o atraso ionosférico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um receptor de uma banda só modela esse atraso (NeQuick); dois observáveis o mediriam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2299716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620" y="2446020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Plano de terra de ø12 cm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620" y="2830068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é a condição em que a u-blox especifica a antena (ganho, centro de fase); um CD tem 120 mm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com plano: 5,1 → 6,9 satélites usados, HDOP 2,30 → 1,43, altitude mais estável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 CEP50 levemente pior — inconclusivo, porque os horários diferem; o X20P variou 3,2× em 20 min sem mudança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Regra de medida do módulo: um conjunto = uma posição de antena, com plano de terra e cabo fixos do começo ao fim.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ACURÁCIA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a ionosfera pesa mais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Esquerda: índice S4 de cintilação em GPS L1 (percentil 90, 23:00 local). Direita: atraso ionosférico modelado (NeQuick), em metros. As duas cristas da anomalia de ionização equatorial aparecem nos dois mapas.</a:t>
            </a:r>
          </a:p>
        </p:txBody>
      </p:sp>
      <p:pic>
        <p:nvPicPr>
          <p:cNvPr id="9" name="Picture 8" descr="gnss_ionosfera_mapa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756" y="1810512"/>
            <a:ext cx="9774182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Australian Bureau of Meteorology, Space Weather Services (WBMOD), © Commonwealth of Australia · © ESA, Ionosphere map (2010). Uso educacional com crédito.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Tempo até o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Tempo até a primeira posição sem assistência, e o efeito de cada degrau de assistência, medido em duas rodadas com a ordem invertida para que a deriva do céu não vire diferença entre variantes.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TEMPO ATÉ 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Lab 1: o fix a frio, sem assistência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partidas, mesmo ponto, mesmo dia, mesma antena.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 dispersão é o resultado relevante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sem assistência o modem decodifica as efemérides do sinal de cada satélite a 50 bps, e o tempo depende de quais satélites estão visíveis na hora da partida.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79"/>
                <a:gridCol w="2011679"/>
                <a:gridCol w="76562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Partida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Tempo até o fix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o console mostra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99,9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pico de 10 satélites rastreados;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Accuracy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inicial acima de 10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25,8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11 rastreados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35,3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391363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1363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Um reset apaga hora e posição (o tempo GPS volta a 000000 e a data a 060180): toda partida do lab 1 é fria. A assistência do lab 2 substitui essa decodificação.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TEMPO ATÉ 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dois degraus de assistência (lab 2)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99716"/>
            <a:ext cx="5282031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446020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sem · </a:t>
            </a:r>
            <a:r>
              <a:rPr sz="1400" b="1" i="0">
                <a:solidFill>
                  <a:srgbClr val="0B1B2B"/>
                </a:solidFill>
                <a:latin typeface="Consolas"/>
              </a:rPr>
              <a:t>02_nrf9151_radio/build_sem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30068"/>
            <a:ext cx="48431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parte do zero: apaga efemérides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 almanaque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 cada ciclo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nenhuma chamada de rede; 83528 B de FLASH, 35708 B de RAM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é a referência contra a qual a assistência se mede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431" y="2299716"/>
            <a:ext cx="5282031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446020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nuvem · </a:t>
            </a:r>
            <a:r>
              <a:rPr sz="1400" b="1" i="0">
                <a:solidFill>
                  <a:srgbClr val="0B1B2B"/>
                </a:solidFill>
                <a:latin typeface="Consolas"/>
              </a:rPr>
              <a:t>02_nrf9151_radio/build_nuvem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2830068"/>
            <a:ext cx="484311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A-GNSS completo pela nRF Cloud por CoAP: efemérides, almanaque, hora, posição, ionosfera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exige certificado e onboarding — para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rodar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não para compilar; +21016 B de FLASH, +12584 B de RAM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cobrado por chamada; o dado chega em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menos de 1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Mesmo código-fonte, duas configurações de Kconfig, em modo de teste de TTFF com partida a frio forçada.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TEMPO ATÉ 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TTFF medido por degrau de assistência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Mediana com A-GNSS (61 s)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acima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da mediana sem assistência (54 s). Descontado o tempo que o firmware reporta como bloqueado pelo LTE, 38 s. Cada partida da nuvem está ligada ao seu valor líquido.</a:t>
            </a:r>
          </a:p>
        </p:txBody>
      </p:sp>
      <p:pic>
        <p:nvPicPr>
          <p:cNvPr id="9" name="Picture 8" descr="gnss_ttff_degrau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033" y="1810512"/>
            <a:ext cx="10411628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TEMPO ATÉ 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números em regime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Modo de teste de TTFF: o sample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não imprime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GNSS operation blocked by LTE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 cada PVT; acumula e reporta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Time GNSS was blocked by LTE: &lt;n&gt; 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junto do fix. Contar mensagens numa build de TTFF dá sempre zero — a grandeza que interessa é o tempo.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39212"/>
            <a:ext cx="3436010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095244"/>
            <a:ext cx="325313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54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5324"/>
            <a:ext cx="343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sem assistência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119372"/>
            <a:ext cx="316169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mediana de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466844"/>
            <a:ext cx="310682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30 a 115 s. Duas partidas em 30,0 s: com satélites suficientes à vista, o valor do datasheet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7842" y="2839212"/>
            <a:ext cx="3436010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9282" y="3095244"/>
            <a:ext cx="325313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61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7842" y="3735324"/>
            <a:ext cx="343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nuvem, bruto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5002" y="4119372"/>
            <a:ext cx="316169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mediana de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2434" y="4466844"/>
            <a:ext cx="310682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35 a 269 s. Em quase todos os ciclos a rede manteve a UE em RRC conectado por 29 s após o dado chegar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2452" y="2839212"/>
            <a:ext cx="3436010" cy="24688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3892" y="3095244"/>
            <a:ext cx="325313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093D0"/>
                </a:solidFill>
                <a:latin typeface="Consolas"/>
              </a:rPr>
              <a:t>38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2452" y="3735324"/>
            <a:ext cx="34360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66577"/>
                </a:solidFill>
                <a:latin typeface="Consolas"/>
              </a:rPr>
              <a:t>nuvem, líquido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9612" y="4119372"/>
            <a:ext cx="316169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mediana de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7044" y="4466844"/>
            <a:ext cx="3106826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28 a 240 s. Descontado o bloqueio, o A-GNSS reduz a mediana em ~16 s; o timer RRC acrescenta 29 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Um rádio para LTE e GNSS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 cadeia de rádio do nRF9151 é multiplexada no tempo entre LTE e GNSS. Modo de fix, assistência e download de dados de navegação são configurações acopladas.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O RÁDIO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Três níveis de chaveamento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3436010" cy="42062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82496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1 · O ciclo do LTE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7842" y="1554480"/>
            <a:ext cx="3436010" cy="42062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0722" y="1682496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2 · O ciclo de trabalho do GNSS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2452" y="1554480"/>
            <a:ext cx="3436010" cy="42062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5332" y="1682496"/>
            <a:ext cx="307025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3 · Dados de navegação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" y="2788920"/>
            <a:ext cx="655338" cy="548640"/>
          </a:xfrm>
          <a:prstGeom prst="roundRect">
            <a:avLst>
              <a:gd name="adj" fmla="val 12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2788920"/>
            <a:ext cx="54561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ativo</a:t>
            </a:r>
          </a:p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6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2890" y="2788920"/>
            <a:ext cx="2277752" cy="548640"/>
          </a:xfrm>
          <a:prstGeom prst="roundRect">
            <a:avLst>
              <a:gd name="adj" fmla="val 12000"/>
            </a:avLst>
          </a:prstGeom>
          <a:solidFill>
            <a:srgbClr val="E1F0FA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7754" y="2788920"/>
            <a:ext cx="216802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00224E"/>
                </a:solidFill>
                <a:latin typeface="Segoe UI"/>
              </a:rPr>
              <a:t>RRC idle ou PSM — rádio livre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1832" y="2624328"/>
            <a:ext cx="2978810" cy="0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1832" y="2624328"/>
            <a:ext cx="0" cy="109728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920642" y="2624328"/>
            <a:ext cx="0" cy="109728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41832" y="2350008"/>
            <a:ext cx="297881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1 ciclo de TAU: 8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7170" y="3447288"/>
            <a:ext cx="232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93D0"/>
                </a:solidFill>
                <a:latin typeface="Segoe UI"/>
              </a:rPr>
              <a:t>↑ o GNSS só usa o rádio aqui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343400"/>
            <a:ext cx="307025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Consolas"/>
              </a:rPr>
              <a:t>prj.conf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do sample: TAU periódico de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8 h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, tempo ativo de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6 s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Em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RRC conectado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o GNSS para: é o que a Product Specification chama de time multiplexed.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Blocos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não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proporcionais: 8 h e 6 s não cabem na mesma régua.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06442" y="2788920"/>
            <a:ext cx="148940" cy="548640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1306" y="2788920"/>
            <a:ext cx="392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4773670" y="2788920"/>
            <a:ext cx="559186" cy="548640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534" y="2788920"/>
            <a:ext cx="4494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28" name="Rounded Rectangle 27"/>
          <p:cNvSpPr/>
          <p:nvPr/>
        </p:nvSpPr>
        <p:spPr>
          <a:xfrm>
            <a:off x="5351144" y="2788920"/>
            <a:ext cx="148940" cy="548640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6008" y="2788920"/>
            <a:ext cx="392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5518372" y="2788920"/>
            <a:ext cx="559186" cy="548640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3236" y="2788920"/>
            <a:ext cx="4494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2" name="Rounded Rectangle 31"/>
          <p:cNvSpPr/>
          <p:nvPr/>
        </p:nvSpPr>
        <p:spPr>
          <a:xfrm>
            <a:off x="6095847" y="2788920"/>
            <a:ext cx="148940" cy="548640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50711" y="2788920"/>
            <a:ext cx="392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6263075" y="2788920"/>
            <a:ext cx="559186" cy="548640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7939" y="2788920"/>
            <a:ext cx="4494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6" name="Rounded Rectangle 35"/>
          <p:cNvSpPr/>
          <p:nvPr/>
        </p:nvSpPr>
        <p:spPr>
          <a:xfrm>
            <a:off x="6840550" y="2788920"/>
            <a:ext cx="148940" cy="548640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95414" y="2788920"/>
            <a:ext cx="3921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</a:p>
        </p:txBody>
      </p:sp>
      <p:sp>
        <p:nvSpPr>
          <p:cNvPr id="38" name="Rounded Rectangle 37"/>
          <p:cNvSpPr/>
          <p:nvPr/>
        </p:nvSpPr>
        <p:spPr>
          <a:xfrm>
            <a:off x="7007778" y="2788920"/>
            <a:ext cx="559186" cy="548640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62642" y="2788920"/>
            <a:ext cx="4494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</a:p>
        </p:txBody>
      </p:sp>
      <p:cxnSp>
        <p:nvCxnSpPr>
          <p:cNvPr id="40" name="Connector 39"/>
          <p:cNvCxnSpPr/>
          <p:nvPr/>
        </p:nvCxnSpPr>
        <p:spPr>
          <a:xfrm>
            <a:off x="4606442" y="2624328"/>
            <a:ext cx="744702" cy="0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606442" y="2624328"/>
            <a:ext cx="0" cy="109728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351144" y="2624328"/>
            <a:ext cx="0" cy="109728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606442" y="2350008"/>
            <a:ext cx="297881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rastreia 20% · dorme 80%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6442" y="3447288"/>
            <a:ext cx="2978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dentro da janela livre, o receptor ainda dorme 4 de cada 5 partes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60722" y="4343400"/>
            <a:ext cx="307025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Duas políticas,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o mesmo ciclo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: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DUTY_CYCLING_PERFORMANCE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entra nele só sem perda sensível;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DUTY_CYCLING_POWER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entra mais cedo.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Só afeta 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navegação contínua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. Padrão: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PSM_DISABLED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Datasheet: 43,1 mA contínuo → 7,8 mA com duty cycling.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1052" y="2788920"/>
            <a:ext cx="357457" cy="548640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5916" y="2788920"/>
            <a:ext cx="24772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fix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58298" y="2788920"/>
            <a:ext cx="565973" cy="548640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13162" y="2788920"/>
            <a:ext cx="45624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566577"/>
                </a:solidFill>
                <a:latin typeface="Segoe UI"/>
              </a:rPr>
              <a:t>sono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54060" y="2788920"/>
            <a:ext cx="1251100" cy="54864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08924" y="2788920"/>
            <a:ext cx="11413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B1B2B"/>
                </a:solidFill>
                <a:latin typeface="Segoe UI"/>
              </a:rPr>
              <a:t>download agendado</a:t>
            </a:r>
          </a:p>
          <a:p>
            <a:pPr algn="ctr">
              <a:lnSpc>
                <a:spcPct val="105000"/>
              </a:lnSpc>
            </a:pPr>
            <a:r>
              <a:rPr sz="850" b="1" i="0">
                <a:solidFill>
                  <a:srgbClr val="0B1B2B"/>
                </a:solidFill>
                <a:latin typeface="Segoe UI"/>
              </a:rPr>
              <a:t>(efemérides, 50 bps)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34948" y="2788920"/>
            <a:ext cx="357457" cy="548640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89812" y="2788920"/>
            <a:ext cx="24772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fix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922193" y="2788920"/>
            <a:ext cx="327669" cy="548640"/>
          </a:xfrm>
          <a:prstGeom prst="roundRect">
            <a:avLst>
              <a:gd name="adj" fmla="val 12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77057" y="2788920"/>
            <a:ext cx="21794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</a:p>
        </p:txBody>
      </p:sp>
      <p:cxnSp>
        <p:nvCxnSpPr>
          <p:cNvPr id="56" name="Connector 55"/>
          <p:cNvCxnSpPr/>
          <p:nvPr/>
        </p:nvCxnSpPr>
        <p:spPr>
          <a:xfrm>
            <a:off x="8271052" y="2624328"/>
            <a:ext cx="953219" cy="0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271052" y="2624328"/>
            <a:ext cx="0" cy="109728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224271" y="2624328"/>
            <a:ext cx="0" cy="109728"/>
          </a:xfrm>
          <a:prstGeom prst="line">
            <a:avLst/>
          </a:prstGeom>
          <a:ln w="15875">
            <a:solidFill>
              <a:srgbClr val="56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271052" y="2350008"/>
            <a:ext cx="95321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intervalo configurado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1052" y="3447288"/>
            <a:ext cx="297881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A5A10"/>
                </a:solidFill>
                <a:latin typeface="Segoe UI"/>
              </a:rPr>
              <a:t>em modo periódico, intervalo e tentativas ficam suspensos até o download terminar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5332" y="4343400"/>
            <a:ext cx="307025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Efemérides e almanaque vêm do satélite 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50 bps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(~30 s por efeméride). No lab 1 isso é o TTFF a frio.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Em modo periódico o receptor agenda esse download;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SCHED_DOWNLOAD_DISABLE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o desliga, recomendado só com assistência (caso do lab 2).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Desligado sem assistência, os parâmetros ionosféricos não chegam e a precisão cai.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" y="5870448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“GPS receiver operation is time multiplexed with the LTE modem” — nRF9151 Product Specification.  Fontes: 20% de rastreio (doc do nrf_modem); TAU de 8 h e tempo ativo de 6 s (prj.conf do sample); 50 bps (mensagem de navegação GPS).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O RÁDIO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quatro flags de coexistência no PVT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cada PVT o firmware examina as flags que o modem devolve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print_flags()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src/main.c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) e imprime uma linha por flag setada. Enquanto o modem atachava, o console do lab 1 cuspiu dezenas das duas primeiras.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60319"/>
                <a:gridCol w="3291839"/>
                <a:gridCol w="49130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Flag do modem (PVT)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Linha impressa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significa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DEADLINE_MISSED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GNSS operation blocked by LTE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LTE tomou o rádio na janela em que o GNSS precisava dele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NOT_ENOUGH_WINDOW_TIME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Insufficient GNSS time windows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 folgas que o LTE deixou não foram longas o suficiente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SLEEP_BETWEEN_PVT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Sleep period(s) between PVT notifications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GNSS dormiu entre notificações, dentro do próprio intervalo periódico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SCHED_DOWNLOAD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Scheduled navigation data download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GNSS está fora do ciclo normal, baixando dado de navegação do satélite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Em rastreio contínuo o GNSS usa as folgas do LTE e as flags aparecem pouco depois do registro. Em modo periódico cada janela ganha ou perdida fica no log.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04 · O RÁDIO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bit que desliga o download programado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Com assistência os dados já vêm prontos: o receptor não precisa parar a agenda para buscá-los a 50 bps. É a recomendação da Nordic.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Sem assistência, desligar à força</a:t>
            </a:r>
            <a:r>
              <a:rPr sz="1500" b="0">
                <a:solidFill>
                  <a:srgbClr val="0B1B2B"/>
                </a:solidFill>
                <a:latin typeface="Segoe UI"/>
              </a:rPr>
              <a:t> faz o receptor nunca receber as correções ionosféricas: a precisão cai, sem erro no log. O Kconfig evita isso ao recusar </a:t>
            </a:r>
            <a:r>
              <a:rPr sz="1500" b="0">
                <a:solidFill>
                  <a:srgbClr val="0B1B2B"/>
                </a:solidFill>
                <a:latin typeface="Consolas"/>
              </a:rPr>
              <a:t>LTE_ON_DEMAND</a:t>
            </a:r>
            <a:r>
              <a:rPr sz="1500" b="0">
                <a:solidFill>
                  <a:srgbClr val="0B1B2B"/>
                </a:solidFill>
                <a:latin typeface="Segoe UI"/>
              </a:rPr>
              <a:t> sem assistência.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2154936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175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gnss/01_nrf9151_basic/src/main.c — como o sample decide */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if</a:t>
            </a:r>
            <a:r>
              <a:rPr sz="1400" b="0">
                <a:solidFill>
                  <a:srgbClr val="DCE8F2"/>
                </a:solidFill>
                <a:latin typeface="Consolas"/>
              </a:rPr>
              <a:t> (IS_ENABLED(CONFIG_GNSS_SAMPLE_MODE_PERIODIC) &amp;&amp;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!IS_ENABLED(CONFIG_GNSS_SAMPLE_ASSISTANCE_NONE)) {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	</a:t>
            </a:r>
            <a:r>
              <a:rPr sz="1400" b="0">
                <a:solidFill>
                  <a:srgbClr val="7FB58E"/>
                </a:solidFill>
                <a:latin typeface="Consolas"/>
              </a:rPr>
              <a:t>/* Disable GNSS scheduled downloads when assistance is used.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	use_case |= NRF_MODEM_GNSS_USE_CASE_SCHED_DOWNLOAD_DISABLE;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err = nrf_modem_gnss_use_case_set(use_case);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timer de liberação RRC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Com A-GNSS, o que atrasa o fix não é a chegada da assistência: é a UE mantida em RRC conectado até o timer de inatividade da rede expirar, com o GNSS parado nesse intervalo.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TIMER RRC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Dois ciclos de A-GNSS, vistos pelo PPK2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Faixa laranja = janela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+CSCON: 1 → 0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Dentro dela, 5–10 mA de média com picos de 200 mA (cDRX) 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 GNSS parado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na liberação, o platô liso de ~35 mA é o GNSS rastreando. À esquerda a rede segurou 30 s; à direita, 2,7 s — e o fix veio em 54 s em vez de 160.</a:t>
            </a:r>
          </a:p>
        </p:txBody>
      </p:sp>
      <p:pic>
        <p:nvPicPr>
          <p:cNvPr id="9" name="Picture 8" descr="rrc_release_agn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401901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TIMER RRC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Bloqueio pelo LTE = janela RRC conectada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Variante de nuvem, LTE-M, SIM Claro, madrugada de 09/09. O dado de A-GNSS chega em menos de 1 s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+CSCON: 1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; o resto da janela a UE fica presa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sem transferir nada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79"/>
                <a:gridCol w="3291839"/>
                <a:gridCol w="2926079"/>
                <a:gridCol w="34500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Ciclo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Janela RRC (CSCON 1 → 0)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blocked by LTE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TTFF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30,5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30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58,3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2,7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53,7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30,4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29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94,1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29,9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29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75,6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30,0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29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89,4 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29,9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29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159,5 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Confere com a doc da Nordic: em RRC conectado o timer “lasts from 5 to 60 seconds”, é “set by the network and cannot be negotiated by the UE”. O nosso mediu ~30 s, no meio da faixa.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TIMER RRC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Como encurtar a janela RRC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673352"/>
            <a:ext cx="103994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Como o PPK2 viu, na variante de nuvem (ciclo típico)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057400"/>
            <a:ext cx="587392" cy="566928"/>
          </a:xfrm>
          <a:prstGeom prst="roundRect">
            <a:avLst>
              <a:gd name="adj" fmla="val 12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57400"/>
            <a:ext cx="4776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partida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a frio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0080" y="2057400"/>
            <a:ext cx="639389" cy="566928"/>
          </a:xfrm>
          <a:prstGeom prst="roundRect">
            <a:avLst>
              <a:gd name="adj" fmla="val 12000"/>
            </a:avLst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4944" y="2057400"/>
            <a:ext cx="52966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CSCON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6045" y="2057400"/>
            <a:ext cx="483397" cy="566928"/>
          </a:xfrm>
          <a:prstGeom prst="roundRect">
            <a:avLst>
              <a:gd name="adj" fmla="val 12000"/>
            </a:avLst>
          </a:prstGeom>
          <a:solidFill>
            <a:srgbClr val="1FA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0909" y="2057400"/>
            <a:ext cx="37366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A-GNSS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&lt; 1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16018" y="2057400"/>
            <a:ext cx="3499244" cy="566928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0882" y="2057400"/>
            <a:ext cx="338951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RRC conectado, sem nada a transferir — 29 s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cDRX: 5–10 mA de média, picos de 200 mA · GNSS parado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1838" y="2057400"/>
            <a:ext cx="639389" cy="566928"/>
          </a:xfrm>
          <a:prstGeom prst="roundRect">
            <a:avLst>
              <a:gd name="adj" fmla="val 12000"/>
            </a:avLst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6702" y="2057400"/>
            <a:ext cx="52966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CSCON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27803" y="2057400"/>
            <a:ext cx="3707233" cy="56692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2667" y="2057400"/>
            <a:ext cx="359750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GNSS rastreando: platô de ~35 mA — 52 a 130 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71612" y="2057400"/>
            <a:ext cx="587392" cy="566928"/>
          </a:xfrm>
          <a:prstGeom prst="roundRect">
            <a:avLst>
              <a:gd name="adj" fmla="val 12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26476" y="2057400"/>
            <a:ext cx="4776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2697480"/>
            <a:ext cx="103994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O tempo que o firmware reporta como </a:t>
            </a:r>
            <a:r>
              <a:rPr sz="1000" b="1" i="0">
                <a:solidFill>
                  <a:srgbClr val="0B1B2B"/>
                </a:solidFill>
                <a:latin typeface="Segoe UI"/>
              </a:rPr>
              <a:t>blocked by LTE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é a janela </a:t>
            </a:r>
            <a:r>
              <a:rPr sz="1000" b="0" i="0">
                <a:solidFill>
                  <a:srgbClr val="566577"/>
                </a:solidFill>
                <a:latin typeface="Consolas"/>
              </a:rPr>
              <a:t>+CSCON: 1 → 0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, um para um, em todos os ciclos. O timer de inatividade é </a:t>
            </a:r>
            <a:r>
              <a:rPr sz="1000" b="1" i="0">
                <a:solidFill>
                  <a:srgbClr val="0B1B2B"/>
                </a:solidFill>
                <a:latin typeface="Segoe UI"/>
              </a:rPr>
              <a:t>da rede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: 5 a 60 s, não negociável pela UE.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502152"/>
            <a:ext cx="1039947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O que o AS-RAI muda: a UE pede a liberação logo depois de receber o dado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" y="3886200"/>
            <a:ext cx="587392" cy="566928"/>
          </a:xfrm>
          <a:prstGeom prst="roundRect">
            <a:avLst>
              <a:gd name="adj" fmla="val 12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3886200"/>
            <a:ext cx="4776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partida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a frio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20080" y="3886200"/>
            <a:ext cx="639389" cy="566928"/>
          </a:xfrm>
          <a:prstGeom prst="roundRect">
            <a:avLst>
              <a:gd name="adj" fmla="val 12000"/>
            </a:avLst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74944" y="3886200"/>
            <a:ext cx="52966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CSCON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6045" y="3886200"/>
            <a:ext cx="483397" cy="566928"/>
          </a:xfrm>
          <a:prstGeom prst="roundRect">
            <a:avLst>
              <a:gd name="adj" fmla="val 12000"/>
            </a:avLst>
          </a:prstGeom>
          <a:solidFill>
            <a:srgbClr val="1FA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50909" y="3886200"/>
            <a:ext cx="37366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A-GNSS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&lt; 1 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16018" y="3886200"/>
            <a:ext cx="587392" cy="566928"/>
          </a:xfrm>
          <a:prstGeom prst="roundRect">
            <a:avLst>
              <a:gd name="adj" fmla="val 12000"/>
            </a:avLst>
          </a:prstGeom>
          <a:solidFill>
            <a:srgbClr val="1FA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70882" y="3886200"/>
            <a:ext cx="4776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RAI →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release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9986" y="3886200"/>
            <a:ext cx="639389" cy="566928"/>
          </a:xfrm>
          <a:prstGeom prst="roundRect">
            <a:avLst>
              <a:gd name="adj" fmla="val 12000"/>
            </a:avLst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94850" y="3886200"/>
            <a:ext cx="52966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CSCON</a:t>
            </a: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15951" y="3886200"/>
            <a:ext cx="6619085" cy="566928"/>
          </a:xfrm>
          <a:prstGeom prst="roundRect">
            <a:avLst>
              <a:gd name="adj" fmla="val 12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0815" y="3886200"/>
            <a:ext cx="650935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GNSS rastreando desde ~2 s — com LTE_ON_DEMAND (LTE desligado entre ciclos) a janela medida foi de 1,6 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71612" y="3886200"/>
            <a:ext cx="587392" cy="566928"/>
          </a:xfrm>
          <a:prstGeom prst="roundRect">
            <a:avLst>
              <a:gd name="adj" fmla="val 12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26476" y="3886200"/>
            <a:ext cx="4776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526280"/>
            <a:ext cx="103994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66577"/>
                </a:solidFill>
                <a:latin typeface="Consolas"/>
              </a:rPr>
              <a:t>AT%RAI=1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+ </a:t>
            </a:r>
            <a:r>
              <a:rPr sz="1000" b="0" i="0">
                <a:solidFill>
                  <a:srgbClr val="566577"/>
                </a:solidFill>
                <a:latin typeface="Consolas"/>
              </a:rPr>
              <a:t>nrf_setsockopt(NRF_SO_RAI, NRF_RAI_NO_DATA)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. </a:t>
            </a:r>
            <a:r>
              <a:rPr sz="1000" b="1" i="0">
                <a:solidFill>
                  <a:srgbClr val="0B1B2B"/>
                </a:solidFill>
                <a:latin typeface="Segoe UI"/>
              </a:rPr>
              <a:t>Depende da operadora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: “the decision to release the connection is still at the discretion of the network provider”. Não testado na Claro.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5303520"/>
            <a:ext cx="10765231" cy="868680"/>
          </a:xfrm>
          <a:prstGeom prst="roundRect">
            <a:avLst>
              <a:gd name="adj" fmla="val 7000"/>
            </a:avLst>
          </a:prstGeom>
          <a:solidFill>
            <a:srgbClr val="FBF0DC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5394960"/>
            <a:ext cx="103080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1B2B"/>
                </a:solidFill>
                <a:latin typeface="Segoe UI"/>
              </a:rPr>
              <a:t>Desligar o LTE entre ciclos (`LTE_ON_DEMAND`) não é configuração de produto.</a:t>
            </a:r>
            <a:r>
              <a:rPr sz="1050" b="0" i="0">
                <a:solidFill>
                  <a:srgbClr val="0B1B2B"/>
                </a:solidFill>
                <a:latin typeface="Segoe UI"/>
              </a:rPr>
              <a:t> Em laboratório isola a causa: reduz a janela para 1,6 s e zera o bloqueio. Em campo, o dispositivo passa a registrar e desregistrar a cada ciclo, comportamento que a operadora pode penalizar.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B1B2B"/>
                </a:solidFill>
                <a:latin typeface="Segoe UI"/>
              </a:rPr>
              <a:t>Mecanismos previstos: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AS-RAI</a:t>
            </a:r>
            <a:r>
              <a:rPr sz="1050" b="0" i="0">
                <a:solidFill>
                  <a:srgbClr val="0B1B2B"/>
                </a:solidFill>
                <a:latin typeface="Segoe UI"/>
              </a:rPr>
              <a:t> e o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ajuste do timer de inatividade em APN privada</a:t>
            </a:r>
            <a:r>
              <a:rPr sz="1050" b="0" i="0">
                <a:solidFill>
                  <a:srgbClr val="0B1B2B"/>
                </a:solidFill>
                <a:latin typeface="Segoe UI"/>
              </a:rPr>
              <a:t>, negociado com a operadora.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05 · TIMER RRC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timer RRC explica, e o que não explica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574036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20340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Explica: um atraso fixo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04388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~29 s por partida, enquanto a rede mantiver a UE em RRC conectado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só ocorre quando há tráfego LTE no ciclo, como a busca do A-GNSS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idêntico em seis ciclos: é o timer de inatividade configurado pela rede, não variação de medida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2574036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8154" y="2720340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Não explica: a dispersão do TTFF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8154" y="3104388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depois da liberação, o GNSS ainda trabalhou 130 s num ciclo e 52 s noutro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sem assistência, sem tráfego LTE por ciclo: 30 a 115 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variância vem da visada de céu; encurtar a janela RRC não a reduz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4164" y="2574036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3620" y="2720340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Mecanismos para encurtar a janela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3620" y="3104388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AS-RAI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(3GPP Rel. 14):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AT%RAI=1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NRF_SO_RAI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NRF_RAI_NO_DATA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; depende da operadora; não testado na Claro</a:t>
            </a:r>
          </a:p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APN privada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 timer de inatividade negociado com a operadora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LTE_ON_DEMAND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desliga o LTE entre ciclos: útil para isolar a causa em laboratório, não é configuração de produto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Consumo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GNSS rastreando consome um platô de dezenas de mA. A corrente média depende da fração de tempo nesse platô e do que mais está ativo: LTE, console.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06 · CONSUMO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ligar o PPK2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Jumper do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P22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fora; VOUT no pino 1 e GND no pino 4 (source meter) ou VOUT/VIN/GND nos pinos 1/2/4 (amperímetro, usado nas medidas deste bloco). A USB da DK continua no PC: J-Link e VCOM seguem ativos. Antena ativa no J2.</a:t>
            </a:r>
          </a:p>
        </p:txBody>
      </p:sp>
      <p:pic>
        <p:nvPicPr>
          <p:cNvPr id="9" name="Picture 8" descr="ligacao_ppk2_gnss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195" y="1810512"/>
            <a:ext cx="736530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06 · CONSUMO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Consumo: datasheet e bancada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Rastreando: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~35 mA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 5 V, que equivalem a ~47 mA a 3,7 V contra os 43,1 mA do datasheet. Periódico a 120 s: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0,31 mA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sem console, contra os 0,5 mA que o datasheet dá para 2 min com A-GPS e LTE. O piso vai de 2 µA a 0,43 mA só por deixar o console ligado.</a:t>
            </a:r>
          </a:p>
        </p:txBody>
      </p:sp>
      <p:pic>
        <p:nvPicPr>
          <p:cNvPr id="9" name="Picture 8" descr="gnss_consumo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30" y="1810512"/>
            <a:ext cx="100426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06 · CONSUMO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assinatura do modo periódico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Consolas"/>
              </a:rPr>
              <a:t>build_periodico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partida a frio de ~120 s, depois um acordar a cada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120 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com fix a quente em ~2 s; o intervalo medido confere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PERIODIC_INTERVAL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Com console ligado o SoC não entra em sono profundo.</a:t>
            </a:r>
          </a:p>
        </p:txBody>
      </p:sp>
      <p:pic>
        <p:nvPicPr>
          <p:cNvPr id="9" name="Picture 8" descr="gnss_periodico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30" y="1810512"/>
            <a:ext cx="100426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Lab 3: dados × depuração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Receptor comercial entrega NMEA numa porta e diagnóstico noutra. No sample as duas saem do mesmo UART; o lab 3 desliga log e AT host para obter uma porta só de dados.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07 · LAB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Três coisas disputam o mesmo UART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Medido: em 10 s saíram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63 linhas, todas começando com `$`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nenhuma com checksum inválido, só as cinco sentenças. É o fluxo que o u-center 2 plota direto e que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nmea_captura.py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grava para reproduzir sem céu.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199"/>
                <a:gridCol w="3108959"/>
                <a:gridCol w="1828799"/>
                <a:gridCol w="30842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escreve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Opção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Lab 1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Lab 3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bloco PVT formatado do sample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CONFIG_GNSS_SAMPLE_NMEA_ONLY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desligada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ligada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suprime o bloco, sobra o NMEA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log do Zephyr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CONFIG_LOG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ligada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desligada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biblioteca de AT host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CONFIG_AT_HOST_LIBRARY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ligada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desligada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FLASH · RAM da imagem de aplicação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83052 B · 33044 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68352 B · 27308 B (−14700 B · −5736 B)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41655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41655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Consolas"/>
              </a:rPr>
              <a:t>NMEA_ONLY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sozinho não basta: o modo de TTFF do lab 2 também o liga e o log continua na porta. Sem log e sem AT host, um erro de rede não aparece: usar o build do lab 1 para diagnosticar e o do lab 3 para capturar.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07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Banda única, dois sinais: CEP50 de 2,0 m em céu aberto (datasheet), 5,6 m na janela entre prédios.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TTFF sem assistência: 30 a 115 s, mediana 54 s. O A-GNSS chega em &lt; 1 s e reduz a mediana em ~16 s.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</a:t>
            </a:r>
            <a:r>
              <a:rPr sz="1500" b="1">
                <a:solidFill>
                  <a:srgbClr val="E8F1F8"/>
                </a:solidFill>
                <a:latin typeface="Segoe UI"/>
              </a:rPr>
              <a:t>timer RRC</a:t>
            </a:r>
            <a:r>
              <a:rPr sz="1500" b="0">
                <a:solidFill>
                  <a:srgbClr val="93A6B8"/>
                </a:solidFill>
                <a:latin typeface="Segoe UI"/>
              </a:rPr>
              <a:t> da rede mantém a UE conectada ~29 s após o A-GNSS, com o GNSS parado. AS-RAI ou APN privada.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Rastreando, ~35 mA a 5 V; periódico a 120 s, 0,31 mA sem console e 1,40 mA com console.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54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TTFF a frio, mediana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sem assistência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29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presos em RRC conectado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em cada ciclo de A-GNSS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~35 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platô do GNSS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rastreando (5 V)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0,31 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periódico a 120 s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sem console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LTE e GNSS compartilham um rádio: modo de fix, assistência e download de dados de navegação são configurações acopladas.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