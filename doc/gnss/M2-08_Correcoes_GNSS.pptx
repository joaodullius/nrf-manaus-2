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GNSS — Global Navigation Satellite System: o termo genérico; GPS, Galileo, GLONASS e BeiDou são constelações GNSS.</a:t>
            </a:r>
          </a:p>
          <a:p>
            <a:r>
              <a:t>SBAS — Satellite-Based Augmentation System: correção de área ampla difundida por satélite geoestacionário (WAAS, EGNOS).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PPP — Precise Point Positioning: correção por órbitas e relógios precisos, sem base; converge em minutos.</a:t>
            </a:r>
          </a:p>
          <a:p>
            <a:r>
              <a:t>PPP-RTK — PPP com correções de estado (SSR) que incluem atmosfera; converge em dezenas de segundos.</a:t>
            </a:r>
          </a:p>
          <a:p>
            <a:r>
              <a:t>L2 — Camada 2 (enlace): no Zephyr, o módulo que fala com o driver — Ethernet, Wi-Fi mgmt.</a:t>
            </a:r>
          </a:p>
          <a:p>
            <a:r>
              <a:t>OSR — Observation Space Representation: a base envia observações brutas e o rover diferencia (RTK).</a:t>
            </a:r>
          </a:p>
          <a:p>
            <a:r>
              <a:t>SSR — State Space Representation: o serviço envia os erros modelados (órbita, relógio, atmosfera); vale para uma região.</a:t>
            </a:r>
          </a:p>
          <a:p>
            <a:r>
              <a:t>RTCM — O formato binário das correções (RTCM 10403, 'RTCM 3'); as mensagens têm número (1005, 1074, 1230...).</a:t>
            </a:r>
          </a:p>
          <a:p>
            <a:r>
              <a:t>NTRIP — Networked Transport of RTCM via Internet Protocol: o transporte das correções por HTTP.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HPG — High Precision GNSS: a linha de firmware do ZED-X20P (HPG 2.02, 2.11).</a:t>
            </a:r>
          </a:p>
          <a:p>
            <a:r>
              <a:t>QZSS — Quasi-Zenith Satellite System: o sistema regional japonês; o nRF9151 o recebe em L1 C/A, mas ele não é visível no Brasil.</a:t>
            </a:r>
          </a:p>
          <a:p>
            <a:r>
              <a:t>GLONASS — A constelação russa; usa FDMA em L1OF e L2OF, e por isso exige a mensagem 1230 ou 1033 no RTK.</a:t>
            </a:r>
          </a:p>
          <a:p>
            <a:r>
              <a:t>Galileo — A constelação europeia (E1, E5a, E5b, E6).</a:t>
            </a:r>
          </a:p>
          <a:p>
            <a:r>
              <a:t>BeiDou — A constelação chinesa (B1, B1C, B2a, B3I).</a:t>
            </a:r>
          </a:p>
          <a:p>
            <a:r>
              <a:t>SBAS — Satellite-Based Augmentation System: correção de área ampla difundida por satélite geoestacionário (WAAS, EGNOS).</a:t>
            </a:r>
          </a:p>
          <a:p>
            <a:r>
              <a:t>NavIC — Navigation with Indian Constellation: o sistema regional indiano.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NeQuick — Modelo empírico da ionosfera usado pelo Galileo e pelo A-GPS da Nordic para estimar o atraso.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HDOP — Horizontal Dilution of Precision: quanto a geometria dos satélites amplifica o erro horizontal.</a:t>
            </a:r>
          </a:p>
          <a:p>
            <a:r>
              <a:t>CEP50 — O raio que contém metade das posições.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NeQuick — Modelo empírico da ionosfera usado pelo Galileo e pelo A-GPS da Nordic para estimar o atraso.</a:t>
            </a:r>
          </a:p>
          <a:p>
            <a:r>
              <a:t>RTK — Real-Time Kinematic: correção por fase da portadora contra uma base próxima; centimétrico.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SBAS — Satellite-Based Augmentation System: correção de área ampla difundida por satélite geoestacionário (WAAS, EGNOS).</a:t>
            </a:r>
          </a:p>
          <a:p>
            <a:r>
              <a:t>GPS — Global Positioning System: a constelação americana; o nRF9151 recebe só o sinal L1 C/A dela.</a:t>
            </a:r>
          </a:p>
          <a:p>
            <a:r>
              <a:t>WAAS — Wide Area Augmentation System: o SBAS da América do Norte (FAA).</a:t>
            </a:r>
          </a:p>
          <a:p>
            <a:r>
              <a:t>EGNOS — European Geostationary Navigation Overlay Service: o SBAS europeu.</a:t>
            </a:r>
          </a:p>
          <a:p>
            <a:r>
              <a:t>MSAS — MTSAT Satellite Augmentation System: o SBAS do Japão.</a:t>
            </a:r>
          </a:p>
          <a:p>
            <a:r>
              <a:t>GAGAN — GPS Aided GEO Augmented Navigation: o SBAS da Índia.</a:t>
            </a:r>
          </a:p>
          <a:p>
            <a:r>
              <a:t>KASS — Korea Augmentation Satellite System: o SBAS da Coreia do Sul.</a:t>
            </a:r>
          </a:p>
          <a:p>
            <a:r>
              <a:t>BDSBAS — O SBAS chinês, sobre o BeiDou.</a:t>
            </a:r>
          </a:p>
          <a:p>
            <a:r>
              <a:t>SDCM — System for Differential Corrections and Monitoring: o SBAS russo.</a:t>
            </a:r>
          </a:p>
          <a:p>
            <a:r>
              <a:t>SouthPAN — Southern Positioning Augmentation Network: o SBAS da Austrália e Nova Zelândia.</a:t>
            </a:r>
          </a:p>
          <a:p>
            <a:r>
              <a:t>NMEA — O protocolo de texto dos receptores GNSS (sentenças $GPGGA, $GPRMC...), NMEA 0183.</a:t>
            </a:r>
          </a:p>
          <a:p>
            <a:r>
              <a:t>DGNSS — Differential GNSS: correção de código contra uma base; decimétrico.</a:t>
            </a:r>
          </a:p>
          <a:p>
            <a:r>
              <a:t>GEO — Satélite geoestacionário: o que transmite as correções de um SBAS.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SBAS — Satellite-Based Augmentation System: correção de área ampla difundida por satélite geoestacionário (WAAS, EGNOS).</a:t>
            </a:r>
          </a:p>
          <a:p>
            <a:r>
              <a:t>WAAS — Wide Area Augmentation System: o SBAS da América do Norte (FAA).</a:t>
            </a:r>
          </a:p>
          <a:p>
            <a:r>
              <a:t>EGNOS — European Geostationary Navigation Overlay Service: o SBAS europeu.</a:t>
            </a:r>
          </a:p>
          <a:p>
            <a:r>
              <a:t>GAGAN — GPS Aided GEO Augmented Navigation: o SBAS da Índia.</a:t>
            </a:r>
          </a:p>
          <a:p>
            <a:r>
              <a:t>MSAS — MTSAT Satellite Augmentation System: o SBAS do Japão.</a:t>
            </a:r>
          </a:p>
          <a:p>
            <a:r>
              <a:t>KASS — Korea Augmentation Satellite System: o SBAS da Coreia do Sul.</a:t>
            </a:r>
          </a:p>
          <a:p>
            <a:r>
              <a:t>BDSBAS — O SBAS chinês, sobre o BeiDou.</a:t>
            </a:r>
          </a:p>
          <a:p>
            <a:r>
              <a:t>SDCM — System for Differential Corrections and Monitoring: o SBAS russo.</a:t>
            </a:r>
          </a:p>
          <a:p>
            <a:r>
              <a:t>SouthPAN — Southern Positioning Augmentation Network: o SBAS da Austrália e Nova Zelândia.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SBAS — Satellite-Based Augmentation System: correção de área ampla difundida por satélite geoestacionário (WAAS, EGNOS).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PPP — Precise Point Positioning: correção por órbitas e relógios precisos, sem base; converge em minutos.</a:t>
            </a:r>
          </a:p>
          <a:p>
            <a:r>
              <a:t>PPP-RTK — PPP com correções de estado (SSR) que incluem atmosfera; converge em dezenas de segundos.</a:t>
            </a:r>
          </a:p>
          <a:p>
            <a:r>
              <a:t>OSR — Observation Space Representation: a base envia observações brutas e o rover diferencia (RTK).</a:t>
            </a:r>
          </a:p>
          <a:p>
            <a:r>
              <a:t>SSR — State Space Representation: o serviço envia os erros modelados (órbita, relógio, atmosfera); vale para uma região.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CEP50 — O raio que contém metade das posições.</a:t>
            </a:r>
          </a:p>
          <a:p>
            <a:r>
              <a:t>CEP — Circular Error Probable: o raio que contém uma fração das posições (CEP50 metade, CEP95 dezenove em vinte).</a:t>
            </a:r>
          </a:p>
          <a:p>
            <a:r>
              <a:t>SBAS — Satellite-Based Augmentation System: correção de área ampla difundida por satélite geoestacionário (WAAS, EGNOS).</a:t>
            </a:r>
          </a:p>
          <a:p>
            <a:r>
              <a:t>GEO — Satélite geoestacionário: o que transmite as correções de um SBAS.</a:t>
            </a:r>
          </a:p>
          <a:p>
            <a:r>
              <a:t>WAAS — Wide Area Augmentation System: o SBAS da América do Norte (FAA).</a:t>
            </a:r>
          </a:p>
          <a:p>
            <a:r>
              <a:t>EGNOS — European Geostationary Navigation Overlay Service: o SBAS europeu.</a:t>
            </a:r>
          </a:p>
          <a:p>
            <a:r>
              <a:t>DGNSS — Differential GNSS: correção de código contra uma base; decimétrico.</a:t>
            </a:r>
          </a:p>
          <a:p>
            <a:r>
              <a:t>MSM — Multiple Signal Message: as mensagens RTCM de observáveis por constelação (1074, 1084, 1094, 1124).</a:t>
            </a:r>
          </a:p>
          <a:p>
            <a:r>
              <a:t>ppm — Partes por milhão: no RTK, 1 ppm é 1 mm de erro por km de baseline.</a:t>
            </a:r>
          </a:p>
          <a:p>
            <a:r>
              <a:t>PPP — Precise Point Positioning: correção por órbitas e relógios precisos, sem base; converge em minutos.</a:t>
            </a:r>
          </a:p>
          <a:p>
            <a:r>
              <a:t>Galileo — A constelação europeia (E1, E5a, E5b, E6).</a:t>
            </a:r>
          </a:p>
          <a:p>
            <a:r>
              <a:t>HAS — High Accuracy Service: o PPP gratuito do Galileo, difundido em E6.</a:t>
            </a:r>
          </a:p>
          <a:p>
            <a:r>
              <a:t>PPP-RTK — PPP com correções de estado (SSR) que incluem atmosfera; converge em dezenas de segundos.</a:t>
            </a:r>
          </a:p>
          <a:p>
            <a:r>
              <a:t>PointPerfect — Serviço PPP-RTK da u-blox: modelo SSR em SPARTN, entregue por IP (MQTT, ou NTRIP como base virtual em RTCM) ou por L-band (receptor NEO-D9S). Vale onde há cobertura; Manaus fora na data do curso.</a:t>
            </a:r>
          </a:p>
          <a:p>
            <a:r>
              <a:t>SPARTN — O formato de correção SSR do serviço PointPerfect da u-blox.</a:t>
            </a:r>
          </a:p>
          <a:p>
            <a:r>
              <a:t>IP — Internet Protocol: o endereçamento e o roteamento entre redes.</a:t>
            </a:r>
          </a:p>
          <a:p>
            <a:r>
              <a:t>L-band — Faixa de ~1,5 GHz usada por satélites GEO para difundir correções (PointPerfect via NEO-D9S). Dispensa internet; depende de feixe na região.</a:t>
            </a:r>
          </a:p>
          <a:p>
            <a:r>
              <a:t>CLAS — Centimeter Level Augmentation Service: o PPP-RTK do QZSS, só no Japão.</a:t>
            </a:r>
          </a:p>
          <a:p>
            <a:r>
              <a:t>QZSS — Quasi-Zenith Satellite System: o sistema regional japonês; o nRF9151 o recebe em L1 C/A, mas ele não é visível no Brasil.</a:t>
            </a:r>
          </a:p>
          <a:p>
            <a:r>
              <a:t>NTRIP — Networked Transport of RTCM via Internet Protocol: o transporte das correções por HTTP.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RTK — Real-Time Kinematic: correção por fase da portadora contra uma base próxima; centimétrico.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OSR — Observation Space Representation: a base envia observações brutas e o rover diferencia (RTK).</a:t>
            </a:r>
          </a:p>
          <a:p>
            <a:r>
              <a:t>SSR — State Space Representation: o serviço envia os erros modelados (órbita, relógio, atmosfera); vale para uma região.</a:t>
            </a:r>
          </a:p>
          <a:p>
            <a:r>
              <a:t>PPP — Precise Point Positioning: correção por órbitas e relógios precisos, sem base; converge em minutos.</a:t>
            </a:r>
          </a:p>
          <a:p>
            <a:r>
              <a:t>PPP-RTK — PPP com correções de estado (SSR) que incluem atmosfera; converge em dezenas de segundos.</a:t>
            </a:r>
          </a:p>
          <a:p>
            <a:r>
              <a:t>RTCM — O formato binário das correções (RTCM 10403, 'RTCM 3'); as mensagens têm número (1005, 1074, 1230...).</a:t>
            </a:r>
          </a:p>
          <a:p>
            <a:r>
              <a:t>MSM — Multiple Signal Message: as mensagens RTCM de observáveis por constelação (1074, 1084, 1094, 1124).</a:t>
            </a:r>
          </a:p>
          <a:p>
            <a:r>
              <a:t>ppm — Partes por milhão: no RTK, 1 ppm é 1 mm de erro por km de baseline.</a:t>
            </a:r>
          </a:p>
          <a:p>
            <a:r>
              <a:t>SPARTN — O formato de correção SSR do serviço PointPerfect da u-blox.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PointPerfect — Serviço PPP-RTK da u-blox: modelo SSR em SPARTN, entregue por IP (MQTT, ou NTRIP como base virtual em RTCM) ou por L-band (receptor NEO-D9S). Vale onde há cobertura; Manaus fora na data do curso.</a:t>
            </a:r>
          </a:p>
          <a:p>
            <a:r>
              <a:t>SSR — State Space Representation: o serviço envia os erros modelados (órbita, relógio, atmosfera); vale para uma região.</a:t>
            </a:r>
          </a:p>
          <a:p>
            <a:r>
              <a:t>PPP — Precise Point Positioning: correção por órbitas e relógios precisos, sem base; converge em minutos.</a:t>
            </a:r>
          </a:p>
          <a:p>
            <a:r>
              <a:t>PPP-RTK — PPP com correções de estado (SSR) que incluem atmosfera; converge em dezenas de segundos.</a:t>
            </a:r>
          </a:p>
          <a:p>
            <a:r>
              <a:t>IP — Internet Protocol: o endereçamento e o roteamento entre redes.</a:t>
            </a:r>
          </a:p>
          <a:p>
            <a:r>
              <a:t>SPARTN — O formato de correção SSR do serviço PointPerfect da u-blox.</a:t>
            </a:r>
          </a:p>
          <a:p>
            <a:r>
              <a:t>MQTT — Message Queuing Telemetry Transport: publish/subscribe por meio de um broker.</a:t>
            </a:r>
          </a:p>
          <a:p>
            <a:r>
              <a:t>RTCM — O formato binário das correções (RTCM 10403, 'RTCM 3'); as mensagens têm número (1005, 1074, 1230...).</a:t>
            </a:r>
          </a:p>
          <a:p>
            <a:r>
              <a:t>NTRIP — Networked Transport of RTCM via Internet Protocol: o transporte das correções por HTTP.</a:t>
            </a:r>
          </a:p>
          <a:p>
            <a:r>
              <a:t>L-band — Faixa de ~1,5 GHz usada por satélites GEO para difundir correções (PointPerfect via NEO-D9S). Dispensa internet; depende de feixe na região.</a:t>
            </a:r>
          </a:p>
          <a:p>
            <a:r>
              <a:t>PC — Personal Computer.</a:t>
            </a:r>
          </a:p>
          <a:p>
            <a:r>
              <a:t>VRS — Virtual Reference Station: uma estação sintetizada na posição do rover; exige que o cliente envie GGA.</a:t>
            </a:r>
          </a:p>
          <a:p>
            <a:r>
              <a:t>GGA — A sentença NMEA com posição, número de satélites, HDOP e a qualidade do fix (1 autônomo, 2 DGNSS, 4 RTK fixo, 5 RTK flutuante).</a:t>
            </a:r>
          </a:p>
          <a:p>
            <a:r>
              <a:t>GEO — Satélite geoestacionário: o que transmite as correções de um SBAS.</a:t>
            </a:r>
          </a:p>
          <a:p>
            <a:r>
              <a:t>UART — Universal Asynchronous Receiver/Transmitter: a serial do console.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ppm — Partes por milhão: no RTK, 1 ppm é 1 mm de erro por km de baseline.</a:t>
            </a:r>
          </a:p>
          <a:p>
            <a:r>
              <a:t>CEP50 — O raio que contém metade das posições.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GGA — A sentença NMEA com posição, número de satélites, HDOP e a qualidade do fix (1 autônomo, 2 DGNSS, 4 RTK fixo, 5 RTK flutuante).</a:t>
            </a:r>
          </a:p>
          <a:p>
            <a:r>
              <a:t>DGNSS — Differential GNSS: correção de código contra uma base; decimétrico.</a:t>
            </a:r>
          </a:p>
          <a:p>
            <a:r>
              <a:t>UBX — O protocolo binário dos receptores u-blox (UBX-NAV-PVT, UBX-RXM-COR...).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GPS — Global Positioning System: a constelação americana; o nRF9151 recebe só o sinal L1 C/A dela.</a:t>
            </a:r>
          </a:p>
          <a:p>
            <a:r>
              <a:t>GLONASS — A constelação russa; usa FDMA em L1OF e L2OF, e por isso exige a mensagem 1230 ou 1033 no RTK.</a:t>
            </a:r>
          </a:p>
          <a:p>
            <a:r>
              <a:t>Galileo — A constelação europeia (E1, E5a, E5b, E6).</a:t>
            </a:r>
          </a:p>
          <a:p>
            <a:r>
              <a:t>BeiDou — A constelação chinesa (B1, B1C, B2a, B3I).</a:t>
            </a:r>
          </a:p>
          <a:p>
            <a:r>
              <a:t>HPG — High Precision GNSS: a linha de firmware do ZED-X20P (HPG 2.02, 2.11).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NTRIP — Networked Transport of RTCM via Internet Protocol: o transporte das correções por HTTP.</a:t>
            </a:r>
          </a:p>
          <a:p>
            <a:r>
              <a:t>RTCM — O formato binário das correções (RTCM 10403, 'RTCM 3'); as mensagens têm número (1005, 1074, 1230...).</a:t>
            </a:r>
          </a:p>
          <a:p>
            <a:r>
              <a:t>HTTP — Hypertext Transfer Protocol: pedido/resposta; o cliente sempre inicia.</a:t>
            </a:r>
          </a:p>
          <a:p>
            <a:r>
              <a:t>GGA — A sentença NMEA com posição, número de satélites, HDOP e a qualidade do fix (1 autônomo, 2 DGNSS, 4 RTK fixo, 5 RTK flutuante).</a:t>
            </a:r>
          </a:p>
          <a:p>
            <a:r>
              <a:t>UBX — O protocolo binário dos receptores u-blox (UBX-NAV-PVT, UBX-RXM-COR...).</a:t>
            </a:r>
          </a:p>
          <a:p>
            <a:r>
              <a:t>IP — Internet Protocol: o endereçamento e o roteamento entre redes.</a:t>
            </a:r>
          </a:p>
          <a:p>
            <a:r>
              <a:t>VRS — Virtual Reference Station: uma estação sintetizada na posição do rover; exige que o cliente envie GGA.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PointPerfect — Serviço PPP-RTK da u-blox: modelo SSR em SPARTN, entregue por IP (MQTT, ou NTRIP como base virtual em RTCM) ou por L-band (receptor NEO-D9S). Vale onde há cobertura; Manaus fora na data do curso.</a:t>
            </a:r>
          </a:p>
          <a:p>
            <a:r>
              <a:t>PPP — Precise Point Positioning: correção por órbitas e relógios precisos, sem base; converge em minutos.</a:t>
            </a:r>
          </a:p>
          <a:p>
            <a:r>
              <a:t>PPP-RTK — PPP com correções de estado (SSR) que incluem atmosfera; converge em dezenas de segundos.</a:t>
            </a:r>
          </a:p>
          <a:p>
            <a:r>
              <a:t>NTRIP — Networked Transport of RTCM via Internet Protocol: o transporte das correções por HTTP.</a:t>
            </a:r>
          </a:p>
          <a:p>
            <a:r>
              <a:t>ppm — Partes por milhão: no RTK, 1 ppm é 1 mm de erro por km de baseline.</a:t>
            </a:r>
          </a:p>
          <a:p>
            <a:r>
              <a:t>CEP50 — O raio que contém metade das posições.</a:t>
            </a:r>
          </a:p>
          <a:p>
            <a:r>
              <a:t>SSR — State Space Representation: o serviço envia os erros modelados (órbita, relógio, atmosfera); vale para uma região.</a:t>
            </a:r>
          </a:p>
          <a:p>
            <a:r>
              <a:t>SPARTN — O formato de correção SSR do serviço PointPerfect da u-blox.</a:t>
            </a:r>
          </a:p>
          <a:p>
            <a:r>
              <a:t>GGA — A sentença NMEA com posição, número de satélites, HDOP e a qualidade do fix (1 autônomo, 2 DGNSS, 4 RTK fixo, 5 RTK flutuante).</a:t>
            </a:r>
          </a:p>
          <a:p>
            <a:r>
              <a:t>RTCM — O formato binário das correções (RTCM 10403, 'RTCM 3'); as mensagens têm número (1005, 1074, 1230...).</a:t>
            </a:r>
          </a:p>
          <a:p>
            <a:r>
              <a:t>MSM — Multiple Signal Message: as mensagens RTCM de observáveis por constelação (1074, 1084, 1094, 1124).</a:t>
            </a:r>
          </a:p>
          <a:p>
            <a:r>
              <a:t>VRS — Virtual Reference Station: uma estação sintetizada na posição do rover; exige que o cliente envie GGA.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RTCM — O formato binário das correções (RTCM 10403, 'RTCM 3'); as mensagens têm número (1005, 1074, 1230...).</a:t>
            </a:r>
          </a:p>
          <a:p>
            <a:r>
              <a:t>IP — Internet Protocol: o endereçamento e o roteamento entre redes.</a:t>
            </a:r>
          </a:p>
          <a:p>
            <a:r>
              <a:t>ppm — Partes por milhão: no RTK, 1 ppm é 1 mm de erro por km de baseline.</a:t>
            </a:r>
          </a:p>
          <a:p>
            <a:r>
              <a:t>GPS — Global Positioning System: a constelação americana; o nRF9151 recebe só o sinal L1 C/A dela.</a:t>
            </a:r>
          </a:p>
          <a:p>
            <a:r>
              <a:t>GLONASS — A constelação russa; usa FDMA em L1OF e L2OF, e por isso exige a mensagem 1230 ou 1033 no RTK.</a:t>
            </a:r>
          </a:p>
          <a:p>
            <a:r>
              <a:t>MSM — Multiple Signal Message: as mensagens RTCM de observáveis por constelação (1074, 1084, 1094, 1124).</a:t>
            </a:r>
          </a:p>
          <a:p>
            <a:r>
              <a:t>UBX — O protocolo binário dos receptores u-blox (UBX-NAV-PVT, UBX-RXM-COR...).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RTCM — O formato binário das correções (RTCM 10403, 'RTCM 3'); as mensagens têm número (1005, 1074, 1230...).</a:t>
            </a:r>
          </a:p>
          <a:p>
            <a:r>
              <a:t>GPS — Global Positioning System: a constelação americana; o nRF9151 recebe só o sinal L1 C/A dela.</a:t>
            </a:r>
          </a:p>
          <a:p>
            <a:r>
              <a:t>GLONASS — A constelação russa; usa FDMA em L1OF e L2OF, e por isso exige a mensagem 1230 ou 1033 no RTK.</a:t>
            </a:r>
          </a:p>
          <a:p>
            <a:r>
              <a:t>EVK — Evaluation Kit: a placa de avaliação da u-blox (EVK-X20P).</a:t>
            </a:r>
          </a:p>
          <a:p>
            <a:r>
              <a:t>ppm — Partes por milhão: no RTK, 1 ppm é 1 mm de erro por km de baseline.</a:t>
            </a:r>
          </a:p>
          <a:p>
            <a:r>
              <a:t>MSM — Multiple Signal Message: as mensagens RTCM de observáveis por constelação (1074, 1084, 1094, 1124).</a:t>
            </a:r>
          </a:p>
          <a:p>
            <a:r>
              <a:t>PointPerfect — Serviço PPP-RTK da u-blox: modelo SSR em SPARTN, entregue por IP (MQTT, ou NTRIP como base virtual em RTCM) ou por L-band (receptor NEO-D9S). Vale onde há cobertura; Manaus fora na data do curso.</a:t>
            </a:r>
          </a:p>
          <a:p>
            <a:r>
              <a:t>PPP — Precise Point Positioning: correção por órbitas e relógios precisos, sem base; converge em minutos.</a:t>
            </a:r>
          </a:p>
          <a:p>
            <a:r>
              <a:t>PPP-RTK — PPP com correções de estado (SSR) que incluem atmosfera; converge em dezenas de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SBAS — Satellite-Based Augmentation System: correção de área ampla difundida por satélite geoestacionário (WAAS, EGNOS).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ppm — Partes por milhão: no RTK, 1 ppm é 1 mm de erro por km de baseline.</a:t>
            </a:r>
          </a:p>
          <a:p>
            <a:r>
              <a:t>PPP — Precise Point Positioning: correção por órbitas e relógios precisos, sem base; converge em minutos.</a:t>
            </a:r>
          </a:p>
          <a:p>
            <a:r>
              <a:t>PPP-RTK — PPP com correções de estado (SSR) que incluem atmosfera; converge em dezenas de segundos.</a:t>
            </a:r>
          </a:p>
          <a:p>
            <a:r>
              <a:t>GPS — Global Positioning System: a constelação americana; o nRF9151 recebe só o sinal L1 C/A dela.</a:t>
            </a:r>
          </a:p>
          <a:p>
            <a:r>
              <a:t>RTCM — O formato binário das correções (RTCM 10403, 'RTCM 3'); as mensagens têm número (1005, 1074, 1230...).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1371600"/>
            <a:ext cx="107652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40">
                <a:solidFill>
                  <a:srgbClr val="22C3E6"/>
                </a:solidFill>
                <a:latin typeface="Segoe UI"/>
              </a:rPr>
              <a:t>MÓDULO 2 · BLOCO 08 · CORREÇÕES DE GNSS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783080"/>
            <a:ext cx="969264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F1F8"/>
                </a:solidFill>
                <a:latin typeface="Segoe UI"/>
              </a:rPr>
              <a:t>Por que existem tantas</a:t>
            </a:r>
          </a:p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F1F8"/>
                </a:solidFill>
                <a:latin typeface="Segoe UI"/>
              </a:rPr>
              <a:t>técnicas de correção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703320"/>
            <a:ext cx="8961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Bandas e constelações, as fontes de erro e o que cada técnica remove, SBAS, RTK, PPP e PPP-RTK organizados pelo que cada um </a:t>
            </a:r>
            <a:r>
              <a:rPr sz="1600" b="1" i="0">
                <a:solidFill>
                  <a:srgbClr val="E8F1F8"/>
                </a:solidFill>
                <a:latin typeface="Segoe UI"/>
              </a:rPr>
              <a:t>exige de infraestrutura</a:t>
            </a:r>
            <a:r>
              <a:rPr sz="1600" b="0" i="0">
                <a:solidFill>
                  <a:srgbClr val="93A6B8"/>
                </a:solidFill>
                <a:latin typeface="Segoe UI"/>
              </a:rPr>
              <a:t>, e a estação pública de Manaus como estudo de caso.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4709160"/>
            <a:ext cx="1765706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L1 · L2 · L5 · L6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61818" y="4709160"/>
            <a:ext cx="1085392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OSR × SSR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0090" y="4709160"/>
            <a:ext cx="1340510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RTCM · NTRIP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53480" y="4709160"/>
            <a:ext cx="1935784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anomalia equatorial</a:t>
            </a:r>
          </a:p>
        </p:txBody>
      </p:sp>
      <p:sp>
        <p:nvSpPr>
          <p:cNvPr id="10" name="Oval 9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Bandas e constelações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O nRF9151 recebe dois sinais numa frequência; o ZED-X20P, quatro constelações em quatro bandas. A segunda frequência acrescenta um observável por satélite, não só mais satélites.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01 · BANDAS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Bandas, constelações e o que cada receptor recebe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Um bloco por sinal, empilhados por frequência, cor por constelação. O nRF9151 recebe dois sinais na mesma frequência; o ZED-X20P, no plano SP2 de fábrica, quatro constelações em quatro bandas.</a:t>
            </a:r>
          </a:p>
        </p:txBody>
      </p:sp>
      <p:pic>
        <p:nvPicPr>
          <p:cNvPr id="9" name="Picture 8" descr="gnss_banda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958" y="1810512"/>
            <a:ext cx="9427779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232" y="6089904"/>
            <a:ext cx="1076523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Frequências centrais pelos ICDs de cada sistema; plano SP2 e chaves CFG-SIGNAL da Interface description do ZED-X20P (HPG 2.10). QZSS não é visível no Brasil.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01 · BANDAS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que a segunda frequência muda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A segunda frequência acrescenta um observável por satélite. É isso, e não só o número de satélites, que separa as duas classes de receptor.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9" cy="2926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199"/>
                <a:gridCol w="3840479"/>
                <a:gridCol w="418155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Efeito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Uma frequência (nRF9151)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Duas ou mais (ZED-X20P)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Atraso ionosférico (∝ 1/f²)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modelado (Klobuchar, NeQuick): erro de metros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medido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pela combinação livre de ionosfera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Ambiguidade de fase (RTK)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não resolve; sem RTK, por hardware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wide-lane entre bandas: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fixo em segundos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Satélites e geometria (bancada)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13 com órbita, 8 na solução, HDOP 1,0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36 com órbita, 23 na solução, HDOP 0,6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Multicaminho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L1 C/A: chip de 1,023 MHz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L5/E5a: chip de 10,23 MHz, correlação mais estreita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Cintilação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quebra a fase da portadora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quebra a fase da portadora: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não depende do número de bandas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491947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91947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Mesmo céu, mesmos minutos, mesma antena: nRF9151 CEP50 5,57 m (2,8× a especificação); ZED-X20P 1,13 m (dentro da especificação).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01 · BANDAS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Ionosfera: uma frequência, duas, e cintilação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Três painéis com a mesma geometria; só o que atravessa a ionosfera muda. O terceiro é outro mecanismo (fase da portadora, não atraso de grupo) e por isso não é resolvido pela segunda banda.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83664"/>
            <a:ext cx="3436010" cy="4379976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993392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B2B"/>
                </a:solidFill>
                <a:latin typeface="Segoe UI"/>
              </a:rPr>
              <a:t>1 · nRF9151: uma frequência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11197" y="2432304"/>
            <a:ext cx="640080" cy="274320"/>
          </a:xfrm>
          <a:prstGeom prst="roundRect">
            <a:avLst>
              <a:gd name="adj" fmla="val 30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11197" y="2432304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Segoe UI"/>
              </a:rPr>
              <a:t>satélite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" y="3118104"/>
            <a:ext cx="2978810" cy="502920"/>
          </a:xfrm>
          <a:prstGeom prst="roundRect">
            <a:avLst>
              <a:gd name="adj" fmla="val 30000"/>
            </a:avLst>
          </a:prstGeom>
          <a:solidFill>
            <a:srgbClr val="E8A33D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118104"/>
            <a:ext cx="297881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8A5A10"/>
                </a:solidFill>
                <a:latin typeface="Segoe UI"/>
              </a:rPr>
              <a:t>ionosfera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28317" y="4032504"/>
            <a:ext cx="1005840" cy="310896"/>
          </a:xfrm>
          <a:prstGeom prst="roundRect">
            <a:avLst>
              <a:gd name="adj" fmla="val 30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8317" y="4032504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receptor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31237" y="2706624"/>
            <a:ext cx="0" cy="1325880"/>
          </a:xfrm>
          <a:prstGeom prst="line">
            <a:avLst/>
          </a:prstGeom>
          <a:ln w="25400">
            <a:solidFill>
              <a:srgbClr val="0093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486101" y="27614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093D0"/>
                </a:solidFill>
                <a:latin typeface="Segoe UI"/>
              </a:rPr>
              <a:t>L1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489704"/>
            <a:ext cx="3070250" cy="163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77"/>
                </a:solidFill>
                <a:latin typeface="Segoe UI"/>
              </a:rPr>
              <a:t>Um observável só. O atraso ionosférico (∝ 1/f²) </a:t>
            </a:r>
            <a:r>
              <a:rPr sz="950" b="1" i="0">
                <a:solidFill>
                  <a:srgbClr val="0B1B2B"/>
                </a:solidFill>
                <a:latin typeface="Segoe UI"/>
              </a:rPr>
              <a:t>não se separa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 dos outros termos: faltam equações. Sobra </a:t>
            </a:r>
            <a:r>
              <a:rPr sz="950" b="1" i="0">
                <a:solidFill>
                  <a:srgbClr val="0B1B2B"/>
                </a:solidFill>
                <a:latin typeface="Segoe UI"/>
              </a:rPr>
              <a:t>modelar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 (Klobuchar, NeQuick), e o modelo erra mais onde a ionosfera é mais irregular.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7842" y="1883664"/>
            <a:ext cx="3436010" cy="4379976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60722" y="1993392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B2B"/>
                </a:solidFill>
                <a:latin typeface="Segoe UI"/>
              </a:rPr>
              <a:t>2 · ZED-X20P: duas ou mais frequências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75807" y="2432304"/>
            <a:ext cx="640080" cy="274320"/>
          </a:xfrm>
          <a:prstGeom prst="roundRect">
            <a:avLst>
              <a:gd name="adj" fmla="val 30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75807" y="2432304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Segoe UI"/>
              </a:rPr>
              <a:t>satélite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06442" y="3118104"/>
            <a:ext cx="2978810" cy="502920"/>
          </a:xfrm>
          <a:prstGeom prst="roundRect">
            <a:avLst>
              <a:gd name="adj" fmla="val 30000"/>
            </a:avLst>
          </a:prstGeom>
          <a:solidFill>
            <a:srgbClr val="E8A33D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6442" y="3118104"/>
            <a:ext cx="297881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8A5A10"/>
                </a:solidFill>
                <a:latin typeface="Segoe UI"/>
              </a:rPr>
              <a:t>ionosfera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92927" y="4032504"/>
            <a:ext cx="1005840" cy="310896"/>
          </a:xfrm>
          <a:prstGeom prst="roundRect">
            <a:avLst>
              <a:gd name="adj" fmla="val 30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92927" y="4032504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receptor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775807" y="2706624"/>
            <a:ext cx="0" cy="1325880"/>
          </a:xfrm>
          <a:prstGeom prst="line">
            <a:avLst/>
          </a:prstGeom>
          <a:ln w="25400">
            <a:solidFill>
              <a:srgbClr val="0093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830671" y="27614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093D0"/>
                </a:solidFill>
                <a:latin typeface="Segoe UI"/>
              </a:rPr>
              <a:t>L1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15887" y="2706624"/>
            <a:ext cx="0" cy="1325880"/>
          </a:xfrm>
          <a:prstGeom prst="line">
            <a:avLst/>
          </a:prstGeom>
          <a:ln w="25400">
            <a:solidFill>
              <a:srgbClr val="1FA97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470751" y="27614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FA971"/>
                </a:solidFill>
                <a:latin typeface="Segoe UI"/>
              </a:rPr>
              <a:t>L5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0722" y="4489704"/>
            <a:ext cx="3070250" cy="163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77"/>
                </a:solidFill>
                <a:latin typeface="Segoe UI"/>
              </a:rPr>
              <a:t>Dois observáveis do mesmo satélite. Como o atraso depende de 1/f², a </a:t>
            </a:r>
            <a:r>
              <a:rPr sz="950" b="1" i="0">
                <a:solidFill>
                  <a:srgbClr val="0B1B2B"/>
                </a:solidFill>
                <a:latin typeface="Segoe UI"/>
              </a:rPr>
              <a:t>combinação livre de ionosfera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 o cancela em primeira ordem: o atraso é </a:t>
            </a:r>
            <a:r>
              <a:rPr sz="950" b="1" i="0">
                <a:solidFill>
                  <a:srgbClr val="0B1B2B"/>
                </a:solidFill>
                <a:latin typeface="Segoe UI"/>
              </a:rPr>
              <a:t>medido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, não modelado. É o que a multibanda compra.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2452" y="1883664"/>
            <a:ext cx="3436010" cy="4379976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5332" y="1993392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B2B"/>
                </a:solidFill>
                <a:latin typeface="Segoe UI"/>
              </a:rPr>
              <a:t>3 · Cintilação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40417" y="2432304"/>
            <a:ext cx="640080" cy="274320"/>
          </a:xfrm>
          <a:prstGeom prst="roundRect">
            <a:avLst>
              <a:gd name="adj" fmla="val 30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40417" y="2432304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Segoe UI"/>
              </a:rPr>
              <a:t>satélite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71052" y="3170546"/>
            <a:ext cx="303546" cy="398035"/>
          </a:xfrm>
          <a:prstGeom prst="roundRect">
            <a:avLst>
              <a:gd name="adj" fmla="val 30000"/>
            </a:avLst>
          </a:prstGeom>
          <a:solidFill>
            <a:srgbClr val="E8A33D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02031" y="3096518"/>
            <a:ext cx="303546" cy="546091"/>
          </a:xfrm>
          <a:prstGeom prst="roundRect">
            <a:avLst>
              <a:gd name="adj" fmla="val 30000"/>
            </a:avLst>
          </a:prstGeom>
          <a:solidFill>
            <a:srgbClr val="E8A33D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933010" y="3122556"/>
            <a:ext cx="303546" cy="494015"/>
          </a:xfrm>
          <a:prstGeom prst="roundRect">
            <a:avLst>
              <a:gd name="adj" fmla="val 30000"/>
            </a:avLst>
          </a:prstGeom>
          <a:solidFill>
            <a:srgbClr val="E8A33D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263989" y="3230708"/>
            <a:ext cx="303546" cy="277711"/>
          </a:xfrm>
          <a:prstGeom prst="roundRect">
            <a:avLst>
              <a:gd name="adj" fmla="val 30000"/>
            </a:avLst>
          </a:prstGeom>
          <a:solidFill>
            <a:srgbClr val="E8A3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594968" y="3235348"/>
            <a:ext cx="303546" cy="268431"/>
          </a:xfrm>
          <a:prstGeom prst="roundRect">
            <a:avLst>
              <a:gd name="adj" fmla="val 30000"/>
            </a:avLst>
          </a:prstGeom>
          <a:solidFill>
            <a:srgbClr val="E8A33D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925947" y="3228025"/>
            <a:ext cx="303546" cy="283078"/>
          </a:xfrm>
          <a:prstGeom prst="roundRect">
            <a:avLst>
              <a:gd name="adj" fmla="val 30000"/>
            </a:avLst>
          </a:prstGeom>
          <a:solidFill>
            <a:srgbClr val="E8A33D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256926" y="3147759"/>
            <a:ext cx="303546" cy="443609"/>
          </a:xfrm>
          <a:prstGeom prst="roundRect">
            <a:avLst>
              <a:gd name="adj" fmla="val 30000"/>
            </a:avLst>
          </a:prstGeom>
          <a:solidFill>
            <a:srgbClr val="E8A33D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587905" y="3215816"/>
            <a:ext cx="303546" cy="307496"/>
          </a:xfrm>
          <a:prstGeom prst="roundRect">
            <a:avLst>
              <a:gd name="adj" fmla="val 30000"/>
            </a:avLst>
          </a:prstGeom>
          <a:solidFill>
            <a:srgbClr val="E8A33D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918884" y="3101837"/>
            <a:ext cx="303546" cy="535453"/>
          </a:xfrm>
          <a:prstGeom prst="roundRect">
            <a:avLst>
              <a:gd name="adj" fmla="val 30000"/>
            </a:avLst>
          </a:prstGeom>
          <a:solidFill>
            <a:srgbClr val="E8A33D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71052" y="3118104"/>
            <a:ext cx="297881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8A5A10"/>
                </a:solidFill>
                <a:latin typeface="Segoe UI"/>
              </a:rPr>
              <a:t>ionosfera irregular (cintilação)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57537" y="4032504"/>
            <a:ext cx="1005840" cy="310896"/>
          </a:xfrm>
          <a:prstGeom prst="roundRect">
            <a:avLst>
              <a:gd name="adj" fmla="val 30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57537" y="4032504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receptor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440417" y="2706624"/>
            <a:ext cx="0" cy="502920"/>
          </a:xfrm>
          <a:prstGeom prst="line">
            <a:avLst/>
          </a:prstGeom>
          <a:ln w="25400">
            <a:solidFill>
              <a:srgbClr val="009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550145" y="3529584"/>
            <a:ext cx="0" cy="502920"/>
          </a:xfrm>
          <a:prstGeom prst="line">
            <a:avLst/>
          </a:prstGeom>
          <a:ln w="25400">
            <a:solidFill>
              <a:srgbClr val="0093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9028937" y="32278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94F4F"/>
                </a:solidFill>
                <a:latin typeface="Segoe UI"/>
              </a:rPr>
              <a:t>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95281" y="27614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093D0"/>
                </a:solidFill>
                <a:latin typeface="Segoe UI"/>
              </a:rPr>
              <a:t>L1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0080497" y="2706624"/>
            <a:ext cx="0" cy="502920"/>
          </a:xfrm>
          <a:prstGeom prst="line">
            <a:avLst/>
          </a:prstGeom>
          <a:ln w="25400">
            <a:solidFill>
              <a:srgbClr val="1FA9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190225" y="3529584"/>
            <a:ext cx="0" cy="502920"/>
          </a:xfrm>
          <a:prstGeom prst="line">
            <a:avLst/>
          </a:prstGeom>
          <a:ln w="25400">
            <a:solidFill>
              <a:srgbClr val="1FA97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669017" y="32278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94F4F"/>
                </a:solidFill>
                <a:latin typeface="Segoe UI"/>
              </a:rPr>
              <a:t>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35361" y="27614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FA971"/>
                </a:solidFill>
                <a:latin typeface="Segoe UI"/>
              </a:rPr>
              <a:t>L5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5332" y="4489704"/>
            <a:ext cx="3070250" cy="163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B1B2B"/>
                </a:solidFill>
                <a:latin typeface="Segoe UI"/>
              </a:rPr>
              <a:t>Mecanismo diferente: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 não é atraso de grupo, é a fase da portadora quebrando por irregularidades rápidas na ionosfera, após o pôr do sol, em baixas latitudes e regiões aurorais. Quebra </a:t>
            </a:r>
            <a:r>
              <a:rPr sz="950" b="1" i="0">
                <a:solidFill>
                  <a:srgbClr val="0B1B2B"/>
                </a:solidFill>
                <a:latin typeface="Segoe UI"/>
              </a:rPr>
              <a:t>independente de quantas bandas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 — o RTK perde o fixo.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Fontes de erro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Seis termos no orçamento de erro, quatro técnicas. Cada célula tem dois estados e nenhum tamanho: é o mecanismo, não uma escala.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02 · FONTES DE ERRO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SBAS: correção de área ampla por satélite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54480"/>
            <a:ext cx="5245455" cy="457200"/>
          </a:xfrm>
          <a:prstGeom prst="roundRect">
            <a:avLst>
              <a:gd name="adj" fmla="val 30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36776"/>
            <a:ext cx="52454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o que 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03120"/>
            <a:ext cx="5245455" cy="342900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304288"/>
            <a:ext cx="4696815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satélites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geoestacionários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transmitem, em L1, um sinal com formato de GPS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conteúdo: correção de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órbita e relógio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por satélite,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atraso ionosférico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numa grade de pontos, e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integridade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as correções vêm de uma rede de estações em terra: valem na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área de serviço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dessa rede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sistemas: WAAS (América do Norte, 2003), EGNOS (Europa, 2011), MSAS (Japão), GAGAN (Índia), KASS (Coreia), BDSBAS, SDCM, SouthPAN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no NMEA, o fix aparece como qualidade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2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(DGNSS)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554480"/>
            <a:ext cx="5245455" cy="457200"/>
          </a:xfrm>
          <a:prstGeom prst="roundRect">
            <a:avLst>
              <a:gd name="adj" fmla="val 30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636776"/>
            <a:ext cx="52454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no Brasil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103120"/>
            <a:ext cx="5245455" cy="342900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304288"/>
            <a:ext cx="4696815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não há SBAS operacional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sobre a América do Sul; a iniciativa regional (SACCSA) ficou em estudo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GEO de outros sistemas estão acima do horizonte: o receptor decodifica e pode aplicar correções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fora da área de serviço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fora da área, a grade ionosférica não cobre o local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medido: o ZED-X20P entrou em SBAS sozinho (qualidade 2) e a dispersão </a:t>
            </a:r>
            <a:r>
              <a:rPr sz="1300" b="1" i="0">
                <a:solidFill>
                  <a:srgbClr val="0B1B2B"/>
                </a:solidFill>
                <a:latin typeface="Segoe UI"/>
              </a:rPr>
              <a:t>piorou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, 0,34 m contra 0,14 m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66577"/>
                </a:solidFill>
                <a:latin typeface="Segoe UI"/>
              </a:rPr>
              <a:t>▪  regra do módulo: </a:t>
            </a:r>
            <a:r>
              <a:rPr sz="1300" b="0" i="0">
                <a:solidFill>
                  <a:srgbClr val="566577"/>
                </a:solidFill>
                <a:latin typeface="Consolas"/>
              </a:rPr>
              <a:t>CFG-SIGNAL-SBAS_ENA = 0</a:t>
            </a:r>
            <a:r>
              <a:rPr sz="1300" b="0" i="0">
                <a:solidFill>
                  <a:srgbClr val="566577"/>
                </a:solidFill>
                <a:latin typeface="Segoe UI"/>
              </a:rPr>
              <a:t> em comparativos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5641848"/>
            <a:ext cx="50800" cy="384048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641848"/>
            <a:ext cx="10490911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B2B"/>
                </a:solidFill>
                <a:latin typeface="Segoe UI"/>
              </a:rPr>
              <a:t>SBAS é útil dentro da área de serviço e para integridade (aviação). No Brasil, para este módulo, é uma variável a congelar.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02 · FONTES DE ERRO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Áreas de serviço dos SBAS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Áreas indicativas em setembro de 2022. Nenhuma cobre a América do Sul.</a:t>
            </a:r>
          </a:p>
        </p:txBody>
      </p:sp>
      <p:pic>
        <p:nvPicPr>
          <p:cNvPr id="9" name="Picture 8" descr="esa_euspa_sbas_areas_2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327" y="1810512"/>
            <a:ext cx="6359040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232" y="6089904"/>
            <a:ext cx="1076523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EUSPA / ESA, 'SBAS coverage' (2023). ESA Standard Licence, uso educacional com crédito.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02 · FONTES DE ERRO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orçamento de erro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9504" y="1554480"/>
            <a:ext cx="2092375" cy="457200"/>
          </a:xfrm>
          <a:prstGeom prst="roundRect">
            <a:avLst>
              <a:gd name="adj" fmla="val 15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9504" y="1554480"/>
            <a:ext cx="20923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"/>
              </a:rPr>
              <a:t>Autônomo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55031" y="1554480"/>
            <a:ext cx="2092375" cy="457200"/>
          </a:xfrm>
          <a:prstGeom prst="roundRect">
            <a:avLst>
              <a:gd name="adj" fmla="val 15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55031" y="1554480"/>
            <a:ext cx="20923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"/>
              </a:rPr>
              <a:t>SBAS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0559" y="1554480"/>
            <a:ext cx="2092375" cy="457200"/>
          </a:xfrm>
          <a:prstGeom prst="roundRect">
            <a:avLst>
              <a:gd name="adj" fmla="val 15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0559" y="1554480"/>
            <a:ext cx="20923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"/>
              </a:rPr>
              <a:t>RTK (base própria)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86087" y="1554480"/>
            <a:ext cx="2092375" cy="457200"/>
          </a:xfrm>
          <a:prstGeom prst="roundRect">
            <a:avLst>
              <a:gd name="adj" fmla="val 15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86087" y="1554480"/>
            <a:ext cx="20923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PPP-RTK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084832"/>
            <a:ext cx="1965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1B2B"/>
                </a:solidFill>
                <a:latin typeface="Segoe UI"/>
              </a:rPr>
              <a:t>Relógio do satélite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89504" y="208483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44368" y="208483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resta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55031" y="208483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9895" y="208483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removida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20559" y="208483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75423" y="208483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removida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86087" y="208483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40951" y="208483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removida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2633472"/>
            <a:ext cx="1965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1B2B"/>
                </a:solidFill>
                <a:latin typeface="Segoe UI"/>
              </a:rPr>
              <a:t>Órbita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89504" y="263347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44368" y="263347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resta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55031" y="263347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09895" y="263347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removida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0559" y="263347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5423" y="263347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removida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86087" y="263347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40951" y="263347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removida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3182112"/>
            <a:ext cx="1965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1B2B"/>
                </a:solidFill>
                <a:latin typeface="Segoe UI"/>
              </a:rPr>
              <a:t>Ionosfera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89504" y="318211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44368" y="318211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resta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55031" y="318211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09895" y="318211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removida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20559" y="318211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75423" y="318211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removida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86087" y="318211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40951" y="318211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removida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" y="3730752"/>
            <a:ext cx="1965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1B2B"/>
                </a:solidFill>
                <a:latin typeface="Segoe UI"/>
              </a:rPr>
              <a:t>Troposfera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889504" y="373075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944368" y="373075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resta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55031" y="373075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09895" y="373075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resta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20559" y="373075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75423" y="373075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removida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86087" y="373075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440951" y="373075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removida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4279392"/>
            <a:ext cx="1965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1B2B"/>
                </a:solidFill>
                <a:latin typeface="Segoe UI"/>
              </a:rPr>
              <a:t>Multicaminho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889504" y="427939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944368" y="427939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resta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55031" y="427939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09895" y="427939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resta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220559" y="427939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75423" y="427939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resta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386087" y="427939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40951" y="427939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resta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3232" y="4828032"/>
            <a:ext cx="1965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1B2B"/>
                </a:solidFill>
                <a:latin typeface="Segoe UI"/>
              </a:rPr>
              <a:t>Ruído do receptor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889504" y="482803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944368" y="482803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resta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55031" y="482803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09895" y="482803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resta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20559" y="482803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75423" y="482803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resta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386087" y="4828032"/>
            <a:ext cx="2092375" cy="475488"/>
          </a:xfrm>
          <a:prstGeom prst="roundRect">
            <a:avLst>
              <a:gd name="adj" fmla="val 12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40951" y="4828032"/>
            <a:ext cx="1982647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resta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13232" y="5449824"/>
            <a:ext cx="50800" cy="548640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96112" y="5449824"/>
            <a:ext cx="1049091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B1B2B"/>
                </a:solidFill>
                <a:latin typeface="Segoe UI"/>
              </a:rPr>
              <a:t>O SBAS não corrige troposfera.</a:t>
            </a:r>
            <a:r>
              <a:rPr sz="1050" b="0" i="0">
                <a:solidFill>
                  <a:srgbClr val="0B1B2B"/>
                </a:solidFill>
                <a:latin typeface="Segoe UI"/>
              </a:rPr>
              <a:t>  </a:t>
            </a:r>
            <a:r>
              <a:rPr sz="1050" b="1" i="0">
                <a:solidFill>
                  <a:srgbClr val="0B1B2B"/>
                </a:solidFill>
                <a:latin typeface="Segoe UI"/>
              </a:rPr>
              <a:t>Multicaminho e ruído sobrevivem a todas</a:t>
            </a:r>
            <a:r>
              <a:rPr sz="1050" b="0" i="0">
                <a:solidFill>
                  <a:srgbClr val="0B1B2B"/>
                </a:solidFill>
                <a:latin typeface="Segoe UI"/>
              </a:rPr>
              <a:t> — são locais da antena e do receptor, e é o que domina num cânion urbano.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B1B2B"/>
                </a:solidFill>
                <a:latin typeface="Segoe UI"/>
              </a:rPr>
              <a:t>RTK e PPP-RTK terminam no mesmo piso de propósito: o que os separa é geografia (OSR × SSR) e convergência, não o orçamento de erro.  Esquemático: célula não tem tamanho.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02 · FONTES DE ERRO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As técnicas e o que cada uma exige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Coluna 'horizontal': datasheet do ZED-X20P-01B,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estático de 24 h, RTK com baseline de 1 km, valores observados e não garantidos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Os 2,0 m do nRF9151 são CEP50 — grandeza diferente do CEP da u-blox.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6" cy="390448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79"/>
                <a:gridCol w="3108959"/>
                <a:gridCol w="1828799"/>
                <a:gridCol w="1554479"/>
                <a:gridCol w="1463039"/>
                <a:gridCol w="125547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Técnica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 que chega ao rover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De onde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Alcance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Horizontal (X20P)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Converge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Autônomo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nada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global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1,2 m CEP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SBAS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correção de área ampla: órbita, relógio, ionosfera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satélite GEO (WAAS, EGNOS)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continental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0,6 m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DGNSS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correção de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código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de uma base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base ou caster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dezenas de km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decimétrico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segundos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RTK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observações brutas de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fase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da base (MSM + 1005)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base própria ou caster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entorno da base (1 ppm)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0,006 m + 1 ppm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&lt; 7 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PPP (Galileo HAS)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órbita e relógio precisos, em E6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satélite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global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&lt; 0,20 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minutos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PPP-RTK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(PointPerfect, SPARTN)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estado modelado, com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atmosfera regional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serviço u-blox, por IP ou L-band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região modelada (Manaus fora, na data)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&lt; 0,06 m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&lt; 40 s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PPP-RTK (CLAS)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mesmo, difundido pelo QZSS em L6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satélite regional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só o Japão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&lt; 0,04 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&lt; 70 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5897879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897879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A pergunta que organiza a taxonomia: quanto de infraestrutura cada linha exige, e a que distância ela ainda vale. Nenhuma remove multicaminho nem ruído. PointPerfect medido em POA por NTRIP: 197 s até fixar, CEP50 de 2 cm.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RTK por dentro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Base e rover, o que a base manda, por que precisa estar perto, e o caminho de estados até o fixo — a espinha de todo diagnóstico da demo.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03 · RTK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OSR contra SSR: a geometria da validade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Esquemático, sem escala: a diferença de alcance está no tamanho das duas regiões de validade. É a razão de RTK exigir base próxima e PPP-RTK não.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83664"/>
            <a:ext cx="5222595" cy="4288536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883664"/>
            <a:ext cx="5222595" cy="457200"/>
          </a:xfrm>
          <a:prstGeom prst="roundRect">
            <a:avLst>
              <a:gd name="adj" fmla="val 30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956816"/>
            <a:ext cx="52225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OSR — observações brutas (RTK)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3272" y="2615184"/>
            <a:ext cx="2011680" cy="1143000"/>
          </a:xfrm>
          <a:prstGeom prst="roundRect">
            <a:avLst>
              <a:gd name="adj" fmla="val 7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97864" y="2724912"/>
            <a:ext cx="16824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F1F8"/>
                </a:solidFill>
                <a:latin typeface="Segoe UI"/>
              </a:rPr>
              <a:t>base RTK, fixa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7864" y="3054096"/>
            <a:ext cx="16824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3A6B8"/>
                </a:solidFill>
                <a:latin typeface="Segoe UI"/>
              </a:rPr>
              <a:t>envia pseudodistância e fase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E8F1F8"/>
                </a:solidFill>
                <a:latin typeface="Segoe UI"/>
              </a:rPr>
              <a:t>por época</a:t>
            </a:r>
            <a:r>
              <a:rPr sz="900" b="0" i="0">
                <a:solidFill>
                  <a:srgbClr val="93A6B8"/>
                </a:solidFill>
                <a:latin typeface="Segoe UI"/>
              </a:rPr>
              <a:t>, de cada satélite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3A6B8"/>
                </a:solidFill>
                <a:latin typeface="Segoe UI"/>
              </a:rPr>
              <a:t>(RTCM MSM + 1005)</a:t>
            </a:r>
          </a:p>
        </p:txBody>
      </p:sp>
      <p:sp>
        <p:nvSpPr>
          <p:cNvPr id="15" name="Oval 14"/>
          <p:cNvSpPr/>
          <p:nvPr/>
        </p:nvSpPr>
        <p:spPr>
          <a:xfrm>
            <a:off x="3517239" y="2752344"/>
            <a:ext cx="2098548" cy="2098548"/>
          </a:xfrm>
          <a:prstGeom prst="ellipse">
            <a:avLst/>
          </a:prstGeom>
          <a:solidFill>
            <a:srgbClr val="0093D0">
              <a:alpha val="18000"/>
            </a:srgbClr>
          </a:solidFill>
          <a:ln w="19050">
            <a:solidFill>
              <a:srgbClr val="009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044952" y="3163824"/>
            <a:ext cx="609447" cy="630021"/>
          </a:xfrm>
          <a:prstGeom prst="line">
            <a:avLst/>
          </a:prstGeom>
          <a:ln w="25400">
            <a:solidFill>
              <a:srgbClr val="0093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953512" y="2569464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093D0"/>
                </a:solidFill>
                <a:latin typeface="Segoe UI"/>
              </a:rPr>
              <a:t>observações</a:t>
            </a:r>
          </a:p>
        </p:txBody>
      </p:sp>
      <p:sp>
        <p:nvSpPr>
          <p:cNvPr id="18" name="Oval 17"/>
          <p:cNvSpPr/>
          <p:nvPr/>
        </p:nvSpPr>
        <p:spPr>
          <a:xfrm>
            <a:off x="4020159" y="3255264"/>
            <a:ext cx="201168" cy="201168"/>
          </a:xfrm>
          <a:prstGeom prst="ellipse">
            <a:avLst/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660239" y="3483864"/>
            <a:ext cx="201168" cy="201168"/>
          </a:xfrm>
          <a:prstGeom prst="ellipse">
            <a:avLst/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03039" y="4078224"/>
            <a:ext cx="201168" cy="201168"/>
          </a:xfrm>
          <a:prstGeom prst="ellipse">
            <a:avLst/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88839" y="4123944"/>
            <a:ext cx="201168" cy="201168"/>
          </a:xfrm>
          <a:prstGeom prst="ellipse">
            <a:avLst/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61507" y="4530852"/>
            <a:ext cx="201168" cy="201168"/>
          </a:xfrm>
          <a:prstGeom prst="ellipse">
            <a:avLst/>
          </a:prstGeom>
          <a:solidFill>
            <a:srgbClr val="C9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38547" y="475945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C94F4F"/>
                </a:solidFill>
                <a:latin typeface="Segoe UI"/>
              </a:rPr>
              <a:t>fora do entorno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7239" y="4283964"/>
            <a:ext cx="2098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0224E"/>
                </a:solidFill>
                <a:latin typeface="Segoe UI"/>
              </a:rPr>
              <a:t>o rover diferencia</a:t>
            </a:r>
          </a:p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0224E"/>
                </a:solidFill>
                <a:latin typeface="Segoe UI"/>
              </a:rPr>
              <a:t>contra a 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5120640"/>
            <a:ext cx="46739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77"/>
                </a:solidFill>
                <a:latin typeface="Segoe UI"/>
              </a:rPr>
              <a:t>O erro se cancela porque </a:t>
            </a:r>
            <a:r>
              <a:rPr sz="950" b="1" i="0">
                <a:solidFill>
                  <a:srgbClr val="0B1B2B"/>
                </a:solidFill>
                <a:latin typeface="Segoe UI"/>
              </a:rPr>
              <a:t>base e rover veem a mesma atmosfera e a mesma órbita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. Afastou-se, a correção deixa de valer: é o termo de 1 ppm, e é por isso que RTK exige base perto.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77"/>
                </a:solidFill>
                <a:latin typeface="Segoe UI"/>
              </a:rPr>
              <a:t>Um fluxo por rover: cada um recebe as observações da </a:t>
            </a:r>
            <a:r>
              <a:rPr sz="950" b="1" i="0">
                <a:solidFill>
                  <a:srgbClr val="0B1B2B"/>
                </a:solidFill>
                <a:latin typeface="Segoe UI"/>
              </a:rPr>
              <a:t>sua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 base.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5867" y="1883664"/>
            <a:ext cx="5222595" cy="4288536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55867" y="1883664"/>
            <a:ext cx="5222595" cy="457200"/>
          </a:xfrm>
          <a:prstGeom prst="roundRect">
            <a:avLst>
              <a:gd name="adj" fmla="val 30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5867" y="1956816"/>
            <a:ext cx="52225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SSR — estado modelado (PPP-RTK)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30187" y="2569464"/>
            <a:ext cx="868680" cy="310896"/>
          </a:xfrm>
          <a:prstGeom prst="roundRect">
            <a:avLst>
              <a:gd name="adj" fmla="val 20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0187" y="2569464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estação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30187" y="2953512"/>
            <a:ext cx="868680" cy="310896"/>
          </a:xfrm>
          <a:prstGeom prst="roundRect">
            <a:avLst>
              <a:gd name="adj" fmla="val 20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0187" y="2953512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estação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30187" y="3337560"/>
            <a:ext cx="868680" cy="310896"/>
          </a:xfrm>
          <a:prstGeom prst="roundRect">
            <a:avLst>
              <a:gd name="adj" fmla="val 20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0187" y="3337560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estação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18907" y="2660904"/>
            <a:ext cx="1508760" cy="96012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83499" y="2770632"/>
            <a:ext cx="11795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B2B"/>
                </a:solidFill>
                <a:latin typeface="Segoe UI"/>
              </a:rPr>
              <a:t>serviço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3499" y="3099816"/>
            <a:ext cx="1179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modela as </a:t>
            </a:r>
            <a:r>
              <a:rPr sz="900" b="1" i="0">
                <a:solidFill>
                  <a:srgbClr val="0B1B2B"/>
                </a:solidFill>
                <a:latin typeface="Segoe UI"/>
              </a:rPr>
              <a:t>causas</a:t>
            </a:r>
            <a:r>
              <a:rPr sz="900" b="0" i="0">
                <a:solidFill>
                  <a:srgbClr val="566577"/>
                </a:solidFill>
                <a:latin typeface="Segoe UI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órbita, relógio,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vieses, atmosfera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398867" y="2724912"/>
            <a:ext cx="320040" cy="393192"/>
          </a:xfrm>
          <a:prstGeom prst="line">
            <a:avLst/>
          </a:prstGeom>
          <a:ln w="15875">
            <a:solidFill>
              <a:srgbClr val="56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398867" y="3108960"/>
            <a:ext cx="320040" cy="9144"/>
          </a:xfrm>
          <a:prstGeom prst="line">
            <a:avLst/>
          </a:prstGeom>
          <a:ln w="15875">
            <a:solidFill>
              <a:srgbClr val="56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398867" y="3118104"/>
            <a:ext cx="320040" cy="374904"/>
          </a:xfrm>
          <a:prstGeom prst="line">
            <a:avLst/>
          </a:prstGeom>
          <a:ln w="15875">
            <a:solidFill>
              <a:srgbClr val="56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530187" y="3849624"/>
            <a:ext cx="4673955" cy="1097280"/>
          </a:xfrm>
          <a:prstGeom prst="ellipse">
            <a:avLst/>
          </a:prstGeom>
          <a:solidFill>
            <a:srgbClr val="0093D0">
              <a:alpha val="18000"/>
            </a:srgbClr>
          </a:solidFill>
          <a:ln w="19050">
            <a:solidFill>
              <a:srgbClr val="009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8450427" y="3621024"/>
            <a:ext cx="0" cy="274320"/>
          </a:xfrm>
          <a:prstGeom prst="line">
            <a:avLst/>
          </a:prstGeom>
          <a:ln w="25400">
            <a:solidFill>
              <a:srgbClr val="0093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633307" y="3621024"/>
            <a:ext cx="2103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093D0"/>
                </a:solidFill>
                <a:latin typeface="Segoe UI"/>
              </a:rPr>
              <a:t>um modelo, difundido</a:t>
            </a:r>
          </a:p>
        </p:txBody>
      </p:sp>
      <p:sp>
        <p:nvSpPr>
          <p:cNvPr id="44" name="Oval 43"/>
          <p:cNvSpPr/>
          <p:nvPr/>
        </p:nvSpPr>
        <p:spPr>
          <a:xfrm>
            <a:off x="6895947" y="4123944"/>
            <a:ext cx="201168" cy="201168"/>
          </a:xfrm>
          <a:prstGeom prst="ellipse">
            <a:avLst/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536027" y="4416552"/>
            <a:ext cx="201168" cy="201168"/>
          </a:xfrm>
          <a:prstGeom prst="ellipse">
            <a:avLst/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267547" y="4416552"/>
            <a:ext cx="201168" cy="201168"/>
          </a:xfrm>
          <a:prstGeom prst="ellipse">
            <a:avLst/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907627" y="4123944"/>
            <a:ext cx="201168" cy="201168"/>
          </a:xfrm>
          <a:prstGeom prst="ellipse">
            <a:avLst/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639147" y="4123944"/>
            <a:ext cx="201168" cy="201168"/>
          </a:xfrm>
          <a:prstGeom prst="ellipse">
            <a:avLst/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279226" y="4416552"/>
            <a:ext cx="201168" cy="201168"/>
          </a:xfrm>
          <a:prstGeom prst="ellipse">
            <a:avLst/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919307" y="4123944"/>
            <a:ext cx="201168" cy="201168"/>
          </a:xfrm>
          <a:prstGeom prst="ellipse">
            <a:avLst/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30187" y="4636008"/>
            <a:ext cx="46739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0224E"/>
                </a:solidFill>
                <a:latin typeface="Segoe UI"/>
              </a:rPr>
              <a:t>muitos rovers, o mesmo modelo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30187" y="5257800"/>
            <a:ext cx="46739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77"/>
                </a:solidFill>
                <a:latin typeface="Segoe UI"/>
              </a:rPr>
              <a:t>O rover aplica o modelo à </a:t>
            </a:r>
            <a:r>
              <a:rPr sz="950" b="1" i="0">
                <a:solidFill>
                  <a:srgbClr val="0B1B2B"/>
                </a:solidFill>
                <a:latin typeface="Segoe UI"/>
              </a:rPr>
              <a:t>própria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 posição. O alcance é o da região modelada, não o entorno de uma base — por isso PPP-RTK não exige base perto.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77"/>
                </a:solidFill>
                <a:latin typeface="Segoe UI"/>
              </a:rPr>
              <a:t>O preço: converge em dezenas de segundos, não em segundos (datasheet: &lt; 40 s SPARTN contra &lt; 7 s RTK).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03 · RTK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PointPerfect: como a correção SSR chega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O PPP-RTK que o X20P suporta é o PointPerfect da u-blox. Chega por IP, em SPARTN (MQTT) ou já convertido em base virtual RTCM (NTRIP), ou por L-band com um receptor NEO-D9S. Em POA foi medido pelo NTRIP da Nordian.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69767" y="1883664"/>
            <a:ext cx="5852160" cy="777240"/>
          </a:xfrm>
          <a:prstGeom prst="roundRect">
            <a:avLst>
              <a:gd name="adj" fmla="val 7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4359" y="1993392"/>
            <a:ext cx="55229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F1F8"/>
                </a:solidFill>
                <a:latin typeface="Segoe UI"/>
              </a:rPr>
              <a:t>PointPerfect (u-blox) · PPP-RTK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4359" y="2322576"/>
            <a:ext cx="5522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3A6B8"/>
                </a:solidFill>
                <a:latin typeface="Segoe UI"/>
              </a:rPr>
              <a:t>modelo de estado (SSR): órbita, relógio, vieses e atmosfera regional, em </a:t>
            </a:r>
            <a:r>
              <a:rPr sz="950" b="1" i="0">
                <a:solidFill>
                  <a:srgbClr val="E8F1F8"/>
                </a:solidFill>
                <a:latin typeface="Segoe UI"/>
              </a:rPr>
              <a:t>SPARTN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2871216"/>
            <a:ext cx="5486400" cy="1828800"/>
          </a:xfrm>
          <a:prstGeom prst="roundRect">
            <a:avLst>
              <a:gd name="adj" fmla="val 7000"/>
            </a:avLst>
          </a:prstGeom>
          <a:solidFill>
            <a:srgbClr val="E1F0FA"/>
          </a:solidFill>
          <a:ln w="12700">
            <a:solidFill>
              <a:srgbClr val="009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88950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093D0"/>
                </a:solidFill>
                <a:latin typeface="Segoe UI"/>
              </a:rPr>
              <a:t>por IP (celular ou Wi-Fi do PC)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3255264"/>
            <a:ext cx="2514600" cy="1325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3364992"/>
            <a:ext cx="21854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B2B"/>
                </a:solidFill>
                <a:latin typeface="Segoe UI"/>
              </a:rPr>
              <a:t>SPARTN por MQTT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" y="3694176"/>
            <a:ext cx="21854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broker Thingstream; o X20P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decodifica SPARTN direto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(plano de sinal SP6 no Flex)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85032" y="3255264"/>
            <a:ext cx="2514600" cy="1325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9624" y="3364992"/>
            <a:ext cx="21854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B2B"/>
                </a:solidFill>
                <a:latin typeface="Segoe UI"/>
              </a:rPr>
              <a:t>RTCM virtual por NTRIP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9624" y="3694176"/>
            <a:ext cx="21854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mountpoint VRS: o cliente envia GGA,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o serviço devolve 1005 + MSM4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B1B2B"/>
                </a:solidFill>
                <a:latin typeface="Segoe UI"/>
              </a:rPr>
              <a:t>o testado em POA, via Nordian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5063" y="2871216"/>
            <a:ext cx="4251960" cy="182880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6503" y="288950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66577"/>
                </a:solidFill>
                <a:latin typeface="Segoe UI"/>
              </a:rPr>
              <a:t>por L-band (sem internet)</a:t>
            </a:r>
          </a:p>
        </p:txBody>
      </p:sp>
      <p:sp>
        <p:nvSpPr>
          <p:cNvPr id="22" name="Oval 21"/>
          <p:cNvSpPr/>
          <p:nvPr/>
        </p:nvSpPr>
        <p:spPr>
          <a:xfrm>
            <a:off x="7226503" y="3529584"/>
            <a:ext cx="1280160" cy="685800"/>
          </a:xfrm>
          <a:prstGeom prst="ellipse">
            <a:avLst/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6503" y="3529584"/>
            <a:ext cx="12801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satélite GEO</a:t>
            </a:r>
          </a:p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~1,5 GHz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506663" y="3867912"/>
            <a:ext cx="274320" cy="0"/>
          </a:xfrm>
          <a:prstGeom prst="line">
            <a:avLst/>
          </a:prstGeom>
          <a:ln w="19050">
            <a:solidFill>
              <a:srgbClr val="56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780983" y="3255264"/>
            <a:ext cx="2331720" cy="1325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45575" y="3364992"/>
            <a:ext cx="20025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B2B"/>
                </a:solidFill>
                <a:latin typeface="Segoe UI"/>
              </a:rPr>
              <a:t>NEO-D9S → X20P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5575" y="3694176"/>
            <a:ext cx="20025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receptor de L-band à parte;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SPARTN por UART para o X20P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B1B2B"/>
                </a:solidFill>
                <a:latin typeface="Segoe UI"/>
              </a:rPr>
              <a:t>só conceito neste curso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992727" y="2660904"/>
            <a:ext cx="1658265" cy="192024"/>
          </a:xfrm>
          <a:prstGeom prst="line">
            <a:avLst/>
          </a:prstGeom>
          <a:ln w="25400">
            <a:solidFill>
              <a:srgbClr val="0093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198967" y="2660904"/>
            <a:ext cx="2639416" cy="192024"/>
          </a:xfrm>
          <a:prstGeom prst="line">
            <a:avLst/>
          </a:prstGeom>
          <a:ln w="25400">
            <a:solidFill>
              <a:srgbClr val="56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96112" y="4946904"/>
            <a:ext cx="249699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001768"/>
            <a:ext cx="24969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0224E"/>
                </a:solidFill>
                <a:latin typeface="Segoe UI"/>
              </a:rPr>
              <a:t>&lt; 40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" y="5385816"/>
            <a:ext cx="240555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convergência do datasheet</a:t>
            </a:r>
          </a:p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(SPARTN, ZED-X20P)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30269" y="4946904"/>
            <a:ext cx="249699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30269" y="5001768"/>
            <a:ext cx="24969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0224E"/>
                </a:solidFill>
                <a:latin typeface="Segoe UI"/>
              </a:rPr>
              <a:t>197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5989" y="5385816"/>
            <a:ext cx="240555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medido por NTRIP em POA, céu aberto;</a:t>
            </a:r>
          </a:p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2 de 3 blocos não fixaram em 7 min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64427" y="4946904"/>
            <a:ext cx="249699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4427" y="5001768"/>
            <a:ext cx="24969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0224E"/>
                </a:solidFill>
                <a:latin typeface="Segoe UI"/>
              </a:rPr>
              <a:t>POA sim · Manaus não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0147" y="5385816"/>
            <a:ext cx="240555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cobertura na data do curso;</a:t>
            </a:r>
          </a:p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conferir o mapa da u-blox antes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98585" y="4946904"/>
            <a:ext cx="249699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98585" y="5001768"/>
            <a:ext cx="24969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0224E"/>
                </a:solidFill>
                <a:latin typeface="Segoe UI"/>
              </a:rPr>
              <a:t>assinatura + internet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44305" y="5385816"/>
            <a:ext cx="240555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credencial via Nordian;</a:t>
            </a:r>
          </a:p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teste limitado a 10 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03 · RTK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 baseline e o termo de 1 ppm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1 mm por km: 10 km são 1 cm antes de qualquer outra coisa. A baseline curta cancela porque as duas antenas veem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a mesma atmosfera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A estação a 16,4 km levou 197 s para fixar; a base a 1,42 m, 5 e 19 s.</a:t>
            </a:r>
          </a:p>
        </p:txBody>
      </p:sp>
      <p:pic>
        <p:nvPicPr>
          <p:cNvPr id="9" name="Picture 8" descr="gnss_baselin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33" y="1810512"/>
            <a:ext cx="10411628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03 · RTK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 sequência de estados do rover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Saber em qual dos quatro estados o rover parou já diz qual das cinco falhas da demo está acontecendo.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Flutuante não mede posição comparável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: ao fixar, a solução saltou ~1 m na bancada; duas janelas em float não se comparam nem entre si, porque o viés muda.</a:t>
            </a:r>
          </a:p>
        </p:txBody>
      </p:sp>
      <p:sp>
        <p:nvSpPr>
          <p:cNvPr id="9" name="Pentagon 8"/>
          <p:cNvSpPr/>
          <p:nvPr/>
        </p:nvSpPr>
        <p:spPr>
          <a:xfrm>
            <a:off x="713232" y="3387852"/>
            <a:ext cx="3116503" cy="1417320"/>
          </a:xfrm>
          <a:prstGeom prst="homePlate">
            <a:avLst/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evron 9"/>
          <p:cNvSpPr/>
          <p:nvPr/>
        </p:nvSpPr>
        <p:spPr>
          <a:xfrm>
            <a:off x="3262807" y="3387852"/>
            <a:ext cx="3116503" cy="1417320"/>
          </a:xfrm>
          <a:prstGeom prst="chevron">
            <a:avLst/>
          </a:prstGeom>
          <a:solidFill>
            <a:srgbClr val="0047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5812383" y="3387852"/>
            <a:ext cx="3116503" cy="1417320"/>
          </a:xfrm>
          <a:prstGeom prst="chevron">
            <a:avLst/>
          </a:prstGeom>
          <a:solidFill>
            <a:srgbClr val="00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evron 11"/>
          <p:cNvSpPr/>
          <p:nvPr/>
        </p:nvSpPr>
        <p:spPr>
          <a:xfrm>
            <a:off x="8361959" y="3387852"/>
            <a:ext cx="3116503" cy="1417320"/>
          </a:xfrm>
          <a:prstGeom prst="chevron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3884"/>
            <a:ext cx="2503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3D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009644"/>
            <a:ext cx="2503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posição autônoma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GGA qualidade </a:t>
            </a:r>
            <a:r>
              <a:rPr sz="1100" b="1" i="0">
                <a:solidFill>
                  <a:srgbClr val="FFFFFF"/>
                </a:solidFill>
                <a:latin typeface="Segoe UI"/>
              </a:rPr>
              <a:t>1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Consolas"/>
              </a:rPr>
              <a:t>carrSoln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 =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9463" y="3643884"/>
            <a:ext cx="21198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3D/DGNSS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9463" y="4009644"/>
            <a:ext cx="211980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correção de código aplicada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GGA qualidade </a:t>
            </a:r>
            <a:r>
              <a:rPr sz="1100" b="1" i="0">
                <a:solidFill>
                  <a:srgbClr val="FFFFFF"/>
                </a:solidFill>
                <a:latin typeface="Segoe UI"/>
              </a:rPr>
              <a:t>2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Consolas"/>
              </a:rPr>
              <a:t>carrSoln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 =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039" y="3643884"/>
            <a:ext cx="21198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Float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039" y="4009644"/>
            <a:ext cx="211980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fase em uso, ambiguidades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ainda reais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GGA qualidade </a:t>
            </a:r>
            <a:r>
              <a:rPr sz="1100" b="1" i="0">
                <a:solidFill>
                  <a:srgbClr val="FFFFFF"/>
                </a:solidFill>
                <a:latin typeface="Segoe UI"/>
              </a:rPr>
              <a:t>5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 · </a:t>
            </a:r>
            <a:r>
              <a:rPr sz="1100" b="0" i="0">
                <a:solidFill>
                  <a:srgbClr val="FFFFFF"/>
                </a:solidFill>
                <a:latin typeface="Consolas"/>
              </a:rPr>
              <a:t>carrSoln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 =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8615" y="3643884"/>
            <a:ext cx="21198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Fixed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38615" y="4009644"/>
            <a:ext cx="211980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ambiguidades em inteiros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centimétrico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GGA qualidade </a:t>
            </a:r>
            <a:r>
              <a:rPr sz="1100" b="1" i="0">
                <a:solidFill>
                  <a:srgbClr val="FFFFFF"/>
                </a:solidFill>
                <a:latin typeface="Segoe UI"/>
              </a:rPr>
              <a:t>4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 · </a:t>
            </a:r>
            <a:r>
              <a:rPr sz="1100" b="0" i="0">
                <a:solidFill>
                  <a:srgbClr val="FFFFFF"/>
                </a:solidFill>
                <a:latin typeface="Consolas"/>
              </a:rPr>
              <a:t>carrSoln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 =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03 · RTK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que a base manda: as sete mensagens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Sete mensagens,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MSM4 e não MSM7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; não misturar os dois tipos, e todas as observações no mesmo rate. Validado contra o caster da Nordian: o fluxo recebido trazia exatamente 1005, 1032, 1033, 1074, 1084, 1094, 1124 e 1230, a 1109 B/s.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9" cy="390448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45919"/>
                <a:gridCol w="3840479"/>
                <a:gridCol w="527883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Mensagem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 que carrega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Sem ela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1005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/ 1006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posição da antena da base (1006 com altura)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rover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não computa posição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— falha 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1074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observáveis GPS (MSM4)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1084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observáveis GLONASS (MSM4)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1094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observáveis Galileo (MSM4)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1124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observáveis BeiDou (MSM4)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1230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ou 1033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viés de código GLONASS (ou descrição da antena)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ambiguidades GLONASS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ficam em float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mesmo em fixo — falha C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49900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4072.0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proprietária u-blox (referência móvel)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não é necessária para base fixa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5897879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897879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A 1005 só começa a sair depois que o Survey-In conclui: base recém-ligada em Survey-In não emite posição, e o rover fica em float sem explicação aparente. Com HPG 2.02 a base só emite 1005 — e basta.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03 · RTK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NTRIP: como a correção chega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Com NTRIP não existe captura por script: o u-center 2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é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o cliente e injeta o RTCM pela mesma porta serial, então ele tem de ser o dono da porta do começo ao fim. Analisa-se depois, no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.uc2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250692"/>
            <a:ext cx="2314117" cy="141732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3451860"/>
            <a:ext cx="2039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base ou estação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872484"/>
            <a:ext cx="203979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observa e gera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RTCM3 por época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(base própria, IBGE,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Nordian)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00501" y="3886200"/>
            <a:ext cx="356616" cy="146304"/>
          </a:xfrm>
          <a:prstGeom prst="rightArrow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30269" y="3250692"/>
            <a:ext cx="2314117" cy="1417320"/>
          </a:xfrm>
          <a:prstGeom prst="roundRect">
            <a:avLst>
              <a:gd name="adj" fmla="val 7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7429" y="3451860"/>
            <a:ext cx="2039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E8F1F8"/>
                </a:solidFill>
                <a:latin typeface="Segoe UI"/>
              </a:rPr>
              <a:t>caster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7429" y="3872484"/>
            <a:ext cx="203979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93A6B8"/>
                </a:solidFill>
                <a:latin typeface="Segoe UI"/>
              </a:rPr>
              <a:t>servidor HTTP na porta 2101;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93A6B8"/>
                </a:solidFill>
                <a:latin typeface="Segoe UI"/>
              </a:rPr>
              <a:t>cada fonte é um mountpoint;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93A6B8"/>
                </a:solidFill>
                <a:latin typeface="Segoe UI"/>
              </a:rPr>
              <a:t>a lista é o sourcetable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17539" y="3886200"/>
            <a:ext cx="356616" cy="146304"/>
          </a:xfrm>
          <a:prstGeom prst="rightArrow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7307" y="3250692"/>
            <a:ext cx="2314117" cy="141732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4467" y="3451860"/>
            <a:ext cx="2039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cliente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4467" y="3872484"/>
            <a:ext cx="203979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HTTP Basic + mountpoint;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manda </a:t>
            </a:r>
            <a:r>
              <a:rPr sz="1100" b="1" i="0">
                <a:solidFill>
                  <a:srgbClr val="566577"/>
                </a:solidFill>
                <a:latin typeface="Segoe UI"/>
              </a:rPr>
              <a:t>GGA</a:t>
            </a:r>
            <a:r>
              <a:rPr sz="1100" b="0" i="0">
                <a:solidFill>
                  <a:srgbClr val="566577"/>
                </a:solidFill>
                <a:latin typeface="Segoe UI"/>
              </a:rPr>
              <a:t> se o serviço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escolhe a estação pela posição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34577" y="3886200"/>
            <a:ext cx="356616" cy="146304"/>
          </a:xfrm>
          <a:prstGeom prst="rightArrow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64345" y="3250692"/>
            <a:ext cx="2314117" cy="141732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01505" y="3451860"/>
            <a:ext cx="2039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receptor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1505" y="3872484"/>
            <a:ext cx="2039797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recebe o RTCM pela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mesma porta serial;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Consolas"/>
              </a:rPr>
              <a:t>UBX-RXM-COR</a:t>
            </a:r>
            <a:r>
              <a:rPr sz="1100" b="0" i="0">
                <a:solidFill>
                  <a:srgbClr val="566577"/>
                </a:solidFill>
                <a:latin typeface="Segoe UI"/>
              </a:rPr>
              <a:t> diz o que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chegou e o que serviu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0421" y="2939796"/>
            <a:ext cx="1636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093D0"/>
                </a:solidFill>
                <a:latin typeface="Segoe UI"/>
              </a:rPr>
              <a:t>RTCM3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7459" y="2939796"/>
            <a:ext cx="1636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093D0"/>
                </a:solidFill>
                <a:latin typeface="Segoe UI"/>
              </a:rPr>
              <a:t>internet ou rede local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4497" y="2939796"/>
            <a:ext cx="1636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093D0"/>
                </a:solidFill>
                <a:latin typeface="Segoe UI"/>
              </a:rPr>
              <a:t>RTCM3 na serial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896612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566577"/>
                </a:solidFill>
                <a:latin typeface="Segoe UI"/>
              </a:rPr>
              <a:t>No curso o caster é o próprio u-center 2 na máquina da base, em rede local, sem internet. O rover se conecta ao IP que o rodapé do u-center mostra.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03 · RTK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Dois caminhos para a correção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A base própria roda em rede local, sem internet, e é o caminho padrão do módulo. O PointPerfect é PPP-RTK entregue por NTRIP como base virtual: medido em Porto Alegre, sem cobertura em Manaus na data do curso.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83664"/>
            <a:ext cx="5222595" cy="3794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883664"/>
            <a:ext cx="5222595" cy="457200"/>
          </a:xfrm>
          <a:prstGeom prst="roundRect">
            <a:avLst>
              <a:gd name="adj" fmla="val 30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956816"/>
            <a:ext cx="52225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base própria · rede local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70432" y="3685032"/>
            <a:ext cx="4308195" cy="0"/>
          </a:xfrm>
          <a:prstGeom prst="line">
            <a:avLst/>
          </a:prstGeom>
          <a:ln w="19050">
            <a:solidFill>
              <a:srgbClr val="D3E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536192" y="3118104"/>
            <a:ext cx="548640" cy="548640"/>
          </a:xfrm>
          <a:prstGeom prst="ellipse">
            <a:avLst/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64227" y="3118104"/>
            <a:ext cx="548640" cy="548640"/>
          </a:xfrm>
          <a:prstGeom prst="ellipse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373989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7027" y="373989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rover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10512" y="2843784"/>
            <a:ext cx="3028035" cy="0"/>
          </a:xfrm>
          <a:prstGeom prst="line">
            <a:avLst/>
          </a:prstGeom>
          <a:ln w="15875">
            <a:solidFill>
              <a:srgbClr val="0022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10512" y="2843784"/>
            <a:ext cx="0" cy="109728"/>
          </a:xfrm>
          <a:prstGeom prst="line">
            <a:avLst/>
          </a:prstGeom>
          <a:ln w="15875">
            <a:solidFill>
              <a:srgbClr val="0022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38547" y="2843784"/>
            <a:ext cx="0" cy="109728"/>
          </a:xfrm>
          <a:prstGeom prst="line">
            <a:avLst/>
          </a:prstGeom>
          <a:ln w="15875">
            <a:solidFill>
              <a:srgbClr val="0022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10512" y="2569464"/>
            <a:ext cx="30280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~1,5 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176272" y="3392424"/>
            <a:ext cx="2296515" cy="0"/>
          </a:xfrm>
          <a:prstGeom prst="line">
            <a:avLst/>
          </a:prstGeom>
          <a:ln w="25400">
            <a:solidFill>
              <a:srgbClr val="1FA97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993392" y="3410712"/>
            <a:ext cx="266227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FA971"/>
                </a:solidFill>
                <a:latin typeface="Segoe UI"/>
              </a:rPr>
              <a:t>RTCM3 pela rede local (o caster é o u-center 2)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" y="4123944"/>
            <a:ext cx="1466545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169664"/>
            <a:ext cx="146654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00224E"/>
                </a:solidFill>
                <a:latin typeface="Segoe UI"/>
              </a:rPr>
              <a:t>metros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" y="4581144"/>
            <a:ext cx="137510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de baseline: o termo</a:t>
            </a:r>
          </a:p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de 1 ppm some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91257" y="4123944"/>
            <a:ext cx="1466545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91257" y="4169664"/>
            <a:ext cx="146654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00224E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36977" y="4581144"/>
            <a:ext cx="137510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constelações nas</a:t>
            </a:r>
          </a:p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observações (MSM4)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94962" y="4123944"/>
            <a:ext cx="1466545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94962" y="4169664"/>
            <a:ext cx="146654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00224E"/>
                </a:solidFill>
                <a:latin typeface="Segoe U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40682" y="4581144"/>
            <a:ext cx="137510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internet, cadastro,</a:t>
            </a:r>
          </a:p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credencial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7552" y="5148072"/>
            <a:ext cx="4673955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050" b="1">
                <a:solidFill>
                  <a:srgbClr val="00224E"/>
                </a:solidFill>
                <a:latin typeface="Segoe UI"/>
              </a:rPr>
              <a:t>medido: fixo em 5 e 19 s  ·  CEP50 de 1 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55867" y="1883664"/>
            <a:ext cx="5222595" cy="3794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55867" y="1883664"/>
            <a:ext cx="5222595" cy="457200"/>
          </a:xfrm>
          <a:prstGeom prst="roundRect">
            <a:avLst>
              <a:gd name="adj" fmla="val 30000"/>
            </a:avLst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5867" y="1956816"/>
            <a:ext cx="52225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PointPerfect via Nordian · PPP-RTK por NTRIP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21627" y="3072384"/>
            <a:ext cx="1325880" cy="640080"/>
          </a:xfrm>
          <a:prstGeom prst="roundRect">
            <a:avLst>
              <a:gd name="adj" fmla="val 20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1627" y="3072384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PointPerfect</a:t>
            </a:r>
          </a:p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"/>
              </a:rPr>
              <a:t>modelo SSR (SPARTN)</a:t>
            </a:r>
          </a:p>
        </p:txBody>
      </p:sp>
      <p:sp>
        <p:nvSpPr>
          <p:cNvPr id="38" name="Oval 37"/>
          <p:cNvSpPr/>
          <p:nvPr/>
        </p:nvSpPr>
        <p:spPr>
          <a:xfrm>
            <a:off x="8770467" y="3072384"/>
            <a:ext cx="1371600" cy="640080"/>
          </a:xfrm>
          <a:prstGeom prst="ellipse">
            <a:avLst/>
          </a:prstGeom>
          <a:solidFill>
            <a:srgbClr val="E1F0FA"/>
          </a:solidFill>
          <a:ln w="19050">
            <a:solidFill>
              <a:srgbClr val="0093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0467" y="3072384"/>
            <a:ext cx="1371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093D0"/>
                </a:solidFill>
                <a:latin typeface="Segoe UI"/>
              </a:rPr>
              <a:t>internet · NTRIP</a:t>
            </a:r>
          </a:p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093D0"/>
                </a:solidFill>
                <a:latin typeface="Segoe UI"/>
              </a:rPr>
              <a:t>caster da Nordian</a:t>
            </a:r>
          </a:p>
        </p:txBody>
      </p:sp>
      <p:sp>
        <p:nvSpPr>
          <p:cNvPr id="40" name="Oval 39"/>
          <p:cNvSpPr/>
          <p:nvPr/>
        </p:nvSpPr>
        <p:spPr>
          <a:xfrm>
            <a:off x="10472623" y="3118104"/>
            <a:ext cx="548640" cy="548640"/>
          </a:xfrm>
          <a:prstGeom prst="ellipse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15423" y="373989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rover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947507" y="3392424"/>
            <a:ext cx="822960" cy="0"/>
          </a:xfrm>
          <a:prstGeom prst="line">
            <a:avLst/>
          </a:prstGeom>
          <a:ln w="19050">
            <a:solidFill>
              <a:srgbClr val="56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142067" y="3392424"/>
            <a:ext cx="284836" cy="0"/>
          </a:xfrm>
          <a:prstGeom prst="line">
            <a:avLst/>
          </a:prstGeom>
          <a:ln w="19050">
            <a:solidFill>
              <a:srgbClr val="56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61707" y="2798064"/>
            <a:ext cx="3485236" cy="0"/>
          </a:xfrm>
          <a:prstGeom prst="line">
            <a:avLst/>
          </a:prstGeom>
          <a:ln w="15875">
            <a:solidFill>
              <a:srgbClr val="009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261707" y="2798064"/>
            <a:ext cx="0" cy="109728"/>
          </a:xfrm>
          <a:prstGeom prst="line">
            <a:avLst/>
          </a:prstGeom>
          <a:ln w="15875">
            <a:solidFill>
              <a:srgbClr val="009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746943" y="2798064"/>
            <a:ext cx="0" cy="109728"/>
          </a:xfrm>
          <a:prstGeom prst="line">
            <a:avLst/>
          </a:prstGeom>
          <a:ln w="15875">
            <a:solidFill>
              <a:srgbClr val="0093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261707" y="2523744"/>
            <a:ext cx="34852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base virtual gerada no GGA do rover: baseline ~0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1627" y="3867912"/>
            <a:ext cx="4491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66577"/>
                </a:solidFill>
                <a:latin typeface="Segoe UI"/>
              </a:rPr>
              <a:t>1005 + MSM4 virtuais; a 1032 cita uma estação física a 16,4 km, que não é a base usada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30187" y="4123944"/>
            <a:ext cx="1466545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30187" y="4169664"/>
            <a:ext cx="146654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0093D0"/>
                </a:solidFill>
                <a:latin typeface="Segoe UI"/>
              </a:rPr>
              <a:t>~0 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75907" y="4581144"/>
            <a:ext cx="137510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de baseline: a base é</a:t>
            </a:r>
          </a:p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virtual, no rover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33892" y="4123944"/>
            <a:ext cx="1466545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33892" y="4169664"/>
            <a:ext cx="146654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0093D0"/>
                </a:solidFill>
                <a:latin typeface="Segoe U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79612" y="4581144"/>
            <a:ext cx="137510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constelações no fluxo</a:t>
            </a:r>
          </a:p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(1074 · 1084 · 1094 · 1124)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37597" y="4123944"/>
            <a:ext cx="1466545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37597" y="4169664"/>
            <a:ext cx="146654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0093D0"/>
                </a:solidFill>
                <a:latin typeface="Segoe UI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83317" y="4581144"/>
            <a:ext cx="137510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dependências: assinatura</a:t>
            </a:r>
          </a:p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566577"/>
                </a:solidFill>
                <a:latin typeface="Segoe UI"/>
              </a:rPr>
              <a:t>e internet na sala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30187" y="5148072"/>
            <a:ext cx="4673955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050" b="1">
                <a:solidFill>
                  <a:srgbClr val="00224E"/>
                </a:solidFill>
                <a:latin typeface="Segoe UI"/>
              </a:rPr>
              <a:t>POA: 197 s até fixar  ·  CEP50 de 2 cm  ·  2 de 3 blocos sem fixar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Manaus, estudo de caso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Há uma estação pública de referência a ~1 km do local do curso. O que ela entrega, e o que a demo compara com ela.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04 · MANAUS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AMUA0: local, mensagens, dependências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Estação física de referência da RBMC, de tempo real, no caster do IBGE, a ~1 km do curso: onde fica, que mensagens RTCM emite e do que a demo depende para usá-la. É a fonte externa disponível em Manaus.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464308"/>
            <a:ext cx="3454298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610612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Onde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994660"/>
            <a:ext cx="301538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UEA, Av. Darcy Vargas 1200: a ~1 km do curso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no caster do IBGE (RBMC-IP), cadastro gratuito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baseline de 1 km: o termo de 1 ppm vale ~1 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2464308"/>
            <a:ext cx="3454298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8154" y="2610612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O que manda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8154" y="2994660"/>
            <a:ext cx="301538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GPS + GLONASS, só duas constelações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RTCM legado: 1004 e 1012 a 1 Hz; 1006 e 1033 a cada 10 s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o X20P lê isso como rover (como base, só emite MSM)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4164" y="2464308"/>
            <a:ext cx="3454298" cy="265176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3620" y="2610612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O que exige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3620" y="2994660"/>
            <a:ext cx="301538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cadastro no IBGE e internet na sala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bônus, não lab: a base própria roda sem rede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1008, 1013, 1019 e 1020 chegam e são ignoradas (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UBX-RXM-COR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788152"/>
            <a:ext cx="50800" cy="384048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5788152"/>
            <a:ext cx="10490911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B2B"/>
                </a:solidFill>
                <a:latin typeface="Segoe UI"/>
              </a:rPr>
              <a:t>A base própria continua o caminho garantido; a AMUA0 entra na demo se o cadastro no IBGE e a internet existirem no dia.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04 · MANAUS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Bônus: duas correções RTK no mesmo rover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O rover recebe as duas correções, no mesmo ponto e na mesma hora: base própria (~1,5 m, 4 constelações) e AMUA0 (~1 km, 2). Com as duas baselines curtas, a variável que resta entre as soluções é o número de constelações.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020824"/>
            <a:ext cx="2743200" cy="1234440"/>
          </a:xfrm>
          <a:prstGeom prst="roundRect">
            <a:avLst>
              <a:gd name="adj" fmla="val 7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2130552"/>
            <a:ext cx="2414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F1F8"/>
                </a:solidFill>
                <a:latin typeface="Segoe UI"/>
              </a:rPr>
              <a:t>base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2459736"/>
            <a:ext cx="24140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3A6B8"/>
                </a:solidFill>
                <a:latin typeface="Segoe UI"/>
              </a:rPr>
              <a:t>a ~1,5 m, antena A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E8F1F8"/>
                </a:solidFill>
                <a:latin typeface="Segoe UI"/>
              </a:rPr>
              <a:t>MSM4</a:t>
            </a:r>
            <a:r>
              <a:rPr sz="950" b="0" i="0">
                <a:solidFill>
                  <a:srgbClr val="93A6B8"/>
                </a:solidFill>
                <a:latin typeface="Segoe UI"/>
              </a:rPr>
              <a:t>, 4 constelações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3A6B8"/>
                </a:solidFill>
                <a:latin typeface="Segoe UI"/>
              </a:rPr>
              <a:t>caster no u-center 2, rede local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52383" y="2020824"/>
            <a:ext cx="2743200" cy="123444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16975" y="2130552"/>
            <a:ext cx="2414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B2B"/>
                </a:solidFill>
                <a:latin typeface="Segoe UI"/>
              </a:rPr>
              <a:t>AMUA0 · UEA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6975" y="2459736"/>
            <a:ext cx="24140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77"/>
                </a:solidFill>
                <a:latin typeface="Segoe UI"/>
              </a:rPr>
              <a:t>a ~1 km, caster do IBGE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B1B2B"/>
                </a:solidFill>
                <a:latin typeface="Segoe UI"/>
              </a:rPr>
              <a:t>RTCM legado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 (1004, 1012, 1006, 1033)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77"/>
                </a:solidFill>
                <a:latin typeface="Segoe UI"/>
              </a:rPr>
              <a:t>GPS + GLONASS, pela internet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07127" y="1975104"/>
            <a:ext cx="2377440" cy="1325880"/>
          </a:xfrm>
          <a:prstGeom prst="roundRect">
            <a:avLst>
              <a:gd name="adj" fmla="val 7000"/>
            </a:avLst>
          </a:prstGeom>
          <a:solidFill>
            <a:srgbClr val="E1F0FA"/>
          </a:solidFill>
          <a:ln w="12700">
            <a:solidFill>
              <a:srgbClr val="009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21527" y="2093976"/>
            <a:ext cx="548640" cy="548640"/>
          </a:xfrm>
          <a:prstGeom prst="ellipse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7127" y="2679192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o mesmo rover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0B1B2B"/>
                </a:solidFill>
                <a:latin typeface="Segoe UI"/>
              </a:rPr>
              <a:t>EVK-X20P, antena B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0B1B2B"/>
                </a:solidFill>
                <a:latin typeface="Segoe UI"/>
              </a:rPr>
              <a:t>mesmo ponto, mesma hora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39312" y="2638044"/>
            <a:ext cx="1267815" cy="0"/>
          </a:xfrm>
          <a:prstGeom prst="line">
            <a:avLst/>
          </a:prstGeom>
          <a:ln w="25400">
            <a:solidFill>
              <a:srgbClr val="002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593592" y="2253996"/>
            <a:ext cx="1359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0224E"/>
                </a:solidFill>
                <a:latin typeface="Segoe UI"/>
              </a:rPr>
              <a:t>rede local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284567" y="2638044"/>
            <a:ext cx="1267816" cy="0"/>
          </a:xfrm>
          <a:prstGeom prst="line">
            <a:avLst/>
          </a:prstGeom>
          <a:ln w="25400">
            <a:solidFill>
              <a:srgbClr val="0093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38847" y="2253996"/>
            <a:ext cx="1359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093D0"/>
                </a:solidFill>
                <a:latin typeface="Segoe UI"/>
              </a:rPr>
              <a:t>internet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3666744"/>
            <a:ext cx="25998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3495979" y="3666744"/>
            <a:ext cx="25998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566577"/>
                </a:solidFill>
                <a:latin typeface="Segoe UI"/>
              </a:rPr>
              <a:t>base própria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5847" y="3666744"/>
            <a:ext cx="25998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566577"/>
                </a:solidFill>
                <a:latin typeface="Segoe UI"/>
              </a:rPr>
              <a:t>AMUA0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95715" y="3666744"/>
            <a:ext cx="25998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66577"/>
                </a:solidFill>
                <a:latin typeface="Segoe UI"/>
              </a:rPr>
              <a:t>o que isso significa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" y="3986784"/>
            <a:ext cx="10399471" cy="402336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3986784"/>
            <a:ext cx="250842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B2B"/>
                </a:solidFill>
                <a:latin typeface="Segoe UI"/>
              </a:rPr>
              <a:t>baseline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95979" y="3986784"/>
            <a:ext cx="259986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0224E"/>
                </a:solidFill>
                <a:latin typeface="Segoe UI"/>
              </a:rPr>
              <a:t>~1,5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5847" y="3986784"/>
            <a:ext cx="259986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093D0"/>
                </a:solidFill>
                <a:latin typeface="Segoe UI"/>
              </a:rPr>
              <a:t>~1 km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95715" y="3986784"/>
            <a:ext cx="250842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66577"/>
                </a:solidFill>
                <a:latin typeface="Segoe UI"/>
              </a:rPr>
              <a:t>as duas são curtas: o termo de 1 ppm vale ~1 mm na AMUA0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2" y="4443984"/>
            <a:ext cx="10399471" cy="402336"/>
          </a:xfrm>
          <a:prstGeom prst="roundRect">
            <a:avLst>
              <a:gd name="adj" fmla="val 7000"/>
            </a:avLst>
          </a:prstGeom>
          <a:solidFill>
            <a:srgbClr val="DD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443984"/>
            <a:ext cx="250842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B2B"/>
                </a:solidFill>
                <a:latin typeface="Segoe UI"/>
              </a:rPr>
              <a:t>constelações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5979" y="4443984"/>
            <a:ext cx="259986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0224E"/>
                </a:solidFill>
                <a:latin typeface="Segoe U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5847" y="4443984"/>
            <a:ext cx="259986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093D0"/>
                </a:solidFill>
                <a:latin typeface="Segoe UI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95715" y="4443984"/>
            <a:ext cx="250842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B1B2B"/>
                </a:solidFill>
                <a:latin typeface="Segoe UI"/>
              </a:rPr>
              <a:t>a variável que resta</a:t>
            </a:r>
            <a:r>
              <a:rPr sz="950" b="0" i="0">
                <a:solidFill>
                  <a:srgbClr val="566577"/>
                </a:solidFill>
                <a:latin typeface="Segoe UI"/>
              </a:rPr>
              <a:t> entre as duas soluções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2" y="4901184"/>
            <a:ext cx="10399471" cy="402336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4901184"/>
            <a:ext cx="250842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B2B"/>
                </a:solidFill>
                <a:latin typeface="Segoe UI"/>
              </a:rPr>
              <a:t>formato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5979" y="4901184"/>
            <a:ext cx="259986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0224E"/>
                </a:solidFill>
                <a:latin typeface="Segoe UI"/>
              </a:rPr>
              <a:t>MSM4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5847" y="4901184"/>
            <a:ext cx="259986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093D0"/>
                </a:solidFill>
                <a:latin typeface="Segoe UI"/>
              </a:rPr>
              <a:t>legado 1004 / 1012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95715" y="4901184"/>
            <a:ext cx="250842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66577"/>
                </a:solidFill>
                <a:latin typeface="Segoe UI"/>
              </a:rPr>
              <a:t>o X20P lê os dois como rover; como base só emite MSM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" y="5449824"/>
            <a:ext cx="103994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B1B2B"/>
                </a:solidFill>
                <a:latin typeface="Segoe UI"/>
              </a:rPr>
              <a:t>O PointPerfect (PPP-RTK) não cobre Manaus na data do curso: a AMUA0 é a fonte externa disponível lá; a comparação PPP-RTK × RTK fica com os dados de Porto Alegre.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" y="5724144"/>
            <a:ext cx="103994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66577"/>
                </a:solidFill>
                <a:latin typeface="Segoe UI"/>
              </a:rPr>
              <a:t>Fontes: sourcetable do caster do IBGE (2026-09-08); datasheet ZED-X20P -01B (entrada RTCM legada, saída só MSM).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22C3E6"/>
                </a:solidFill>
                <a:latin typeface="Segoe UI"/>
              </a:rPr>
              <a:t>RESUMO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F1F8"/>
                </a:solidFill>
                <a:latin typeface="Segoe UI"/>
              </a:rPr>
              <a:t>Resumo do bloco 08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572768"/>
            <a:ext cx="10765231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A segunda frequência é um observável a mais: ionosfera </a:t>
            </a:r>
            <a:r>
              <a:rPr sz="1500" b="1">
                <a:solidFill>
                  <a:srgbClr val="E8F1F8"/>
                </a:solidFill>
                <a:latin typeface="Segoe UI"/>
              </a:rPr>
              <a:t>medida</a:t>
            </a:r>
            <a:r>
              <a:rPr sz="1500" b="0">
                <a:solidFill>
                  <a:srgbClr val="93A6B8"/>
                </a:solidFill>
                <a:latin typeface="Segoe UI"/>
              </a:rPr>
              <a:t>, não modelada, e ambiguidade fixa em segundos.</a:t>
            </a:r>
          </a:p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Nenhuma técnica remove multicaminho nem ruído. SBAS não corrige troposfera.</a:t>
            </a:r>
          </a:p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RTK vale no entorno da base (1 ppm); PPP-RTK vale onde o modelo vale — e converge em dezenas de segundos.</a:t>
            </a:r>
          </a:p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Manaus: estação pública a ~1 km, mas só GPS+GLO em RTCM legado; a base própria fixa com quatro constelações.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22C3E6"/>
                </a:solidFill>
                <a:latin typeface="Consolas"/>
              </a:rPr>
              <a:t>1/f²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o atraso ionosférico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depende da frequência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1689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1689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22C3E6"/>
                </a:solidFill>
                <a:latin typeface="Consolas"/>
              </a:rPr>
              <a:t>1 mm/km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8849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o termo de 1 ppm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da baseline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0147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22C3E6"/>
                </a:solidFill>
                <a:latin typeface="Consolas"/>
              </a:rPr>
              <a:t>&lt; 7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convergência RTK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(datasheet, 1 km)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8605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8605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22C3E6"/>
                </a:solidFill>
                <a:latin typeface="Consolas"/>
              </a:rPr>
              <a:t>1005 + 1230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5765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as duas mensagens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que decidem se fixa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532120"/>
            <a:ext cx="107652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1">
                <a:solidFill>
                  <a:srgbClr val="22C3E6"/>
                </a:solidFill>
                <a:latin typeface="Segoe UI"/>
              </a:rPr>
              <a:t>A escolha da correção depende da distância à referência e da infraestrutura disponível no local.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