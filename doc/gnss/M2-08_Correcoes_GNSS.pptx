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SBAS — Satellite-Based Augmentation System: correção de área ampla difundida por satélite geoestacionário (WAAS, EGNOS).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PPP — Precise Point Positioning: correção por órbitas e relógios precisos, sem base; converge em minutos.</a:t>
            </a:r>
          </a:p>
          <a:p>
            <a:r>
              <a:t>PPP-RTK — PPP com correções de estado (SSR) que incluem atmosfera; converge em dezenas de segundos.</a:t>
            </a:r>
          </a:p>
          <a:p>
            <a:r>
              <a:t>L2 — Camada 2 (enlace): no Zephyr, o módulo que fala com o driver — Ethernet, Wi-Fi mgmt.</a:t>
            </a:r>
          </a:p>
          <a:p>
            <a:r>
              <a:t>OSR — Observation Space Representation: a base envia observações brutas e o rover diferencia (RTK).</a:t>
            </a:r>
          </a:p>
          <a:p>
            <a:r>
              <a:t>SSR — State Space Representation: o serviço envia os erros modelados (órbita, relógio, atmosfera); vale para uma região.</a:t>
            </a:r>
          </a:p>
          <a:p>
            <a:r>
              <a:t>RTCM — O formato binário das correções (RTCM 10403, 'RTCM 3'); as mensagens têm número (1005, 1074, 1230...).</a:t>
            </a:r>
          </a:p>
          <a:p>
            <a:r>
              <a:t>NTRIP — Networked Transport of RTCM via Internet Protocol: o transporte das correções por HTTP.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HPG — High Precision GNSS: a linha de firmware do ZED-X20P (HPG 2.02, 2.11).</a:t>
            </a:r>
          </a:p>
          <a:p>
            <a:r>
              <a:t>QZSS — Quasi-Zenith Satellite System: o sistema regional japonês; o nRF9151 o recebe em L1 C/A, mas ele não é visível no Brasil.</a:t>
            </a:r>
          </a:p>
          <a:p>
            <a:r>
              <a:t>GLONASS — A constelação russa; usa FDMA em L1OF e L2OF, e por isso exige a mensagem 1230 ou 1033 no RTK.</a:t>
            </a:r>
          </a:p>
          <a:p>
            <a:r>
              <a:t>Galileo — A constelação europeia (E1, E5a, E5b, E6).</a:t>
            </a:r>
          </a:p>
          <a:p>
            <a:r>
              <a:t>BeiDou — A constelação chinesa (B1, B1C, B2a, B3I).</a:t>
            </a:r>
          </a:p>
          <a:p>
            <a:r>
              <a:t>SBAS — Satellite-Based Augmentation System: correção de área ampla difundida por satélite geoestacionário (WAAS, EGNOS).</a:t>
            </a:r>
          </a:p>
          <a:p>
            <a:r>
              <a:t>NavIC — Navigation with Indian Constellation: o sistema regional indiano.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NeQuick — Modelo empírico da ionosfera usado pelo Galileo e pelo A-GPS da Nordic para estimar o atraso.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HDOP — Horizontal Dilution of Precision: quanto a geometria dos satélites amplifica o erro horizontal.</a:t>
            </a:r>
          </a:p>
          <a:p>
            <a:r>
              <a:t>CEP50 — O raio que contém metade das posições.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NeQuick — Modelo empírico da ionosfera usado pelo Galileo e pelo A-GPS da Nordic para estimar o atraso.</a:t>
            </a:r>
          </a:p>
          <a:p>
            <a:r>
              <a:t>RTK — Real-Time Kinematic: correção por fase da portadora contra uma base próxima; centimétrico.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SBAS — Satellite-Based Augmentation System: correção de área ampla difundida por satélite geoestacionário (WAAS, EGNOS).</a:t>
            </a:r>
          </a:p>
          <a:p>
            <a:r>
              <a:t>GPS — Global Positioning System: a constelação americana; o nRF9151 recebe só o sinal L1 C/A dela.</a:t>
            </a:r>
          </a:p>
          <a:p>
            <a:r>
              <a:t>WAAS — Wide Area Augmentation System: o SBAS da América do Norte (FAA).</a:t>
            </a:r>
          </a:p>
          <a:p>
            <a:r>
              <a:t>EGNOS — European Geostationary Navigation Overlay Service: o SBAS europeu.</a:t>
            </a:r>
          </a:p>
          <a:p>
            <a:r>
              <a:t>MSAS — MTSAT Satellite Augmentation System: o SBAS do Japão.</a:t>
            </a:r>
          </a:p>
          <a:p>
            <a:r>
              <a:t>GAGAN — GPS Aided GEO Augmented Navigation: o SBAS da Índia.</a:t>
            </a:r>
          </a:p>
          <a:p>
            <a:r>
              <a:t>KASS — Korea Augmentation Satellite System: o SBAS da Coreia do Sul.</a:t>
            </a:r>
          </a:p>
          <a:p>
            <a:r>
              <a:t>BDSBAS — O SBAS chinês, sobre o BeiDou.</a:t>
            </a:r>
          </a:p>
          <a:p>
            <a:r>
              <a:t>SDCM — System for Differential Corrections and Monitoring: o SBAS russo.</a:t>
            </a:r>
          </a:p>
          <a:p>
            <a:r>
              <a:t>SouthPAN — Southern Positioning Augmentation Network: o SBAS da Austrália e Nova Zelândia.</a:t>
            </a:r>
          </a:p>
          <a:p>
            <a:r>
              <a:t>NMEA — O protocolo de texto dos receptores GNSS (sentenças $GPGGA, $GPRMC...), NMEA 0183.</a:t>
            </a:r>
          </a:p>
          <a:p>
            <a:r>
              <a:t>DGNSS — Differential GNSS: correção de código contra uma base; decimétrico.</a:t>
            </a:r>
          </a:p>
          <a:p>
            <a:r>
              <a:t>GEO — Satélite geoestacionário: o que transmite as correções de um SBAS.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SBAS — Satellite-Based Augmentation System: correção de área ampla difundida por satélite geoestacionário (WAAS, EGNOS).</a:t>
            </a:r>
          </a:p>
          <a:p>
            <a:r>
              <a:t>WAAS — Wide Area Augmentation System: o SBAS da América do Norte (FAA).</a:t>
            </a:r>
          </a:p>
          <a:p>
            <a:r>
              <a:t>EGNOS — European Geostationary Navigation Overlay Service: o SBAS europeu.</a:t>
            </a:r>
          </a:p>
          <a:p>
            <a:r>
              <a:t>GAGAN — GPS Aided GEO Augmented Navigation: o SBAS da Índia.</a:t>
            </a:r>
          </a:p>
          <a:p>
            <a:r>
              <a:t>MSAS — MTSAT Satellite Augmentation System: o SBAS do Japão.</a:t>
            </a:r>
          </a:p>
          <a:p>
            <a:r>
              <a:t>KASS — Korea Augmentation Satellite System: o SBAS da Coreia do Sul.</a:t>
            </a:r>
          </a:p>
          <a:p>
            <a:r>
              <a:t>BDSBAS — O SBAS chinês, sobre o BeiDou.</a:t>
            </a:r>
          </a:p>
          <a:p>
            <a:r>
              <a:t>SDCM — System for Differential Corrections and Monitoring: o SBAS russo.</a:t>
            </a:r>
          </a:p>
          <a:p>
            <a:r>
              <a:t>SouthPAN — Southern Positioning Augmentation Network: o SBAS da Austrália e Nova Zelândia.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SBAS — Satellite-Based Augmentation System: correção de área ampla difundida por satélite geoestacionário (WAAS, EGNOS).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PPP — Precise Point Positioning: correção por órbitas e relógios precisos, sem base; converge em minutos.</a:t>
            </a:r>
          </a:p>
          <a:p>
            <a:r>
              <a:t>PPP-RTK — PPP com correções de estado (SSR) que incluem atmosfera; converge em dezenas de segundos.</a:t>
            </a:r>
          </a:p>
          <a:p>
            <a:r>
              <a:t>OSR — Observation Space Representation: a base envia observações brutas e o rover diferencia (RTK).</a:t>
            </a:r>
          </a:p>
          <a:p>
            <a:r>
              <a:t>SSR — State Space Representation: o serviço envia os erros modelados (órbita, relógio, atmosfera); vale para uma região.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CEP50 — O raio que contém metade das posições.</a:t>
            </a:r>
          </a:p>
          <a:p>
            <a:r>
              <a:t>CEP — Circular Error Probable: o raio que contém uma fração das posições (CEP50 metade, CEP95 dezenove em vinte).</a:t>
            </a:r>
          </a:p>
          <a:p>
            <a:r>
              <a:t>SBAS — Satellite-Based Augmentation System: correção de área ampla difundida por satélite geoestacionário (WAAS, EGNOS).</a:t>
            </a:r>
          </a:p>
          <a:p>
            <a:r>
              <a:t>GEO — Satélite geoestacionário: o que transmite as correções de um SBAS.</a:t>
            </a:r>
          </a:p>
          <a:p>
            <a:r>
              <a:t>WAAS — Wide Area Augmentation System: o SBAS da América do Norte (FAA).</a:t>
            </a:r>
          </a:p>
          <a:p>
            <a:r>
              <a:t>EGNOS — European Geostationary Navigation Overlay Service: o SBAS europeu.</a:t>
            </a:r>
          </a:p>
          <a:p>
            <a:r>
              <a:t>DGNSS — Differential GNSS: correção de código contra uma base; decimétrico.</a:t>
            </a:r>
          </a:p>
          <a:p>
            <a:r>
              <a:t>MSM — Multiple Signal Message: as mensagens RTCM de observáveis por constelação (1074, 1084, 1094, 1124).</a:t>
            </a:r>
          </a:p>
          <a:p>
            <a:r>
              <a:t>ppm — Partes por milhão: no RTK, 1 ppm é 1 mm de erro por km de baseline.</a:t>
            </a:r>
          </a:p>
          <a:p>
            <a:r>
              <a:t>PPP — Precise Point Positioning: correção por órbitas e relógios precisos, sem base; converge em minutos.</a:t>
            </a:r>
          </a:p>
          <a:p>
            <a:r>
              <a:t>Galileo — A constelação europeia (E1, E5a, E5b, E6).</a:t>
            </a:r>
          </a:p>
          <a:p>
            <a:r>
              <a:t>HAS — High Accuracy Service: o PPP gratuito do Galileo, difundido em E6.</a:t>
            </a:r>
          </a:p>
          <a:p>
            <a:r>
              <a:t>PPP-RTK — PPP com correções de estado (SSR) que incluem atmosfera; converge em dezenas de segundos.</a:t>
            </a:r>
          </a:p>
          <a:p>
            <a:r>
              <a:t>SPARTN — O formato de correção SSR do serviço PointPerfect da u-blox.</a:t>
            </a:r>
          </a:p>
          <a:p>
            <a:r>
              <a:t>IP — Internet Protocol: o endereçamento e o roteamento entre redes.</a:t>
            </a:r>
          </a:p>
          <a:p>
            <a:r>
              <a:t>CLAS — Centimeter Level Augmentation Service: o PPP-RTK do QZSS, só no Japão.</a:t>
            </a:r>
          </a:p>
          <a:p>
            <a:r>
              <a:t>QZSS — Quasi-Zenith Satellite System: o sistema regional japonês; o nRF9151 o recebe em L1 C/A, mas ele não é visível no Brasil.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RTK — Real-Time Kinematic: correção por fase da portadora contra uma base próxima; centimétrico.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OSR — Observation Space Representation: a base envia observações brutas e o rover diferencia (RTK).</a:t>
            </a:r>
          </a:p>
          <a:p>
            <a:r>
              <a:t>SSR — State Space Representation: o serviço envia os erros modelados (órbita, relógio, atmosfera); vale para uma região.</a:t>
            </a:r>
          </a:p>
          <a:p>
            <a:r>
              <a:t>PPP — Precise Point Positioning: correção por órbitas e relógios precisos, sem base; converge em minutos.</a:t>
            </a:r>
          </a:p>
          <a:p>
            <a:r>
              <a:t>PPP-RTK — PPP com correções de estado (SSR) que incluem atmosfera; converge em dezenas de segundos.</a:t>
            </a:r>
          </a:p>
          <a:p>
            <a:r>
              <a:t>RTCM — O formato binário das correções (RTCM 10403, 'RTCM 3'); as mensagens têm número (1005, 1074, 1230...).</a:t>
            </a:r>
          </a:p>
          <a:p>
            <a:r>
              <a:t>MSM — Multiple Signal Message: as mensagens RTCM de observáveis por constelação (1074, 1084, 1094, 1124).</a:t>
            </a:r>
          </a:p>
          <a:p>
            <a:r>
              <a:t>ppm — Partes por milhão: no RTK, 1 ppm é 1 mm de erro por km de baseline.</a:t>
            </a:r>
          </a:p>
          <a:p>
            <a:r>
              <a:t>SPARTN — O formato de correção SSR do serviço PointPerfect da u-blox.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ppm — Partes por milhão: no RTK, 1 ppm é 1 mm de erro por km de baseline.</a:t>
            </a:r>
          </a:p>
          <a:p>
            <a:r>
              <a:t>CEP50 — O raio que contém metade das posições.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GGA — A sentença NMEA com posição, número de satélites, HDOP e a qualidade do fix (1 autônomo, 2 DGNSS, 4 RTK fixo, 5 RTK flutuante).</a:t>
            </a:r>
          </a:p>
          <a:p>
            <a:r>
              <a:t>DGNSS — Differential GNSS: correção de código contra uma base; decimétrico.</a:t>
            </a:r>
          </a:p>
          <a:p>
            <a:r>
              <a:t>UBX — O protocolo binário dos receptores u-blox (UBX-NAV-PVT, UBX-RXM-COR...).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GPS — Global Positioning System: a constelação americana; o nRF9151 recebe só o sinal L1 C/A dela.</a:t>
            </a:r>
          </a:p>
          <a:p>
            <a:r>
              <a:t>GLONASS — A constelação russa; usa FDMA em L1OF e L2OF, e por isso exige a mensagem 1230 ou 1033 no RTK.</a:t>
            </a:r>
          </a:p>
          <a:p>
            <a:r>
              <a:t>Galileo — A constelação europeia (E1, E5a, E5b, E6).</a:t>
            </a:r>
          </a:p>
          <a:p>
            <a:r>
              <a:t>BeiDou — A constelação chinesa (B1, B1C, B2a, B3I).</a:t>
            </a:r>
          </a:p>
          <a:p>
            <a:r>
              <a:t>HPG — High Precision GNSS: a linha de firmware do ZED-X20P (HPG 2.02, 2.11).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NTRIP — Networked Transport of RTCM via Internet Protocol: o transporte das correções por HTTP.</a:t>
            </a:r>
          </a:p>
          <a:p>
            <a:r>
              <a:t>RTCM — O formato binário das correções (RTCM 10403, 'RTCM 3'); as mensagens têm número (1005, 1074, 1230...).</a:t>
            </a:r>
          </a:p>
          <a:p>
            <a:r>
              <a:t>HTTP — Hypertext Transfer Protocol: pedido/resposta; o cliente sempre inicia.</a:t>
            </a:r>
          </a:p>
          <a:p>
            <a:r>
              <a:t>GGA — A sentença NMEA com posição, número de satélites, HDOP e a qualidade do fix (1 autônomo, 2 DGNSS, 4 RTK fixo, 5 RTK flutuante).</a:t>
            </a:r>
          </a:p>
          <a:p>
            <a:r>
              <a:t>UBX — O protocolo binário dos receptores u-blox (UBX-NAV-PVT, UBX-RXM-COR...).</a:t>
            </a:r>
          </a:p>
          <a:p>
            <a:r>
              <a:t>IP — Internet Protocol: o endereçamento e o roteamento entre redes.</a:t>
            </a:r>
          </a:p>
          <a:p>
            <a:r>
              <a:t>VRS — Virtual Reference Station: uma estação sintetizada na posição do rover; exige que o cliente envie GGA.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ppm — Partes por milhão: no RTK, 1 ppm é 1 mm de erro por km de baseline.</a:t>
            </a:r>
          </a:p>
          <a:p>
            <a:r>
              <a:t>GPS — Global Positioning System: a constelação americana; o nRF9151 recebe só o sinal L1 C/A dela.</a:t>
            </a:r>
          </a:p>
          <a:p>
            <a:r>
              <a:t>GLONASS — A constelação russa; usa FDMA em L1OF e L2OF, e por isso exige a mensagem 1230 ou 1033 no RTK.</a:t>
            </a:r>
          </a:p>
          <a:p>
            <a:r>
              <a:t>Galileo — A constelação europeia (E1, E5a, E5b, E6).</a:t>
            </a:r>
          </a:p>
          <a:p>
            <a:r>
              <a:t>BeiDou — A constelação chinesa (B1, B1C, B2a, B3I).</a:t>
            </a:r>
          </a:p>
          <a:p>
            <a:r>
              <a:t>CEP50 — O raio que contém metade das posições.</a:t>
            </a:r>
          </a:p>
          <a:p>
            <a:r>
              <a:t>RTCM — O formato binário das correções (RTCM 10403, 'RTCM 3'); as mensagens têm número (1005, 1074, 1230...).</a:t>
            </a:r>
          </a:p>
          <a:p>
            <a:r>
              <a:t>VRS — Virtual Reference Station: uma estação sintetizada na posição do rover; exige que o cliente envie GGA.</a:t>
            </a:r>
          </a:p>
          <a:p>
            <a:r>
              <a:t>GGA — A sentença NMEA com posição, número de satélites, HDOP e a qualidade do fix (1 autônomo, 2 DGNSS, 4 RTK fixo, 5 RTK flutuante).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MSM — Multiple Signal Message: as mensagens RTCM de observáveis por constelação (1074, 1084, 1094, 1124).</a:t>
            </a:r>
          </a:p>
          <a:p>
            <a:r>
              <a:t>IP — Internet Protocol: o endereçamento e o roteamento entre redes.</a:t>
            </a:r>
          </a:p>
          <a:p>
            <a:r>
              <a:t>ppm — Partes por milhão: no RTK, 1 ppm é 1 mm de erro por km de baseline.</a:t>
            </a:r>
          </a:p>
          <a:p>
            <a:r>
              <a:t>GPS — Global Positioning System: a constelação americana; o nRF9151 recebe só o sinal L1 C/A dela.</a:t>
            </a:r>
          </a:p>
          <a:p>
            <a:r>
              <a:t>GLONASS — A constelação russa; usa FDMA em L1OF e L2OF, e por isso exige a mensagem 1230 ou 1033 no RTK.</a:t>
            </a:r>
          </a:p>
          <a:p>
            <a:r>
              <a:t>RTCM — O formato binário das correções (RTCM 10403, 'RTCM 3'); as mensagens têm número (1005, 1074, 1230...).</a:t>
            </a:r>
          </a:p>
          <a:p>
            <a:r>
              <a:t>UBX — O protocolo binário dos receptores u-blox (UBX-NAV-PVT, UBX-RXM-COR...).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GPS — Global Positioning System: a constelação americana; o nRF9151 recebe só o sinal L1 C/A dela.</a:t>
            </a:r>
          </a:p>
          <a:p>
            <a:r>
              <a:t>GLONASS — A constelação russa; usa FDMA em L1OF e L2OF, e por isso exige a mensagem 1230 ou 1033 no RTK.</a:t>
            </a:r>
          </a:p>
          <a:p>
            <a:r>
              <a:t>L2 — Camada 2 (enlace): no Zephyr, o módulo que fala com o driver — Ethernet, Wi-Fi mgmt.</a:t>
            </a:r>
          </a:p>
          <a:p>
            <a:r>
              <a:t>RTCM — O formato binário das correções (RTCM 10403, 'RTCM 3'); as mensagens têm número (1005, 1074, 1230...).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SBAS — Satellite-Based Augmentation System: correção de área ampla difundida por satélite geoestacionário (WAAS, EGNOS).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ppm — Partes por milhão: no RTK, 1 ppm é 1 mm de erro por km de baseline.</a:t>
            </a:r>
          </a:p>
          <a:p>
            <a:r>
              <a:t>PPP — Precise Point Positioning: correção por órbitas e relógios precisos, sem base; converge em minutos.</a:t>
            </a:r>
          </a:p>
          <a:p>
            <a:r>
              <a:t>PPP-RTK — PPP com correções de estado (SSR) que incluem atmosfera; converge em dezenas de segundos.</a:t>
            </a:r>
          </a:p>
          <a:p>
            <a:r>
              <a:t>GPS — Global Positioning System: a constelação americana; o nRF9151 recebe só o sinal L1 C/A dela.</a:t>
            </a:r>
          </a:p>
          <a:p>
            <a:r>
              <a:t>RTCM — O formato binário das correções (RTCM 10403, 'RTCM 3'); as mensagens têm número (1005, 1074, 1230...).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2 · BLOCO 08 · CORREÇÕES DE GNSS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Por que existem tantas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técnicas de correção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Bandas e constelações, as fontes de erro e o que cada técnica remove, SBAS, RTK, PPP e PPP-RTK organizados pelo que cada um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exige de infraestrutura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, e a estação pública de Manaus como estudo de caso.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765706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L1 · L2 · L5 · L6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61818" y="4709160"/>
            <a:ext cx="1085392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OSR × SSR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0090" y="4709160"/>
            <a:ext cx="1340510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RTCM · NTRIP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53480" y="4709160"/>
            <a:ext cx="1935784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anomalia equatorial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Bandas e constelações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nRF9151 recebe dois sinais numa frequência; o ZED-X20P, quatro constelações em quatro bandas. A segunda frequência acrescenta um observável por satélite, não só mais satélites.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BANDAS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Bandas, constelações e o que cada receptor recebe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Um bloco por sinal, empilhados por frequência, cor por constelação. O nRF9151 recebe dois sinais na mesma frequência; o ZED-X20P, no plano SP2 de fábrica, quatro constelações em quatro bandas.</a:t>
            </a:r>
          </a:p>
        </p:txBody>
      </p:sp>
      <p:pic>
        <p:nvPicPr>
          <p:cNvPr id="9" name="Picture 8" descr="gnss_banda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958" y="1810512"/>
            <a:ext cx="9427779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Frequências centrais pelos ICDs de cada sistema; plano SP2 e chaves CFG-SIGNAL da Interface description do ZED-X20P (HPG 2.10). QZSS não é visível no Brasil.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BANDAS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a segunda frequência muda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segunda frequência acrescenta um observável por satélite. É isso, e não só o número de satélites, que separa as duas classes de receptor.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199"/>
                <a:gridCol w="3840479"/>
                <a:gridCol w="418155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Efeito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Uma frequência (nRF9151)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Duas ou mais (ZED-X20P)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Atraso ionosférico (∝ 1/f²)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modelado (Klobuchar, NeQuick): erro de metros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medido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pela combinação livre de ionosfera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Ambiguidade de fase (RTK)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 resolve; sem RTK, por hardware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wide-lane entre bandas: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fixo em segundos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Satélites e geometria (bancada)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13 com órbita, 8 na solução, HDOP 1,0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36 com órbita, 23 na solução, HDOP 0,6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Multicaminho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L1 C/A: chip de 1,023 MHz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L5/E5a: chip de 10,23 MHz, correlação mais estreita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Cintilação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quebra a fase da portadora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quebra a fase da portadora: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depende do número de bandas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Mesmo céu, mesmos minutos, mesma antena: nRF9151 CEP50 5,57 m (2,8× a especificação); ZED-X20P 1,13 m (dentro da especificação).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BANDAS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Ionosfera: uma frequência, duas, e cintilação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Três painéis com a mesma geometria; só o que atravessa a ionosfera muda. O terceiro é outro mecanismo (fase da portadora, não atraso de grupo) e por isso não é resolvido pela segunda banda.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436010" cy="43799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1 · nRF9151: uma frequência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11197" y="2432304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11197" y="2432304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satélite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" y="3118104"/>
            <a:ext cx="2978810" cy="502920"/>
          </a:xfrm>
          <a:prstGeom prst="roundRect">
            <a:avLst>
              <a:gd name="adj" fmla="val 30000"/>
            </a:avLst>
          </a:prstGeom>
          <a:solidFill>
            <a:srgbClr val="E8A33D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118104"/>
            <a:ext cx="297881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5A10"/>
                </a:solidFill>
                <a:latin typeface="Segoe UI"/>
              </a:rPr>
              <a:t>ionosfera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8317" y="4032504"/>
            <a:ext cx="1005840" cy="310896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8317" y="4032504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receptor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31237" y="2706624"/>
            <a:ext cx="0" cy="132588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86101" y="27614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93D0"/>
                </a:solidFill>
                <a:latin typeface="Segoe UI"/>
              </a:rPr>
              <a:t>L1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489704"/>
            <a:ext cx="3070250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Um observável só. O atraso ionosférico (∝ 1/f²)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não se separa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dos outros termos: faltam equações. Sobra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modelar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(Klobuchar, NeQuick), e o modelo erra mais onde a ionosfera é mais irregular.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7842" y="1883664"/>
            <a:ext cx="3436010" cy="43799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0722" y="1993392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2 · ZED-X20P: duas ou mais frequências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75807" y="2432304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5807" y="2432304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satélite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06442" y="3118104"/>
            <a:ext cx="2978810" cy="502920"/>
          </a:xfrm>
          <a:prstGeom prst="roundRect">
            <a:avLst>
              <a:gd name="adj" fmla="val 30000"/>
            </a:avLst>
          </a:prstGeom>
          <a:solidFill>
            <a:srgbClr val="E8A33D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6442" y="3118104"/>
            <a:ext cx="297881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5A10"/>
                </a:solidFill>
                <a:latin typeface="Segoe UI"/>
              </a:rPr>
              <a:t>ionosfera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92927" y="4032504"/>
            <a:ext cx="1005840" cy="310896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92927" y="4032504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receptor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75807" y="2706624"/>
            <a:ext cx="0" cy="132588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30671" y="27614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93D0"/>
                </a:solidFill>
                <a:latin typeface="Segoe UI"/>
              </a:rPr>
              <a:t>L1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15887" y="2706624"/>
            <a:ext cx="0" cy="1325880"/>
          </a:xfrm>
          <a:prstGeom prst="line">
            <a:avLst/>
          </a:prstGeom>
          <a:ln w="25400">
            <a:solidFill>
              <a:srgbClr val="1FA9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70751" y="27614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FA971"/>
                </a:solidFill>
                <a:latin typeface="Segoe UI"/>
              </a:rPr>
              <a:t>L5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0722" y="4489704"/>
            <a:ext cx="3070250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Dois observáveis do mesmo satélite. Como o atraso depende de 1/f², a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combinação livre de ionosfera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o cancela em primeira ordem: o atraso é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medido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, não modelado. É o que a multibanda compra.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2452" y="1883664"/>
            <a:ext cx="3436010" cy="43799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5332" y="1993392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3 · Cintilação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40417" y="2432304"/>
            <a:ext cx="640080" cy="27432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40417" y="2432304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satélite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1052" y="3170546"/>
            <a:ext cx="303546" cy="398035"/>
          </a:xfrm>
          <a:prstGeom prst="roundRect">
            <a:avLst>
              <a:gd name="adj" fmla="val 30000"/>
            </a:avLst>
          </a:prstGeom>
          <a:solidFill>
            <a:srgbClr val="E8A33D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02031" y="3096518"/>
            <a:ext cx="303546" cy="546091"/>
          </a:xfrm>
          <a:prstGeom prst="roundRect">
            <a:avLst>
              <a:gd name="adj" fmla="val 30000"/>
            </a:avLst>
          </a:prstGeom>
          <a:solidFill>
            <a:srgbClr val="E8A33D">
              <a:alpha val="3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933010" y="3122556"/>
            <a:ext cx="303546" cy="494015"/>
          </a:xfrm>
          <a:prstGeom prst="roundRect">
            <a:avLst>
              <a:gd name="adj" fmla="val 30000"/>
            </a:avLst>
          </a:prstGeom>
          <a:solidFill>
            <a:srgbClr val="E8A33D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263989" y="3230708"/>
            <a:ext cx="303546" cy="277711"/>
          </a:xfrm>
          <a:prstGeom prst="roundRect">
            <a:avLst>
              <a:gd name="adj" fmla="val 30000"/>
            </a:avLst>
          </a:prstGeom>
          <a:solidFill>
            <a:srgbClr val="E8A3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94968" y="3235348"/>
            <a:ext cx="303546" cy="268431"/>
          </a:xfrm>
          <a:prstGeom prst="roundRect">
            <a:avLst>
              <a:gd name="adj" fmla="val 30000"/>
            </a:avLst>
          </a:prstGeom>
          <a:solidFill>
            <a:srgbClr val="E8A33D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925947" y="3228025"/>
            <a:ext cx="303546" cy="283078"/>
          </a:xfrm>
          <a:prstGeom prst="roundRect">
            <a:avLst>
              <a:gd name="adj" fmla="val 30000"/>
            </a:avLst>
          </a:prstGeom>
          <a:solidFill>
            <a:srgbClr val="E8A33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256926" y="3147759"/>
            <a:ext cx="303546" cy="443609"/>
          </a:xfrm>
          <a:prstGeom prst="roundRect">
            <a:avLst>
              <a:gd name="adj" fmla="val 30000"/>
            </a:avLst>
          </a:prstGeom>
          <a:solidFill>
            <a:srgbClr val="E8A33D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587905" y="3215816"/>
            <a:ext cx="303546" cy="307496"/>
          </a:xfrm>
          <a:prstGeom prst="roundRect">
            <a:avLst>
              <a:gd name="adj" fmla="val 30000"/>
            </a:avLst>
          </a:prstGeom>
          <a:solidFill>
            <a:srgbClr val="E8A33D">
              <a:alpha val="4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918884" y="3101837"/>
            <a:ext cx="303546" cy="535453"/>
          </a:xfrm>
          <a:prstGeom prst="roundRect">
            <a:avLst>
              <a:gd name="adj" fmla="val 30000"/>
            </a:avLst>
          </a:prstGeom>
          <a:solidFill>
            <a:srgbClr val="E8A33D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1052" y="3118104"/>
            <a:ext cx="297881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5A10"/>
                </a:solidFill>
                <a:latin typeface="Segoe UI"/>
              </a:rPr>
              <a:t>ionosfera irregular (cintilação)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57537" y="4032504"/>
            <a:ext cx="1005840" cy="310896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57537" y="4032504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receptor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440417" y="2706624"/>
            <a:ext cx="0" cy="502920"/>
          </a:xfrm>
          <a:prstGeom prst="line">
            <a:avLst/>
          </a:prstGeom>
          <a:ln w="25400">
            <a:solidFill>
              <a:srgbClr val="009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550145" y="3529584"/>
            <a:ext cx="0" cy="50292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028937" y="32278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94F4F"/>
                </a:solidFill>
                <a:latin typeface="Segoe UI"/>
              </a:rPr>
              <a:t>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95281" y="27614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93D0"/>
                </a:solidFill>
                <a:latin typeface="Segoe UI"/>
              </a:rPr>
              <a:t>L1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080497" y="2706624"/>
            <a:ext cx="0" cy="502920"/>
          </a:xfrm>
          <a:prstGeom prst="line">
            <a:avLst/>
          </a:prstGeom>
          <a:ln w="25400">
            <a:solidFill>
              <a:srgbClr val="1FA9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190225" y="3529584"/>
            <a:ext cx="0" cy="502920"/>
          </a:xfrm>
          <a:prstGeom prst="line">
            <a:avLst/>
          </a:prstGeom>
          <a:ln w="25400">
            <a:solidFill>
              <a:srgbClr val="1FA9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669017" y="32278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94F4F"/>
                </a:solidFill>
                <a:latin typeface="Segoe UI"/>
              </a:rPr>
              <a:t>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35361" y="27614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FA971"/>
                </a:solidFill>
                <a:latin typeface="Segoe UI"/>
              </a:rPr>
              <a:t>L5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5332" y="4489704"/>
            <a:ext cx="3070250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Mecanismo diferente: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não é atraso de grupo, é a fase da portadora quebrando por irregularidades rápidas na ionosfera, após o pôr do sol, em baixas latitudes e regiões aurorais. Quebra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independente de quantas bandas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— o RTK perde o fixo.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Fontes de erro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Seis termos no orçamento de erro, quatro técnicas. Cada célula tem dois estados e nenhum tamanho: é o mecanismo, não uma escala.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FONTES DE ERRO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SBAS: correção de área ampla por satélite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o que 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satélites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geoestacionários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transmitem, em L1, um sinal com formato de GPS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conteúdo: correção de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órbita e relógio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por satélite,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atraso ionosférico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numa grade de pontos, e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integridade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as correções vêm de uma rede de estações em terra: valem na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área de serviço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dessa rede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sistemas: WAAS (América do Norte, 2003), EGNOS (Europa, 2011), MSAS (Japão), GAGAN (Índia), KASS (Coreia), BDSBAS, SDCM, SouthPAN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no NMEA, o fix aparece como qualidade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2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(DGNSS)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no Brasil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não há SBAS operacional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sobre a América do Sul; a iniciativa regional (SACCSA) ficou em estudo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GEO de outros sistemas estão acima do horizonte: o receptor decodifica e pode aplicar correções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fora da área de serviço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fora da área, a grade ionosférica não cobre o local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medido: o ZED-X20P entrou em SBAS sozinho (qualidade 2) e a dispersão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piorou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0,34 m contra 0,14 m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regra do módulo: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CFG-SIGNAL-SBAS_ENA = 0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em comparativos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SBAS é útil dentro da área de serviço e para integridade (aviação). No Brasil, para este módulo, é uma variável a congelar.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FONTES DE ERRO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Áreas de serviço dos SBAS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Áreas indicativas em setembro de 2022. Nenhuma cobre a América do Sul.</a:t>
            </a:r>
          </a:p>
        </p:txBody>
      </p:sp>
      <p:pic>
        <p:nvPicPr>
          <p:cNvPr id="9" name="Picture 8" descr="esa_euspa_sbas_areas_2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327" y="1810512"/>
            <a:ext cx="635904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EUSPA / ESA, 'SBAS coverage' (2023). ESA Standard Licence, uso educacional com crédito.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FONTES DE ERRO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orçamento de erro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9504" y="1554480"/>
            <a:ext cx="2092375" cy="457200"/>
          </a:xfrm>
          <a:prstGeom prst="roundRect">
            <a:avLst>
              <a:gd name="adj" fmla="val 15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9504" y="1554480"/>
            <a:ext cx="20923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Autônomo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55031" y="1554480"/>
            <a:ext cx="2092375" cy="457200"/>
          </a:xfrm>
          <a:prstGeom prst="roundRect">
            <a:avLst>
              <a:gd name="adj" fmla="val 15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5031" y="1554480"/>
            <a:ext cx="20923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SBAS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0559" y="1554480"/>
            <a:ext cx="2092375" cy="457200"/>
          </a:xfrm>
          <a:prstGeom prst="roundRect">
            <a:avLst>
              <a:gd name="adj" fmla="val 15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0559" y="1554480"/>
            <a:ext cx="20923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RTK (base própria)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86087" y="1554480"/>
            <a:ext cx="2092375" cy="457200"/>
          </a:xfrm>
          <a:prstGeom prst="roundRect">
            <a:avLst>
              <a:gd name="adj" fmla="val 15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6087" y="1554480"/>
            <a:ext cx="20923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PPP-RTK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084832"/>
            <a:ext cx="1965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Relógio do satélite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9504" y="208483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4368" y="208483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resta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55031" y="208483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9895" y="208483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removida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0559" y="208483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5423" y="208483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removida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86087" y="208483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0951" y="208483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removida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2633472"/>
            <a:ext cx="1965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Órbita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9504" y="263347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44368" y="263347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resta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55031" y="263347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9895" y="263347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removida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0559" y="263347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5423" y="263347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removida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86087" y="263347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40951" y="263347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removida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182112"/>
            <a:ext cx="1965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Ionosfera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89504" y="318211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44368" y="318211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resta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55031" y="318211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09895" y="318211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removida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20559" y="318211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75423" y="318211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removida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86087" y="318211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40951" y="318211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removida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3730752"/>
            <a:ext cx="1965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Troposfera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89504" y="373075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44368" y="373075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resta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55031" y="373075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09895" y="373075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resta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20559" y="373075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5423" y="373075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removida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86087" y="373075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40951" y="373075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removida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4279392"/>
            <a:ext cx="1965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Multicaminho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889504" y="427939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44368" y="427939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resta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55031" y="427939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09895" y="427939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resta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20559" y="427939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75423" y="427939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resta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386087" y="427939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40951" y="427939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resta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4828032"/>
            <a:ext cx="1965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Ruído do receptor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889504" y="482803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44368" y="482803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resta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55031" y="482803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09895" y="482803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resta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220559" y="482803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75423" y="482803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resta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386087" y="4828032"/>
            <a:ext cx="2092375" cy="475488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40951" y="4828032"/>
            <a:ext cx="198264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resta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" y="5449824"/>
            <a:ext cx="50800" cy="548640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6112" y="5449824"/>
            <a:ext cx="1049091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B2B"/>
                </a:solidFill>
                <a:latin typeface="Segoe UI"/>
              </a:rPr>
              <a:t>O SBAS não corrige troposfera.</a:t>
            </a:r>
            <a:r>
              <a:rPr sz="1050" b="0" i="0">
                <a:solidFill>
                  <a:srgbClr val="0B1B2B"/>
                </a:solidFill>
                <a:latin typeface="Segoe UI"/>
              </a:rPr>
              <a:t> 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Multicaminho e ruído sobrevivem a todas</a:t>
            </a:r>
            <a:r>
              <a:rPr sz="1050" b="0" i="0">
                <a:solidFill>
                  <a:srgbClr val="0B1B2B"/>
                </a:solidFill>
                <a:latin typeface="Segoe UI"/>
              </a:rPr>
              <a:t> — são locais da antena e do receptor, e é o que domina num cânion urbano.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1B2B"/>
                </a:solidFill>
                <a:latin typeface="Segoe UI"/>
              </a:rPr>
              <a:t>RTK e PPP-RTK terminam no mesmo piso de propósito: o que os separa é geografia (OSR × SSR) e convergência, não o orçamento de erro.  Esquemático: célula não tem tamanho.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FONTES DE ERRO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As técnicas e o que cada uma exige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Coluna 'horizontal': datasheet do ZED-X20P-01B,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estático de 24 h, RTK com baseline de 1 km, valores observados e não garantidos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Os 2,0 m do nRF9151 são CEP50 — grandeza diferente do CEP da u-blox.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6" cy="390448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79"/>
                <a:gridCol w="3108959"/>
                <a:gridCol w="1828799"/>
                <a:gridCol w="1554479"/>
                <a:gridCol w="1463039"/>
                <a:gridCol w="12554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Técnica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chega ao rover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 onde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Alcance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Horizontal (X20P)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Converge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Autônomo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global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1,2 m CEP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SBAS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correção de área ampla: órbita, relógio, ionosfera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satélite GEO (WAAS, EGNOS)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continental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0,6 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DGNSS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correção de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código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de uma base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base ou caster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dezenas de km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decimétrico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segundos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RTK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observações brutas de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fase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da base (MSM + 1005)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base própria ou caster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entorno da base (1 ppm)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0,006 m + 1 ppm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&lt; 7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PPP (Galileo HAS)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órbita e relógio precisos, em E6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satélite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global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&lt; 0,20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minutos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PPP-RTK (SPARTN)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estado modelado, com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atmosfera regional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serviço, por IP ou L-band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região modelada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&lt; 0,06 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&lt; 40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PPP-RTK (CLAS)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mesmo, difundido pelo QZSS em L6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satélite regional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o Japão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&lt; 0,04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&lt; 70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79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79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A pergunta que organiza a taxonomia: quanto de infraestrutura cada linha exige, e a que distância ela ainda vale. Nenhuma remove multicaminho nem ruído.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RTK por dentro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Base e rover, o que a base manda, por que precisa estar perto, e o caminho de estados até o fixo — a espinha de todo diagnóstico da demo.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RTK POR DENTRO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OSR contra SSR: a geometria da validade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Esquemático, sem escala: a diferença de alcance está no tamanho das duas regiões de validade. É a razão de RTK exigir base próxima e PPP-RTK não.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22595" cy="428853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883664"/>
            <a:ext cx="522259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56816"/>
            <a:ext cx="52225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OSR — observações brutas (RTK)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" y="2615184"/>
            <a:ext cx="2011680" cy="114300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2724912"/>
            <a:ext cx="16824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F1F8"/>
                </a:solidFill>
                <a:latin typeface="Segoe UI"/>
              </a:rPr>
              <a:t>base RTK, fixa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3054096"/>
            <a:ext cx="16824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3A6B8"/>
                </a:solidFill>
                <a:latin typeface="Segoe UI"/>
              </a:rPr>
              <a:t>envia pseudodistância e fase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F1F8"/>
                </a:solidFill>
                <a:latin typeface="Segoe UI"/>
              </a:rPr>
              <a:t>por época</a:t>
            </a:r>
            <a:r>
              <a:rPr sz="900" b="0" i="0">
                <a:solidFill>
                  <a:srgbClr val="93A6B8"/>
                </a:solidFill>
                <a:latin typeface="Segoe UI"/>
              </a:rPr>
              <a:t>, de cada satélite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3A6B8"/>
                </a:solidFill>
                <a:latin typeface="Segoe UI"/>
              </a:rPr>
              <a:t>(RTCM MSM + 1005)</a:t>
            </a:r>
          </a:p>
        </p:txBody>
      </p:sp>
      <p:sp>
        <p:nvSpPr>
          <p:cNvPr id="15" name="Oval 14"/>
          <p:cNvSpPr/>
          <p:nvPr/>
        </p:nvSpPr>
        <p:spPr>
          <a:xfrm>
            <a:off x="3517239" y="2752344"/>
            <a:ext cx="2098548" cy="2098548"/>
          </a:xfrm>
          <a:prstGeom prst="ellipse">
            <a:avLst/>
          </a:prstGeom>
          <a:solidFill>
            <a:srgbClr val="0093D0">
              <a:alpha val="18000"/>
            </a:srgbClr>
          </a:solidFill>
          <a:ln w="19050">
            <a:solidFill>
              <a:srgbClr val="009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044952" y="3163824"/>
            <a:ext cx="609447" cy="630021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53512" y="256946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093D0"/>
                </a:solidFill>
                <a:latin typeface="Segoe UI"/>
              </a:rPr>
              <a:t>observações</a:t>
            </a:r>
          </a:p>
        </p:txBody>
      </p:sp>
      <p:sp>
        <p:nvSpPr>
          <p:cNvPr id="18" name="Oval 17"/>
          <p:cNvSpPr/>
          <p:nvPr/>
        </p:nvSpPr>
        <p:spPr>
          <a:xfrm>
            <a:off x="4020159" y="3255264"/>
            <a:ext cx="201168" cy="201168"/>
          </a:xfrm>
          <a:prstGeom prst="ellips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60239" y="3483864"/>
            <a:ext cx="201168" cy="201168"/>
          </a:xfrm>
          <a:prstGeom prst="ellips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03039" y="4078224"/>
            <a:ext cx="201168" cy="201168"/>
          </a:xfrm>
          <a:prstGeom prst="ellips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88839" y="4123944"/>
            <a:ext cx="201168" cy="201168"/>
          </a:xfrm>
          <a:prstGeom prst="ellips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61507" y="4530852"/>
            <a:ext cx="201168" cy="201168"/>
          </a:xfrm>
          <a:prstGeom prst="ellipse">
            <a:avLst/>
          </a:prstGeom>
          <a:solidFill>
            <a:srgbClr val="C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38547" y="47594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94F4F"/>
                </a:solidFill>
                <a:latin typeface="Segoe UI"/>
              </a:rPr>
              <a:t>fora do entorno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7239" y="4283964"/>
            <a:ext cx="20985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224E"/>
                </a:solidFill>
                <a:latin typeface="Segoe UI"/>
              </a:rPr>
              <a:t>o rover diferencia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224E"/>
                </a:solidFill>
                <a:latin typeface="Segoe UI"/>
              </a:rPr>
              <a:t>contra a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5120640"/>
            <a:ext cx="46739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O erro se cancela porque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base e rover veem a mesma atmosfera e a mesma órbita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. Afastou-se, a correção deixa de valer: é o termo de 1 ppm, e é por isso que RTK exige base perto.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Um fluxo por rover: cada um recebe as observações da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sua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base.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5867" y="1883664"/>
            <a:ext cx="5222595" cy="428853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55867" y="1883664"/>
            <a:ext cx="522259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5867" y="1956816"/>
            <a:ext cx="52225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SSR — estado modelado (PPP-RTK)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0187" y="2569464"/>
            <a:ext cx="868680" cy="310896"/>
          </a:xfrm>
          <a:prstGeom prst="roundRect">
            <a:avLst>
              <a:gd name="adj" fmla="val 2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0187" y="2569464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estação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0187" y="2953512"/>
            <a:ext cx="868680" cy="310896"/>
          </a:xfrm>
          <a:prstGeom prst="roundRect">
            <a:avLst>
              <a:gd name="adj" fmla="val 2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0187" y="2953512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estação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0187" y="3337560"/>
            <a:ext cx="868680" cy="310896"/>
          </a:xfrm>
          <a:prstGeom prst="roundRect">
            <a:avLst>
              <a:gd name="adj" fmla="val 2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0187" y="3337560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estação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18907" y="2660904"/>
            <a:ext cx="1508760" cy="9601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3499" y="2770632"/>
            <a:ext cx="1179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B2B"/>
                </a:solidFill>
                <a:latin typeface="Segoe UI"/>
              </a:rPr>
              <a:t>serviço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3499" y="3099816"/>
            <a:ext cx="1179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modela as </a:t>
            </a:r>
            <a:r>
              <a:rPr sz="900" b="1" i="0">
                <a:solidFill>
                  <a:srgbClr val="0B1B2B"/>
                </a:solidFill>
                <a:latin typeface="Segoe UI"/>
              </a:rPr>
              <a:t>causas</a:t>
            </a:r>
            <a:r>
              <a:rPr sz="900" b="0" i="0">
                <a:solidFill>
                  <a:srgbClr val="566577"/>
                </a:solidFill>
                <a:latin typeface="Segoe UI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órbita, relógio,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vieses, atmosfera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398867" y="2724912"/>
            <a:ext cx="320040" cy="393192"/>
          </a:xfrm>
          <a:prstGeom prst="line">
            <a:avLst/>
          </a:prstGeom>
          <a:ln w="15875">
            <a:solidFill>
              <a:srgbClr val="56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398867" y="3108960"/>
            <a:ext cx="320040" cy="9144"/>
          </a:xfrm>
          <a:prstGeom prst="line">
            <a:avLst/>
          </a:prstGeom>
          <a:ln w="15875">
            <a:solidFill>
              <a:srgbClr val="56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398867" y="3118104"/>
            <a:ext cx="320040" cy="374904"/>
          </a:xfrm>
          <a:prstGeom prst="line">
            <a:avLst/>
          </a:prstGeom>
          <a:ln w="15875">
            <a:solidFill>
              <a:srgbClr val="56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530187" y="3849624"/>
            <a:ext cx="4673955" cy="1097280"/>
          </a:xfrm>
          <a:prstGeom prst="ellipse">
            <a:avLst/>
          </a:prstGeom>
          <a:solidFill>
            <a:srgbClr val="0093D0">
              <a:alpha val="18000"/>
            </a:srgbClr>
          </a:solidFill>
          <a:ln w="19050">
            <a:solidFill>
              <a:srgbClr val="009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8450427" y="3621024"/>
            <a:ext cx="0" cy="27432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633307" y="3621024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093D0"/>
                </a:solidFill>
                <a:latin typeface="Segoe UI"/>
              </a:rPr>
              <a:t>um modelo, difundido</a:t>
            </a:r>
          </a:p>
        </p:txBody>
      </p:sp>
      <p:sp>
        <p:nvSpPr>
          <p:cNvPr id="44" name="Oval 43"/>
          <p:cNvSpPr/>
          <p:nvPr/>
        </p:nvSpPr>
        <p:spPr>
          <a:xfrm>
            <a:off x="6895947" y="4123944"/>
            <a:ext cx="201168" cy="201168"/>
          </a:xfrm>
          <a:prstGeom prst="ellips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536027" y="4416552"/>
            <a:ext cx="201168" cy="201168"/>
          </a:xfrm>
          <a:prstGeom prst="ellips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267547" y="4416552"/>
            <a:ext cx="201168" cy="201168"/>
          </a:xfrm>
          <a:prstGeom prst="ellips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907627" y="4123944"/>
            <a:ext cx="201168" cy="201168"/>
          </a:xfrm>
          <a:prstGeom prst="ellips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39147" y="4123944"/>
            <a:ext cx="201168" cy="201168"/>
          </a:xfrm>
          <a:prstGeom prst="ellips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79226" y="4416552"/>
            <a:ext cx="201168" cy="201168"/>
          </a:xfrm>
          <a:prstGeom prst="ellips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919307" y="4123944"/>
            <a:ext cx="201168" cy="201168"/>
          </a:xfrm>
          <a:prstGeom prst="ellips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636008"/>
            <a:ext cx="46739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0224E"/>
                </a:solidFill>
                <a:latin typeface="Segoe UI"/>
              </a:rPr>
              <a:t>muitos rovers, o mesmo modelo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5257800"/>
            <a:ext cx="46739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O rover aplica o modelo à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própria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posição. O alcance é o da região modelada, não o entorno de uma base — por isso PPP-RTK não exige base perto.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O preço: converge em dezenas de segundos, não em segundos (datasheet: &lt; 40 s SPARTN contra &lt; 7 s RTK).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RTK POR DENTRO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baseline e o termo de 1 ppm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1 mm por km: 10 km são 1 cm antes de qualquer outra coisa. A baseline curta cancela porque as duas antenas veem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 mesma atmosfera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A estação a 16,4 km levou 197 s para fixar; a base a 1,42 m, 5 e 19 s.</a:t>
            </a:r>
          </a:p>
        </p:txBody>
      </p:sp>
      <p:pic>
        <p:nvPicPr>
          <p:cNvPr id="9" name="Picture 8" descr="gnss_baseline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33" y="1810512"/>
            <a:ext cx="1041162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RTK POR DENTRO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sequência de estados do rover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Saber em qual dos quatro estados o rover parou já diz qual das cinco falhas da demo está acontecendo.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Flutuante não mede posição comparável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ao fixar, a solução saltou ~1 m na bancada; duas janelas em float não se comparam nem entre si, porque o viés muda.</a:t>
            </a:r>
          </a:p>
        </p:txBody>
      </p:sp>
      <p:sp>
        <p:nvSpPr>
          <p:cNvPr id="9" name="Pentagon 8"/>
          <p:cNvSpPr/>
          <p:nvPr/>
        </p:nvSpPr>
        <p:spPr>
          <a:xfrm>
            <a:off x="713232" y="3387852"/>
            <a:ext cx="3116503" cy="1417320"/>
          </a:xfrm>
          <a:prstGeom prst="homePlat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3262807" y="3387852"/>
            <a:ext cx="3116503" cy="1417320"/>
          </a:xfrm>
          <a:prstGeom prst="chevron">
            <a:avLst/>
          </a:prstGeom>
          <a:solidFill>
            <a:srgbClr val="004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5812383" y="3387852"/>
            <a:ext cx="3116503" cy="1417320"/>
          </a:xfrm>
          <a:prstGeom prst="chevron">
            <a:avLst/>
          </a:prstGeom>
          <a:solidFill>
            <a:srgbClr val="00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8361959" y="3387852"/>
            <a:ext cx="3116503" cy="1417320"/>
          </a:xfrm>
          <a:prstGeom prst="chevron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43884"/>
            <a:ext cx="2503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09644"/>
            <a:ext cx="2503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posição autônoma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GGA qualidade </a:t>
            </a:r>
            <a:r>
              <a:rPr sz="1100" b="1" i="0">
                <a:solidFill>
                  <a:srgbClr val="FFFFFF"/>
                </a:solidFill>
                <a:latin typeface="Segoe UI"/>
              </a:rPr>
              <a:t>1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carrSoln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9463" y="3643884"/>
            <a:ext cx="21198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3D/DGNSS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9463" y="4009644"/>
            <a:ext cx="2119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correção de código aplicada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GGA qualidade </a:t>
            </a:r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carrSoln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 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039" y="3643884"/>
            <a:ext cx="21198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Float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039" y="4009644"/>
            <a:ext cx="2119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fase em uso, ambiguidades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ainda reais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GGA qualidade </a:t>
            </a:r>
            <a:r>
              <a:rPr sz="1100" b="1" i="0">
                <a:solidFill>
                  <a:srgbClr val="FFFFFF"/>
                </a:solidFill>
                <a:latin typeface="Segoe UI"/>
              </a:rPr>
              <a:t>5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 ·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carrSoln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8615" y="3643884"/>
            <a:ext cx="21198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Fixed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8615" y="4009644"/>
            <a:ext cx="2119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ambiguidades em inteiros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centimétrico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GGA qualidade </a:t>
            </a:r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 ·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carrSoln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 =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RTK POR DENTRO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a base manda: as sete mensagens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Sete mensagens,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MSM4 e não MSM7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não misturar os dois tipos, e todas as observações no mesmo rate. Validado contra o caster da Nordian: o fluxo recebido trazia exatamente 1005, 1032, 1033, 1074, 1084, 1094, 1124 e 1230, a 1109 B/s.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90448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19"/>
                <a:gridCol w="3840479"/>
                <a:gridCol w="52788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Mensagem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carrega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Sem ela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1005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/ 1006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posição da antena da base (1006 com altura)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rover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computa posição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— falha 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1074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observáveis GPS (MSM4)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1084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observáveis GLONASS (MSM4)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1094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observáveis Galileo (MSM4)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1124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observáveis BeiDou (MSM4)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1230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ou 1033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viés de código GLONASS (ou descrição da antena)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ambiguidades GLONASS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ficam em float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mesmo em fixo — falha C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4072.0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proprietária u-blox (referência móvel)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 é necessária para base fixa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79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79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A 1005 só começa a sair depois que o Survey-In conclui: base recém-ligada em Survey-In não emite posição, e o rover fica em float sem explicação aparente. Com HPG 2.02 a base só emite 1005 — e basta.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RTK POR DENTRO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NTRIP: como a correção chega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Com NTRIP não existe captura por script: o u-center 2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é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o cliente e injeta o RTCM pela mesma porta serial, então ele tem de ser o dono da porta do começo ao fim. Analisa-se depois, no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.uc2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base ou estação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observa e gera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RTCM3 por época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(base própria, IBGE,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Nordian)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0501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0269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7429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caster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7429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servidor HTTP na porta 2101;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cada fonte é um mountpoint;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a lista é o sourcetable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17539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7307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4467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cliente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HTTP Basic + mountpoint;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manda </a:t>
            </a:r>
            <a:r>
              <a:rPr sz="1100" b="1" i="0">
                <a:solidFill>
                  <a:srgbClr val="566577"/>
                </a:solidFill>
                <a:latin typeface="Segoe UI"/>
              </a:rPr>
              <a:t>GGA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se o serviço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escolhe a estação pela posição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34577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64345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1505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receptor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1505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recebe o RTCM pela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mesma porta serial;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Consolas"/>
              </a:rPr>
              <a:t>UBX-RXM-COR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diz o que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chegou e o que serviu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0421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RTCM3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7459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internet ou rede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4497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RTCM3 na serial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No curso o caster é o próprio u-center 2 na máquina da base, em rede local, sem internet. O rover se conecta ao IP que o rodapé do u-center mostra.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RTK POR DENTRO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Base própria e caster de terceiro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base própria, rede local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baseline de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metros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o termo de 1 ppm some, e as duas antenas veem a mesma atmosfera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quatro constelações nas observações (GPS, GLONASS, Galileo, BeiDou), MSM4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sem internet, sem cadastro; o Survey-In é feito uma vez e gravado como FIXED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exatidão absoluta = a do Survey-In (9,6 m sob céu obstruído);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o vetor base→rover continua centimétrico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medido: fixo em 5 e 19 s em céu aberto, 1 cm de CEP50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caster de terceiro (IBGE, Nordian)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baseline de km: POAL0 a 10 km da bancada (1 cm de ppm); a Nordian escolheu uma estação a 16,4 km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as constelações são as da estação: a AMUA0 de Manaus é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GPS + GLONASS apenas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RTCM legado (1004, 1012, 1006, 1033)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exige internet na sala e credencial; a do IBGE de 2023 já não valia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um mountpoint chamado VRS pode não sintetizar estação: sem GGA não manda nada, com GGA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escolhe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a estação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medido: 197 s até fixar, 2 cm de CEP50; dois blocos de três não fixaram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No módulo, a base própria é o caminho garantido; o caster público é bônus. A comparação é de geometria e propagação.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Manaus, estudo de caso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Há uma estação pública de referência a ~1 km do local do curso. O que ela entrega, e o que a demo compara com ela.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04 · MANAUS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estação pública e o que ela entrega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Como base, o X20P só emite MSM; como rover, ainda decodifica o formato legado. É essa assimetria que torna a AMUA0 utilizável na demo.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19"/>
                <a:gridCol w="4754879"/>
                <a:gridCol w="43644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Item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Fato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Consequência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Estação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AMUA0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na UEA (Av. Darcy Vargas 1200), no caster do IBGE (RBMC-IP, cadastro gratuito)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baseline de ~1 km até o curso: ~1 mm pelo termo de 1 ppm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Constelações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GPS e GLONASS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apenas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menos satélites para fixar ambiguidade que a base própria (quatro constelações)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Formato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RTCM 3.0 legado: 1004 e 1012 a 1 Hz, 1006, 1033 a cada 10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X20P decodifica como rover; a 1033 supre o viés de GLONASS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Mensagens extras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1008, 1013, 1019, 1020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ignoradas; aparecem 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UBX-RXM-COR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como sem suporte de entrada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Dependências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cadastro no IBGE e internet na sala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bônus, não lab: a base própria roda sem rede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A baseline não é o fator limitante aqui: a estação é local. O bônus compara, no mesmo rover e na mesma hora, duas constelações (AMUA0) contra quatro (base própria).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04 · MANAUS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Cada afirmação e sua fonte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bônus da demo: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duas soluções RTK no mesmo rover, no mesmo ponto, na mesma hora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base própria (metros, 4 constelações) e AMUA0 (~1 km, 2). Baselines curtas: sobra o número de constelações, isolado.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754879"/>
                <a:gridCol w="1645919"/>
                <a:gridCol w="43644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Afirmação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Força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Como se sabe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AMUA0 existe, é de tempo real e fica dentro da cidade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observação direta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sourcetable do caster do IBGE, 2026-09-08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AMUA0 é GPS + GLONASS, com observáveis legados de L1 e L2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observação direta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linha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STR;AMUA0;...;1004(1),1006(1),...;GPS+GLO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X20P decodifica o legado como rover e não o produz como base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observação direta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tabelas 6 e 7 do datasheet -01B; Interface Description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estação NAUS é de pós-processamento e seus arquivos sumiram desde 2026-08-23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observação direta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diretório do IBGE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X20P como rover decodifica o RTCM legado da AMUA0 (1004, 1012)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observação direta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tabela de entrada do datasheet -01B, 26 mensagens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A base própria continua o caminho garantido; a AMUA0 entra se o cadastro e a internet existirem no dia.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Resumo do bloco 08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 segunda frequência é um observável a mais: ionosfera </a:t>
            </a:r>
            <a:r>
              <a:rPr sz="1500" b="1">
                <a:solidFill>
                  <a:srgbClr val="E8F1F8"/>
                </a:solidFill>
                <a:latin typeface="Segoe UI"/>
              </a:rPr>
              <a:t>medida</a:t>
            </a:r>
            <a:r>
              <a:rPr sz="1500" b="0">
                <a:solidFill>
                  <a:srgbClr val="93A6B8"/>
                </a:solidFill>
                <a:latin typeface="Segoe UI"/>
              </a:rPr>
              <a:t>, não modelada, e ambiguidade fixa em segundos.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Nenhuma técnica remove multicaminho nem ruído. SBAS não corrige troposfera.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RTK vale no entorno da base (1 ppm); PPP-RTK vale onde o modelo vale — e converge em dezenas de segundos.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Manaus: estação pública a ~1 km, mas só GPS+GLO em RTCM legado; a base própria fixa com quatro constelações.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1/f²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o atraso ionosférico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depende da frequência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1 mm/km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o termo de 1 ppm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da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&lt; 7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convergência RTK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(datasheet, 1 km)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1005 + 1230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as duas mensagens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que decidem se fixa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A escolha da correção depende da distância à referência e da infraestrutura disponível no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