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61527"/>
              </a:gs>
              <a:gs pos="100000">
                <a:srgbClr val="10314F"/>
              </a:gs>
            </a:gsLst>
            <a:lin scaled="0" ang="19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1371600"/>
            <a:ext cx="1076523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140">
                <a:solidFill>
                  <a:srgbClr val="22C3E6"/>
                </a:solidFill>
                <a:latin typeface="Segoe UI"/>
              </a:rPr>
              <a:t>MÓDULO 1 · BLOCO 02 · A PLATAFORMA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783080"/>
            <a:ext cx="9692640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E8F1F8"/>
                </a:solidFill>
                <a:latin typeface="Segoe UI"/>
              </a:rPr>
              <a:t>nRF54L15-TAG</a:t>
            </a:r>
          </a:p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E8F1F8"/>
                </a:solidFill>
                <a:latin typeface="Segoe UI"/>
              </a:rPr>
              <a:t>O hardware dos labs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3703320"/>
            <a:ext cx="89611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93A6B8"/>
                </a:solidFill>
                <a:latin typeface="Segoe UI"/>
              </a:rPr>
              <a:t>Antes do primeiro lab, um tour pela placa: o que ela carrega, como se alimenta, como se programa — e </a:t>
            </a:r>
            <a:r>
              <a:rPr sz="1600" b="1" i="0">
                <a:solidFill>
                  <a:srgbClr val="E8F1F8"/>
                </a:solidFill>
                <a:latin typeface="Segoe UI"/>
              </a:rPr>
              <a:t>por onde sai o console</a:t>
            </a:r>
            <a:r>
              <a:rPr sz="1600" b="0" i="0">
                <a:solidFill>
                  <a:srgbClr val="93A6B8"/>
                </a:solidFill>
                <a:latin typeface="Segoe UI"/>
              </a:rPr>
              <a:t>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4709160"/>
            <a:ext cx="1680667" cy="384048"/>
          </a:xfrm>
          <a:prstGeom prst="roundRect">
            <a:avLst>
              <a:gd name="adj" fmla="val 50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>
                <a:solidFill>
                  <a:srgbClr val="E8F1F8"/>
                </a:solidFill>
                <a:latin typeface="Segoe UI"/>
              </a:rPr>
              <a:t>Ø 33 mm · CR2032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76779" y="4709160"/>
            <a:ext cx="2105863" cy="384048"/>
          </a:xfrm>
          <a:prstGeom prst="roundRect">
            <a:avLst>
              <a:gd name="adj" fmla="val 50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>
                <a:solidFill>
                  <a:srgbClr val="E8F1F8"/>
                </a:solidFill>
                <a:latin typeface="Segoe UI"/>
              </a:rPr>
              <a:t>nRF54L15 · Cortex-M33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65522" y="4709160"/>
            <a:ext cx="2446020" cy="384048"/>
          </a:xfrm>
          <a:prstGeom prst="roundRect">
            <a:avLst>
              <a:gd name="adj" fmla="val 50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>
                <a:solidFill>
                  <a:srgbClr val="E8F1F8"/>
                </a:solidFill>
                <a:latin typeface="Segoe UI"/>
              </a:rPr>
              <a:t>IMU + ambiente + acel. LP</a:t>
            </a:r>
          </a:p>
        </p:txBody>
      </p:sp>
      <p:sp>
        <p:nvSpPr>
          <p:cNvPr id="9" name="Oval 8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E8F1F8"/>
                </a:solidFill>
                <a:latin typeface="Segoe UI"/>
              </a:rPr>
              <a:t>M1</a:t>
            </a:r>
            <a:r>
              <a:rPr sz="1000" b="0" i="0">
                <a:solidFill>
                  <a:srgbClr val="93A6B8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3A6B8"/>
                </a:solidFill>
                <a:latin typeface="Segoe UI"/>
              </a:rPr>
              <a:t>01</a:t>
            </a:r>
          </a:p>
        </p:txBody>
      </p:sp>
      <p:pic>
        <p:nvPicPr>
          <p:cNvPr id="12" name="Picture 11" descr="tag_pers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0" y="685800"/>
            <a:ext cx="2834640" cy="180221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A PLATAFORMA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O que é a nRF54L15-TAG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M1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Uma plataforma de prototipagem em formato de tag: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nRF54L15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+ sensores + duas antenas de 2,4 GHz, tudo movido por uma bateria de moeda.</a:t>
            </a:r>
          </a:p>
        </p:txBody>
      </p:sp>
      <p:pic>
        <p:nvPicPr>
          <p:cNvPr id="9" name="Picture 8" descr="tag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975104"/>
            <a:ext cx="3291840" cy="32918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13232" y="5340096"/>
            <a:ext cx="32918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1">
                <a:solidFill>
                  <a:srgbClr val="566577"/>
                </a:solidFill>
                <a:latin typeface="Segoe UI"/>
              </a:rPr>
              <a:t>Ø 33 mm — o tamanho de um tag comercial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62272" y="1938528"/>
            <a:ext cx="7016191" cy="713232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81728" y="2029968"/>
            <a:ext cx="657727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1B2B"/>
                </a:solidFill>
                <a:latin typeface="Segoe UI"/>
              </a:rPr>
              <a:t>Duas antenas + RF switch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81728" y="2304288"/>
            <a:ext cx="657727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diversidade de antena para </a:t>
            </a:r>
            <a:r>
              <a:rPr sz="1100" b="1" i="0">
                <a:solidFill>
                  <a:srgbClr val="0B1B2B"/>
                </a:solidFill>
                <a:latin typeface="Segoe UI"/>
              </a:rPr>
              <a:t>Channel Sounding</a:t>
            </a:r>
            <a:r>
              <a:rPr sz="1100" b="0" i="0">
                <a:solidFill>
                  <a:srgbClr val="566577"/>
                </a:solidFill>
                <a:latin typeface="Segoe UI"/>
              </a:rPr>
              <a:t> — ranging mais robusto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62272" y="2779776"/>
            <a:ext cx="7016191" cy="713232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81728" y="2871216"/>
            <a:ext cx="657727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1B2B"/>
                </a:solidFill>
                <a:latin typeface="Segoe UI"/>
              </a:rPr>
              <a:t>CR2032 como única fonte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81728" y="3145536"/>
            <a:ext cx="657727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o orçamento de energia de um </a:t>
            </a:r>
            <a:r>
              <a:rPr sz="1100" b="1" i="0">
                <a:solidFill>
                  <a:srgbClr val="0B1B2B"/>
                </a:solidFill>
                <a:latin typeface="Segoe UI"/>
              </a:rPr>
              <a:t>produto final</a:t>
            </a:r>
            <a:r>
              <a:rPr sz="1100" b="0" i="0">
                <a:solidFill>
                  <a:srgbClr val="566577"/>
                </a:solidFill>
                <a:latin typeface="Segoe UI"/>
              </a:rPr>
              <a:t>, não o de uma bancada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62272" y="3621024"/>
            <a:ext cx="7016191" cy="713232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81728" y="3712464"/>
            <a:ext cx="657727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1B2B"/>
                </a:solidFill>
                <a:latin typeface="Segoe UI"/>
              </a:rPr>
              <a:t>Find Hub e Find My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81728" y="3986784"/>
            <a:ext cx="657727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compatibilidade plena com os ecossistemas de localização de Google e Apple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62272" y="4462272"/>
            <a:ext cx="7016191" cy="713232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81728" y="4553712"/>
            <a:ext cx="657727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1B2B"/>
                </a:solidFill>
                <a:latin typeface="Segoe UI"/>
              </a:rPr>
              <a:t>Feita para Edge AI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81728" y="4828032"/>
            <a:ext cx="657727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prototipagem e </a:t>
            </a:r>
            <a:r>
              <a:rPr sz="1100" b="1" i="0">
                <a:solidFill>
                  <a:srgbClr val="0B1B2B"/>
                </a:solidFill>
                <a:latin typeface="Segoe UI"/>
              </a:rPr>
              <a:t>coleta de dados de treino</a:t>
            </a:r>
            <a:r>
              <a:rPr sz="1100" b="0" i="0">
                <a:solidFill>
                  <a:srgbClr val="566577"/>
                </a:solidFill>
                <a:latin typeface="Segoe UI"/>
              </a:rPr>
              <a:t> com a IMU — o nosso uso no curso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62272" y="5303520"/>
            <a:ext cx="7016191" cy="713232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81728" y="5394960"/>
            <a:ext cx="657727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1B2B"/>
                </a:solidFill>
                <a:latin typeface="Segoe UI"/>
              </a:rPr>
              <a:t>Sensor ambiental a bordo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81728" y="5669280"/>
            <a:ext cx="657727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temperatura, umidade, pressão e gás — pronta para demos Matter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A PLATAFORMA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Por que ela existe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M1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Quatro decisões de projeto — e cada uma delas aparece nos labs desta semana.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883664"/>
            <a:ext cx="5282031" cy="208026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029968"/>
            <a:ext cx="48431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Bateria de moeda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14016"/>
            <a:ext cx="4843119" cy="14401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Roda com </a:t>
            </a:r>
            <a:r>
              <a:rPr sz="1200" b="1" i="0">
                <a:solidFill>
                  <a:srgbClr val="0B1B2B"/>
                </a:solidFill>
                <a:latin typeface="Segoe UI"/>
              </a:rPr>
              <a:t>uma CR2032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 — sem USB, sem regulador de bancada.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Consumo de produto: o firmware precisa </a:t>
            </a:r>
            <a:r>
              <a:rPr sz="1200" b="1" i="0">
                <a:solidFill>
                  <a:srgbClr val="0B1B2B"/>
                </a:solidFill>
                <a:latin typeface="Segoe UI"/>
              </a:rPr>
              <a:t>respeitar o orçamento de energia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6431" y="1883664"/>
            <a:ext cx="5282031" cy="208026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5887" y="2029968"/>
            <a:ext cx="48431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Formato compacto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5887" y="2414016"/>
            <a:ext cx="4843119" cy="14401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B1B2B"/>
                </a:solidFill>
                <a:latin typeface="Segoe UI"/>
              </a:rPr>
              <a:t>Ø 33 mm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, o mesmo formato de um tracker comercial.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GPIO exposto nos furos da borda para expansão.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" y="4165092"/>
            <a:ext cx="5282031" cy="208026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4311396"/>
            <a:ext cx="48431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Localização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4695444"/>
            <a:ext cx="4843119" cy="14401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B1B2B"/>
                </a:solidFill>
                <a:latin typeface="Segoe UI"/>
              </a:rPr>
              <a:t>Find Hub + Find My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 num produto só — 1,5 MB de NVM comportam os dois.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Duas antenas para </a:t>
            </a:r>
            <a:r>
              <a:rPr sz="1200" b="1" i="0">
                <a:solidFill>
                  <a:srgbClr val="0B1B2B"/>
                </a:solidFill>
                <a:latin typeface="Segoe UI"/>
              </a:rPr>
              <a:t>Precision Finding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 com Channel Sounding.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6431" y="4165092"/>
            <a:ext cx="5282031" cy="208026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15887" y="4311396"/>
            <a:ext cx="48431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Sensores certos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5887" y="4695444"/>
            <a:ext cx="4843119" cy="14401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B1B2B"/>
                </a:solidFill>
                <a:latin typeface="Segoe UI"/>
              </a:rPr>
              <a:t>BMI270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 — IMU 6DoF para gestos e dados de treino.</a:t>
            </a:r>
          </a:p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B1B2B"/>
                </a:solidFill>
                <a:latin typeface="Segoe UI"/>
              </a:rPr>
              <a:t>ADXL367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 — acorda o SoC com movimento.</a:t>
            </a:r>
          </a:p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B1B2B"/>
                </a:solidFill>
                <a:latin typeface="Segoe UI"/>
              </a:rPr>
              <a:t>BME688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 — ambiental para Matter.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A PLATAFORMA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A placa, componente a componente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M1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04</a:t>
            </a:r>
          </a:p>
        </p:txBody>
      </p:sp>
      <p:pic>
        <p:nvPicPr>
          <p:cNvPr id="8" name="Picture 7" descr="tag_senso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0091" y="1280160"/>
            <a:ext cx="9811512" cy="473659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13232" y="6089904"/>
            <a:ext cx="10765231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66577"/>
                </a:solidFill>
                <a:latin typeface="Segoe UI"/>
              </a:rPr>
              <a:t>Fonte: Sales Kit nRF54L15 Tag v1.1 — Nordic Semiconductor.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A PLATAFORMA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Ficha técnica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M1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O resumo do Sales Kit — protocolos (BLE, Thread, Zigbee, Matter, NFC…) são os do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nRF54L15 em geral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, não uma lista de samples prontos para a TAG.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13232" y="1883664"/>
          <a:ext cx="10765231" cy="390448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103120"/>
                <a:gridCol w="8662111"/>
              </a:tblGrid>
              <a:tr h="4114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Item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O que tem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</a:tr>
              <a:tr h="388112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SoC</a:t>
                      </a:r>
                    </a:p>
                  </a:txBody>
                  <a:tcPr anchor="ctr" marT="38100" marB="38100">
                    <a:solidFill>
                      <a:srgbClr val="E1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1× nRF54L15 — Arm Cortex-M33 @ 128 MHz · 1,5 MB NVM · 256 kB RAM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388112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Antenas</a:t>
                      </a:r>
                    </a:p>
                  </a:txBody>
                  <a:tcPr anchor="ctr" marT="38100" marB="38100">
                    <a:solidFill>
                      <a:srgbClr val="E1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2× chip antenna de 2,4 GHz + 1× RF switch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388112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Sensores</a:t>
                      </a:r>
                    </a:p>
                  </a:txBody>
                  <a:tcPr anchor="ctr" marT="38100" marB="38100">
                    <a:solidFill>
                      <a:srgbClr val="E1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IMU 6DoF BMI270 · ambiental BME688 · acelerômetro LP ADXL367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388112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Analógico</a:t>
                      </a:r>
                    </a:p>
                  </a:txBody>
                  <a:tcPr anchor="ctr" marT="38100" marB="38100">
                    <a:solidFill>
                      <a:srgbClr val="E1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ADC de 14 bits / comparador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388112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Digital</a:t>
                      </a:r>
                    </a:p>
                  </a:txBody>
                  <a:tcPr anchor="ctr" marT="38100" marB="38100">
                    <a:solidFill>
                      <a:srgbClr val="E1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SPI · TWI/I2C · UART · I2S/TDM · PDM · QDEC · PWM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388112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Programação</a:t>
                      </a:r>
                    </a:p>
                  </a:txBody>
                  <a:tcPr anchor="ctr" marT="38100" marB="38100">
                    <a:solidFill>
                      <a:srgbClr val="E1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encaixa no DEBUG OUT dos DKs nRF54L (ou J-Link avulso)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388112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Botão e LED</a:t>
                      </a:r>
                    </a:p>
                  </a:txBody>
                  <a:tcPr anchor="ctr" marT="38100" marB="38100">
                    <a:solidFill>
                      <a:srgbClr val="E1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1× botão programável · 1× LED RGB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388112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Footprints vazios</a:t>
                      </a:r>
                    </a:p>
                  </a:txBody>
                  <a:tcPr anchor="ctr" marT="38100" marB="38100">
                    <a:solidFill>
                      <a:srgbClr val="E1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LED extra · botão de reset · buzzer · memória externa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388112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Na caixa</a:t>
                      </a:r>
                    </a:p>
                  </a:txBody>
                  <a:tcPr anchor="ctr" marT="38100" marB="38100">
                    <a:solidFill>
                      <a:srgbClr val="E1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1× nRF54L15-TAG + 1× bateria CR2032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713232" y="5897880"/>
            <a:ext cx="50800" cy="347472"/>
          </a:xfrm>
          <a:prstGeom prst="rect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5897880"/>
            <a:ext cx="10490911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0B1B2B"/>
                </a:solidFill>
                <a:latin typeface="Segoe UI"/>
              </a:rPr>
              <a:t>Repare: UART existe no SoC e nos furos de GPIO — mas nenhum pino UART chega ao conector de programação. Já vamos voltar nisso.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61527"/>
              </a:gs>
              <a:gs pos="100000">
                <a:srgbClr val="10314F"/>
              </a:gs>
            </a:gsLst>
            <a:lin scaled="0" ang="19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395728"/>
            <a:ext cx="1076523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140">
                <a:solidFill>
                  <a:srgbClr val="22C3E6"/>
                </a:solidFill>
                <a:latin typeface="Segoe UI"/>
              </a:rPr>
              <a:t>NRF54L15-TAG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788920"/>
            <a:ext cx="9692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E8F1F8"/>
                </a:solidFill>
                <a:latin typeface="Segoe UI"/>
              </a:rPr>
              <a:t>Alimentar, programar, depurar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3931920"/>
            <a:ext cx="1005840" cy="50800"/>
          </a:xfrm>
          <a:prstGeom prst="rect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4224528"/>
            <a:ext cx="8961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93A6B8"/>
                </a:solidFill>
                <a:latin typeface="Segoe UI"/>
              </a:rPr>
              <a:t>Sem USB no cabo e sem UART no conector: tudo passa pelo debug header.</a:t>
            </a:r>
          </a:p>
        </p:txBody>
      </p:sp>
      <p:sp>
        <p:nvSpPr>
          <p:cNvPr id="7" name="Oval 6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E8F1F8"/>
                </a:solidFill>
                <a:latin typeface="Segoe UI"/>
              </a:rPr>
              <a:t>M1</a:t>
            </a:r>
            <a:r>
              <a:rPr sz="1000" b="0" i="0">
                <a:solidFill>
                  <a:srgbClr val="93A6B8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3A6B8"/>
                </a:solidFill>
                <a:latin typeface="Segoe U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PROGRAMAÇÃO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Gravar e alimentar: uma fonte de cada vez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M1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A TAG encaixa no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DEBUG OUT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do DK. Enquanto estiver encaixada, escolha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uma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fonte de energia: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883664"/>
            <a:ext cx="5245455" cy="347472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029968"/>
            <a:ext cx="480654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 spc="120">
                <a:solidFill>
                  <a:srgbClr val="0093D0"/>
                </a:solidFill>
                <a:latin typeface="Segoe UI"/>
              </a:rPr>
              <a:t>OPÇÃO A — BATERIA CR2032</a:t>
            </a:r>
          </a:p>
        </p:txBody>
      </p:sp>
      <p:pic>
        <p:nvPicPr>
          <p:cNvPr id="11" name="Picture 10" descr="tag_dk_cr20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" y="2340864"/>
            <a:ext cx="4696815" cy="245569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32688" y="4869711"/>
            <a:ext cx="4806543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a TAG alimenta a si mesma; o DK só programa e depura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3007" y="1883664"/>
            <a:ext cx="5245455" cy="347472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52463" y="2029968"/>
            <a:ext cx="480654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 spc="120">
                <a:solidFill>
                  <a:srgbClr val="0093D0"/>
                </a:solidFill>
                <a:latin typeface="Segoe UI"/>
              </a:rPr>
              <a:t>OPÇÃO B — 3,3 V EM VDD SWD0</a:t>
            </a:r>
          </a:p>
        </p:txBody>
      </p:sp>
      <p:pic>
        <p:nvPicPr>
          <p:cNvPr id="15" name="Picture 14" descr="tag_dk_vdd_sw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7327" y="2340864"/>
            <a:ext cx="4696815" cy="245569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452463" y="4869711"/>
            <a:ext cx="4806543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jumper do P5 (VDD SWD0) do DK para o pino VDD da TAG — sem bateria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" y="5522976"/>
            <a:ext cx="10765231" cy="475488"/>
          </a:xfrm>
          <a:prstGeom prst="roundRect">
            <a:avLst>
              <a:gd name="adj" fmla="val 15000"/>
            </a:avLst>
          </a:prstGeom>
          <a:solidFill>
            <a:srgbClr val="FBF0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7552" y="5632704"/>
            <a:ext cx="1021659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0B1B2B"/>
                </a:solidFill>
                <a:latin typeface="Segoe UI"/>
              </a:rPr>
              <a:t>Nunca as duas fontes ao mesmo tempo — a corrente entre elas pode </a:t>
            </a:r>
            <a:r>
              <a:rPr sz="1250" b="1" i="0">
                <a:solidFill>
                  <a:srgbClr val="0B1B2B"/>
                </a:solidFill>
                <a:latin typeface="Segoe UI"/>
              </a:rPr>
              <a:t>aquecer a placa</a:t>
            </a:r>
            <a:r>
              <a:rPr sz="1250" b="0" i="0">
                <a:solidFill>
                  <a:srgbClr val="0B1B2B"/>
                </a:solidFill>
                <a:latin typeface="Segoe UI"/>
              </a:rPr>
              <a:t>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6126480"/>
            <a:ext cx="10765231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J-Link avulso também grava — com o </a:t>
            </a:r>
            <a:r>
              <a:rPr sz="1100" b="1" i="0">
                <a:solidFill>
                  <a:srgbClr val="0B1B2B"/>
                </a:solidFill>
                <a:latin typeface="Segoe UI"/>
              </a:rPr>
              <a:t>10-pin needle adapter</a:t>
            </a:r>
            <a:r>
              <a:rPr sz="1100" b="0" i="0">
                <a:solidFill>
                  <a:srgbClr val="566577"/>
                </a:solidFill>
                <a:latin typeface="Segoe UI"/>
              </a:rPr>
              <a:t>. E OTA funciona, se o firmware incluir a capacidade.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PROGRAMAÇÃO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O conector de debug P1, pino a pino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M1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Dez pinos e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nenhum deles é UART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: não há TXD/RXD entre a TAG e o debugger do DK. O </a:t>
            </a:r>
            <a:r>
              <a:rPr sz="1400" b="0" i="0">
                <a:solidFill>
                  <a:srgbClr val="566577"/>
                </a:solidFill>
                <a:latin typeface="Consolas"/>
              </a:rPr>
              <a:t>printk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não tem por onde sair em serial.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13232" y="1883664"/>
          <a:ext cx="10765231" cy="390448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005840"/>
                <a:gridCol w="1737360"/>
                <a:gridCol w="8022031"/>
              </a:tblGrid>
              <a:tr h="4114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Pino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Sinal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O que faz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</a:tr>
              <a:tr h="436626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Consolas"/>
                        </a:rPr>
                        <a:t>VDD_DBG</a:t>
                      </a:r>
                    </a:p>
                  </a:txBody>
                  <a:tcPr anchor="ctr" marT="38100" marB="38100">
                    <a:solidFill>
                      <a:srgbClr val="E1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tensão de I/O da TAG — a própria tensão da bateria (VDD_nRF)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436626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Consolas"/>
                        </a:rPr>
                        <a:t>SWDIO</a:t>
                      </a:r>
                    </a:p>
                  </a:txBody>
                  <a:tcPr anchor="ctr" marT="38100" marB="38100">
                    <a:solidFill>
                      <a:srgbClr val="E1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dados do Serial Wire Debug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436626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Consolas"/>
                        </a:rPr>
                        <a:t>SELECT</a:t>
                      </a:r>
                    </a:p>
                  </a:txBody>
                  <a:tcPr anchor="ctr" marT="38100" marB="38100">
                    <a:solidFill>
                      <a:srgbClr val="E1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detecção da TAG — ligado ao GND na placa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436626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Consolas"/>
                        </a:rPr>
                        <a:t>SWCLK</a:t>
                      </a:r>
                    </a:p>
                  </a:txBody>
                  <a:tcPr anchor="ctr" marT="38100" marB="38100">
                    <a:solidFill>
                      <a:srgbClr val="E1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clock do Serial Wire Debug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436626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Consolas"/>
                        </a:rPr>
                        <a:t>GND</a:t>
                      </a:r>
                    </a:p>
                  </a:txBody>
                  <a:tcPr anchor="ctr" marT="38100" marB="38100">
                    <a:solidFill>
                      <a:srgbClr val="E1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terra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436626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Consolas"/>
                        </a:rPr>
                        <a:t>SWO</a:t>
                      </a:r>
                    </a:p>
                  </a:txBody>
                  <a:tcPr anchor="ctr" marT="38100" marB="38100">
                    <a:solidFill>
                      <a:srgbClr val="E1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trace opcional — não é usado para programar/depurar por SWD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436626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7–9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Consolas"/>
                        </a:rPr>
                        <a:t>N.C.</a:t>
                      </a:r>
                    </a:p>
                  </a:txBody>
                  <a:tcPr anchor="ctr" marT="38100" marB="38100">
                    <a:solidFill>
                      <a:srgbClr val="E1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não conectados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436626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10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Consolas"/>
                        </a:rPr>
                        <a:t>RESET</a:t>
                      </a:r>
                    </a:p>
                  </a:txBody>
                  <a:tcPr anchor="ctr" marT="38100" marB="38100">
                    <a:solidFill>
                      <a:srgbClr val="E1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linha de reset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713232" y="5897880"/>
            <a:ext cx="50800" cy="347472"/>
          </a:xfrm>
          <a:prstGeom prst="rect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5897880"/>
            <a:ext cx="10490911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0B1B2B"/>
                </a:solidFill>
                <a:latin typeface="Segoe UI"/>
              </a:rPr>
              <a:t>Fonte: nRF54L15 Tag Hardware User Guide (docs.nordicsemi.com). O DEBUG OUT (P19) do DK tem o mesmo pinout — os dois conectores casam pino a pino.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PROGRAMAÇÃO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RTT: o console que viaja pelo SWD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M1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Real Time Transfer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(SEGGER): o texto vai para um buffer na RAM, e o debugger o recolhe pelo mesmo SWD que grava o firmware.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3250692"/>
            <a:ext cx="2314117" cy="141732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" y="3451860"/>
            <a:ext cx="203979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printk() · LOG_INF()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3872484"/>
            <a:ext cx="2039797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console e log do Zephyr</a:t>
            </a:r>
          </a:p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apontados para o RTT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100501" y="3886200"/>
            <a:ext cx="356616" cy="146304"/>
          </a:xfrm>
          <a:prstGeom prst="rightArrow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530269" y="3250692"/>
            <a:ext cx="2314117" cy="1417320"/>
          </a:xfrm>
          <a:prstGeom prst="roundRect">
            <a:avLst>
              <a:gd name="adj" fmla="val 7000"/>
            </a:avLst>
          </a:prstGeom>
          <a:solidFill>
            <a:srgbClr val="002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67429" y="3451860"/>
            <a:ext cx="203979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E8F1F8"/>
                </a:solidFill>
                <a:latin typeface="Segoe UI"/>
              </a:rPr>
              <a:t>Buffer RTT 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67429" y="3872484"/>
            <a:ext cx="2039797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93A6B8"/>
                </a:solidFill>
                <a:latin typeface="Segoe UI"/>
              </a:rPr>
              <a:t>anel na RAM da TAG —</a:t>
            </a:r>
          </a:p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93A6B8"/>
                </a:solidFill>
                <a:latin typeface="Segoe UI"/>
              </a:rPr>
              <a:t>a CPU escreve e segue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917539" y="3886200"/>
            <a:ext cx="356616" cy="146304"/>
          </a:xfrm>
          <a:prstGeom prst="rightArrow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47307" y="3250692"/>
            <a:ext cx="2314117" cy="141732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84467" y="3451860"/>
            <a:ext cx="203979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J-Link do DK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4467" y="3872484"/>
            <a:ext cx="2039797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lê a RAM por SWD,</a:t>
            </a:r>
          </a:p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por trás da CPU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734577" y="3886200"/>
            <a:ext cx="356616" cy="146304"/>
          </a:xfrm>
          <a:prstGeom prst="rightArrow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164345" y="3250692"/>
            <a:ext cx="2314117" cy="141732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01505" y="3451860"/>
            <a:ext cx="203979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nRF Terminal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01505" y="3872484"/>
            <a:ext cx="2039797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o “serial” que</a:t>
            </a:r>
          </a:p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não existe no cabo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60421" y="2939796"/>
            <a:ext cx="16367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0093D0"/>
                </a:solidFill>
                <a:latin typeface="Segoe UI"/>
              </a:rPr>
              <a:t>memcpy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77459" y="2939796"/>
            <a:ext cx="16367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0093D0"/>
                </a:solidFill>
                <a:latin typeface="Segoe UI"/>
              </a:rPr>
              <a:t>SWD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94497" y="2939796"/>
            <a:ext cx="16367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0093D0"/>
                </a:solidFill>
                <a:latin typeface="Segoe UI"/>
              </a:rPr>
              <a:t>USB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" y="4896612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1">
                <a:solidFill>
                  <a:srgbClr val="566577"/>
                </a:solidFill>
                <a:latin typeface="Segoe UI"/>
              </a:rPr>
              <a:t>Sem UART, sem pino extra, custo de CPU mínimo — o debugger faz o trabalho de carteiro lendo a memória em background.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PROGRAMAÇÃO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Console e shell por RTT: já vêm no prj.conf da TAG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M1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O </a:t>
            </a:r>
            <a:r>
              <a:rPr sz="1400" b="0" i="0">
                <a:solidFill>
                  <a:srgbClr val="566577"/>
                </a:solidFill>
                <a:latin typeface="Consolas"/>
              </a:rPr>
              <a:t>prj.conf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do lab de gestos (</a:t>
            </a:r>
            <a:r>
              <a:rPr sz="1400" b="0" i="0">
                <a:solidFill>
                  <a:srgbClr val="566577"/>
                </a:solidFill>
                <a:latin typeface="Consolas"/>
              </a:rPr>
              <a:t>edge_ai/01_gesture_recognition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) já liga console e shell por RTT — é a divergência do curso em relação ao Add-on, marcada no cabeçalho.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856232"/>
            <a:ext cx="10765231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500" b="0">
                <a:solidFill>
                  <a:srgbClr val="0B1B2B"/>
                </a:solidFill>
                <a:latin typeface="Segoe UI"/>
              </a:rPr>
              <a:t>O </a:t>
            </a:r>
            <a:r>
              <a:rPr sz="1500" b="0">
                <a:solidFill>
                  <a:srgbClr val="0B1B2B"/>
                </a:solidFill>
                <a:latin typeface="Consolas"/>
              </a:rPr>
              <a:t>prj.conf</a:t>
            </a:r>
            <a:r>
              <a:rPr sz="1500" b="0">
                <a:solidFill>
                  <a:srgbClr val="0B1B2B"/>
                </a:solidFill>
                <a:latin typeface="Segoe UI"/>
              </a:rPr>
              <a:t> do SDK já liga o </a:t>
            </a:r>
            <a:r>
              <a:rPr sz="1500" b="1">
                <a:solidFill>
                  <a:srgbClr val="0093D0"/>
                </a:solidFill>
                <a:latin typeface="Segoe UI"/>
              </a:rPr>
              <a:t>log</a:t>
            </a:r>
            <a:r>
              <a:rPr sz="1500" b="0">
                <a:solidFill>
                  <a:srgbClr val="0B1B2B"/>
                </a:solidFill>
                <a:latin typeface="Segoe UI"/>
              </a:rPr>
              <a:t> por RTT de fábrica (</a:t>
            </a:r>
            <a:r>
              <a:rPr sz="1500" b="0">
                <a:solidFill>
                  <a:srgbClr val="0B1B2B"/>
                </a:solidFill>
                <a:latin typeface="Consolas"/>
              </a:rPr>
              <a:t>CONFIG_USE_SEGGER_RTT</a:t>
            </a:r>
            <a:r>
              <a:rPr sz="1500" b="0">
                <a:solidFill>
                  <a:srgbClr val="0B1B2B"/>
                </a:solidFill>
                <a:latin typeface="Segoe UI"/>
              </a:rPr>
              <a:t> + </a:t>
            </a:r>
            <a:r>
              <a:rPr sz="1500" b="0">
                <a:solidFill>
                  <a:srgbClr val="0B1B2B"/>
                </a:solidFill>
                <a:latin typeface="Consolas"/>
              </a:rPr>
              <a:t>CONFIG_LOG</a:t>
            </a:r>
            <a:r>
              <a:rPr sz="1500" b="0">
                <a:solidFill>
                  <a:srgbClr val="0B1B2B"/>
                </a:solidFill>
                <a:latin typeface="Segoe UI"/>
              </a:rPr>
              <a:t>).</a:t>
            </a:r>
          </a:p>
          <a:p>
            <a:pPr lvl="1" marL="576072" indent="-256032">
              <a:lnSpc>
                <a:spcPct val="118000"/>
              </a:lnSpc>
              <a:spcAft>
                <a:spcPts val="400"/>
              </a:spcAft>
              <a:buClr>
                <a:srgbClr val="566577"/>
              </a:buClr>
              <a:buSzPct val="90000"/>
              <a:buFont typeface="Segoe UI"/>
              <a:buChar char="–"/>
            </a:pPr>
            <a:r>
              <a:rPr sz="1300" b="0">
                <a:solidFill>
                  <a:srgbClr val="566577"/>
                </a:solidFill>
                <a:latin typeface="Segoe UI"/>
              </a:rPr>
              <a:t>O curso acrescenta </a:t>
            </a:r>
            <a:r>
              <a:rPr sz="1300" b="1">
                <a:solidFill>
                  <a:srgbClr val="566577"/>
                </a:solidFill>
                <a:latin typeface="Segoe UI"/>
              </a:rPr>
              <a:t>console</a:t>
            </a:r>
            <a:r>
              <a:rPr sz="1300" b="0">
                <a:solidFill>
                  <a:srgbClr val="566577"/>
                </a:solidFill>
                <a:latin typeface="Segoe UI"/>
              </a:rPr>
              <a:t> — </a:t>
            </a:r>
            <a:r>
              <a:rPr sz="1300" b="0">
                <a:solidFill>
                  <a:srgbClr val="566577"/>
                </a:solidFill>
                <a:latin typeface="Consolas"/>
              </a:rPr>
              <a:t>printk</a:t>
            </a:r>
            <a:r>
              <a:rPr sz="1300" b="0">
                <a:solidFill>
                  <a:srgbClr val="566577"/>
                </a:solidFill>
                <a:latin typeface="Segoe UI"/>
              </a:rPr>
              <a:t>, CSV da coleta, passkey — e </a:t>
            </a:r>
            <a:r>
              <a:rPr sz="1300" b="1">
                <a:solidFill>
                  <a:srgbClr val="566577"/>
                </a:solidFill>
                <a:latin typeface="Segoe UI"/>
              </a:rPr>
              <a:t>shell interativo</a:t>
            </a:r>
            <a:r>
              <a:rPr sz="1300" b="0">
                <a:solidFill>
                  <a:srgbClr val="566577"/>
                </a:solidFill>
                <a:latin typeface="Segoe UI"/>
              </a:rPr>
              <a:t>.</a:t>
            </a:r>
          </a:p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500" b="0">
                <a:solidFill>
                  <a:srgbClr val="0B1B2B"/>
                </a:solidFill>
                <a:latin typeface="Segoe UI"/>
              </a:rPr>
              <a:t>E sobe os </a:t>
            </a:r>
            <a:r>
              <a:rPr sz="1500" b="1">
                <a:solidFill>
                  <a:srgbClr val="0093D0"/>
                </a:solidFill>
                <a:latin typeface="Segoe UI"/>
              </a:rPr>
              <a:t>dois</a:t>
            </a:r>
            <a:r>
              <a:rPr sz="1500" b="0">
                <a:solidFill>
                  <a:srgbClr val="0B1B2B"/>
                </a:solidFill>
                <a:latin typeface="Segoe UI"/>
              </a:rPr>
              <a:t> buffers de log para 4096: sem isso a rajada de boot engole o fim do log — a linha </a:t>
            </a:r>
            <a:r>
              <a:rPr sz="1500" b="0">
                <a:solidFill>
                  <a:srgbClr val="0B1B2B"/>
                </a:solidFill>
                <a:latin typeface="Consolas"/>
              </a:rPr>
              <a:t>Identity:</a:t>
            </a:r>
            <a:r>
              <a:rPr sz="1500" b="0">
                <a:solidFill>
                  <a:srgbClr val="0B1B2B"/>
                </a:solidFill>
                <a:latin typeface="Segoe UI"/>
              </a:rPr>
              <a:t> com o endereço BLE inclusive.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3044952"/>
            <a:ext cx="10765231" cy="2859024"/>
          </a:xfrm>
          <a:prstGeom prst="roundRect">
            <a:avLst>
              <a:gd name="adj" fmla="val 4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2" y="3246120"/>
            <a:ext cx="10125151" cy="24566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2000"/>
              </a:lnSpc>
            </a:pPr>
            <a:r>
              <a:rPr sz="1400" b="0">
                <a:solidFill>
                  <a:srgbClr val="7FB58E"/>
                </a:solidFill>
                <a:latin typeface="Consolas"/>
              </a:rPr>
              <a:t># configuration/nrf54l15tag_nrf54l15_cpuapp/prj.conf (bloco do curso)</a:t>
            </a:r>
          </a:p>
          <a:p>
            <a:pPr>
              <a:lnSpc>
                <a:spcPct val="112000"/>
              </a:lnSpc>
            </a:pPr>
            <a:r>
              <a:rPr sz="1400" b="1">
                <a:solidFill>
                  <a:srgbClr val="4FC3E8"/>
                </a:solidFill>
                <a:latin typeface="Consolas"/>
              </a:rPr>
              <a:t>CONFIG_RTT_CONSOLE</a:t>
            </a:r>
            <a:r>
              <a:rPr sz="1400" b="0">
                <a:solidFill>
                  <a:srgbClr val="DCE8F2"/>
                </a:solidFill>
                <a:latin typeface="Consolas"/>
              </a:rPr>
              <a:t>=y</a:t>
            </a:r>
          </a:p>
          <a:p>
            <a:pPr>
              <a:lnSpc>
                <a:spcPct val="112000"/>
              </a:lnSpc>
            </a:pPr>
            <a:r>
              <a:rPr sz="1400" b="1">
                <a:solidFill>
                  <a:srgbClr val="4FC3E8"/>
                </a:solidFill>
                <a:latin typeface="Consolas"/>
              </a:rPr>
              <a:t>CONFIG_SHELL</a:t>
            </a:r>
            <a:r>
              <a:rPr sz="1400" b="0">
                <a:solidFill>
                  <a:srgbClr val="DCE8F2"/>
                </a:solidFill>
                <a:latin typeface="Consolas"/>
              </a:rPr>
              <a:t>=y</a:t>
            </a:r>
          </a:p>
          <a:p>
            <a:pPr>
              <a:lnSpc>
                <a:spcPct val="112000"/>
              </a:lnSpc>
            </a:pPr>
            <a:r>
              <a:rPr sz="1400" b="1">
                <a:solidFill>
                  <a:srgbClr val="4FC3E8"/>
                </a:solidFill>
                <a:latin typeface="Consolas"/>
              </a:rPr>
              <a:t>CONFIG_SHELL_BACKEND_RTT</a:t>
            </a:r>
            <a:r>
              <a:rPr sz="1400" b="0">
                <a:solidFill>
                  <a:srgbClr val="DCE8F2"/>
                </a:solidFill>
                <a:latin typeface="Consolas"/>
              </a:rPr>
              <a:t>=y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7FB58E"/>
                </a:solidFill>
                <a:latin typeface="Consolas"/>
              </a:rPr>
              <a:t># Explicito: nao ha UART de console no DTS desta placa.</a:t>
            </a:r>
          </a:p>
          <a:p>
            <a:pPr>
              <a:lnSpc>
                <a:spcPct val="112000"/>
              </a:lnSpc>
            </a:pPr>
            <a:r>
              <a:rPr sz="1400" b="1">
                <a:solidFill>
                  <a:srgbClr val="4FC3E8"/>
                </a:solidFill>
                <a:latin typeface="Consolas"/>
              </a:rPr>
              <a:t>CONFIG_SHELL_BACKEND_SERIAL</a:t>
            </a:r>
            <a:r>
              <a:rPr sz="1400" b="0">
                <a:solidFill>
                  <a:srgbClr val="DCE8F2"/>
                </a:solidFill>
                <a:latin typeface="Consolas"/>
              </a:rPr>
              <a:t>=n</a:t>
            </a:r>
          </a:p>
          <a:p>
            <a:pPr>
              <a:lnSpc>
                <a:spcPct val="112000"/>
              </a:lnSpc>
            </a:pPr>
            <a:r>
              <a:rPr sz="1400" b="1">
                <a:solidFill>
                  <a:srgbClr val="4FC3E8"/>
                </a:solidFill>
                <a:latin typeface="Consolas"/>
              </a:rPr>
              <a:t>CONFIG_SHELL_PROMPT_RTT</a:t>
            </a:r>
            <a:r>
              <a:rPr sz="1400" b="0">
                <a:solidFill>
                  <a:srgbClr val="DCE8F2"/>
                </a:solidFill>
                <a:latin typeface="Consolas"/>
              </a:rPr>
              <a:t>=</a:t>
            </a:r>
            <a:r>
              <a:rPr sz="1400" b="0">
                <a:solidFill>
                  <a:srgbClr val="FFCF6B"/>
                </a:solidFill>
                <a:latin typeface="Consolas"/>
              </a:rPr>
              <a:t>"tag:~$ "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7FB58E"/>
                </a:solidFill>
                <a:latin typeface="Consolas"/>
              </a:rPr>
              <a:t># buffers de log: a rajada de boot estoura os 1024 do default</a:t>
            </a:r>
          </a:p>
          <a:p>
            <a:pPr>
              <a:lnSpc>
                <a:spcPct val="112000"/>
              </a:lnSpc>
            </a:pPr>
            <a:r>
              <a:rPr sz="1400" b="1">
                <a:solidFill>
                  <a:srgbClr val="4FC3E8"/>
                </a:solidFill>
                <a:latin typeface="Consolas"/>
              </a:rPr>
              <a:t>CONFIG_LOG_BUFFER_SIZE</a:t>
            </a:r>
            <a:r>
              <a:rPr sz="1400" b="0">
                <a:solidFill>
                  <a:srgbClr val="DCE8F2"/>
                </a:solidFill>
                <a:latin typeface="Consolas"/>
              </a:rPr>
              <a:t>=4096</a:t>
            </a:r>
          </a:p>
          <a:p>
            <a:pPr>
              <a:lnSpc>
                <a:spcPct val="112000"/>
              </a:lnSpc>
            </a:pPr>
            <a:r>
              <a:rPr sz="1400" b="1">
                <a:solidFill>
                  <a:srgbClr val="4FC3E8"/>
                </a:solidFill>
                <a:latin typeface="Consolas"/>
              </a:rPr>
              <a:t>CONFIG_SEGGER_RTT_BUFFER_SIZE_UP</a:t>
            </a:r>
            <a:r>
              <a:rPr sz="1400" b="0">
                <a:solidFill>
                  <a:srgbClr val="DCE8F2"/>
                </a:solidFill>
                <a:latin typeface="Consolas"/>
              </a:rPr>
              <a:t>=4096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5967984"/>
            <a:ext cx="10765231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1">
                <a:solidFill>
                  <a:srgbClr val="566577"/>
                </a:solidFill>
                <a:latin typeface="Segoe UI"/>
              </a:rPr>
              <a:t>Com SHELL=y o log migra para o shell (um escritor só no buffer RTT 0) · custo medido: +35 kB de FLASH, +5 kB de RAM.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61527"/>
              </a:gs>
              <a:gs pos="100000">
                <a:srgbClr val="10314F"/>
              </a:gs>
            </a:gsLst>
            <a:lin scaled="0" ang="19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22C3E6"/>
                </a:solidFill>
                <a:latin typeface="Segoe UI"/>
              </a:rPr>
              <a:t>RESUMO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E8F1F8"/>
                </a:solidFill>
                <a:latin typeface="Segoe UI"/>
              </a:rPr>
              <a:t>O que levar deste bloco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E8F1F8"/>
                </a:solidFill>
                <a:latin typeface="Segoe UI"/>
              </a:rPr>
              <a:t>M1</a:t>
            </a:r>
            <a:r>
              <a:rPr sz="1000" b="0" i="0">
                <a:solidFill>
                  <a:srgbClr val="93A6B8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3A6B8"/>
                </a:solidFill>
                <a:latin typeface="Segoe UI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572768"/>
            <a:ext cx="10765231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56032" indent="-256032">
              <a:spcAft>
                <a:spcPts val="600"/>
              </a:spcAft>
              <a:buClr>
                <a:srgbClr val="22C3E6"/>
              </a:buClr>
              <a:buSzPct val="90000"/>
              <a:buFont typeface="Segoe UI"/>
              <a:buChar char="▪"/>
            </a:pPr>
            <a:r>
              <a:rPr sz="1500" b="0">
                <a:solidFill>
                  <a:srgbClr val="93A6B8"/>
                </a:solidFill>
                <a:latin typeface="Segoe UI"/>
              </a:rPr>
              <a:t>A TAG é um </a:t>
            </a:r>
            <a:r>
              <a:rPr sz="1500" b="1">
                <a:solidFill>
                  <a:srgbClr val="E8F1F8"/>
                </a:solidFill>
                <a:latin typeface="Segoe UI"/>
              </a:rPr>
              <a:t>produto final em miniatura</a:t>
            </a:r>
            <a:r>
              <a:rPr sz="1500" b="0">
                <a:solidFill>
                  <a:srgbClr val="93A6B8"/>
                </a:solidFill>
                <a:latin typeface="Segoe UI"/>
              </a:rPr>
              <a:t>: bateria de moeda, duas antenas, três sensores — sem os luxos de um DK.</a:t>
            </a:r>
          </a:p>
          <a:p>
            <a:pPr marL="256032" indent="-256032">
              <a:spcAft>
                <a:spcPts val="600"/>
              </a:spcAft>
              <a:buClr>
                <a:srgbClr val="22C3E6"/>
              </a:buClr>
              <a:buSzPct val="90000"/>
              <a:buFont typeface="Segoe UI"/>
              <a:buChar char="▪"/>
            </a:pPr>
            <a:r>
              <a:rPr sz="1500" b="0">
                <a:solidFill>
                  <a:srgbClr val="93A6B8"/>
                </a:solidFill>
                <a:latin typeface="Segoe UI"/>
              </a:rPr>
              <a:t>Encaixou no DEBUG OUT, escolha a fonte: </a:t>
            </a:r>
            <a:r>
              <a:rPr sz="1500" b="1">
                <a:solidFill>
                  <a:srgbClr val="E8F1F8"/>
                </a:solidFill>
                <a:latin typeface="Segoe UI"/>
              </a:rPr>
              <a:t>CR2032 ou VDD SWD0 — nunca as duas</a:t>
            </a:r>
            <a:r>
              <a:rPr sz="1500" b="0">
                <a:solidFill>
                  <a:srgbClr val="93A6B8"/>
                </a:solidFill>
                <a:latin typeface="Segoe UI"/>
              </a:rPr>
              <a:t>.</a:t>
            </a:r>
          </a:p>
          <a:p>
            <a:pPr marL="256032" indent="-256032">
              <a:spcAft>
                <a:spcPts val="600"/>
              </a:spcAft>
              <a:buClr>
                <a:srgbClr val="22C3E6"/>
              </a:buClr>
              <a:buSzPct val="90000"/>
              <a:buFont typeface="Segoe UI"/>
              <a:buChar char="▪"/>
            </a:pPr>
            <a:r>
              <a:rPr sz="1500" b="0">
                <a:solidFill>
                  <a:srgbClr val="93A6B8"/>
                </a:solidFill>
                <a:latin typeface="Segoe UI"/>
              </a:rPr>
              <a:t>O conector de debug só fala </a:t>
            </a:r>
            <a:r>
              <a:rPr sz="1500" b="1">
                <a:solidFill>
                  <a:srgbClr val="E8F1F8"/>
                </a:solidFill>
                <a:latin typeface="Segoe UI"/>
              </a:rPr>
              <a:t>SWD</a:t>
            </a:r>
            <a:r>
              <a:rPr sz="1500" b="0">
                <a:solidFill>
                  <a:srgbClr val="93A6B8"/>
                </a:solidFill>
                <a:latin typeface="Segoe UI"/>
              </a:rPr>
              <a:t> — console e shell saem por </a:t>
            </a:r>
            <a:r>
              <a:rPr sz="1500" b="1">
                <a:solidFill>
                  <a:srgbClr val="E8F1F8"/>
                </a:solidFill>
                <a:latin typeface="Segoe UI"/>
              </a:rPr>
              <a:t>RTT</a:t>
            </a:r>
            <a:r>
              <a:rPr sz="1500" b="0">
                <a:solidFill>
                  <a:srgbClr val="93A6B8"/>
                </a:solidFill>
                <a:latin typeface="Segoe UI"/>
              </a:rPr>
              <a:t>.</a:t>
            </a:r>
          </a:p>
          <a:p>
            <a:pPr marL="256032" indent="-256032">
              <a:spcAft>
                <a:spcPts val="600"/>
              </a:spcAft>
              <a:buClr>
                <a:srgbClr val="22C3E6"/>
              </a:buClr>
              <a:buSzPct val="90000"/>
              <a:buFont typeface="Segoe UI"/>
              <a:buChar char="▪"/>
            </a:pPr>
            <a:r>
              <a:rPr sz="1500" b="0">
                <a:solidFill>
                  <a:srgbClr val="93A6B8"/>
                </a:solidFill>
                <a:latin typeface="Segoe UI"/>
              </a:rPr>
              <a:t>O </a:t>
            </a:r>
            <a:r>
              <a:rPr sz="1500" b="0">
                <a:solidFill>
                  <a:srgbClr val="93A6B8"/>
                </a:solidFill>
                <a:latin typeface="Consolas"/>
              </a:rPr>
              <a:t>prj.conf</a:t>
            </a:r>
            <a:r>
              <a:rPr sz="1500" b="0">
                <a:solidFill>
                  <a:srgbClr val="93A6B8"/>
                </a:solidFill>
                <a:latin typeface="Segoe UI"/>
              </a:rPr>
              <a:t> do repositório já liga tudo isso — nada a acrescentar no build.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3291840"/>
            <a:ext cx="2519857" cy="1828800"/>
          </a:xfrm>
          <a:prstGeom prst="roundRect">
            <a:avLst>
              <a:gd name="adj" fmla="val 7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3547872"/>
            <a:ext cx="2519857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800" b="1" i="0">
                <a:solidFill>
                  <a:srgbClr val="22C3E6"/>
                </a:solidFill>
                <a:latin typeface="Consolas"/>
              </a:rPr>
              <a:t>33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4526280"/>
            <a:ext cx="224553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3A6B8"/>
                </a:solidFill>
                <a:latin typeface="Segoe UI"/>
              </a:rPr>
              <a:t>mm de diâmetro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61689" y="3291840"/>
            <a:ext cx="2519857" cy="1828800"/>
          </a:xfrm>
          <a:prstGeom prst="roundRect">
            <a:avLst>
              <a:gd name="adj" fmla="val 7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61689" y="3547872"/>
            <a:ext cx="2519857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800" b="1" i="0">
                <a:solidFill>
                  <a:srgbClr val="22C3E6"/>
                </a:solidFill>
                <a:latin typeface="Consola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98849" y="4526280"/>
            <a:ext cx="224553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3A6B8"/>
                </a:solidFill>
                <a:latin typeface="Segoe UI"/>
              </a:rPr>
              <a:t>antenas de 2,4 GHz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0147" y="3291840"/>
            <a:ext cx="2519857" cy="1828800"/>
          </a:xfrm>
          <a:prstGeom prst="roundRect">
            <a:avLst>
              <a:gd name="adj" fmla="val 7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0147" y="3547872"/>
            <a:ext cx="2519857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800" b="1" i="0">
                <a:solidFill>
                  <a:srgbClr val="22C3E6"/>
                </a:solidFill>
                <a:latin typeface="Consola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7307" y="4526280"/>
            <a:ext cx="224553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3A6B8"/>
                </a:solidFill>
                <a:latin typeface="Segoe UI"/>
              </a:rPr>
              <a:t>sensores a bordo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58605" y="3291840"/>
            <a:ext cx="2519857" cy="1828800"/>
          </a:xfrm>
          <a:prstGeom prst="roundRect">
            <a:avLst>
              <a:gd name="adj" fmla="val 7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58605" y="3547872"/>
            <a:ext cx="2519857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800" b="1" i="0">
                <a:solidFill>
                  <a:srgbClr val="22C3E6"/>
                </a:solidFill>
                <a:latin typeface="Consolas"/>
              </a:rPr>
              <a:t>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95765" y="4526280"/>
            <a:ext cx="224553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3A6B8"/>
                </a:solidFill>
                <a:latin typeface="Segoe UI"/>
              </a:rPr>
              <a:t>pinos de UART no debug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5532120"/>
            <a:ext cx="1076523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1">
                <a:solidFill>
                  <a:srgbClr val="22C3E6"/>
                </a:solidFill>
                <a:latin typeface="Segoe UI"/>
              </a:rPr>
              <a:t>Placa entendida, console ligado — agora sim, o lab de gestos.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