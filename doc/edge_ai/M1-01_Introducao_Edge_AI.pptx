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EDGE AI · TINYML · NPU · ZEPHYR 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Inteligência Artificial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Embarcada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Do modelo ao firmware: inferência na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CPU (tinyML)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 e em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NPU dedicada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, no Zephyr RTOS — Módulo 1 · Dias 1–2 · 10 horas.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2360980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nRF54LM20-DK · CPU + NPU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57092" y="4709160"/>
            <a:ext cx="1850745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nRF54L15-TAG · IMU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0717" y="4709160"/>
            <a:ext cx="1850745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Microfone PDM MEMS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vamos ver nos Dias 1 e 2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Dois dias, três blocos de teoria e três laboratórios em bancada.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10765231" cy="9601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93975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93D0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201167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B2B"/>
                </a:solidFill>
                <a:latin typeface="Segoe UI"/>
              </a:rPr>
              <a:t>Introdução ao Edge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23774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Por que processar localmente; banda, energia e latência; casos de uso em IoT.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953511"/>
            <a:ext cx="10765231" cy="9601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172967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93D0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090671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B2B"/>
                </a:solidFill>
                <a:latin typeface="Segoe UI"/>
              </a:rPr>
              <a:t>Modelos tinyML na CPU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56431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Criação e otimização de modelos que rodam no Cortex-M33 sem NPU dedicada.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032503"/>
            <a:ext cx="10765231" cy="9601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251959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93D0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169663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B2B"/>
                </a:solidFill>
                <a:latin typeface="Segoe UI"/>
              </a:rPr>
              <a:t>NPU + TensorFlow Lite no Zephyr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535423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Pipeline completo: modelo TFLite → compilador → memória RAM/Flash → inferência acelerada.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111495"/>
            <a:ext cx="10765231" cy="9601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330951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93D0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5248655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B2B"/>
                </a:solidFill>
                <a:latin typeface="Segoe UI"/>
              </a:rPr>
              <a:t>Laboratórios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792" y="5614415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Gestos com acelerômetro · wake word e voz com microfone PDM · benchmark NPU × CPU.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INTRODUÇÃO AO 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Nivelamento: o que é (e o que não é) IA embarcada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Dois momentos distintos — e só um deles acontece no dispositivo.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5285232" cy="18288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574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0093D0"/>
                </a:solidFill>
                <a:latin typeface="Segoe UI"/>
              </a:rPr>
              <a:t>TREINAMENTO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66577"/>
                </a:solidFill>
                <a:latin typeface="Segoe UI"/>
              </a:rPr>
              <a:t>Acontece </a:t>
            </a:r>
            <a:r>
              <a:rPr sz="1350" b="1" i="0">
                <a:solidFill>
                  <a:srgbClr val="0B1B2B"/>
                </a:solidFill>
                <a:latin typeface="Segoe UI"/>
              </a:rPr>
              <a:t>fora do dispositivo</a:t>
            </a:r>
            <a:r>
              <a:rPr sz="1350" b="0" i="0">
                <a:solidFill>
                  <a:srgbClr val="566577"/>
                </a:solidFill>
                <a:latin typeface="Segoe UI"/>
              </a:rPr>
              <a:t> (nuvem/PC).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66577"/>
                </a:solidFill>
                <a:latin typeface="Segoe UI"/>
              </a:rPr>
              <a:t>Precisa de dataset, GPU, iterações.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66577"/>
                </a:solidFill>
                <a:latin typeface="Segoe UI"/>
              </a:rPr>
              <a:t>Resultado: um </a:t>
            </a:r>
            <a:r>
              <a:rPr sz="1350" b="1" i="0">
                <a:solidFill>
                  <a:srgbClr val="0B1B2B"/>
                </a:solidFill>
                <a:latin typeface="Segoe UI"/>
              </a:rPr>
              <a:t>modelo</a:t>
            </a:r>
            <a:r>
              <a:rPr sz="1350" b="0" i="0">
                <a:solidFill>
                  <a:srgbClr val="566577"/>
                </a:solidFill>
                <a:latin typeface="Segoe UI"/>
              </a:rPr>
              <a:t> — uma função aprendida.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74519"/>
            <a:ext cx="5285232" cy="18288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574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0093D0"/>
                </a:solidFill>
                <a:latin typeface="Segoe UI"/>
              </a:rPr>
              <a:t>INFERÊNCIA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42316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66577"/>
                </a:solidFill>
                <a:latin typeface="Segoe UI"/>
              </a:rPr>
              <a:t>Acontece </a:t>
            </a:r>
            <a:r>
              <a:rPr sz="1350" b="1" i="0">
                <a:solidFill>
                  <a:srgbClr val="0B1B2B"/>
                </a:solidFill>
                <a:latin typeface="Segoe UI"/>
              </a:rPr>
              <a:t>no dispositivo</a:t>
            </a:r>
            <a:r>
              <a:rPr sz="1350" b="0" i="0">
                <a:solidFill>
                  <a:srgbClr val="566577"/>
                </a:solidFill>
                <a:latin typeface="Segoe UI"/>
              </a:rPr>
              <a:t>, em produção.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66577"/>
                </a:solidFill>
                <a:latin typeface="Segoe UI"/>
              </a:rPr>
              <a:t>Entrada de sensor → predição em milissegundos.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66577"/>
                </a:solidFill>
                <a:latin typeface="Segoe UI"/>
              </a:rPr>
              <a:t>É isso que embarcamos no firmware.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931920"/>
            <a:ext cx="10765231" cy="20574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33087"/>
            <a:ext cx="10149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B2B"/>
                </a:solidFill>
                <a:latin typeface="Segoe UI"/>
              </a:rPr>
              <a:t>tinyML = machine learning em microcontroladores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553712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66577"/>
                </a:solidFill>
                <a:latin typeface="Segoe UI"/>
              </a:rPr>
              <a:t>Modelos de </a:t>
            </a:r>
            <a:r>
              <a:rPr sz="1350" b="1" i="0">
                <a:solidFill>
                  <a:srgbClr val="0B1B2B"/>
                </a:solidFill>
                <a:latin typeface="Segoe UI"/>
              </a:rPr>
              <a:t>kB</a:t>
            </a:r>
            <a:r>
              <a:rPr sz="1350" b="0" i="0">
                <a:solidFill>
                  <a:srgbClr val="566577"/>
                </a:solidFill>
                <a:latin typeface="Segoe UI"/>
              </a:rPr>
              <a:t> (não GB) · consumo de </a:t>
            </a:r>
            <a:r>
              <a:rPr sz="1350" b="1" i="0">
                <a:solidFill>
                  <a:srgbClr val="0B1B2B"/>
                </a:solidFill>
                <a:latin typeface="Segoe UI"/>
              </a:rPr>
              <a:t>mW/µW</a:t>
            </a:r>
            <a:r>
              <a:rPr sz="1350" b="0" i="0">
                <a:solidFill>
                  <a:srgbClr val="566577"/>
                </a:solidFill>
                <a:latin typeface="Segoe UI"/>
              </a:rPr>
              <a:t> (não Watts) · latência de </a:t>
            </a:r>
            <a:r>
              <a:rPr sz="1350" b="1" i="0">
                <a:solidFill>
                  <a:srgbClr val="0B1B2B"/>
                </a:solidFill>
                <a:latin typeface="Segoe UI"/>
              </a:rPr>
              <a:t>ms</a:t>
            </a:r>
            <a:r>
              <a:rPr sz="1350" b="0" i="0">
                <a:solidFill>
                  <a:srgbClr val="566577"/>
                </a:solidFill>
                <a:latin typeface="Segoe UI"/>
              </a:rPr>
              <a:t>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66577"/>
                </a:solidFill>
                <a:latin typeface="Segoe UI"/>
              </a:rPr>
              <a:t>Quantização: pesos em </a:t>
            </a:r>
            <a:r>
              <a:rPr sz="1350" b="1" i="0">
                <a:solidFill>
                  <a:srgbClr val="0B1B2B"/>
                </a:solidFill>
                <a:latin typeface="Segoe UI"/>
              </a:rPr>
              <a:t>int8</a:t>
            </a:r>
            <a:r>
              <a:rPr sz="1350" b="0" i="0">
                <a:solidFill>
                  <a:srgbClr val="566577"/>
                </a:solidFill>
                <a:latin typeface="Segoe UI"/>
              </a:rPr>
              <a:t> em vez de float32 — 4x menor, muito mais rápido em MCU.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66577"/>
                </a:solidFill>
                <a:latin typeface="Segoe UI"/>
              </a:rPr>
              <a:t>Não é LLM/GenAI: são classificadores e detectores </a:t>
            </a:r>
            <a:r>
              <a:rPr sz="1350" b="1" i="0">
                <a:solidFill>
                  <a:srgbClr val="0B1B2B"/>
                </a:solidFill>
                <a:latin typeface="Segoe UI"/>
              </a:rPr>
              <a:t>específicos e enxutos</a:t>
            </a:r>
            <a:r>
              <a:rPr sz="1350" b="0" i="0">
                <a:solidFill>
                  <a:srgbClr val="566577"/>
                </a:solidFill>
                <a:latin typeface="Segoe UI"/>
              </a:rPr>
              <a:t> — gestos, sons, anomalias.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INTRODUÇÃO AO 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Onde a inferência acontece?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Três arquiteturas — este curso vive na terceira: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ultra-low-power edge AI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no SoC wireless a bateria.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3456432" cy="41879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984248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566577"/>
                </a:solidFill>
                <a:latin typeface="Segoe UI"/>
              </a:rPr>
              <a:t>IA NA NUVEM</a:t>
            </a:r>
          </a:p>
        </p:txBody>
      </p:sp>
      <p:pic>
        <p:nvPicPr>
          <p:cNvPr id="11" name="Picture 10" descr="cloud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044" y="2331720"/>
            <a:ext cx="1272808" cy="2240280"/>
          </a:xfrm>
          <a:prstGeom prst="rect">
            <a:avLst/>
          </a:prstGeom>
          <a:ln w="9525">
            <a:solidFill>
              <a:srgbClr val="D3E0EB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969264" y="4709160"/>
            <a:ext cx="294436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Dispositivo envia dado bruto; o modelo roda no datacenter.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5184648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Latência de rede (100 ms–s). Banda e energia de rádio. O dado sai do dispositivo.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783080"/>
            <a:ext cx="3456432" cy="41879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1984248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566577"/>
                </a:solidFill>
                <a:latin typeface="Segoe UI"/>
              </a:rPr>
              <a:t>EDGE AI (GATEWAY)</a:t>
            </a:r>
          </a:p>
        </p:txBody>
      </p:sp>
      <p:pic>
        <p:nvPicPr>
          <p:cNvPr id="16" name="Picture 15" descr="edge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359" y="2331720"/>
            <a:ext cx="1269377" cy="2240280"/>
          </a:xfrm>
          <a:prstGeom prst="rect">
            <a:avLst/>
          </a:prstGeom>
          <a:ln w="9525">
            <a:solidFill>
              <a:srgbClr val="D3E0EB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4626864" y="4709160"/>
            <a:ext cx="294436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Inferência num hub próximo aos dispositivos.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5184648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Menos latência que a nuvem, mas depende de infraestrutura — e o hub vira ponto único de falha.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1783080"/>
            <a:ext cx="3456432" cy="4187952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984248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22C3E6"/>
                </a:solidFill>
                <a:latin typeface="Segoe UI"/>
              </a:rPr>
              <a:t>NO DISPOSITIVO</a:t>
            </a:r>
          </a:p>
        </p:txBody>
      </p:sp>
      <p:pic>
        <p:nvPicPr>
          <p:cNvPr id="21" name="Picture 20" descr="nordic_edge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0244" y="2331720"/>
            <a:ext cx="1272808" cy="2240280"/>
          </a:xfrm>
          <a:prstGeom prst="rect">
            <a:avLst/>
          </a:prstGeom>
          <a:ln w="9525">
            <a:solidFill>
              <a:srgbClr val="D3E0EB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8284464" y="4709160"/>
            <a:ext cx="294436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E8F1F8"/>
                </a:solidFill>
                <a:latin typeface="Segoe UI"/>
              </a:rPr>
              <a:t>Inferência no próprio SoC, junto do sensor.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5184648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Latência de ms e funciona offline. Só o resultado é transmitido; o dado bruto nunca sai.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INTRODUÇÃO AO 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Por que processar localmente?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345643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75564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0093D0"/>
                </a:solidFill>
                <a:latin typeface="Segoe UI"/>
              </a:rPr>
              <a:t>BANDA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21408"/>
            <a:ext cx="2971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Transmitir dado bruto contínuo não escala. Localmente, transmite-se só o evento: “gesto X”, “palavra Y”.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54480"/>
            <a:ext cx="345643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5564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0093D0"/>
                </a:solidFill>
                <a:latin typeface="Segoe UI"/>
              </a:rPr>
              <a:t>ENERGIA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121408"/>
            <a:ext cx="2971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O rádio domina o consumo. Inferir custa µJ; transmitir o dado bruto custa ordens de grandeza mais.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554480"/>
            <a:ext cx="345643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75564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0093D0"/>
                </a:solidFill>
                <a:latin typeface="Segoe UI"/>
              </a:rPr>
              <a:t>LATÊNCIA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121408"/>
            <a:ext cx="2971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Resposta em milissegundos, determinística — sem round-trip de rede.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840480"/>
            <a:ext cx="345643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04164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0093D0"/>
                </a:solidFill>
                <a:latin typeface="Segoe UI"/>
              </a:rPr>
              <a:t>PRIVACIDADE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407408"/>
            <a:ext cx="2971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Voz, movimento e saúde nunca saem do dispositivo. Simplifica LGPD.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3840480"/>
            <a:ext cx="345643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0093D0"/>
                </a:solidFill>
                <a:latin typeface="Segoe UI"/>
              </a:rPr>
              <a:t>DISPONIBILIDADE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4407408"/>
            <a:ext cx="2971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Funciona offline: mina, pasto, subsolo. A função crítica não depende de cobertura.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2" y="3840480"/>
            <a:ext cx="345643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404164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0093D0"/>
                </a:solidFill>
                <a:latin typeface="Segoe UI"/>
              </a:rPr>
              <a:t>CUSTO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4407408"/>
            <a:ext cx="2971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Sem mensalidade de nuvem por dispositivo. O custo é pago uma vez, no silício.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957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INTRODUÇÃO AO 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Casos de uso reais em IoT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Produtos em produção com inferência no dispositivo.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CASOS DE USO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Serra cirúrgica com feedback em tempo real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pic>
        <p:nvPicPr>
          <p:cNvPr id="8" name="Picture 7" descr="case_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772" y="1280160"/>
            <a:ext cx="8408151" cy="4736592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Fonte: Nordic Semiconductor — material de referência interno.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CASOS DE USO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Música controlada por movimento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pic>
        <p:nvPicPr>
          <p:cNvPr id="8" name="Picture 7" descr="case_p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772" y="1280160"/>
            <a:ext cx="8408151" cy="4736592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Fonte: Nordic Semiconductor — material de referência interno.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CASOS DE USO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Controle remoto por gestos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pic>
        <p:nvPicPr>
          <p:cNvPr id="8" name="Picture 7" descr="case_p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772" y="1280160"/>
            <a:ext cx="8408151" cy="4736592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Fonte: Nordic Semiconductor — material de referência interno.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CASOS DE USO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Wearable de acompanhamento de treino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pic>
        <p:nvPicPr>
          <p:cNvPr id="8" name="Picture 7" descr="case_p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772" y="1280160"/>
            <a:ext cx="8408151" cy="4736592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Fonte: Nordic Semiconductor — material de referência interno.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CASOS DE USO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Detecção de vazamento de água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pic>
        <p:nvPicPr>
          <p:cNvPr id="8" name="Picture 7" descr="case_p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772" y="1280160"/>
            <a:ext cx="8408151" cy="4736592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Fonte: Nordic Semiconductor — material de referência interno.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CASOS DE USO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Monitoramento de guindastes industriais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pic>
        <p:nvPicPr>
          <p:cNvPr id="8" name="Picture 7" descr="case_p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772" y="1280160"/>
            <a:ext cx="8408151" cy="4736592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Fonte: Nordic Semiconductor — material de referência interno.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CASOS DE USO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Telemetria de perfuratrizes de mina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pic>
        <p:nvPicPr>
          <p:cNvPr id="8" name="Picture 7" descr="case_p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772" y="1280160"/>
            <a:ext cx="8408151" cy="4736592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Fonte: Nordic Semiconductor — material de referência interno.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CASOS DE USO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Cerca virtual para pecuária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pic>
        <p:nvPicPr>
          <p:cNvPr id="8" name="Picture 7" descr="case_p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772" y="1280160"/>
            <a:ext cx="8408151" cy="4736592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Fonte: Nordic Semiconductor — material de referência interno.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CASOS DE USO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Gestão de nitrogênio no pasto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pic>
        <p:nvPicPr>
          <p:cNvPr id="8" name="Picture 7" descr="case_p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772" y="1280160"/>
            <a:ext cx="8408151" cy="4736592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Fonte: Nordic Semiconductor — material de referência interno.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INTRODUÇÃO AO 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Quase todos são lugares onde a nuvem não chega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3456432" cy="237744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783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22C3E6"/>
                </a:solidFill>
                <a:latin typeface="Segoe UI"/>
              </a:rPr>
              <a:t>SALA CIRÚRGICA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19456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3A6B8"/>
                </a:solidFill>
                <a:latin typeface="Segoe UI"/>
              </a:rPr>
              <a:t>Latência e confiabilidade não podem depender de Wi-Fi. Resposta em ms, no instrumento.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54480"/>
            <a:ext cx="3456432" cy="237744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783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22C3E6"/>
                </a:solidFill>
                <a:latin typeface="Segoe UI"/>
              </a:rPr>
              <a:t>MINA / SUBSOLO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19456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3A6B8"/>
                </a:solidFill>
                <a:latin typeface="Segoe UI"/>
              </a:rPr>
              <a:t>Sem cobertura. O dispositivo decide sozinho e sincroniza quando puder.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554480"/>
            <a:ext cx="3456432" cy="237744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783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22C3E6"/>
                </a:solidFill>
                <a:latin typeface="Segoe UI"/>
              </a:rPr>
              <a:t>PASTO / CAMPO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19456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3A6B8"/>
                </a:solidFill>
                <a:latin typeface="Segoe UI"/>
              </a:rPr>
              <a:t>Milhares de hectares sem rede. Bateria de meses: rádio só para eventos.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343400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B2B"/>
                </a:solidFill>
                <a:latin typeface="Segoe UI"/>
              </a:rPr>
              <a:t>Edge AI não é uma otimização da nuvem.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892040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566577"/>
                </a:solidFill>
                <a:latin typeface="Segoe UI"/>
              </a:rPr>
              <a:t>Em muitos produtos IoT, é a </a:t>
            </a:r>
            <a:r>
              <a:rPr sz="2400" b="1" i="0">
                <a:solidFill>
                  <a:srgbClr val="0093D0"/>
                </a:solidFill>
                <a:latin typeface="Segoe UI"/>
              </a:rPr>
              <a:t>única arquitetura viável</a:t>
            </a:r>
            <a:r>
              <a:rPr sz="2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INTRODUÇÃO AO 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Duas rotas para IA embarcada nesta plataforma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Complementares, não concorrentes — e dá para usar as duas no mesmo produto.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5285232" cy="41148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" y="212140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00224E"/>
                </a:solidFill>
                <a:latin typeface="Segoe UI"/>
              </a:rPr>
              <a:t>ROTA 1 · 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6700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1B2B"/>
                </a:solidFill>
                <a:latin typeface="Segoe UI"/>
              </a:rPr>
              <a:t>tinyML na 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127248"/>
            <a:ext cx="47548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Modelos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Neuton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a rede cresce neurônio a neurônio, com otimização automática.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Roda em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qualquer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SoC da plataforma (Cortex-M33).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Séries temporais: acelerômetro, IMU, PPG.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Footprint típico: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~5 kB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de Flash.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Lab: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reconhecimento de gestos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874519"/>
            <a:ext cx="5285232" cy="41148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73952" y="212140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ROTA 2 · NPU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6700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1B2B"/>
                </a:solidFill>
                <a:latin typeface="Segoe UI"/>
              </a:rPr>
              <a:t>NPU dedicada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127248"/>
            <a:ext cx="47548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Modelos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TensorFlow Lite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compilados para a NPU.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Disponível em SoCs selecionados (nRF54LM20B).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Dados de alta taxa: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áudio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imagem, fusão de sensores.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Até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15x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mais rápido e eficiente que a mesma rede na CPU.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Lab: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wake word + comandos de voz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INTRODUÇÃO AO 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Ferramentas que vamos usar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10765231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3736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B2B"/>
                </a:solidFill>
                <a:latin typeface="Segoe UI"/>
              </a:rPr>
              <a:t>Edge AI Lab (web)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4884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Criação de modelos Neuton, wake word/KWS gerados a partir de texto, compilador para NPU na nuvem e modelos prontos para download.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127248"/>
            <a:ext cx="10765231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310128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B2B"/>
                </a:solidFill>
                <a:latin typeface="Segoe UI"/>
              </a:rPr>
              <a:t>Edge AI Add-on (nRF Connect SDK)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721608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Runtime, driver da NPU, DSP e samples de referência: gesture recognition, wake word/KWS e benchmarks de consumo.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700016"/>
            <a:ext cx="10765231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882896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B2B"/>
                </a:solidFill>
                <a:latin typeface="Segoe UI"/>
              </a:rPr>
              <a:t>Kits em bancada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294376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nRF54LM20-DK (CPU + NPU) · nRF54L15-TAG (IMU para gestos e coleta) · microfone PDM MEMS.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MÃOS À OBRA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05840"/>
            <a:ext cx="1076523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8F1F8"/>
                </a:solidFill>
                <a:latin typeface="Segoe UI"/>
              </a:rPr>
              <a:t>O que vamos construir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57400"/>
            <a:ext cx="10765231" cy="1207008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2478024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LAB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2276856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F1F8"/>
                </a:solidFill>
                <a:latin typeface="Segoe UI"/>
              </a:rPr>
              <a:t>Gestos com acelerômetro — tinyML na CPU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269748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6B8"/>
                </a:solidFill>
                <a:latin typeface="Segoe UI"/>
              </a:rPr>
              <a:t>Coleta de dados → geração do modelo no Edge AI Lab → flash → validação no kit.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429000"/>
            <a:ext cx="10765231" cy="1207008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" y="3849624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LAB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3648456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F1F8"/>
                </a:solidFill>
                <a:latin typeface="Segoe UI"/>
              </a:rPr>
              <a:t>Wake word + comandos de voz — NPU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406908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6B8"/>
                </a:solidFill>
                <a:latin typeface="Segoe UI"/>
              </a:rPr>
              <a:t>Microfone PDM → pipeline pronto de wake word → comandos por voz no DK.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800600"/>
            <a:ext cx="10765231" cy="1207008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7552" y="5221224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LAB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5020056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F1F8"/>
                </a:solidFill>
                <a:latin typeface="Segoe UI"/>
              </a:rPr>
              <a:t>Benchmark NPU × CPU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544068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3A6B8"/>
                </a:solidFill>
                <a:latin typeface="Segoe UI"/>
              </a:rPr>
              <a:t>A mesma rede nos dois alvos: medir latência e energia por inferência.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