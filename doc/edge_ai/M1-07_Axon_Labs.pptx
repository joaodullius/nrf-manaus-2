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07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Axon na bancada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Do microfone ao comando de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Cinco labs em sequência: provar o microfone, rodar o wake word da Nordic, pendurar um zip do Edge AI Lab na NPU, trocar o zip — e pôr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cinco detectores para ouvir ao mesmo tempo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680667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nRF54LM20-DK (B)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6779" y="4709160"/>
            <a:ext cx="193578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Adafruit 3492 · PDM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443" y="4709160"/>
            <a:ext cx="210586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Edge AI Add-on v2.3.0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84186" y="4709160"/>
            <a:ext cx="193578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zips do Edge AI Lab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07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roteiro — cada lab prova uma coisa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hardware para o modelo, sempre com um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teste que prova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passo anterior antes de somar o próximo.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774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476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202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06 · mic_check — provar o microfone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Zephyr puro, sem modelo: barra de VU na serial. Se o áudio não chega, nada do resto vale.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24612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8620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7889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07 · ww_kws — o app da Nordic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0998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“Okay Nordic” + 10 comandos, dois modelos na NPU. O demo que abre a porta.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11480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68503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65760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08 · cough_detection — um zip do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96849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molde: um modelo, as 4 chamadas, um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180 linhas.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9834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5537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5262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09 · dog_bark_detection — outro zip, mesmo molde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8371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Trocar o modelo não muda o app — muda a calibração.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4223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4681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3949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10 · sound_events — cinco de uma vez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7058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Multiplexing da NPU, interlayer buffer compartilhado, calibração por detector.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07 · OS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Kit e convenção de build — igual para os cinco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DK faz tudo: alimenta e programa o SoC, dá as duas seriais e os pinos do microfone.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Nenhum outro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nRF54LM20-DK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variante B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(nRF54LM20B, o SoC com Axon) + microfone PDM MEMS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Adafruit 3492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(SPH0641), fios fêmea-fêmea no header P2.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883664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Build no VS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414016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Board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nrf54lm20dk/nrf54lm20b/cpuapp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SDK v3.4.0.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Atenção ao -D: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nos labs 07–10 o add-on entra em Extra CMake arguments com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-DEXTRA_ZEPHYR_MODULES=C:/ncs/sdk-edge-ai/edge-ai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o 06 dispensa.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90772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707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Sem compilar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21124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edge_ai/hex/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tem um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.hex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pronto por lab: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program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reset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Para repetir, recuperar uma placa ou seguir a aula.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3890772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03707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Console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4421124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Console Zephyr na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VCOM1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(segunda COM da DK), 115200. O 07 usa também 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VCOM0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para os estados do app.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Serial Terminal aberto numa COM bloqueia qualquer outro programa nela — feche antes de automatizar.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06 · mic_check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Antes de qualquer modelo: o áudio está chegando? Um modelo mudo não diz se o problema é fio, canal, alimentação ou o modelo.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06 · MIC_CHECK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ligação — cinco fios no header P2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pic>
        <p:nvPicPr>
          <p:cNvPr id="8" name="Picture 7" descr="ligacao_mic_pdm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90" y="1280160"/>
            <a:ext cx="8237115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06 · MIC_CHECK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cinco fios — e as três pegadinhas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Tudo cabe no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(serigrafia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PORT1 00-15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P1.05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4º pino da linha de cima,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P1.04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4º da de baixo; VDD IO e GND nas pontas.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19"/>
                <a:gridCol w="1463039"/>
                <a:gridCol w="76562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Adafruit 3492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DK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Por quê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3V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VDD 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alimenta o mic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no nível dos GPIO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(1,8 V). O verso diz 3,3 V, mas o SPH0641 aceita 1,62–3,6 V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GND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GND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terra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GND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escolhe 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canal esquerdo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o único que o app lê. Solto ou em 3V → só zeros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P1.04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clock PDM gerado pela DK (1–3,25 MHz)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DAT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P1.05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dados PDM, 1 bit por pulso de clock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Não usar os headers de 5 V (P6–P10, P18): o mic aguenta, mas o DAT voltaria em 5 V para um GPIO de 1,8 V. PDM20 só aceita pinos dos portos P1/P3.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06 · MIC_CHECK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se vê — e o que cada sintoma significa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Consolas"/>
              </a:rPr>
              <a:t>AMOSTRAS TODAS IGUAIS (0)</a:t>
            </a:r>
            <a:r>
              <a:rPr sz="1500" b="0">
                <a:solidFill>
                  <a:srgbClr val="0B1B2B"/>
                </a:solidFill>
                <a:latin typeface="Segoe UI"/>
              </a:rPr>
              <a:t> → DAT solto, SEL no lado errado ou mic sem VDD.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rms alto e constante</a:t>
            </a:r>
            <a:r>
              <a:rPr sz="1500" b="0">
                <a:solidFill>
                  <a:srgbClr val="0B1B2B"/>
                </a:solidFill>
                <a:latin typeface="Segoe UI"/>
              </a:rPr>
              <a:t> sem som → CLK trocado com DAT, ou mic em 5 V.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Consolas"/>
              </a:rPr>
              <a:t>dmic_read falhou</a:t>
            </a:r>
            <a:r>
              <a:rPr sz="1500" b="0">
                <a:solidFill>
                  <a:srgbClr val="0B1B2B"/>
                </a:solidFill>
                <a:latin typeface="Segoe UI"/>
              </a:rPr>
              <a:t> → o PDM não entrega blocos: overlay/pino, não é fio.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192024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5179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=== mic_check: PDM20 CLK=P1.04 DAT=P1.05 SEL=GND, 16 kHz mono ===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PDM rodando. Fale perto do microfone e veja a barra subir.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   12] rms=    4 pico=   15 dc= 0 |</a:t>
            </a:r>
            <a:r>
              <a:rPr sz="1400" b="0">
                <a:solidFill>
                  <a:srgbClr val="7FB58E"/>
                </a:solidFill>
                <a:latin typeface="Consolas"/>
              </a:rPr>
              <a:t>###                 |  -78 dBFS   &lt;- silêncio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   61] rms=  154 pico=  367 dc= 0 |</a:t>
            </a:r>
            <a:r>
              <a:rPr sz="1400" b="0">
                <a:solidFill>
                  <a:srgbClr val="7FB58E"/>
                </a:solidFill>
                <a:latin typeface="Consolas"/>
              </a:rPr>
              <a:t>##########          |  -46 dBFS   &lt;- falando perto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   77] rms=  880 pico= 4884 dc= 2 |</a:t>
            </a:r>
            <a:r>
              <a:rPr sz="1400" b="0">
                <a:solidFill>
                  <a:srgbClr val="7FB58E"/>
                </a:solidFill>
                <a:latin typeface="Consolas"/>
              </a:rPr>
              <a:t>#############       |  -31 dBFS   &lt;- sopro no 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700016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Números reais da bancada do curso: em silêncio rms 3–5; sopro ou batidinha satura — se não saturar, o dado não é acústico.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07 · ww_kws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app da Nordic, copiado literal do add-on: dois modelos, uma NPU, “Okay Nordic” e dez comandos.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07 · WW_KWS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mic às saídas — dois modelos em série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stream do PDM é um só e nunca para;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quem o consome é o loop ativo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Cada bloco de 10 ms alimenta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modelo — o outro nem vê o áudio.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1965960" cy="9875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84832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Mic PDM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14016"/>
            <a:ext cx="163677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Adafruit 3492, SEL=GND: 1 bit por clock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64992"/>
            <a:ext cx="1965960" cy="9875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474720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PDM20 + EasyDMA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803904"/>
            <a:ext cx="163677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decima p/ PCM 16 kHz e escreve na 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754880"/>
            <a:ext cx="1965960" cy="9875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864608"/>
            <a:ext cx="16367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mem_slab (RAM)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193792"/>
            <a:ext cx="1636776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4 blocos de 10 ms —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100 blocos/s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, sempre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96212" y="2962656"/>
            <a:ext cx="0" cy="402336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96212" y="4352544"/>
            <a:ext cx="0" cy="402336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5815584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566577"/>
                </a:solidFill>
                <a:latin typeface="Segoe UI"/>
              </a:rPr>
              <a:t>stream contínuo — não para nunca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2152" y="1929384"/>
            <a:ext cx="4983480" cy="1572768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2039112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F1F8"/>
                </a:solidFill>
                <a:latin typeface="Segoe UI"/>
              </a:rPr>
              <a:t>ESTADO 1 · ww_loop() — escutando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2368296"/>
            <a:ext cx="4654296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6B8"/>
                </a:solidFill>
                <a:latin typeface="Consolas"/>
              </a:rPr>
              <a:t>dmic_read()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→ </a:t>
            </a:r>
            <a:r>
              <a:rPr sz="1050" b="0" i="0">
                <a:solidFill>
                  <a:srgbClr val="93A6B8"/>
                </a:solidFill>
                <a:latin typeface="Consolas"/>
              </a:rPr>
              <a:t>ww_process()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: mels +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rede 36711 (35 kB)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na NPU → pós-proc: 15 de 20 quadros ≥ 0,99.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Só este loop lê o stream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enquanto está ativo.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2152" y="4626864"/>
            <a:ext cx="4983480" cy="157276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66744" y="4736592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ESTADO 2 · kws_loop() — janela de 3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66744" y="5065776"/>
            <a:ext cx="4654296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dmic_read()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kws_process()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: mels +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rede 36712 (359 kB)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na NPU → pós-proc: 10 seguidas com EMA ≥ 0,8. Cada comando aceito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renova os 3 s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33672" y="3502152"/>
            <a:ext cx="0" cy="1124712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54112" y="3502152"/>
            <a:ext cx="0" cy="1124712"/>
          </a:xfrm>
          <a:prstGeom prst="line">
            <a:avLst/>
          </a:prstGeom>
          <a:ln w="25400">
            <a:solidFill>
              <a:srgbClr val="22C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70832" y="3575304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detectou → kws_reset() · LED0 acende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813048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o KWS começa zerado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4105656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22C3E6"/>
                </a:solidFill>
                <a:latin typeface="Segoe UI"/>
              </a:rPr>
              <a:t>timeout 3 s → ww_reset() · LED0 apaga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434340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o wake word começa zerado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79192" y="5248656"/>
            <a:ext cx="457200" cy="0"/>
          </a:xfrm>
          <a:prstGeom prst="line">
            <a:avLst/>
          </a:prstGeom>
          <a:ln w="25400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36392" y="2715768"/>
            <a:ext cx="0" cy="2697480"/>
          </a:xfrm>
          <a:prstGeom prst="line">
            <a:avLst/>
          </a:prstGeom>
          <a:ln w="25400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36392" y="2715768"/>
            <a:ext cx="365760" cy="0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36392" y="5413248"/>
            <a:ext cx="365760" cy="0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24912" y="2670048"/>
            <a:ext cx="365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66577"/>
                </a:solidFill>
                <a:latin typeface="Segoe UI"/>
              </a:rPr>
              <a:t>um bloco</a:t>
            </a:r>
          </a:p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66577"/>
                </a:solidFill>
                <a:latin typeface="Segoe UI"/>
              </a:rPr>
              <a:t>→ um loop</a:t>
            </a:r>
          </a:p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66577"/>
                </a:solidFill>
                <a:latin typeface="Segoe UI"/>
              </a:rPr>
              <a:t>(o ativo)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97111" y="1929384"/>
            <a:ext cx="2581352" cy="1874519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1703" y="2039112"/>
            <a:ext cx="2252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Saídas do estado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3" y="2368296"/>
            <a:ext cx="2252168" cy="137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VCOM0: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Waiting for wakeword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Wakeword detected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LED0: acende ao detectar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97111" y="4626864"/>
            <a:ext cx="2581352" cy="157276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3" y="4736592"/>
            <a:ext cx="22521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Saídas do estado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3" y="5065776"/>
            <a:ext cx="225216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VCOM0: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Keyword spotted: stop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…window timeout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LED1: pisca 1 s por comando aceito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85632" y="2478024"/>
            <a:ext cx="411479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485632" y="5175504"/>
            <a:ext cx="411479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07 · WW_KWS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Roteiro de teste — duas seriais, dois LEDs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Pronúncia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inglês americano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(“ôu-kei nór-dik”). Validado na bancada: 3 ativações seguidas e seis comandos reconhecidos.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8117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3820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277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545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Abra as duas COMs a 115200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6654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VCOM0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uart30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): estados do app ·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VCOM1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uart20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): logs do Zephyr e o banner de boot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68046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506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2964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2232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Diga “Okay Nordic” a ~30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5341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VCOM0 mostra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Wakeword detected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Waiting for keywords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;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LED0 acende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5491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Diga um comando: yes, stop, go, up, down, left, right, on, off, 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Keyword spotted: stop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;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LED1 pisca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1 s; cada acerto renova a janela de 3 s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49880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337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606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Fique em silêncio 3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2715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Keyword spotting window timeout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LED0 apaga — volta a esperar a wake word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07 · WW_KWS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Ver o modelo pensar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Fragmento de debug: 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CONFIG_LOG_DEFAULT_LEVEL=4</a:t>
            </a:r>
            <a:r>
              <a:rPr sz="1500" b="0">
                <a:solidFill>
                  <a:srgbClr val="0B1B2B"/>
                </a:solidFill>
                <a:latin typeface="Segoe UI"/>
              </a:rPr>
              <a:t> + 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CONFIG_CBPRINTF_FP_SUPPORT=y</a:t>
            </a:r>
            <a:r>
              <a:rPr sz="1500" b="0">
                <a:solidFill>
                  <a:srgbClr val="0B1B2B"/>
                </a:solidFill>
                <a:latin typeface="Segoe UI"/>
              </a:rPr>
              <a:t>; silencie </a:t>
            </a:r>
            <a:r>
              <a:rPr sz="1500" b="0">
                <a:solidFill>
                  <a:srgbClr val="0B1B2B"/>
                </a:solidFill>
                <a:latin typeface="Consolas"/>
              </a:rPr>
              <a:t>AUDIO_DMIC</a:t>
            </a:r>
            <a:r>
              <a:rPr sz="1500" b="0">
                <a:solidFill>
                  <a:srgbClr val="0B1B2B"/>
                </a:solidFill>
                <a:latin typeface="Segoe UI"/>
              </a:rPr>
              <a:t>, </a:t>
            </a:r>
            <a:r>
              <a:rPr sz="1500" b="0">
                <a:solidFill>
                  <a:srgbClr val="0B1B2B"/>
                </a:solidFill>
                <a:latin typeface="Consolas"/>
              </a:rPr>
              <a:t>KERNEL</a:t>
            </a:r>
            <a:r>
              <a:rPr sz="1500" b="0">
                <a:solidFill>
                  <a:srgbClr val="0B1B2B"/>
                </a:solidFill>
                <a:latin typeface="Segoe UI"/>
              </a:rPr>
              <a:t> e </a:t>
            </a:r>
            <a:r>
              <a:rPr sz="1500" b="0">
                <a:solidFill>
                  <a:srgbClr val="0B1B2B"/>
                </a:solidFill>
                <a:latin typeface="Consolas"/>
              </a:rPr>
              <a:t>CLOCK_CONTROL</a:t>
            </a:r>
            <a:r>
              <a:rPr sz="1500" b="0">
                <a:solidFill>
                  <a:srgbClr val="0B1B2B"/>
                </a:solidFill>
                <a:latin typeface="Segoe UI"/>
              </a:rPr>
              <a:t> ou o log afoga.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Uma linha a cada </a:t>
            </a:r>
            <a:r>
              <a:rPr sz="1500" b="1">
                <a:solidFill>
                  <a:srgbClr val="0093D0"/>
                </a:solidFill>
                <a:latin typeface="Segoe UI"/>
              </a:rPr>
              <a:t>30 ms</a:t>
            </a:r>
            <a:r>
              <a:rPr sz="1500" b="0">
                <a:solidFill>
                  <a:srgbClr val="0B1B2B"/>
                </a:solidFill>
                <a:latin typeface="Segoe UI"/>
              </a:rPr>
              <a:t>: a probabilidade crava em 0,996 e o </a:t>
            </a:r>
            <a:r>
              <a:rPr sz="1500" b="0">
                <a:solidFill>
                  <a:srgbClr val="0B1B2B"/>
                </a:solidFill>
                <a:latin typeface="Consolas"/>
              </a:rPr>
              <a:t>count</a:t>
            </a:r>
            <a:r>
              <a:rPr sz="1500" b="0">
                <a:solidFill>
                  <a:srgbClr val="0B1B2B"/>
                </a:solidFill>
                <a:latin typeface="Segoe UI"/>
              </a:rPr>
              <a:t> sobe até 15 de 20 — aí dispara.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[00:13:33.031] &lt;dbg&gt; ww: postprocess: count:  0, probability: 0.472656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[00:13:33.061] &lt;dbg&gt; ww: postprocess: count:  0, probability: 0.929688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[00:13:33.091] &lt;dbg&gt; ww: postprocess: count:  0, probability: 0.988281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[00:13:33.121] &lt;dbg&gt; ww: postprocess: count:  1, probability: 0.996094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[00:13:33.151] &lt;dbg&gt; ww: postprocess: count:  2, probability: 0.996094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...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[00:13:33.481] &lt;dbg&gt; ww: postprocess: count: 10, probability: 0.996094   -&gt; Wakeword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93471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Captura real da bancada. Se a frase não pega: baixe CONFIG_WW_PROBABILITY_THRESHOLD (990) ou WW_COUNT_THRESHOLD (15) num .conf extra.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07 · WW_KWS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Modos do app — e a manutenção da bancada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Tudo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choice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 Kconfig — troca em Extra CMake arguments com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-D07_ww_kws_CONFIG_APP_MODE_*=y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(prefixo da imagem no sysbuild), sem tocar no código.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19"/>
                <a:gridCol w="4206239"/>
                <a:gridCol w="35414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Comportamento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Serve para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APP_MODE_WW_GATED_KWS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wake word → janela de comandos → volta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produto real (padrão)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APP_MODE_WW_ONLY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a wake word; LED0 pisca a cada detecção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demonstrar a NPU com um modelo só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APP_MODE_KWS_ONLY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comandos, o tempo todo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medir o custo do modelo grande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-DFILE_SUFFIX=release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logs nem asserts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medir consumo sem UART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Placa que sumiu do USB ou gravação silenciosa que não pegou: confira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nrfutil device device-info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antes de gravar;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nrfutil device recover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limpa o que travou.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Labs 08 e 09 · um zip do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jeito mais curto de sair de um zip baixado do Edge AI Lab para um firmware rodando na NPU — e a prova de que o molde é reutilizável.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LABS 08–09 · UM ZIP DO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molde — um modelo, as 4 chamadas, um loop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Copie a pasta </a:t>
            </a:r>
            <a:r>
              <a:rPr sz="1500" b="0">
                <a:solidFill>
                  <a:srgbClr val="0B1B2B"/>
                </a:solidFill>
                <a:latin typeface="Consolas"/>
              </a:rPr>
              <a:t>nrf_edgeai_generated/</a:t>
            </a:r>
            <a:r>
              <a:rPr sz="1500" b="0">
                <a:solidFill>
                  <a:srgbClr val="0B1B2B"/>
                </a:solidFill>
                <a:latin typeface="Segoe UI"/>
              </a:rPr>
              <a:t> do zip para </a:t>
            </a:r>
            <a:r>
              <a:rPr sz="1500" b="0">
                <a:solidFill>
                  <a:srgbClr val="0B1B2B"/>
                </a:solidFill>
                <a:latin typeface="Consolas"/>
              </a:rPr>
              <a:t>src/</a:t>
            </a:r>
            <a:r>
              <a:rPr sz="1500" b="0">
                <a:solidFill>
                  <a:srgbClr val="0B1B2B"/>
                </a:solidFill>
                <a:latin typeface="Segoe UI"/>
              </a:rPr>
              <a:t>, use o </a:t>
            </a:r>
            <a:r>
              <a:rPr sz="1500" b="0">
                <a:solidFill>
                  <a:srgbClr val="0B1B2B"/>
                </a:solidFill>
                <a:latin typeface="Consolas"/>
              </a:rPr>
              <a:t>prj_example.conf</a:t>
            </a:r>
            <a:r>
              <a:rPr sz="1500" b="0">
                <a:solidFill>
                  <a:srgbClr val="0B1B2B"/>
                </a:solidFill>
                <a:latin typeface="Segoe UI"/>
              </a:rPr>
              <a:t> que vem dentro — e o </a:t>
            </a:r>
            <a:r>
              <a:rPr sz="1500" b="0">
                <a:solidFill>
                  <a:srgbClr val="0B1B2B"/>
                </a:solidFill>
                <a:latin typeface="Consolas"/>
              </a:rPr>
              <a:t>main.c</a:t>
            </a:r>
            <a:r>
              <a:rPr sz="1500" b="0">
                <a:solidFill>
                  <a:srgbClr val="0B1B2B"/>
                </a:solidFill>
                <a:latin typeface="Segoe UI"/>
              </a:rPr>
              <a:t> acima é o app inteiro.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Detector de </a:t>
            </a:r>
            <a:r>
              <a:rPr sz="1500" b="1">
                <a:solidFill>
                  <a:srgbClr val="0093D0"/>
                </a:solidFill>
                <a:latin typeface="Segoe UI"/>
              </a:rPr>
              <a:t>1 classe</a:t>
            </a:r>
            <a:r>
              <a:rPr sz="1500" b="0">
                <a:solidFill>
                  <a:srgbClr val="0B1B2B"/>
                </a:solidFill>
                <a:latin typeface="Segoe UI"/>
              </a:rPr>
              <a:t>: </a:t>
            </a:r>
            <a:r>
              <a:rPr sz="1500" b="0">
                <a:solidFill>
                  <a:srgbClr val="0B1B2B"/>
                </a:solidFill>
                <a:latin typeface="Consolas"/>
              </a:rPr>
              <a:t>p_f32[0]</a:t>
            </a:r>
            <a:r>
              <a:rPr sz="1500" b="0">
                <a:solidFill>
                  <a:srgbClr val="0B1B2B"/>
                </a:solidFill>
                <a:latin typeface="Segoe UI"/>
              </a:rPr>
              <a:t> é a probabilidade do evento.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323697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nrf_edgeai_t *p_model = nrf_edgeai_user_model();      </a:t>
            </a:r>
            <a:r>
              <a:rPr sz="1381" b="0">
                <a:solidFill>
                  <a:srgbClr val="7FB58E"/>
                </a:solidFill>
                <a:latin typeface="Consolas"/>
              </a:rPr>
              <a:t>/* alias: com UM modelo, aponta p/ ele */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nrf_edgeai_init(p_model);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381" b="1">
                <a:solidFill>
                  <a:srgbClr val="4FC3E8"/>
                </a:solidFill>
                <a:latin typeface="Consolas"/>
              </a:rPr>
              <a:t>while</a:t>
            </a:r>
            <a:r>
              <a:rPr sz="1381" b="0">
                <a:solidFill>
                  <a:srgbClr val="DCE8F2"/>
                </a:solidFill>
                <a:latin typeface="Consolas"/>
              </a:rPr>
              <a:t> (</a:t>
            </a:r>
            <a:r>
              <a:rPr sz="1381" b="1">
                <a:solidFill>
                  <a:srgbClr val="4FC3E8"/>
                </a:solidFill>
                <a:latin typeface="Consolas"/>
              </a:rPr>
              <a:t>true</a:t>
            </a:r>
            <a:r>
              <a:rPr sz="1381" b="0">
                <a:solidFill>
                  <a:srgbClr val="DCE8F2"/>
                </a:solidFill>
                <a:latin typeface="Consolas"/>
              </a:rPr>
              <a:t>) {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    dmic_read(dmic_dev, 0, &amp;buf, &amp;size, READ_TIMEOUT_MS);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    res = nrf_edgeai_feed_inputs(p_model, buf, DMIC_SAMPLES_IN_BLOCK);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    k_mem_slab_free(&amp;dmic_mem_slab, buf);            </a:t>
            </a:r>
            <a:r>
              <a:rPr sz="1381" b="0">
                <a:solidFill>
                  <a:srgbClr val="7FB58E"/>
                </a:solidFill>
                <a:latin typeface="Consolas"/>
              </a:rPr>
              <a:t>/* devolve o bloco ao PDM já */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    </a:t>
            </a:r>
            <a:r>
              <a:rPr sz="1381" b="1">
                <a:solidFill>
                  <a:srgbClr val="4FC3E8"/>
                </a:solidFill>
                <a:latin typeface="Consolas"/>
              </a:rPr>
              <a:t>if</a:t>
            </a:r>
            <a:r>
              <a:rPr sz="1381" b="0">
                <a:solidFill>
                  <a:srgbClr val="DCE8F2"/>
                </a:solidFill>
                <a:latin typeface="Consolas"/>
              </a:rPr>
              <a:t> (res != NRF_EDGEAI_ERR_SUCCESS) continue;     </a:t>
            </a:r>
            <a:r>
              <a:rPr sz="1381" b="0">
                <a:solidFill>
                  <a:srgbClr val="7FB58E"/>
                </a:solidFill>
                <a:latin typeface="Consolas"/>
              </a:rPr>
              <a:t>/* INPROGRESS: janela não fechou */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    </a:t>
            </a:r>
            <a:r>
              <a:rPr sz="1381" b="1">
                <a:solidFill>
                  <a:srgbClr val="4FC3E8"/>
                </a:solidFill>
                <a:latin typeface="Consolas"/>
              </a:rPr>
              <a:t>if</a:t>
            </a:r>
            <a:r>
              <a:rPr sz="1381" b="0">
                <a:solidFill>
                  <a:srgbClr val="DCE8F2"/>
                </a:solidFill>
                <a:latin typeface="Consolas"/>
              </a:rPr>
              <a:t> (nrf_edgeai_run_inference(p_model) != NRF_EDGEAI_ERR_SUCCESS) continue;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    </a:t>
            </a:r>
            <a:r>
              <a:rPr sz="1381" b="1">
                <a:solidFill>
                  <a:srgbClr val="4FC3E8"/>
                </a:solidFill>
                <a:latin typeface="Consolas"/>
              </a:rPr>
              <a:t>float</a:t>
            </a:r>
            <a:r>
              <a:rPr sz="1381" b="0">
                <a:solidFill>
                  <a:srgbClr val="DCE8F2"/>
                </a:solidFill>
                <a:latin typeface="Consolas"/>
              </a:rPr>
              <a:t> prob = p_model-&gt;decoded_output.classif.probabilities.p_f32[0];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    </a:t>
            </a:r>
            <a:r>
              <a:rPr sz="1381" b="0">
                <a:solidFill>
                  <a:srgbClr val="7FB58E"/>
                </a:solidFill>
                <a:latin typeface="Consolas"/>
              </a:rPr>
              <a:t>/* ... contagem de quadros acima do limiar → "&gt;&gt;&gt; TOSSE" */</a:t>
            </a:r>
          </a:p>
          <a:p>
            <a:pPr>
              <a:lnSpc>
                <a:spcPct val="112000"/>
              </a:lnSpc>
            </a:pPr>
            <a:r>
              <a:rPr sz="1381" b="0">
                <a:solidFill>
                  <a:srgbClr val="DCE8F2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1675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edge_ai/08_cough_detection/src/main.c — o guia genérico do Lab está preservado como README_edgeai_lab.md na pasta.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LABS 08–09 · UM ZIP DO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Trocar o zip não muda o app — muda a calibração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Dois zips, o mesmo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a única diferença está em duas constantes: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RAW_THRESHOLD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MIN_HITS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Descobrir as suas é trabalho de bancada.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08 · tosse (tímido)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Limiar bruto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0,50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quadros em 15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Tosse real: picos de 87–99 % em 1–3 quadros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Evento curto: contagem de quadros, nunca média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Validado: 4 detecções numa janela de 25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09 · latido (gatilho fácil)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Limiar bruto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0,90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5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quadros em 15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Dispara a 92–99 % em qualquer som impulsivo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 o freio, atira em tosse, miado e ronco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Com o freio: só o latido de verdade passa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Mesma arquitetura, mesmo tamanho (~35 kB), datasets diferentes → sensibilidades diferentes. O limiar é de cada modelo.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LABS 08–09 · UM ZIP DO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Exercício — o seu zip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fluxo real de Edge AI: modelo pronto → medir na bancada → calibrar → (se não convence) retreinar no Lab com dados seus.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Baixe </a:t>
            </a:r>
            <a:r>
              <a:rPr sz="1700" b="1">
                <a:solidFill>
                  <a:srgbClr val="0093D0"/>
                </a:solidFill>
                <a:latin typeface="Segoe UI"/>
              </a:rPr>
              <a:t>outro detector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Edge AI Lab (ronco, miado, choro, vidro quebrando…).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Substitua </a:t>
            </a:r>
            <a:r>
              <a:rPr sz="1700" b="0">
                <a:solidFill>
                  <a:srgbClr val="0B1B2B"/>
                </a:solidFill>
                <a:latin typeface="Consolas"/>
              </a:rPr>
              <a:t>src/nrf_edgeai_generated/</a:t>
            </a:r>
            <a:r>
              <a:rPr sz="1700" b="0">
                <a:solidFill>
                  <a:srgbClr val="0B1B2B"/>
                </a:solidFill>
                <a:latin typeface="Segoe UI"/>
              </a:rPr>
              <a:t> no 08 e faça um </a:t>
            </a:r>
            <a:r>
              <a:rPr sz="1700" b="1">
                <a:solidFill>
                  <a:srgbClr val="0093D0"/>
                </a:solidFill>
                <a:latin typeface="Segoe UI"/>
              </a:rPr>
              <a:t>pristine build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nada mais muda: o alias </a:t>
            </a:r>
            <a:r>
              <a:rPr sz="1400" b="0">
                <a:solidFill>
                  <a:srgbClr val="566577"/>
                </a:solidFill>
                <a:latin typeface="Consolas"/>
              </a:rPr>
              <a:t>nrf_edgeai_user_model()</a:t>
            </a:r>
            <a:r>
              <a:rPr sz="1400" b="0">
                <a:solidFill>
                  <a:srgbClr val="566577"/>
                </a:solidFill>
                <a:latin typeface="Segoe UI"/>
              </a:rPr>
              <a:t> segue o modelo embarcado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Olhe o </a:t>
            </a:r>
            <a:r>
              <a:rPr sz="1700" b="1">
                <a:solidFill>
                  <a:srgbClr val="0093D0"/>
                </a:solidFill>
                <a:latin typeface="Segoe UI"/>
              </a:rPr>
              <a:t>pico</a:t>
            </a:r>
            <a:r>
              <a:rPr sz="1700" b="0">
                <a:solidFill>
                  <a:srgbClr val="0B1B2B"/>
                </a:solidFill>
                <a:latin typeface="Segoe UI"/>
              </a:rPr>
              <a:t> no painel enquanto produz o som — não o disparo.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o pico diz o que o modelo viu; a média esconde evento curto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Calibre </a:t>
            </a:r>
            <a:r>
              <a:rPr sz="1700" b="0">
                <a:solidFill>
                  <a:srgbClr val="0B1B2B"/>
                </a:solidFill>
                <a:latin typeface="Consolas"/>
              </a:rPr>
              <a:t>RAW_THRESHOLD</a:t>
            </a:r>
            <a:r>
              <a:rPr sz="1700" b="0">
                <a:solidFill>
                  <a:srgbClr val="0B1B2B"/>
                </a:solidFill>
                <a:latin typeface="Segoe UI"/>
              </a:rPr>
              <a:t> e </a:t>
            </a:r>
            <a:r>
              <a:rPr sz="1700" b="0">
                <a:solidFill>
                  <a:srgbClr val="0B1B2B"/>
                </a:solidFill>
                <a:latin typeface="Consolas"/>
              </a:rPr>
              <a:t>MIN_HITS</a:t>
            </a:r>
            <a:r>
              <a:rPr sz="1700" b="0">
                <a:solidFill>
                  <a:srgbClr val="0B1B2B"/>
                </a:solidFill>
                <a:latin typeface="Segoe UI"/>
              </a:rPr>
              <a:t> ao temperamento do modelo novo.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Registre: som testado, pico, falsos positivos — é o que vai para o </a:t>
            </a:r>
            <a:r>
              <a:rPr sz="1700" b="0">
                <a:solidFill>
                  <a:srgbClr val="0B1B2B"/>
                </a:solidFill>
                <a:latin typeface="Consolas"/>
              </a:rPr>
              <a:t>README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10 · cinco detectores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Choro de bebê, latido, ronco, tosse e miado — cinco engines no mesmo microfone, intercaladas na mesma NPU.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10 · CINCO DETECTORES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cinco cabem numa NPU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“Ao mesmo tempo” = intercalado por janela de 30 ms: cada inferência dura uma fração disso, sobra NPU.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Adicionar um detector é uma linha na tabela.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dmic_read()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um bloco de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10 ms do PDM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feed ×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MESMO bloco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alimenta as cinco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engines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free do bloco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só depois de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alimentar todas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inferências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as que fecharam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janela rodam em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sequência na NPU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5 pós-proc.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limiar + quadros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por detector,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painel e traço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064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copia p/ janelas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790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mutex serializa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Interlayer buffer compartilhado: os cinco declaram 6.048 B — cinco modelos custam o mesmo buffer que um. Flash: 5 × ~35 kB.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10 · CINCO DETECTORES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painel — olhe o pico, não a média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Consolas"/>
              </a:rPr>
              <a:t>rms</a:t>
            </a:r>
            <a:r>
              <a:rPr sz="1500" b="0">
                <a:solidFill>
                  <a:srgbClr val="0B1B2B"/>
                </a:solidFill>
                <a:latin typeface="Segoe UI"/>
              </a:rPr>
              <a:t> = nível de áudio que chegou (compare com o mic_check); </a:t>
            </a:r>
            <a:r>
              <a:rPr sz="1500" b="0">
                <a:solidFill>
                  <a:srgbClr val="0B1B2B"/>
                </a:solidFill>
                <a:latin typeface="Consolas"/>
              </a:rPr>
              <a:t>EMA/pico</a:t>
            </a:r>
            <a:r>
              <a:rPr sz="1500" b="0">
                <a:solidFill>
                  <a:srgbClr val="0B1B2B"/>
                </a:solidFill>
                <a:latin typeface="Segoe UI"/>
              </a:rPr>
              <a:t> por detector.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As linhas </a:t>
            </a:r>
            <a:r>
              <a:rPr sz="1500" b="0">
                <a:solidFill>
                  <a:srgbClr val="0B1B2B"/>
                </a:solidFill>
                <a:latin typeface="Consolas"/>
              </a:rPr>
              <a:t>~</a:t>
            </a:r>
            <a:r>
              <a:rPr sz="1500" b="0">
                <a:solidFill>
                  <a:srgbClr val="0B1B2B"/>
                </a:solidFill>
                <a:latin typeface="Segoe UI"/>
              </a:rPr>
              <a:t> são o </a:t>
            </a:r>
            <a:r>
              <a:rPr sz="1500" b="1">
                <a:solidFill>
                  <a:srgbClr val="0093D0"/>
                </a:solidFill>
                <a:latin typeface="Segoe UI"/>
              </a:rPr>
              <a:t>traço bruto</a:t>
            </a:r>
            <a:r>
              <a:rPr sz="1500" b="0">
                <a:solidFill>
                  <a:srgbClr val="0B1B2B"/>
                </a:solidFill>
                <a:latin typeface="Segoe UI"/>
              </a:rPr>
              <a:t>: as cinco probabilidades daquela inferência, sempre que alguma passa de 25 %.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A primeira versão usava média móvel e </a:t>
            </a:r>
            <a:r>
              <a:rPr sz="1500" b="1">
                <a:solidFill>
                  <a:srgbClr val="0093D0"/>
                </a:solidFill>
                <a:latin typeface="Segoe UI"/>
              </a:rPr>
              <a:t>perdia o choro de bebê</a:t>
            </a:r>
            <a:r>
              <a:rPr sz="1500" b="0">
                <a:solidFill>
                  <a:srgbClr val="0B1B2B"/>
                </a:solidFill>
                <a:latin typeface="Segoe UI"/>
              </a:rPr>
              <a:t> (pico 94 %, EMA 0 %).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168554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283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[painel] rms:   45 bebe:  0/  0% latido:  3/ 12% ronco:  0/  0% tosse:  0/  2% miado:  0/  0%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~ bebe:  2 latido: 97 ronco:  4 tosse:  1 miado:  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~ bebe:  1 latido: 99 ronco:  6 tosse:  3 miado:  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&gt;&gt;&gt; latido (pico 99%, 5 quadros &gt; 90%) — evento 1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&gt;&gt;&gt; tosse (pico 95%, 2 quadros &gt; 50%) — evento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65320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Contagem de quadros brutos numa janela deslizante — o mesmo padrão da wake word da Nordic — com limiar e N por detector.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10 · CINCO DETECTORES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Resultados na bancada — e a investigação em aberto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Modelos prontos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generalizam de forma desigual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dependem do quanto o seu som se parece com o dataset do Lab. Testar com fontes variadas faz parte do fluxo.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59"/>
                <a:gridCol w="2377439"/>
                <a:gridCol w="1554479"/>
                <a:gridCol w="55531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Pico no detector certo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Disparou?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Observação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latido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99 %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✅ em rajada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 parou de disparar nos outros sons com o freio de 5 quadros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tosse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87–99 %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✅ 4×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miado deu 2 falsos positivos junto — os dois se confundem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miado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0–13 %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numa rodada anterior o mesmo vídeo deu 87–98 % e disparou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ronco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35 %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ronco teatral e vídeo não convenceram o modelo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bebê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0–1 %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❌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áudio chegava (latido viu 92 % no mesmo som); rodada anterior: 94 %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Mistério registrado no README: bebê e miado viram o próprio som numa rodada e ficaram cegos nas seguintes (reset não resolve). A instrumentação existe para fechar isso.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LAB 10 · CINCO DETECTORES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Antes de culpar o modelo — a lista de bancada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Tudo o que falhou na bancada do curso antes de o áudio finalmente virar comando — cada item custou uma rodada.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Placa muda nas duas COMs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SoC sem energia (jumper do P14 fora, PPK2 desligado) ou gravação que falhou em silêncio.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nrfutil device device-info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primeiro; depois grave.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COM ocupada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Serial Terminal, VS Code ou um script antigo segurando a porta: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PermissionError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/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Acesso negado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Feche antes de automatizar.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Mic “vivo” mas fraco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Sopro tem de saturar (rms nos milhares). Se fica nas dezenas, o dado não é acústico: SEL, off-by-one no P2 ou solda do breakout.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Modelo não dispara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Olhe o pico bruto antes de mexer em limiar. Pico alto e sem disparo = pós-processamento; pico baixo = o modelo não reconhece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esse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som.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Falsos positivos em rajada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Modelo gatilho fácil: suba o limiar bruto e exija mais quadros. Cooldown de ~2 s evita duplicatas.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Diagnóstico às cegas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Grave 60 s de serial num arquivo e analise depois — janelas curtas perdem o momento; o log de debug a 33 linhas/s pede filtro.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Os labs em 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E8F1F8"/>
                </a:solidFill>
                <a:latin typeface="Segoe UI"/>
              </a:rPr>
              <a:t>Prove o áudio primeiro</a:t>
            </a:r>
            <a:r>
              <a:rPr sz="1500" b="0">
                <a:solidFill>
                  <a:srgbClr val="93A6B8"/>
                </a:solidFill>
                <a:latin typeface="Segoe UI"/>
              </a:rPr>
              <a:t> (06): silêncio nas unidades, sopro saturando — senão nada do resto vale.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app da Nordic (07) mostra a </a:t>
            </a:r>
            <a:r>
              <a:rPr sz="1500" b="1">
                <a:solidFill>
                  <a:srgbClr val="E8F1F8"/>
                </a:solidFill>
                <a:latin typeface="Segoe UI"/>
              </a:rPr>
              <a:t>cascata</a:t>
            </a:r>
            <a:r>
              <a:rPr sz="1500" b="0">
                <a:solidFill>
                  <a:srgbClr val="93A6B8"/>
                </a:solidFill>
                <a:latin typeface="Segoe UI"/>
              </a:rPr>
              <a:t> funcionando; o log de debug mostra o modelo pensando.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Um zip do Lab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um main.c de 180 linhas</a:t>
            </a:r>
            <a:r>
              <a:rPr sz="1500" b="0">
                <a:solidFill>
                  <a:srgbClr val="93A6B8"/>
                </a:solidFill>
                <a:latin typeface="Segoe UI"/>
              </a:rPr>
              <a:t> (08); trocar o zip é trocar a calibração (09).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Cinco engines cabem numa NPU (10) — e a bancada ensina que </a:t>
            </a:r>
            <a:r>
              <a:rPr sz="1500" b="1">
                <a:solidFill>
                  <a:srgbClr val="E8F1F8"/>
                </a:solidFill>
                <a:latin typeface="Segoe UI"/>
              </a:rPr>
              <a:t>modelo pronto se testa</a:t>
            </a:r>
            <a:r>
              <a:rPr sz="1500" b="0">
                <a:solidFill>
                  <a:srgbClr val="93A6B8"/>
                </a:solidFill>
                <a:latin typeface="Segoe UI"/>
              </a:rPr>
              <a:t>, não se confia.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fios no P2 — e três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pegadinhas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comandos reconhecidos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na primeira rodada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0,50 / 0,90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limiar da tosse ×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latido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5 × 35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detectores num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buffer só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Do fio ao comando de voz: cada lab prova o anterior antes de somar o próximo.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