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1 · BLOCO 04 · LOOP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Do gesto ao modelo próprio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Capturar, treinar, substituir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bloco 03 rodou o modelo de fábrica. Agora o loop inteiro: a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sua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mão vira dataset, o dataset vira modelo no Edge AI Lab, e o modelo volta para a TAG — sem editar uma linha de 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261609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nRF54L15-TAG + nRF54LM20-DK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12210" y="470916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Edge AI Lab · Neuton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914" y="4709160"/>
            <a:ext cx="176570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Solution id 95867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LOOP 1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loop numa tela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Oito passos, quatro atos. Os dois pontos escuros são onde a aula começa e onde ela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prova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que terminou.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93D0"/>
                </a:solidFill>
                <a:latin typeface="Segoe UI"/>
              </a:rPr>
              <a:t>ATO 1 · CAPTURAR   →   ATO 2 · CENTRALIZAR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TAG em coleta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data_collection.conf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IMU 100 Hz → BLE NUS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00501" y="304038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0269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7429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Ponte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7429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nRF54LM20-DK pergunta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 endereço no boot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17539" y="304038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7307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4467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prep_dataset.py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4467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um CSV bruto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por classe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34577" y="304038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64345" y="240487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1505" y="260604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center_gestures.py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1505" y="302666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pico no meio da janela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+ merge → dataset.csv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0421" y="209397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NUS → serial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7459" y="209397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115200 8N1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4497" y="209397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CSV bruto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073652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93D0"/>
                </a:solidFill>
                <a:latin typeface="Segoe UI"/>
              </a:rPr>
              <a:t>ATO 3 · TREINAR   →   ATO 4 · SUBSTITUIR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Edge AI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classification · INT16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janela 100 · Cortex-M33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100501" y="5230368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30269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67429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Zip do Lab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67429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nrf_edgeai_generated/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5 arquivos → pasta do modelo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917539" y="5230368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47307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4467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Trocar o modelo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4467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 linha no CMakeLists.txt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west build -p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734577" y="5230368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64345" y="4594860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1505" y="4796028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Provar na TAG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1505" y="5216652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Solution id no boot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(RTT)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0421" y="4283964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treino 21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77459" y="4283964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zip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4497" y="4283964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-p obrigatório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LOOP 1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bancada: a TAG coleta, a DK faz a ponte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Cada aluno tem o seu par TAG + DK. Todos os tags anunciam com o mesmo nome; o que separa o seu do vizinho é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endereço BLE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38628"/>
            <a:ext cx="5282031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84932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nRF54L15-TAG · coleta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68980"/>
            <a:ext cx="48431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Roda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01_gesture_recognition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em modo de coleta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BMI270 a 100 Hz, int16 em mili-unidades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±4 g / ±1000 dps — o mesmo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raw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que a inferência lê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2738628"/>
            <a:ext cx="5282031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884932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nRF54LM20-DK · a ponte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3268980"/>
            <a:ext cx="48431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Reprogramada com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03_central_uart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recebe a NUS da TAG e joga na serial USB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Pede o endereço da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sua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TAG no terminal e só conecta nela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Log do central vai por RTT, para não sujar o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Capturar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TAG deixa de inferir e passa a transmitir. A DK vira um cabo serial com filtro.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Modo de coleta: um fragmento a mais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121615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01_gesture_recognition/configuration/nrf54l15tag_nrf54l15_cpuapp/data_collection.conf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CONFIG_DATA_COLLECTION_MODE=y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main pula a inferência e envia cada amostra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CONFIG_BLE_MODE_NUS=y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saída por NUS; sem HID, sem pareamento MITM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07208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O prj.conf não muda um byte. Sem o fragmento, o build é o demo de gestos de sempre.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10128"/>
            <a:ext cx="10765231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No VS Code: build configuration da TAG com </a:t>
            </a:r>
            <a:r>
              <a:rPr sz="1400" b="0">
                <a:solidFill>
                  <a:srgbClr val="0B1B2B"/>
                </a:solidFill>
                <a:latin typeface="Consolas"/>
              </a:rPr>
              <a:t>data_collection.conf</a:t>
            </a:r>
            <a:r>
              <a:rPr sz="1400" b="0">
                <a:solidFill>
                  <a:srgbClr val="0B1B2B"/>
                </a:solidFill>
                <a:latin typeface="Segoe UI"/>
              </a:rPr>
              <a:t> em </a:t>
            </a:r>
            <a:r>
              <a:rPr sz="1400" b="1">
                <a:solidFill>
                  <a:srgbClr val="0093D0"/>
                </a:solidFill>
                <a:latin typeface="Segoe UI"/>
              </a:rPr>
              <a:t>Kconfig fragments</a:t>
            </a:r>
            <a:r>
              <a:rPr sz="1400" b="0">
                <a:solidFill>
                  <a:srgbClr val="0B1B2B"/>
                </a:solidFill>
                <a:latin typeface="Segoe UI"/>
              </a:rPr>
              <a:t>, num build dir separado — o demo HID continua intacto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DATA_COLLECTION_MODE</a:t>
            </a:r>
            <a:r>
              <a:rPr sz="1400" b="0">
                <a:solidFill>
                  <a:srgbClr val="0B1B2B"/>
                </a:solidFill>
                <a:latin typeface="Segoe UI"/>
              </a:rPr>
              <a:t>: o </a:t>
            </a:r>
            <a:r>
              <a:rPr sz="1400" b="0">
                <a:solidFill>
                  <a:srgbClr val="0B1B2B"/>
                </a:solidFill>
                <a:latin typeface="Consolas"/>
              </a:rPr>
              <a:t>main</a:t>
            </a:r>
            <a:r>
              <a:rPr sz="1400" b="0">
                <a:solidFill>
                  <a:srgbClr val="0B1B2B"/>
                </a:solidFill>
                <a:latin typeface="Segoe UI"/>
              </a:rPr>
              <a:t> deixa de chamar </a:t>
            </a:r>
            <a:r>
              <a:rPr sz="1400" b="0">
                <a:solidFill>
                  <a:srgbClr val="0B1B2B"/>
                </a:solidFill>
                <a:latin typeface="Consolas"/>
              </a:rPr>
              <a:t>nrf_edgeai_run_inference()</a:t>
            </a:r>
            <a:r>
              <a:rPr sz="1400" b="0">
                <a:solidFill>
                  <a:srgbClr val="0B1B2B"/>
                </a:solidFill>
                <a:latin typeface="Segoe UI"/>
              </a:rPr>
              <a:t> e passa a mandar cada amostra por </a:t>
            </a:r>
            <a:r>
              <a:rPr sz="1400" b="0">
                <a:solidFill>
                  <a:srgbClr val="0B1B2B"/>
                </a:solidFill>
                <a:latin typeface="Consolas"/>
              </a:rPr>
              <a:t>ble_nus_send()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BLE_MODE_NUS</a:t>
            </a:r>
            <a:r>
              <a:rPr sz="1400" b="0">
                <a:solidFill>
                  <a:srgbClr val="0B1B2B"/>
                </a:solidFill>
                <a:latin typeface="Segoe UI"/>
              </a:rPr>
              <a:t>: troca o perfil HID pela NUS. O passkey MITM só existe no modo HID — aqui não há pareamento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endereço da sua TAG está no boot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121615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[00:00:00.961,829] &lt;inf&gt; bt_hci_core: Identity: EC:EF:40:2D:5E:46 (random)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                        ^^^^^^^^^^^^^^^^^  ^^^^^^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                                VALUE             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07208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Anote VALUE e TYPE: é o que você digita no prompt do central.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10128"/>
            <a:ext cx="10765231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Você já viu essa linha no bloco 03, ao programar a TAG — é o endereço que o central vai pedir no terminal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Se não anotou: a linha só aparece com os buffers de log em </a:t>
            </a:r>
            <a:r>
              <a:rPr sz="1400" b="1">
                <a:solidFill>
                  <a:srgbClr val="0093D0"/>
                </a:solidFill>
                <a:latin typeface="Segoe UI"/>
              </a:rPr>
              <a:t>4096</a:t>
            </a:r>
            <a:r>
              <a:rPr sz="1400" b="0">
                <a:solidFill>
                  <a:srgbClr val="0B1B2B"/>
                </a:solidFill>
                <a:latin typeface="Segoe UI"/>
              </a:rPr>
              <a:t> — no default a rajada de boot engole o fim do log, sem erro nem aviso. O </a:t>
            </a:r>
            <a:r>
              <a:rPr sz="1400" b="0">
                <a:solidFill>
                  <a:srgbClr val="0B1B2B"/>
                </a:solidFill>
                <a:latin typeface="Consolas"/>
              </a:rPr>
              <a:t>prj.conf</a:t>
            </a:r>
            <a:r>
              <a:rPr sz="1400" b="0">
                <a:solidFill>
                  <a:srgbClr val="0B1B2B"/>
                </a:solidFill>
                <a:latin typeface="Segoe UI"/>
              </a:rPr>
              <a:t> da TAG já traz os dois em 4096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central pergunta o endereço no boot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121615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Endereco BLE do tag (ex.: EC:EF:40:2D:5E:46 random): EC:EF:40:2D:5E:46 random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Procurando o tag EC:EF:40:2D:5E:46 (random)...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87799 67,9602,535,1,-3,0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07208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Depois do </a:t>
            </a:r>
            <a:r>
              <a:rPr sz="1200" b="0" i="1">
                <a:solidFill>
                  <a:srgbClr val="566577"/>
                </a:solidFill>
                <a:latin typeface="Consolas"/>
              </a:rPr>
              <a:t>Procurando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, a serial só carrega o CSV da TAG — nada mais sai do central.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10128"/>
            <a:ext cx="10765231" cy="2907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Grave a nRF54LM20-DK com o </a:t>
            </a:r>
            <a:r>
              <a:rPr sz="1400" b="0">
                <a:solidFill>
                  <a:srgbClr val="0B1B2B"/>
                </a:solidFill>
                <a:latin typeface="Consolas"/>
              </a:rPr>
              <a:t>03_central_uart</a:t>
            </a:r>
            <a:r>
              <a:rPr sz="1400" b="0">
                <a:solidFill>
                  <a:srgbClr val="0B1B2B"/>
                </a:solidFill>
                <a:latin typeface="Segoe UI"/>
              </a:rPr>
              <a:t> (sem fragmento) e abra a serial USB, </a:t>
            </a:r>
            <a:r>
              <a:rPr sz="1400" b="1">
                <a:solidFill>
                  <a:srgbClr val="0093D0"/>
                </a:solidFill>
                <a:latin typeface="Segoe UI"/>
              </a:rPr>
              <a:t>115200 8N1</a:t>
            </a:r>
            <a:r>
              <a:rPr sz="1400" b="0">
                <a:solidFill>
                  <a:srgbClr val="0B1B2B"/>
                </a:solidFill>
                <a:latin typeface="Segoe UI"/>
              </a:rPr>
              <a:t>: o prompt repete a cada 5 s até você responder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Divergência do sample: o upstream filtra por UUID da NUS e conecta em qualquer tag. Aqui o filtro é o endereço digitado, com </a:t>
            </a:r>
            <a:r>
              <a:rPr sz="1400" b="0">
                <a:solidFill>
                  <a:srgbClr val="0B1B2B"/>
                </a:solidFill>
                <a:latin typeface="Consolas"/>
              </a:rPr>
              <a:t>match_all = true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Endereço inválido é recusado e o prompt volta; não existe valor padrão — um central sem filtro conectaria no tag do colega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No RTT da DK: </a:t>
            </a:r>
            <a:r>
              <a:rPr sz="1400" b="0">
                <a:solidFill>
                  <a:srgbClr val="0B1B2B"/>
                </a:solidFill>
                <a:latin typeface="Consolas"/>
              </a:rPr>
              <a:t>Filtrando pelo tag EC:EF:...</a:t>
            </a:r>
            <a:r>
              <a:rPr sz="14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400" b="0">
                <a:solidFill>
                  <a:srgbClr val="0B1B2B"/>
                </a:solidFill>
                <a:latin typeface="Consolas"/>
              </a:rPr>
              <a:t>Filters matched</a:t>
            </a:r>
            <a:r>
              <a:rPr sz="14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400" b="0">
                <a:solidFill>
                  <a:srgbClr val="0B1B2B"/>
                </a:solidFill>
                <a:latin typeface="Consolas"/>
              </a:rPr>
              <a:t>Connected</a:t>
            </a:r>
            <a:r>
              <a:rPr sz="14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400" b="0">
                <a:solidFill>
                  <a:srgbClr val="0B1B2B"/>
                </a:solidFill>
                <a:latin typeface="Consolas"/>
              </a:rPr>
              <a:t>Service discovery 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sai na serial: um id e seis inteiros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85902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2456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87799 67,9602,535,1,-3,0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87800 62,9608,527,1,-4,0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87801 73,9610,524,0,-5,0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│   │    │  │  │ └─ gz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│   │    │  │  └─── gy        int16, mili-unidades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│   │    │  └────── gx        (sensor_value_to_double() * 1000)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│   │    └───────── az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│   └────────────── ay  ≈ 9600 = 9,6 m/s²: gravidade, tag deitado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│    └────────────────── ax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└─────────────────────── id sequencial: buraco = amostra perdida no envio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568952"/>
            <a:ext cx="10765231" cy="1648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Serial USB da DK, </a:t>
            </a:r>
            <a:r>
              <a:rPr sz="1400" b="1">
                <a:solidFill>
                  <a:srgbClr val="0093D0"/>
                </a:solidFill>
                <a:latin typeface="Segoe UI"/>
              </a:rPr>
              <a:t>115200 8N1</a:t>
            </a:r>
            <a:r>
              <a:rPr sz="1400" b="0">
                <a:solidFill>
                  <a:srgbClr val="0B1B2B"/>
                </a:solidFill>
                <a:latin typeface="Segoe UI"/>
              </a:rPr>
              <a:t>. A DK enumera duas portas COM e o dado vem numa delas: se uma não mostrar nada, tente a outra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CSV na serial, log no RTT — escolha do sample (</a:t>
            </a:r>
            <a:r>
              <a:rPr sz="1400" b="0">
                <a:solidFill>
                  <a:srgbClr val="0B1B2B"/>
                </a:solidFill>
                <a:latin typeface="Consolas"/>
              </a:rPr>
              <a:t>CONFIG_LOG_PRINTK=n</a:t>
            </a:r>
            <a:r>
              <a:rPr sz="1400" b="0">
                <a:solidFill>
                  <a:srgbClr val="0B1B2B"/>
                </a:solidFill>
                <a:latin typeface="Segoe UI"/>
              </a:rPr>
              <a:t>), e a certa: log intercalado sujaria a captura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1">
                <a:solidFill>
                  <a:srgbClr val="0093D0"/>
                </a:solidFill>
                <a:latin typeface="Segoe UI"/>
              </a:rPr>
              <a:t>Não converter unidades.</a:t>
            </a:r>
            <a:r>
              <a:rPr sz="1400" b="0">
                <a:solidFill>
                  <a:srgbClr val="0B1B2B"/>
                </a:solidFill>
                <a:latin typeface="Segoe UI"/>
              </a:rPr>
              <a:t> A inferência alimenta </a:t>
            </a:r>
            <a:r>
              <a:rPr sz="1400" b="0">
                <a:solidFill>
                  <a:srgbClr val="0B1B2B"/>
                </a:solidFill>
                <a:latin typeface="Consolas"/>
              </a:rPr>
              <a:t>imu_data.raw</a:t>
            </a:r>
            <a:r>
              <a:rPr sz="1400" b="0">
                <a:solidFill>
                  <a:srgbClr val="0B1B2B"/>
                </a:solidFill>
                <a:latin typeface="Segoe UI"/>
              </a:rPr>
              <a:t> na mesma escala: treinar em mili-unidades é auto-consistente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prep_dataset.py record: um CSV bruto por classe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38963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1987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um comando por classe — grava direto da serial, já com as colunas do Lab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record idle        --seconds 300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record unknown     --seconds 300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record swipe_right --seconds 300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record swipe_left  --seconds 300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gravou com o Serial Terminal do nRF Connect? converta o .txt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convert swipe_right captura.txt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980688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serial:  87801 73,9610,524,0,-5,0   →   Lab:  acc_x,acc_y,acc_z,gyro_x,gyro_y,gyro_z,class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83608"/>
            <a:ext cx="10765231" cy="173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record</a:t>
            </a:r>
            <a:r>
              <a:rPr sz="1400" b="0">
                <a:solidFill>
                  <a:srgbClr val="0B1B2B"/>
                </a:solidFill>
                <a:latin typeface="Segoe UI"/>
              </a:rPr>
              <a:t> acha a porta sozinho, mostra a taxa em tempo real, </a:t>
            </a:r>
            <a:r>
              <a:rPr sz="1400" b="1">
                <a:solidFill>
                  <a:srgbClr val="0093D0"/>
                </a:solidFill>
                <a:latin typeface="Segoe UI"/>
              </a:rPr>
              <a:t>conta buracos de id</a:t>
            </a:r>
            <a:r>
              <a:rPr sz="1400" b="0">
                <a:solidFill>
                  <a:srgbClr val="0B1B2B"/>
                </a:solidFill>
                <a:latin typeface="Segoe UI"/>
              </a:rPr>
              <a:t> e grava em </a:t>
            </a:r>
            <a:r>
              <a:rPr sz="1400" b="0">
                <a:solidFill>
                  <a:srgbClr val="0B1B2B"/>
                </a:solidFill>
                <a:latin typeface="Consolas"/>
              </a:rPr>
              <a:t>dataset/&lt;classe&gt;_&lt;data&gt;.csv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Protocolo por classe: 3-5 s parado, gesto de 1-2 s, ~1 s de pausa, variando velocidade — 3 a 5 min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Isto ainda </a:t>
            </a:r>
            <a:r>
              <a:rPr sz="1400" b="1">
                <a:solidFill>
                  <a:srgbClr val="0093D0"/>
                </a:solidFill>
                <a:latin typeface="Segoe UI"/>
              </a:rPr>
              <a:t>não é o dataset</a:t>
            </a:r>
            <a:r>
              <a:rPr sz="1400" b="0">
                <a:solidFill>
                  <a:srgbClr val="0B1B2B"/>
                </a:solidFill>
                <a:latin typeface="Segoe UI"/>
              </a:rPr>
              <a:t>: o gesto está em qualquer lugar do arquivo. Centralizar vem antes de juntar (Ato 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CSVs de exemplo do repo: um por classe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03_central_uart/dataset_referencia/bruto/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tem o que saiu da serial no preparo do curso: 5 min por classe, uma pessoa, um tag.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record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grava a coluna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class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com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índice do enum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o modelo devolve esse índice; nome, cor e tecla vêm do firmware.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51062"/>
                <a:gridCol w="4005667"/>
                <a:gridCol w="4005667"/>
                <a:gridCol w="2002833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enum class_label_t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Arquivo em dataset_referencia/bruto/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Linhas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CLASS_LABEL_IDLE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idle_*.csv (2 gravações)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32.381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CLASS_LABEL_UNKNOWN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unknown_*.csv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24.534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CLASS_LABEL_SWIPE_RIGHT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swipe_right_*.csv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22.920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CLASS_LABEL_SWIPE_LEFT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swipe_left_*.csv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25.362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CLASS_LABEL_DOUBLE_SHAKE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gravado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CLASS_LABEL_DOUBLE_THUMB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gravado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CLASS_LABEL_ROTATION_RIGHT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gravado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  <a:tr h="43662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CLASS_LABEL_ROTATION_LEFT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gravado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80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80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Quatro classes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contíguas a partir de 0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= o modelo cai no firmware sem tocar em C; as outras quatro nunca disparam. Outro conjunto compila igual — e o gesto sai com o nome errado.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CAPTURAR · ⭐⭐ A MAIS GRAVE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coleta dilata o tempo — e o contador não vê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Taxa efetiva com ids contíguos: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idle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94,3 Hz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swipe_left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84,5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unknown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81,8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swipe_right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76,4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para 100 Hz configurados. O dado não sumiu no ar: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 TAG produziu menos.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 que o contador de id enxerga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bt_nus_send()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falha por falta de buffer →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buraco de id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É a perda que o README upstream descreve (RF, distância)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check_nus_data.py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da Nordic cobre só este caminho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Diz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0 perdidas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mesmo com a taxa a 76 Hz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 que ele não enxerga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Semáforo com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limite 1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(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main.c:332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): tick que chega durante o envio é descartado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id++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incrementa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por envio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(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ble_nus.c:143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), não por tick — tick descartado não vira buraco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Quanto mais movimento, pior o link, mais lento o envio: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swipe_right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caiu 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76,4 Hz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Na inferência não há NUS: gesto de 1 s = ~76 linhas no treino, ~100 na TAG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Proposta de melhoria: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sample_tick++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no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imu_data_ready_cb()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— não elimina a perda, torna-a visível, no lugar exato.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Centralizar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Gesto discreto dentro de janela fixa: metade do arquivo bruto é pausa rotulada como gesto.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CENTRALIZAR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centralizar: a grade não sabe onde o gesto está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swipe_right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bruto,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gyro_y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À esquerda, janelas de 100 caindo em fase aleatória: a janela 2 tem meio gesto, a 4 quase nada — e as duas levam o rótulo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swipe_right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À direita, o mesmo arquivo depois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center_gestures.py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9" name="Picture 8" descr="centralizar_ge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93" y="1810512"/>
            <a:ext cx="10154709" cy="4206240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Gerado por doc/_template/fig_m1_04_centralizar.py a partir de 03_central_uart/dataset_referencia/. É o mesmo problema da janela maior que o evento.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CENTRALIZAR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Centralizar, depois juntar: center_gestures.py e merge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154936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175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cd edge_ai/03_central_uart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1. gestos discretos: calibra eixo e coef por arquivo, recorta 100 linhas por gesto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tools/center_gestures.py </a:t>
            </a:r>
            <a:r>
              <a:rPr sz="1400" b="0">
                <a:solidFill>
                  <a:srgbClr val="FFCF6B"/>
                </a:solidFill>
                <a:latin typeface="Consolas"/>
              </a:rPr>
              <a:t>"dataset/swipe_*.csv"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2. classes contínuas: só apara para múltiplo de 100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tools/center_gestures.py </a:t>
            </a:r>
            <a:r>
              <a:rPr sz="1400" b="0">
                <a:solidFill>
                  <a:srgbClr val="FFCF6B"/>
                </a:solidFill>
                <a:latin typeface="Consolas"/>
              </a:rPr>
              <a:t>"dataset/idle_*.csv"</a:t>
            </a:r>
            <a:r>
              <a:rPr sz="1400" b="0">
                <a:solidFill>
                  <a:srgbClr val="DCE8F2"/>
                </a:solidFill>
                <a:latin typeface="Consolas"/>
              </a:rPr>
              <a:t> </a:t>
            </a:r>
            <a:r>
              <a:rPr sz="1400" b="0">
                <a:solidFill>
                  <a:srgbClr val="FFCF6B"/>
                </a:solidFill>
                <a:latin typeface="Consolas"/>
              </a:rPr>
              <a:t>"dataset/unknown_*.csv"</a:t>
            </a:r>
            <a:r>
              <a:rPr sz="1400" b="0">
                <a:solidFill>
                  <a:srgbClr val="DCE8F2"/>
                </a:solidFill>
                <a:latin typeface="Consolas"/>
              </a:rPr>
              <a:t> --continuo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3. só agora o merge: junta dataset_centered/ e valida (sai com 1 se reprovar)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tools/prep_dataset.py merge </a:t>
            </a:r>
            <a:r>
              <a:rPr sz="1400" b="0">
                <a:solidFill>
                  <a:srgbClr val="FFCF6B"/>
                </a:solidFill>
                <a:latin typeface="Consolas"/>
              </a:rPr>
              <a:t>"dataset_centered/*.csv"</a:t>
            </a:r>
            <a:r>
              <a:rPr sz="1400" b="0">
                <a:solidFill>
                  <a:srgbClr val="DCE8F2"/>
                </a:solidFill>
                <a:latin typeface="Consolas"/>
              </a:rPr>
              <a:t> --out dataset.csv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64864"/>
            <a:ext cx="10765231" cy="2353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Script feito para a aula. O algoritmo é o de </a:t>
            </a:r>
            <a:r>
              <a:rPr sz="1400" b="0">
                <a:solidFill>
                  <a:srgbClr val="0B1B2B"/>
                </a:solidFill>
                <a:latin typeface="Consolas"/>
              </a:rPr>
              <a:t>github.com/nordicsemi-neuton/segment-center-signal</a:t>
            </a:r>
            <a:r>
              <a:rPr sz="1400" b="0">
                <a:solidFill>
                  <a:srgbClr val="0B1B2B"/>
                </a:solidFill>
                <a:latin typeface="Segoe UI"/>
              </a:rPr>
              <a:t> (cópia em </a:t>
            </a:r>
            <a:r>
              <a:rPr sz="1400" b="0">
                <a:solidFill>
                  <a:srgbClr val="0B1B2B"/>
                </a:solidFill>
                <a:latin typeface="Consolas"/>
              </a:rPr>
              <a:t>tools/segment-center-signal/</a:t>
            </a:r>
            <a:r>
              <a:rPr sz="1400" b="0">
                <a:solidFill>
                  <a:srgbClr val="0B1B2B"/>
                </a:solidFill>
                <a:latin typeface="Segoe UI"/>
              </a:rPr>
              <a:t>), carregado sem modificação; o nosso automatiza o que está em volta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O </a:t>
            </a:r>
            <a:r>
              <a:rPr sz="1400" b="1">
                <a:solidFill>
                  <a:srgbClr val="0093D0"/>
                </a:solidFill>
                <a:latin typeface="Segoe UI"/>
              </a:rPr>
              <a:t>coef</a:t>
            </a:r>
            <a:r>
              <a:rPr sz="1400" b="0">
                <a:solidFill>
                  <a:srgbClr val="0B1B2B"/>
                </a:solidFill>
                <a:latin typeface="Segoe UI"/>
              </a:rPr>
              <a:t> é o limiar de detecção: </a:t>
            </a:r>
            <a:r>
              <a:rPr sz="1400" b="0">
                <a:solidFill>
                  <a:srgbClr val="0B1B2B"/>
                </a:solidFill>
                <a:latin typeface="Consolas"/>
              </a:rPr>
              <a:t>threshold = coef × média do envelope</a:t>
            </a:r>
            <a:r>
              <a:rPr sz="1400" b="0">
                <a:solidFill>
                  <a:srgbClr val="0B1B2B"/>
                </a:solidFill>
                <a:latin typeface="Segoe UI"/>
              </a:rPr>
              <a:t> do eixo escolhido. Acima disso é gesto, e o centro do trecho vira o meio da janela. Coef alto só pega gestos fortes; baixo transforma pausa em gesto. Na referência, 0,5 centrou </a:t>
            </a:r>
            <a:r>
              <a:rPr sz="1400" b="1">
                <a:solidFill>
                  <a:srgbClr val="0093D0"/>
                </a:solidFill>
                <a:latin typeface="Segoe UI"/>
              </a:rPr>
              <a:t>12 %</a:t>
            </a:r>
            <a:r>
              <a:rPr sz="1400" b="0">
                <a:solidFill>
                  <a:srgbClr val="0B1B2B"/>
                </a:solidFill>
                <a:latin typeface="Segoe UI"/>
              </a:rPr>
              <a:t> dos swipe_right; 0,95, </a:t>
            </a:r>
            <a:r>
              <a:rPr sz="1400" b="1">
                <a:solidFill>
                  <a:srgbClr val="0093D0"/>
                </a:solidFill>
                <a:latin typeface="Segoe UI"/>
              </a:rPr>
              <a:t>71 %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Por isso ele varre </a:t>
            </a:r>
            <a:r>
              <a:rPr sz="1400" b="0">
                <a:solidFill>
                  <a:srgbClr val="0B1B2B"/>
                </a:solidFill>
                <a:latin typeface="Consolas"/>
              </a:rPr>
              <a:t>gyro_x/y/z</a:t>
            </a:r>
            <a:r>
              <a:rPr sz="1400" b="0">
                <a:solidFill>
                  <a:srgbClr val="0B1B2B"/>
                </a:solidFill>
                <a:latin typeface="Segoe UI"/>
              </a:rPr>
              <a:t> × coef 0,50…1,30 e pontua cada par por quantos gestos saem e onde o pico cai — a tabela impressa torna a escolha auditável. Referência: </a:t>
            </a:r>
            <a:r>
              <a:rPr sz="1400" b="0">
                <a:solidFill>
                  <a:srgbClr val="0B1B2B"/>
                </a:solidFill>
                <a:latin typeface="Consolas"/>
              </a:rPr>
              <a:t>swipe_right</a:t>
            </a:r>
            <a:r>
              <a:rPr sz="14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400" b="0">
                <a:solidFill>
                  <a:srgbClr val="0B1B2B"/>
                </a:solidFill>
                <a:latin typeface="Consolas"/>
              </a:rPr>
              <a:t>gyro_y</a:t>
            </a:r>
            <a:r>
              <a:rPr sz="1400" b="0">
                <a:solidFill>
                  <a:srgbClr val="0B1B2B"/>
                </a:solidFill>
                <a:latin typeface="Segoe UI"/>
              </a:rPr>
              <a:t> / 0,95 → </a:t>
            </a:r>
            <a:r>
              <a:rPr sz="1400" b="1">
                <a:solidFill>
                  <a:srgbClr val="0093D0"/>
                </a:solidFill>
                <a:latin typeface="Segoe UI"/>
              </a:rPr>
              <a:t>135</a:t>
            </a:r>
            <a:r>
              <a:rPr sz="1400" b="0">
                <a:solidFill>
                  <a:srgbClr val="0B1B2B"/>
                </a:solidFill>
                <a:latin typeface="Segoe UI"/>
              </a:rPr>
              <a:t> · </a:t>
            </a:r>
            <a:r>
              <a:rPr sz="1400" b="0">
                <a:solidFill>
                  <a:srgbClr val="0B1B2B"/>
                </a:solidFill>
                <a:latin typeface="Consolas"/>
              </a:rPr>
              <a:t>swipe_left</a:t>
            </a:r>
            <a:r>
              <a:rPr sz="1400" b="0">
                <a:solidFill>
                  <a:srgbClr val="0B1B2B"/>
                </a:solidFill>
                <a:latin typeface="Segoe UI"/>
              </a:rPr>
              <a:t> → </a:t>
            </a:r>
            <a:r>
              <a:rPr sz="1400" b="0">
                <a:solidFill>
                  <a:srgbClr val="0B1B2B"/>
                </a:solidFill>
                <a:latin typeface="Consolas"/>
              </a:rPr>
              <a:t>gyro_z</a:t>
            </a:r>
            <a:r>
              <a:rPr sz="1400" b="0">
                <a:solidFill>
                  <a:srgbClr val="0B1B2B"/>
                </a:solidFill>
                <a:latin typeface="Segoe UI"/>
              </a:rPr>
              <a:t> / 1,25 → </a:t>
            </a:r>
            <a:r>
              <a:rPr sz="1400" b="1">
                <a:solidFill>
                  <a:srgbClr val="0093D0"/>
                </a:solidFill>
                <a:latin typeface="Segoe UI"/>
              </a:rPr>
              <a:t>112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merge</a:t>
            </a:r>
            <a:r>
              <a:rPr sz="1400" b="0">
                <a:solidFill>
                  <a:srgbClr val="0B1B2B"/>
                </a:solidFill>
                <a:latin typeface="Segoe UI"/>
              </a:rPr>
              <a:t> recusa: &lt; 2 classes, &lt; 20 amostras numa classe, sem classe 0, valor vazio ou não-inteiro. </a:t>
            </a:r>
            <a:r>
              <a:rPr sz="1400" b="0">
                <a:solidFill>
                  <a:srgbClr val="0B1B2B"/>
                </a:solidFill>
                <a:latin typeface="Consolas"/>
              </a:rPr>
              <a:t>dataset.csv</a:t>
            </a:r>
            <a:r>
              <a:rPr sz="1400" b="0">
                <a:solidFill>
                  <a:srgbClr val="0B1B2B"/>
                </a:solidFill>
                <a:latin typeface="Segoe UI"/>
              </a:rPr>
              <a:t> é o que sobe no Lab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CENTRALIZAR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dataset pronto: 81.500 linhas, todas múltiplas de 100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dataset_referencia/dataset_centrado.csv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a rede de segurança da aula: se a coleta de alguém falhar, sobe direto no Lab.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bruto/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tem os 5 CSVs para rodar o pipeline inteiro.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6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97671"/>
                <a:gridCol w="1886689"/>
                <a:gridCol w="1442762"/>
                <a:gridCol w="1886689"/>
                <a:gridCol w="1664726"/>
                <a:gridCol w="1886689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Classe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Duração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Taxa (Hz)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Linhas centradas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Janelas de 100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Descartado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 · idle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45 s + 5 min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90,9 / 94,3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32.300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323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apara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 · unknown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 min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81,8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24.500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245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apara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 · swipe_right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 min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76,4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13.500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135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41 %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(pausas)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 · swipe_left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 min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84,5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11.200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112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56 %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(pausas)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fundo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(0 + 1)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56.800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568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gesto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(2 + 3)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24.700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247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uma pessoa · um tag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81.500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815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Fundo / gesto =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2,3 : 1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— por isso a métrica do Lab é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Balanced accuracy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. Se o modelo vier mudo na TAG, aparar idle/unknown para ~150 janelas cada é o primeiro ajuste, sem recoletar.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Treinar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Edge AI Lab, sessão 63701, 21 min 20 s. Cada tela é uma decisão que aparece depois no código gerado.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Subir o CSV e dizer o que é cada coluna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Upload é drag-and-drop 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ai.lab.nordicsemi.com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não há API. Task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Classification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target =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class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as seis colunas viram os seis canais que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main.c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alimenta.</a:t>
            </a:r>
          </a:p>
        </p:txBody>
      </p:sp>
      <p:pic>
        <p:nvPicPr>
          <p:cNvPr id="9" name="Picture 8" descr="lab_01_new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83664"/>
            <a:ext cx="4101077" cy="4379976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pic>
        <p:nvPicPr>
          <p:cNvPr id="10" name="Picture 9" descr="lab_02_training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09" y="1883664"/>
            <a:ext cx="6435554" cy="110669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pic>
        <p:nvPicPr>
          <p:cNvPr id="11" name="Picture 10" descr="lab_03_features_spec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909" y="3173236"/>
            <a:ext cx="6435554" cy="2461891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Signal processing: a janela que o firmware vai herdar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app não tem janela própria: lê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INPUT_WINDOW_SIZE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INPUT_WINDOW_SHIFT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modelo. O que se escolhe aqui é o que a TAG executa.</a:t>
            </a:r>
          </a:p>
        </p:txBody>
      </p:sp>
      <p:pic>
        <p:nvPicPr>
          <p:cNvPr id="9" name="Picture 8" descr="lab_05_signal_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20538"/>
            <a:ext cx="5382615" cy="2906227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6370167" y="1883664"/>
            <a:ext cx="5108296" cy="43799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9623" y="2029968"/>
            <a:ext cx="46693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cada campo vira no 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9623" y="2432304"/>
            <a:ext cx="4669384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Window 100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INPUT_WINDOW_SIZE 100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No centrado,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shift de treino = janela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sobreposição geraria janelas fora de fase e desfaria o alinhamento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Shift de inferência 33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INPUT_WINDOW_SHIFT 33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3 inferências/s, como o de fábrica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Bruto sem centralizar seria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99 / 33 / 33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— lá o gesto cai em fase aleatória de qualquer jeito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Sub-windowing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desligado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(Advanced settings): os atributos são da janela inteira de 100 — com o gesto centrado, um pico por janela é o que se quer descrever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Feature selection ligado: o Lab escolheu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11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atributos dos 6 canais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SRAM estimada 1,4 kB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antes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 treinar — é a janela: 100 × 6 × 2 B = 1,2 kB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Input data: o tipo escolhido aqui vira um typedef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pic>
        <p:nvPicPr>
          <p:cNvPr id="8" name="Picture 7" descr="lab_07_input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65650"/>
            <a:ext cx="5382615" cy="2486820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370167" y="1554480"/>
            <a:ext cx="5108296" cy="47091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9623" y="1700784"/>
            <a:ext cx="46693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Três decisões, três consequências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9623" y="2103120"/>
            <a:ext cx="4669384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Data type INT16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typedef int16_t nrf_user_input_t;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no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nrf_edgeai_user_types.h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É a escala da serial e do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imu_data.raw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nada a converter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Trocar para FLOAT32 e manter 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types.h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antigo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compila e infere errado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— é o arquivo do zip que se esquece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Normalization AutoSelect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o Lab escolhe; a normalização vive dentro do modelo, a app só empurra amostras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Balanced accuracy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com 568 janelas de fundo contra 247 de gesto, a acurácia simples premiaria um modelo que só diz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idle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Model settings: pesos q16, saída float32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pic>
        <p:nvPicPr>
          <p:cNvPr id="8" name="Picture 7" descr="lab_08_model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57874"/>
            <a:ext cx="4521397" cy="3702372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508949" y="1554480"/>
            <a:ext cx="5969514" cy="47091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28405" y="1700784"/>
            <a:ext cx="553060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aparece depois no 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8405" y="2103120"/>
            <a:ext cx="5530602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Neuton · Cortex-M33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invariante da nRF54L15. LiteRT e Axon não rodam aqui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Weights: Quantization Aware 16-bit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MODEL_PARAMS_TYPE q16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95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coeficientes = 85 pesos + 10 neurônios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Output: float32 probabilities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→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typedef flt32_t nrf_user_output_t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probabilities.p_f32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no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main.c:478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Saída quantizada viraria lixo na app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Peso e saída são escolhas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separadas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quantizar o peso economiza flash; a saída continua float porque é o que a app lê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Early stopping 36 h de teto; este treino levou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21 min 20 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(session 63701 → solution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95867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Resultado I: um erro em 163 exemplos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Macro ≠ weighted é o sinal: o erro caiu numa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classe pequena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Precision macro sofre (22/23 no swipe_left), weighted quase não — o idle pesa 40 % da conta.</a:t>
            </a:r>
          </a:p>
        </p:txBody>
      </p:sp>
      <p:pic>
        <p:nvPicPr>
          <p:cNvPr id="9" name="Picture 8" descr="lab_1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83664"/>
            <a:ext cx="5245455" cy="3427030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13232" y="5402134"/>
            <a:ext cx="52454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163 exemplos = 20 % das 815 janelas: 65 idle · 49 unknown · 27 swipe_right · 22 swipe_left. Um erro: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unknown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previsto como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swipe_left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11" name="Picture 10" descr="lab_12_model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883664"/>
            <a:ext cx="5245455" cy="3603067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33007" y="5578171"/>
            <a:ext cx="52454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Recalculado à mão: accuracy 162/163 = 0,9939 · balanced = média dos recalls (1 · 48/49 · 1 · 1) =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0,9949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· precision macro = média(1 · 1 · 1 · 22/23) = 0,9891.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Resultado II: atributos concordam com a calibração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Os atributos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movimento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apontam para os mesmos eixos que a calibração achou. Os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média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revelam um vício: o modelo aprendeu a orientação da mão.</a:t>
            </a:r>
          </a:p>
        </p:txBody>
      </p:sp>
      <p:pic>
        <p:nvPicPr>
          <p:cNvPr id="9" name="Picture 8" descr="lab_1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88658"/>
            <a:ext cx="4952006" cy="3969987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5939558" y="1883664"/>
            <a:ext cx="5538905" cy="43799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014" y="2029968"/>
            <a:ext cx="509999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Lendo o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9014" y="2432304"/>
            <a:ext cx="5099993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gyro_y_max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(0,112) 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gyro_z_max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(0,051): exatamente os eixos que 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center_gestures.py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escolheu para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swipe_right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swipe_left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 Duas medições independentes, mesma resposta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acc_y_mean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(0,118),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acc_z_mean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acc_x_mean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média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 aceleração é gravidade — orientação da mão, não movimento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O modelo aprendeu também a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postura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 quem gravou. Funciona para esta mão; para outra pegada, é o primeiro atributo a trair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É o argumento concreto para dados de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várias pessoas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— a doc do Lab pede 1-5 para um PoC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TREINAR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Footprint: 10 % é modelo, o resto é janela e engine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pic>
        <p:nvPicPr>
          <p:cNvPr id="8" name="Picture 7" descr="lab_10_foot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27908"/>
            <a:ext cx="5382615" cy="2162303"/>
          </a:xfrm>
          <a:prstGeom prst="rect">
            <a:avLst/>
          </a:prstGeom>
          <a:ln w="12700">
            <a:solidFill>
              <a:srgbClr val="D3E0EB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370167" y="1554480"/>
            <a:ext cx="5108296" cy="47091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9623" y="1700784"/>
            <a:ext cx="46693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NVM 4,0 kB · SRAM 1,5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9623" y="2103120"/>
            <a:ext cx="4669384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Modelo 0,400 kB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95 coeficientes q16 — um décimo do total gerado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Signal processing 1,4 kB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nas duas colunas: é a janela (100 × 6 × int16 = 1,2 kB) mais o extrator de atributos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Engine 2,2 kB flash / 0,15 kB RAM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praticamente constante entre modelos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RAM você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calcula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antes de treinar (janela × canais); flash você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descobre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depois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▪  Na TAG, imagem inteira: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282.104 B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com este modelo contra 285.052 B de fábrica — 4 classes e 95 coeficientes custam menos que 8 classes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Substituir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Parece copiar arquivo. Tem quatro armadilhas, três delas silenciosas — e uma linha de log que prova que deu certo.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zip do Lab: o que copiar e o que faz cada arquivo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85902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2456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nrf_edgeai_generated/            -&gt;  src/nrf_edgeai_generated/nrf54l15tag/&lt;seu_modelo&gt;/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├── nrf_edgeai_user_model.c     15.120 B   o modelo: pesos, janela, atributos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├── nrf_edgeai_user_model.h      1.051 B   alias nrf_edgeai_user_model → _95867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├── nrf_edgeai_user_types.h        585 B   typedefs de entrada/saída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├── prj_example.conf                94 B   sugestão de Kconfig — não aplicar aqui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└── README.md                       66 B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nrf_edgeai_user_types.h — segue o Data type e o Output escolhidos no Lab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typedef</a:t>
            </a:r>
            <a:r>
              <a:rPr sz="1400" b="0">
                <a:solidFill>
                  <a:srgbClr val="DCE8F2"/>
                </a:solidFill>
                <a:latin typeface="Consolas"/>
              </a:rPr>
              <a:t> </a:t>
            </a:r>
            <a:r>
              <a:rPr sz="1400" b="1">
                <a:solidFill>
                  <a:srgbClr val="4FC3E8"/>
                </a:solidFill>
                <a:latin typeface="Consolas"/>
              </a:rPr>
              <a:t>int16_t</a:t>
            </a:r>
            <a:r>
              <a:rPr sz="1400" b="0">
                <a:solidFill>
                  <a:srgbClr val="DCE8F2"/>
                </a:solidFill>
                <a:latin typeface="Consolas"/>
              </a:rPr>
              <a:t> nrf_user_input_t;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typedef</a:t>
            </a:r>
            <a:r>
              <a:rPr sz="1400" b="0">
                <a:solidFill>
                  <a:srgbClr val="DCE8F2"/>
                </a:solidFill>
                <a:latin typeface="Consolas"/>
              </a:rPr>
              <a:t> flt32_t nrf_user_output_t;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568952"/>
            <a:ext cx="10765231" cy="1648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Copie a pasta </a:t>
            </a:r>
            <a:r>
              <a:rPr sz="1400" b="1">
                <a:solidFill>
                  <a:srgbClr val="0093D0"/>
                </a:solidFill>
                <a:latin typeface="Segoe UI"/>
              </a:rPr>
              <a:t>inteira</a:t>
            </a:r>
            <a:r>
              <a:rPr sz="1400" b="0">
                <a:solidFill>
                  <a:srgbClr val="0B1B2B"/>
                </a:solidFill>
                <a:latin typeface="Segoe UI"/>
              </a:rPr>
              <a:t>: os três </a:t>
            </a:r>
            <a:r>
              <a:rPr sz="1400" b="0">
                <a:solidFill>
                  <a:srgbClr val="0B1B2B"/>
                </a:solidFill>
                <a:latin typeface="Consolas"/>
              </a:rPr>
              <a:t>.c/.h</a:t>
            </a:r>
            <a:r>
              <a:rPr sz="1400" b="0">
                <a:solidFill>
                  <a:srgbClr val="0B1B2B"/>
                </a:solidFill>
                <a:latin typeface="Segoe UI"/>
              </a:rPr>
              <a:t> andam juntos. Um </a:t>
            </a:r>
            <a:r>
              <a:rPr sz="1400" b="0">
                <a:solidFill>
                  <a:srgbClr val="0B1B2B"/>
                </a:solidFill>
                <a:latin typeface="Consolas"/>
              </a:rPr>
              <a:t>types.h</a:t>
            </a:r>
            <a:r>
              <a:rPr sz="1400" b="0">
                <a:solidFill>
                  <a:srgbClr val="0B1B2B"/>
                </a:solidFill>
                <a:latin typeface="Segoe UI"/>
              </a:rPr>
              <a:t> de outro treino compila e infere errado — são só </a:t>
            </a:r>
            <a:r>
              <a:rPr sz="1400" b="0">
                <a:solidFill>
                  <a:srgbClr val="0B1B2B"/>
                </a:solidFill>
                <a:latin typeface="Consolas"/>
              </a:rPr>
              <a:t>typedef</a:t>
            </a:r>
            <a:r>
              <a:rPr sz="1400" b="0">
                <a:solidFill>
                  <a:srgbClr val="0B1B2B"/>
                </a:solidFill>
                <a:latin typeface="Segoe UI"/>
              </a:rPr>
              <a:t>s, nada avisa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prj_example.conf</a:t>
            </a:r>
            <a:r>
              <a:rPr sz="1400" b="0">
                <a:solidFill>
                  <a:srgbClr val="0B1B2B"/>
                </a:solidFill>
                <a:latin typeface="Segoe UI"/>
              </a:rPr>
              <a:t> sugere </a:t>
            </a:r>
            <a:r>
              <a:rPr sz="1400" b="0">
                <a:solidFill>
                  <a:srgbClr val="0B1B2B"/>
                </a:solidFill>
                <a:latin typeface="Consolas"/>
              </a:rPr>
              <a:t>CONFIG_NEWLIB_LIBC=y</a:t>
            </a:r>
            <a:r>
              <a:rPr sz="1400" b="0">
                <a:solidFill>
                  <a:srgbClr val="0B1B2B"/>
                </a:solidFill>
                <a:latin typeface="Segoe UI"/>
              </a:rPr>
              <a:t>: </a:t>
            </a:r>
            <a:r>
              <a:rPr sz="1400" b="1">
                <a:solidFill>
                  <a:srgbClr val="0093D0"/>
                </a:solidFill>
                <a:latin typeface="Segoe UI"/>
              </a:rPr>
              <a:t>não aplique</a:t>
            </a:r>
            <a:r>
              <a:rPr sz="1400" b="0">
                <a:solidFill>
                  <a:srgbClr val="0B1B2B"/>
                </a:solidFill>
                <a:latin typeface="Segoe UI"/>
              </a:rPr>
              <a:t>. A app roda com picolibc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Duas pastas, uma linha — e o build tem que ser pristine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121615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01_gesture_recognition/CMakeLists.txt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set(CURSO_MODELO </a:t>
            </a:r>
            <a:r>
              <a:rPr sz="1400" b="0">
                <a:solidFill>
                  <a:srgbClr val="FFCF6B"/>
                </a:solidFill>
                <a:latin typeface="Consolas"/>
              </a:rPr>
              <a:t>"fabrica"</a:t>
            </a:r>
            <a:r>
              <a:rPr sz="1400" b="0">
                <a:solidFill>
                  <a:srgbClr val="DCE8F2"/>
                </a:solidFill>
                <a:latin typeface="Consolas"/>
              </a:rPr>
              <a:t>)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91278 · janela 99 · 8 classes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set(CURSO_MODELO "manaus_4gestos")   # 95867 · janela 100 · 4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26080"/>
            <a:ext cx="10765231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fabrica</a:t>
            </a:r>
            <a:r>
              <a:rPr sz="1400" b="0">
                <a:solidFill>
                  <a:srgbClr val="0B1B2B"/>
                </a:solidFill>
                <a:latin typeface="Segoe UI"/>
              </a:rPr>
              <a:t> é o default: quem clona pega o Add-on original; usar o modelo do curso é um ato explícito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Recompile a TAG </a:t>
            </a:r>
            <a:r>
              <a:rPr sz="1400" b="1">
                <a:solidFill>
                  <a:srgbClr val="0093D0"/>
                </a:solidFill>
                <a:latin typeface="Segoe UI"/>
              </a:rPr>
              <a:t>sem</a:t>
            </a:r>
            <a:r>
              <a:rPr sz="1400" b="0">
                <a:solidFill>
                  <a:srgbClr val="0B1B2B"/>
                </a:solidFill>
                <a:latin typeface="Segoe UI"/>
              </a:rPr>
              <a:t> o </a:t>
            </a:r>
            <a:r>
              <a:rPr sz="1400" b="0">
                <a:solidFill>
                  <a:srgbClr val="0B1B2B"/>
                </a:solidFill>
                <a:latin typeface="Consolas"/>
              </a:rPr>
              <a:t>data_collection.conf</a:t>
            </a:r>
            <a:r>
              <a:rPr sz="1400" b="0">
                <a:solidFill>
                  <a:srgbClr val="0B1B2B"/>
                </a:solidFill>
                <a:latin typeface="Segoe UI"/>
              </a:rPr>
              <a:t> — ela volta a inferir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Sem </a:t>
            </a:r>
            <a:r>
              <a:rPr sz="1400" b="1">
                <a:solidFill>
                  <a:srgbClr val="0093D0"/>
                </a:solidFill>
                <a:latin typeface="Segoe UI"/>
              </a:rPr>
              <a:t>pristine</a:t>
            </a:r>
            <a:r>
              <a:rPr sz="1400" b="0">
                <a:solidFill>
                  <a:srgbClr val="0B1B2B"/>
                </a:solidFill>
                <a:latin typeface="Segoe UI"/>
              </a:rPr>
              <a:t> (</a:t>
            </a:r>
            <a:r>
              <a:rPr sz="1400" b="0">
                <a:solidFill>
                  <a:srgbClr val="0B1B2B"/>
                </a:solidFill>
                <a:latin typeface="Consolas"/>
              </a:rPr>
              <a:t>-p</a:t>
            </a:r>
            <a:r>
              <a:rPr sz="1400" b="0">
                <a:solidFill>
                  <a:srgbClr val="0B1B2B"/>
                </a:solidFill>
                <a:latin typeface="Segoe UI"/>
              </a:rPr>
              <a:t>, ou *Pristine Build* no VS Code) o CMake </a:t>
            </a:r>
            <a:r>
              <a:rPr sz="1400" b="1">
                <a:solidFill>
                  <a:srgbClr val="0093D0"/>
                </a:solidFill>
                <a:latin typeface="Segoe UI"/>
              </a:rPr>
              <a:t>não relê</a:t>
            </a:r>
            <a:r>
              <a:rPr sz="1400" b="0">
                <a:solidFill>
                  <a:srgbClr val="0B1B2B"/>
                </a:solidFill>
                <a:latin typeface="Segoe UI"/>
              </a:rPr>
              <a:t> o </a:t>
            </a:r>
            <a:r>
              <a:rPr sz="1400" b="0">
                <a:solidFill>
                  <a:srgbClr val="0B1B2B"/>
                </a:solidFill>
                <a:latin typeface="Consolas"/>
              </a:rPr>
              <a:t>CMakeLists.txt</a:t>
            </a:r>
            <a:r>
              <a:rPr sz="1400" b="0">
                <a:solidFill>
                  <a:srgbClr val="0B1B2B"/>
                </a:solidFill>
                <a:latin typeface="Segoe UI"/>
              </a:rPr>
              <a:t>: o build passa, o flash grava, a TAG fica com o modelo antigo. Pega quem fez tudo certo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Não há override por </a:t>
            </a:r>
            <a:r>
              <a:rPr sz="1400" b="0">
                <a:solidFill>
                  <a:srgbClr val="0B1B2B"/>
                </a:solidFill>
                <a:latin typeface="Consolas"/>
              </a:rPr>
              <a:t>-D</a:t>
            </a:r>
            <a:r>
              <a:rPr sz="1400" b="0">
                <a:solidFill>
                  <a:srgbClr val="0B1B2B"/>
                </a:solidFill>
                <a:latin typeface="Segoe UI"/>
              </a:rPr>
              <a:t>: com sysbuild ele não chega na app e o build passa </a:t>
            </a:r>
            <a:r>
              <a:rPr sz="1400" b="1">
                <a:solidFill>
                  <a:srgbClr val="0093D0"/>
                </a:solidFill>
                <a:latin typeface="Segoe UI"/>
              </a:rPr>
              <a:t>em silêncio</a:t>
            </a:r>
            <a:r>
              <a:rPr sz="1400" b="0">
                <a:solidFill>
                  <a:srgbClr val="0B1B2B"/>
                </a:solidFill>
                <a:latin typeface="Segoe UI"/>
              </a:rPr>
              <a:t> com o valor do arquivo. Editar o </a:t>
            </a:r>
            <a:r>
              <a:rPr sz="1400" b="0">
                <a:solidFill>
                  <a:srgbClr val="0B1B2B"/>
                </a:solidFill>
                <a:latin typeface="Consolas"/>
              </a:rPr>
              <a:t>CMakeLists.txt</a:t>
            </a:r>
            <a:r>
              <a:rPr sz="1400" b="0">
                <a:solidFill>
                  <a:srgbClr val="0B1B2B"/>
                </a:solidFill>
                <a:latin typeface="Segoe UI"/>
              </a:rPr>
              <a:t> é o único caminho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 · ⭐ VALE O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Provar que trocou: o Solution id no boot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27048"/>
            <a:ext cx="10765231" cy="238963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728216"/>
            <a:ext cx="10125151" cy="1987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nrf_edgeai_user_model.h (gerado)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22C3E6"/>
                </a:solidFill>
                <a:latin typeface="Consolas"/>
              </a:rPr>
              <a:t>#define nrf_edgeai_user_model nrf_edgeai_user_model_95867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alias que o main.c usa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src/main.c:145 — já existe no sample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LOG_INF(</a:t>
            </a:r>
            <a:r>
              <a:rPr sz="1400" b="0">
                <a:solidFill>
                  <a:srgbClr val="FFCF6B"/>
                </a:solidFill>
                <a:latin typeface="Consolas"/>
              </a:rPr>
              <a:t>"nRF Edge AI Lab Solution id: %s"</a:t>
            </a:r>
            <a:r>
              <a:rPr sz="1400" b="0">
                <a:solidFill>
                  <a:srgbClr val="DCE8F2"/>
                </a:solidFill>
                <a:latin typeface="Consolas"/>
              </a:rPr>
              <a:t>, nrf_edgeai_solution_id_str(p_model));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// RTT, no boot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&lt;inf&gt; main: nRF Edge AI Lab Solution id: 95867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// 91278 = fábrica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99560"/>
            <a:ext cx="10765231" cy="2118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Segoe UI"/>
              </a:rPr>
              <a:t>Uma linha responde “gravei o certo?” sem abrir arquivo — e pega também quem colou na pasta errada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400" b="0">
                <a:solidFill>
                  <a:srgbClr val="0B1B2B"/>
                </a:solidFill>
                <a:latin typeface="Consolas"/>
              </a:rPr>
              <a:t>91278</a:t>
            </a:r>
            <a:r>
              <a:rPr sz="1400" b="0">
                <a:solidFill>
                  <a:srgbClr val="0B1B2B"/>
                </a:solidFill>
                <a:latin typeface="Segoe UI"/>
              </a:rPr>
              <a:t> é o modelo de fábrica; o seu é o número da solution no Lab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modelo novo não pode mudar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coisas travadas pelo firmware, uma pelo enum. A janela é a única que o Lab pode mudar à vontade.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08321"/>
                <a:gridCol w="4212481"/>
                <a:gridCol w="3744428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Invariante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Onde a app depende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 quebrar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6 canais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 entrada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NRF_EDGEAI_INPUT_DATA_LEN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 = 6 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main.c:54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; feed 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:413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janela desalinha — em silêncio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Saída float32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main.c:478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 lê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probabilities.p_f32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saída quantizada vira lixo — em silêncio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Cortex-M33 · Neuton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runtime da nRF54L15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LiteRT / Axon não linkam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Rótulos =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ordem do enum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inference_postprocessing.h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nome e tecla errados — em silêncio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Janela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INPUT_WINDOW_SIZE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livre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 — a app lê do modelo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fábrica 99, curso 100 — nada a editar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Na TAG: o que ver, e o que não concluir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Grave a TAG, abra o RTT, faça o gesto. O veredito é o tag na mão — e o modelo que erra com o colega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ensina mais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que o que acerta.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No RTT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Solution id: 95867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no boot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Predicted class: SWIPE LEFT, with probability 99 %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LED e tecla HID como no demo de fábrica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gate do pós-processamento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{2, 0.8}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para os swipes: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duas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inferências seguidas com média ≥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0,80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 3 inferências/s, um gesto leva ~0,7 s para disparar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Ajuste de comportamento é aqui, não no modelo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a acurácia não diz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0,995 veio de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uma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pessoa,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uma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gravação contínua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Treino e validação carregam a mesma dilatação de taxa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Outra mão, outra pegada: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acc_*_mean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é o primeiro a trair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Demonstração melhor que um modelo perfeito: peça a outra pessoa para fazer o swipe.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4 · SUBSTITUIR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Cuidados a tomar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Nenhuma destas dá erro. Todas produzem um binário que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parece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correto — e o aluno que caiu nelas fez tudo o que a doc mandou.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03048"/>
                <a:gridCol w="3018289"/>
                <a:gridCol w="3219508"/>
                <a:gridCol w="4024385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Armadilha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você vê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Antídoto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Buffers de log no default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Identity: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Solution 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LOG_BUFFER_SIZE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SEGGER_RTT_BUFFER_SIZE_UP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= 4096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Taxa dilatada na coleta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 perdidas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a 76 Hz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olhar a taxa, não o contador; contar ticks (proposta)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Shift de treino ≠ janela no centrado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janelas fora de fase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shift de treino = 100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Recompilar sem pristine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-p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flash ok, modelo antigo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pristine + conferir o Solution id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Classes fora da ordem do enum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nome e tecla errados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subconjunto contíguo a partir de 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 padrão: um detector que mede o sintoma errado é pior que nenhum, porque o “ok” dá confiança no dado ruim.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O que levar deste bloco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dataset é o produto: </a:t>
            </a:r>
            <a:r>
              <a:rPr sz="1500" b="1">
                <a:solidFill>
                  <a:srgbClr val="E8F1F8"/>
                </a:solidFill>
                <a:latin typeface="Segoe UI"/>
              </a:rPr>
              <a:t>taxa</a:t>
            </a:r>
            <a:r>
              <a:rPr sz="1500" b="0">
                <a:solidFill>
                  <a:srgbClr val="93A6B8"/>
                </a:solidFill>
                <a:latin typeface="Segoe UI"/>
              </a:rPr>
              <a:t>, </a:t>
            </a:r>
            <a:r>
              <a:rPr sz="1500" b="1">
                <a:solidFill>
                  <a:srgbClr val="E8F1F8"/>
                </a:solidFill>
                <a:latin typeface="Segoe UI"/>
              </a:rPr>
              <a:t>centralização</a:t>
            </a:r>
            <a:r>
              <a:rPr sz="1500" b="0">
                <a:solidFill>
                  <a:srgbClr val="93A6B8"/>
                </a:solidFill>
                <a:latin typeface="Segoe UI"/>
              </a:rPr>
              <a:t> e </a:t>
            </a:r>
            <a:r>
              <a:rPr sz="1500" b="1">
                <a:solidFill>
                  <a:srgbClr val="E8F1F8"/>
                </a:solidFill>
                <a:latin typeface="Segoe UI"/>
              </a:rPr>
              <a:t>ordem das classes</a:t>
            </a:r>
            <a:r>
              <a:rPr sz="1500" b="0">
                <a:solidFill>
                  <a:srgbClr val="93A6B8"/>
                </a:solidFill>
                <a:latin typeface="Segoe UI"/>
              </a:rPr>
              <a:t> decidem mais que qualquer botão do Lab.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Cada tela do Lab vira uma linha do </a:t>
            </a:r>
            <a:r>
              <a:rPr sz="1500" b="0">
                <a:solidFill>
                  <a:srgbClr val="93A6B8"/>
                </a:solidFill>
                <a:latin typeface="Consolas"/>
              </a:rPr>
              <a:t>.c</a:t>
            </a:r>
            <a:r>
              <a:rPr sz="1500" b="0">
                <a:solidFill>
                  <a:srgbClr val="93A6B8"/>
                </a:solidFill>
                <a:latin typeface="Segoe UI"/>
              </a:rPr>
              <a:t> gerado — janela, tipos, quantização. Leia o </a:t>
            </a:r>
            <a:r>
              <a:rPr sz="1500" b="0">
                <a:solidFill>
                  <a:srgbClr val="93A6B8"/>
                </a:solidFill>
                <a:latin typeface="Consolas"/>
              </a:rPr>
              <a:t>.c</a:t>
            </a:r>
            <a:r>
              <a:rPr sz="1500" b="0">
                <a:solidFill>
                  <a:srgbClr val="93A6B8"/>
                </a:solidFill>
                <a:latin typeface="Segoe UI"/>
              </a:rPr>
              <a:t> depois de treinar.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Trocar o modelo é copiar </a:t>
            </a:r>
            <a:r>
              <a:rPr sz="1500" b="1">
                <a:solidFill>
                  <a:srgbClr val="E8F1F8"/>
                </a:solidFill>
                <a:latin typeface="Segoe UI"/>
              </a:rPr>
              <a:t>5 arquivos</a:t>
            </a:r>
            <a:r>
              <a:rPr sz="1500" b="0">
                <a:solidFill>
                  <a:srgbClr val="93A6B8"/>
                </a:solidFill>
                <a:latin typeface="Segoe UI"/>
              </a:rPr>
              <a:t>, editar </a:t>
            </a:r>
            <a:r>
              <a:rPr sz="1500" b="1">
                <a:solidFill>
                  <a:srgbClr val="E8F1F8"/>
                </a:solidFill>
                <a:latin typeface="Segoe UI"/>
              </a:rPr>
              <a:t>1 linha</a:t>
            </a:r>
            <a:r>
              <a:rPr sz="1500" b="0">
                <a:solidFill>
                  <a:srgbClr val="93A6B8"/>
                </a:solidFill>
                <a:latin typeface="Segoe UI"/>
              </a:rPr>
              <a:t> e recompilar </a:t>
            </a:r>
            <a:r>
              <a:rPr sz="1500" b="1">
                <a:solidFill>
                  <a:srgbClr val="E8F1F8"/>
                </a:solidFill>
                <a:latin typeface="Segoe UI"/>
              </a:rPr>
              <a:t>pristine</a:t>
            </a:r>
            <a:r>
              <a:rPr sz="1500" b="0">
                <a:solidFill>
                  <a:srgbClr val="93A6B8"/>
                </a:solidFill>
                <a:latin typeface="Segoe UI"/>
              </a:rPr>
              <a:t>. Provar que trocou é </a:t>
            </a:r>
            <a:r>
              <a:rPr sz="1500" b="1">
                <a:solidFill>
                  <a:srgbClr val="E8F1F8"/>
                </a:solidFill>
                <a:latin typeface="Segoe UI"/>
              </a:rPr>
              <a:t>1 linha de log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0,995 numa pessoa não é 0,995 no mundo — e o modelo que erra com o colega é a melhor aula.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classes · rótulos 0-3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81.500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linhas centradas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0,995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balanced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95867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solution id na TAG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O loop 2 repete isto com outro sensor e outro caminho de dados — e nenhuma armadilha daqui deixa de valer lá.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